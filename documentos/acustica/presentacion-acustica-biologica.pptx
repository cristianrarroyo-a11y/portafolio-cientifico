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0:25</a:t>
            </a:r>
            <a:br>
              <a:rPr lang="en-US"/>
            </a:br>
            <a:br>
              <a:rPr lang="en-US"/>
            </a:br>
            <a:r>
              <a:rPr lang="en-US"/>
              <a:t>Buenos días. Hoy vamos a responder una pregunta que parece sencilla, pero que cambia cómo leemos cualquier experimento sobre sonido y peces: ¿qué oye realmente un pez? Es el resultado de una revisión sistemática que hicimos para este curso.</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0:50</a:t>
            </a:r>
            <a:br>
              <a:rPr lang="en-US"/>
            </a:br>
            <a:br>
              <a:rPr lang="en-US"/>
            </a:br>
            <a:r>
              <a:rPr lang="en-US"/>
              <a:t>Imaginen que leen en una noticia: "El ruido de un barco alcanzó 140 decibelios y los peces huyeron". Parece una información completa, pero falta casi todo. ¿140 decibelios de qué magnitud? ¿Medidos dónde: junto al barco o junto al pez?</a:t>
            </a:r>
            <a:br>
              <a:rPr lang="en-US"/>
            </a:br>
            <a:br>
              <a:rPr lang="en-US"/>
            </a:br>
            <a:r>
              <a:rPr lang="en-US"/>
              <a:t>Hay un detalle más. Un pez no tiene oído externo ni oído medio, y su cuerpo tiene casi la misma impedancia acústica que el agua: para el sonido, el pez es casi transparente. Entonces, ¿qué es exactamente lo que detecta? Esa es la pregunta que guía toda la presentación.</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 name="Google Shape;3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1:25</a:t>
            </a:r>
            <a:br>
              <a:rPr lang="en-US"/>
            </a:br>
            <a:br>
              <a:rPr lang="en-US"/>
            </a:br>
            <a:r>
              <a:rPr lang="en-US"/>
              <a:t>Empecemos por la física. Cuando un sonido viaja por el agua, en cada punto ocurren dos cosas a la vez.</a:t>
            </a:r>
            <a:br>
              <a:rPr lang="en-US"/>
            </a:br>
            <a:br>
              <a:rPr lang="en-US"/>
            </a:br>
            <a:r>
              <a:rPr lang="en-US"/>
              <a:t>[Señalar las bandas azules] Primero, la presión sube y baja. La presión es una magnitud escalar: nos dice cuánto, pero no hacia dónde. Es como un termómetro.</a:t>
            </a:r>
            <a:br>
              <a:rPr lang="en-US"/>
            </a:br>
            <a:br>
              <a:rPr lang="en-US"/>
            </a:br>
            <a:r>
              <a:rPr lang="en-US"/>
              <a:t>[Señalar las flechas turquesa] Segundo, las partículas de agua se mueven adelante y atrás. Ese movimiento de partículas es vectorial: tiene magnitud y dirección. Es más parecido a una veleta.</a:t>
            </a:r>
            <a:br>
              <a:rPr lang="en-US"/>
            </a:br>
            <a:br>
              <a:rPr lang="en-US"/>
            </a:br>
            <a:r>
              <a:rPr lang="en-US"/>
              <a:t>En una onda plana, lejos de la fuente, ambas magnitudes están ligadas por la impedancia del agua, y podemos calcular una a partir de la otra. [Clic: tanque] Pero cerca de la fuente, cerca del fondo o de la superficie, y sobre todo dentro de un tanque, esa relación se rompe. Las reflexiones y el campo cercano la desordenan. Por eso Nedelec y colaboradores, en 2016, insisten en que en esas condiciones el movimiento de partículas hay que medirlo, no calcularlo.</a:t>
            </a:r>
            <a:endParaRPr/>
          </a:p>
        </p:txBody>
      </p:sp>
      <p:sp>
        <p:nvSpPr>
          <p:cNvPr id="36" name="Google Shape;3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1:15</a:t>
            </a:r>
            <a:br>
              <a:rPr lang="en-US"/>
            </a:br>
            <a:br>
              <a:rPr lang="en-US"/>
            </a:br>
            <a:r>
              <a:rPr lang="en-US"/>
              <a:t>¿Y qué detecta el pez? Tiene dos vías principales.</a:t>
            </a:r>
            <a:br>
              <a:rPr lang="en-US"/>
            </a:br>
            <a:br>
              <a:rPr lang="en-US"/>
            </a:br>
            <a:r>
              <a:rPr lang="en-US"/>
              <a:t>[Señalar el otolito] La primera es el otolito, una piedrecita del oído interno más densa que el resto del cuerpo. Cuando pasa el sonido, el cuerpo se mueve y el otolito se queda ligeramente atrás. Funciona como un acelerómetro, es decir, detecta movimiento.</a:t>
            </a:r>
            <a:br>
              <a:rPr lang="en-US"/>
            </a:br>
            <a:br>
              <a:rPr lang="en-US"/>
            </a:br>
            <a:r>
              <a:rPr lang="en-US"/>
              <a:t>[Señalar la vejiga] La segunda es la vejiga natatoria. Como contiene gas, se comprime y se expande con la presión, y puede transmitir ese movimiento al oído. Pero solo ayuda si está cerca del oído o conectada a él, y su efecto cambia entre grupos de peces.</a:t>
            </a:r>
            <a:br>
              <a:rPr lang="en-US"/>
            </a:br>
            <a:br>
              <a:rPr lang="en-US"/>
            </a:br>
            <a:r>
              <a:rPr lang="en-US"/>
              <a:t>Además, como el tejido se parece tanto al agua y los oídos están tan juntos, en Danionella unos 0,6 milímetros, las pistas "entre oídos" que usamos nosotros casi no existen. Conclusión: no todos los peces detectan la misma magnitud física.</a:t>
            </a:r>
            <a:endParaRPr/>
          </a:p>
        </p:txBody>
      </p:sp>
      <p:sp>
        <p:nvSpPr>
          <p:cNvPr id="60" name="Google Shape;6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1:00</a:t>
            </a:r>
            <a:br>
              <a:rPr lang="en-US"/>
            </a:br>
            <a:br>
              <a:rPr lang="en-US"/>
            </a:br>
            <a:r>
              <a:rPr lang="en-US"/>
              <a:t>Aquí aparece el problema. Una cifra en decibelios puede ser de presión o de movimiento, del nivel de la fuente o del recibido, un valor pico o uno RMS, medida aquí o allá.</a:t>
            </a:r>
            <a:br>
              <a:rPr lang="en-US"/>
            </a:br>
            <a:br>
              <a:rPr lang="en-US"/>
            </a:br>
            <a:r>
              <a:rPr lang="en-US"/>
              <a:t>[Señalar las tarjetas] Tres ejemplos reales de nuestra revisión. En un cilindro de ensayo, el nivel de presión variaba unos 10 decibelios según la profundidad. En un arrecife, a 50 metros del altavoz, la aceleración de partículas ya no se distinguía del fondo. Y un mismo experimento reporta 139,5 decibelios de presión y 6 micrómetros por segundo de velocidad de partícula: dos números para una sola exposición. El SPL no es inútil, pero es incompleto.</a:t>
            </a:r>
            <a:endParaRPr/>
          </a:p>
        </p:txBody>
      </p:sp>
      <p:sp>
        <p:nvSpPr>
          <p:cNvPr id="83" name="Google Shape;8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0:50</a:t>
            </a:r>
            <a:br>
              <a:rPr lang="en-US"/>
            </a:br>
            <a:br>
              <a:rPr lang="en-US"/>
            </a:br>
            <a:r>
              <a:rPr lang="en-US"/>
              <a:t>Con esto formulamos nuestra pregunta: ¿cómo influyen el campo acústico y la biología sensorial de los peces en sus respuestas, y qué evidencia hay para usar el sonido en investigación, manejo y conservación?</a:t>
            </a:r>
            <a:br>
              <a:rPr lang="en-US"/>
            </a:br>
            <a:br>
              <a:rPr lang="en-US"/>
            </a:br>
            <a:r>
              <a:rPr lang="en-US"/>
              <a:t>[Señalar la cadena] La ordenamos en una cadena: campo, percepción, información, respuesta y aplicación. De ella salen cuatro objetivos: caracterizar cómo se generan y miden los estímulos, entender el papel del sistema sensorial, relacionar el estímulo con la respuesta y separar las aplicaciones demostradas de las propuestas. Toda la presentación sigue esa cadena.</a:t>
            </a:r>
            <a:endParaRPr/>
          </a:p>
        </p:txBody>
      </p:sp>
      <p:sp>
        <p:nvSpPr>
          <p:cNvPr id="116" name="Google Shape;11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0:50</a:t>
            </a:r>
            <a:br>
              <a:rPr lang="en-US"/>
            </a:br>
            <a:br>
              <a:rPr lang="en-US"/>
            </a:br>
            <a:r>
              <a:rPr lang="en-US"/>
              <a:t>Hicimos una revisión sistemática siguiendo PRISMA 2020. Buscamos en PubMed, Europe PMC y OpenAlex, sin filtros de fecha ni de idioma.</a:t>
            </a:r>
            <a:br>
              <a:rPr lang="en-US"/>
            </a:br>
            <a:br>
              <a:rPr lang="en-US"/>
            </a:br>
            <a:r>
              <a:rPr lang="en-US"/>
              <a:t>Dos detalles importantes. Primero, en PubMed la palabra fish no recupera zebrafish ni goldfish, así que añadimos un bloque con nombres taxonómicos. Segundo, decidimos no excluir ningún estudio por no medir el movimiento de partículas. Eso es justamente lo que queríamos evaluar. El cribado lo hizo un único revisor, un asistente de inteligencia artificial supervisado; lo retomaremos en las limitaciones.</a:t>
            </a:r>
            <a:endParaRPr/>
          </a:p>
        </p:txBody>
      </p:sp>
      <p:sp>
        <p:nvSpPr>
          <p:cNvPr id="147" name="Google Shape;14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1:05</a:t>
            </a:r>
            <a:br>
              <a:rPr lang="en-US"/>
            </a:br>
            <a:br>
              <a:rPr lang="en-US"/>
            </a:br>
            <a:r>
              <a:rPr lang="en-US"/>
              <a:t>[Recorrer el embudo de arriba abajo] Identificamos 4180 registros. Tras quitar 1518 duplicados, cribamos 2662. Excluimos 1986 por título o resumen: más de mil porque no tenían un estímulo acústico pertinente, y el resto por tratar otros organismos, por no ser experimentales o por no estar revisados por pares.</a:t>
            </a:r>
            <a:br>
              <a:rPr lang="en-US"/>
            </a:br>
            <a:br>
              <a:rPr lang="en-US"/>
            </a:br>
            <a:r>
              <a:rPr lang="en-US"/>
              <a:t>Quedaron 676 informes para leer completos. [Señalar la caja coral] Y aquí está la cifra más importante de la metodología: 493 no pudimos recuperarlos, por acceso cerrado o por bloqueos de las editoriales. Esos 493 no están excluidos: simplemente no los evaluamos, y son el 73 % de lo que buscamos.</a:t>
            </a:r>
            <a:br>
              <a:rPr lang="en-US"/>
            </a:br>
            <a:br>
              <a:rPr lang="en-US"/>
            </a:br>
            <a:r>
              <a:rPr lang="en-US"/>
              <a:t>De los 183 que sí evaluamos, excluimos 12 y quedaron 171 informes incluidos de forma provisional.</a:t>
            </a:r>
            <a:endParaRPr/>
          </a:p>
        </p:txBody>
      </p:sp>
      <p:sp>
        <p:nvSpPr>
          <p:cNvPr id="186" name="Google Shape;18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1:05</a:t>
            </a:r>
            <a:br>
              <a:rPr lang="en-US"/>
            </a:br>
            <a:br>
              <a:rPr lang="en-US"/>
            </a:br>
            <a:r>
              <a:rPr lang="en-US"/>
              <a:t>Ahora, 171 informes no significa 171 estudios analizados a fondo.</a:t>
            </a:r>
            <a:br>
              <a:rPr lang="en-US"/>
            </a:br>
            <a:br>
              <a:rPr lang="en-US"/>
            </a:br>
            <a:r>
              <a:rPr lang="en-US"/>
              <a:t>[Bajar por la escalera] Primero priorizamos 119 que conectaban directamente la acústica con la conducta o con la física sensorial. Luego los clasificamos por calidad de evidencia: 118 pasaron y 1 se excluyó, porque allí el sonido era una herramienta de telemetría, no un estímulo. De esos 118, 74 tenían texto completo verificado y 44 solo resumen. Y de los 74 extrajimos en profundidad 20.</a:t>
            </a:r>
            <a:br>
              <a:rPr lang="en-US"/>
            </a:br>
            <a:br>
              <a:rPr lang="en-US"/>
            </a:br>
            <a:r>
              <a:rPr lang="en-US"/>
              <a:t>¿Por qué 20? Los elegimos por pertinencia y diversidad, no por sus resultados, e incluimos a propósito estudios con resultados nulos. Así que lo que vamos a ver es una síntesis crítica de esos 20, no una estimación del efecto del sonido en toda la literatura.</a:t>
            </a:r>
            <a:endParaRPr/>
          </a:p>
        </p:txBody>
      </p:sp>
      <p:sp>
        <p:nvSpPr>
          <p:cNvPr id="228" name="Google Shape;22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0:55</a:t>
            </a:r>
            <a:br>
              <a:rPr lang="en-US"/>
            </a:br>
            <a:br>
              <a:rPr lang="en-US"/>
            </a:br>
            <a:r>
              <a:rPr lang="en-US"/>
              <a:t>Los 20 estudios van de 2012 a 2026. Tratan la física de la audición, la orientación, la evasión, el escape y el ruido, y combinan laboratorio y campo.</a:t>
            </a:r>
            <a:br>
              <a:rPr lang="en-US"/>
            </a:br>
            <a:br>
              <a:rPr lang="en-US"/>
            </a:br>
            <a:r>
              <a:rPr lang="en-US"/>
              <a:t>[Señalar la barra] Pero fíjense en esta barra: solo 8 de los 20 midieron directamente el movimiento de partículas donde estaban los peces. Otros lo calcularon a partir de la presión, lo modelaron, lo midieron después o con restricciones, y dos no lo caracterizaron. El problema de la diapositiva 5 no es teórico: está en los datos.</a:t>
            </a:r>
            <a:br>
              <a:rPr lang="en-US"/>
            </a:br>
            <a:br>
              <a:rPr lang="en-US"/>
            </a:br>
            <a:r>
              <a:rPr lang="en-US"/>
              <a:t>Empecemos por el experimento que mejor separa las dos magnitudes.</a:t>
            </a:r>
            <a:endParaRPr/>
          </a:p>
        </p:txBody>
      </p:sp>
      <p:sp>
        <p:nvSpPr>
          <p:cNvPr id="253" name="Google Shape;25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2:20</a:t>
            </a:r>
            <a:br>
              <a:rPr lang="en-US"/>
            </a:br>
            <a:br>
              <a:rPr lang="en-US"/>
            </a:br>
            <a:r>
              <a:rPr lang="en-US"/>
              <a:t>Este es el experimento de Veith y colaboradores, publicado en Nature en 2024. Usaron Danionella cerebrum, un pez diminuto y transparente, en una arena de 10 por 10 centímetros rodeada de altavoces. Calibraron el campo punto por punto y cancelaron los ecos, lo que les permitió controlar por separado la presión y el movimiento de partículas. El estímulo era un pulso breve de unos 780 hercios que provoca un sobresalto.</a:t>
            </a:r>
            <a:br>
              <a:rPr lang="en-US"/>
            </a:br>
            <a:br>
              <a:rPr lang="en-US"/>
            </a:br>
            <a:r>
              <a:rPr lang="en-US"/>
              <a:t>[Panel 1] Primer paso: un altavoz normal, con presión y movimiento juntos. En el 80 % de los sobresaltos, 191 de 240 en 63 peces, el pez escapa alejándose de la fuente. Hasta aquí, lo esperable.</a:t>
            </a:r>
            <a:br>
              <a:rPr lang="en-US"/>
            </a:br>
            <a:br>
              <a:rPr lang="en-US"/>
            </a:br>
            <a:r>
              <a:rPr lang="en-US"/>
              <a:t>[Panel 2] Segundo paso: separaron las magnitudes. Con solo presión, o con solo movimiento, el escape no tiene dirección: 44 % y 46 % hacia un lado, sin diferencia respecto al azar. Esto es clave: la presión sola, por fuerte que sea, no le dice al pez hacia dónde huir.</a:t>
            </a:r>
            <a:br>
              <a:rPr lang="en-US"/>
            </a:br>
            <a:br>
              <a:rPr lang="en-US"/>
            </a:br>
            <a:r>
              <a:rPr lang="en-US"/>
              <a:t>[Panel 3] Tercer paso, el truco: mantuvieron el movimiento, pero invirtieron solo la presión. Y el pez se equivoca: en el 67 % de 331 sobresaltos, en 61 peces, escapa hacia el altavoz. El efecto se mantuvo incluso al anular la línea lateral.</a:t>
            </a:r>
            <a:br>
              <a:rPr lang="en-US"/>
            </a:br>
            <a:br>
              <a:rPr lang="en-US"/>
            </a:br>
            <a:r>
              <a:rPr lang="en-US"/>
              <a:t>Por eso decir "el pez escuchó 140 decibelios" no explica su conducta. Lo que determinó la dirección fue la relación entre presión y movimiento. Un detalle: los porcentajes son de sobresaltos, no de peces.</a:t>
            </a:r>
            <a:endParaRPr/>
          </a:p>
        </p:txBody>
      </p:sp>
      <p:sp>
        <p:nvSpPr>
          <p:cNvPr id="305" name="Google Shape;30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1:15</a:t>
            </a:r>
            <a:br>
              <a:rPr lang="en-US"/>
            </a:br>
            <a:br>
              <a:rPr lang="en-US"/>
            </a:br>
            <a:r>
              <a:rPr lang="en-US"/>
              <a:t>¿Por qué funciona? [Señalar el esquema izquierdo] El movimiento de partículas indica el eje: las partículas van y vienen en la línea de la fuente. Pero, por sí solo, no distingue si la onda viene de delante o de detrás.</a:t>
            </a:r>
            <a:br>
              <a:rPr lang="en-US"/>
            </a:br>
            <a:br>
              <a:rPr lang="en-US"/>
            </a:br>
            <a:r>
              <a:rPr lang="en-US"/>
              <a:t>[Esquema derecho] La presión resuelve la ambigüedad. En una onda que llega desde un lado, presión y movimiento van en fase; desde el lado opuesto, en contrafase. Comparando ambas señales, el pez puede saber de dónde viene el sonido.</a:t>
            </a:r>
            <a:br>
              <a:rPr lang="en-US"/>
            </a:br>
            <a:br>
              <a:rPr lang="en-US"/>
            </a:br>
            <a:r>
              <a:rPr lang="en-US"/>
              <a:t>Esto es la interpretación de los autores, que llaman modelo de Schuijf. El resultado es la inversión del escape. [Señalar el recuadro coral] Y tiene límites: una sola especie, un campo artificial y estímulos repetidos en cada pez. Es muy sugerente, pero todavía no está demostrado para todos los peces, ni para peces grandes en campos acústicos naturales.</a:t>
            </a:r>
            <a:endParaRPr/>
          </a:p>
        </p:txBody>
      </p:sp>
      <p:sp>
        <p:nvSpPr>
          <p:cNvPr id="342" name="Google Shape;34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1:25</a:t>
            </a:r>
            <a:br>
              <a:rPr lang="en-US"/>
            </a:br>
            <a:br>
              <a:rPr lang="en-US"/>
            </a:br>
            <a:r>
              <a:rPr lang="en-US"/>
              <a:t>Pasemos al campo. [Izquierda] Cresci y colaboradores pusieron larvas de bacalao atlántico en cámaras a la deriva en un fiordo y emitieron un tono de 100 hercios que simulaba el de un parque eólico. Las larvas se orientaron hacia la fuente, sin nadar más rápido. Es una orientación significativa, aunque moderada.</a:t>
            </a:r>
            <a:br>
              <a:rPr lang="en-US"/>
            </a:br>
            <a:br>
              <a:rPr lang="en-US"/>
            </a:br>
            <a:r>
              <a:rPr lang="en-US"/>
              <a:t>[Derecha] Ahora el contraste. Holmes y colaboradores trabajaron en el mar, en Curazao, con 36 peces león, una especie invasora en el Caribe. En una arena con un altavoz en cada extremo, ofrecieron de día sonidos de arrecife frente a sonidos de arena. No hubo preferencia: 12 peces eligieron el arrecife y 11 la arena. Tampoco prefirieron el sonido de hábitat frente al silencio.</a:t>
            </a:r>
            <a:br>
              <a:rPr lang="en-US"/>
            </a:br>
            <a:br>
              <a:rPr lang="en-US"/>
            </a:br>
            <a:r>
              <a:rPr lang="en-US"/>
              <a:t>¿Qué aprendemos? Que orientarse no es universal y que orientarse en una cámara no equivale a ser atraído a un parque eólico real. Además, el pez león se probó de día, y muchas larvas de arrecife llegan de noche.</a:t>
            </a:r>
            <a:endParaRPr/>
          </a:p>
        </p:txBody>
      </p:sp>
      <p:sp>
        <p:nvSpPr>
          <p:cNvPr id="376" name="Google Shape;37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1:35</a:t>
            </a:r>
            <a:br>
              <a:rPr lang="en-US"/>
            </a:br>
            <a:br>
              <a:rPr lang="en-US"/>
            </a:br>
            <a:r>
              <a:rPr lang="en-US"/>
              <a:t>El caso más estudiado es el de los arrecifes de coral. [Tarjeta 1] Gordon y colaboradores reprodujeron el sonido de un mismo arrecife antes y después de degradarse. El sonido del arrecife sano atrajo más peces colonizadores, tanto en trampas como en arrecifes experimentales; el degradado se pareció al control, y la diversidad no cambió.</a:t>
            </a:r>
            <a:br>
              <a:rPr lang="en-US"/>
            </a:br>
            <a:br>
              <a:rPr lang="en-US"/>
            </a:br>
            <a:r>
              <a:rPr lang="en-US"/>
              <a:t>[Tarjeta 2, figura] Después, el mismo grupo probó el enriquecimiento acústico: altavoces con sonido de arrecife sano durante 40 días en 33 arrecifes artificiales. Resultado: aproximadamente el doble de juveniles y un 50 % más de especies.</a:t>
            </a:r>
            <a:br>
              <a:rPr lang="en-US"/>
            </a:br>
            <a:br>
              <a:rPr lang="en-US"/>
            </a:br>
            <a:r>
              <a:rPr lang="en-US"/>
              <a:t>[Tarjeta 3] Y en Hawái, con cámaras autónomas, se vio más presencia de larvas en tres despliegues, aunque solo en dos sitios.</a:t>
            </a:r>
            <a:br>
              <a:rPr lang="en-US"/>
            </a:br>
            <a:br>
              <a:rPr lang="en-US"/>
            </a:br>
            <a:r>
              <a:rPr lang="en-US"/>
              <a:t>Un dato físico interesante: en el arrecife de calibración, la aceleración de partículas ya no se distinguía del fondo a 50 metros, así que el alcance real de estos altavoces es limitado. [Pie coral] Ahora bien, ninguno midió la recuperación del coral ni la supervivencia a largo plazo. Además, la abundancia final mezcla llegada, permanencia y mortalidad. Es prometedor, pero todavía no es una técnica de restauración demostrada.</a:t>
            </a:r>
            <a:endParaRPr/>
          </a:p>
        </p:txBody>
      </p:sp>
      <p:sp>
        <p:nvSpPr>
          <p:cNvPr id="411" name="Google Shape;41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1:20</a:t>
            </a:r>
            <a:br>
              <a:rPr lang="en-US"/>
            </a:br>
            <a:br>
              <a:rPr lang="en-US"/>
            </a:br>
            <a:r>
              <a:rPr lang="en-US"/>
              <a:t>Ahora lo contrario: usar el sonido para alejar peces. [Izquierda] Zielinski y Sorensen reprodujeron el ruido de un motor fuera de borda ante tres especies de carpa en un tanque. En las dos primeras exposiciones, el tiempo que pasaban cerca del altavoz cayó al menos a un tercio. Además, sus trayectorias se alinearon con la aceleración de partículas. Pero en la tercera y cuarta exposición ya no hubo cambio medible: los peces se habituaron.</a:t>
            </a:r>
            <a:br>
              <a:rPr lang="en-US"/>
            </a:br>
            <a:br>
              <a:rPr lang="en-US"/>
            </a:br>
            <a:r>
              <a:rPr lang="en-US"/>
              <a:t>[Derecha] Holgate y colaboradores midieron el sobresalto del pez dorado a distintas frecuencias. Al menos un cuarto de los peces reaccionó solo entre 250 y 800 hercios. Y al subir la frecuencia, la conducta requería niveles cada vez más alejados del umbral auditivo.</a:t>
            </a:r>
            <a:br>
              <a:rPr lang="en-US"/>
            </a:br>
            <a:br>
              <a:rPr lang="en-US"/>
            </a:br>
            <a:r>
              <a:rPr lang="en-US"/>
              <a:t>Dos lecciones: detectar no es responder, y una respuesta que se agota con la repetición no es todavía una barrera eficaz en un río.</a:t>
            </a:r>
            <a:endParaRPr/>
          </a:p>
        </p:txBody>
      </p:sp>
      <p:sp>
        <p:nvSpPr>
          <p:cNvPr id="447" name="Google Shape;44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1:15</a:t>
            </a:r>
            <a:br>
              <a:rPr lang="en-US"/>
            </a:br>
            <a:br>
              <a:rPr lang="en-US"/>
            </a:br>
            <a:r>
              <a:rPr lang="en-US"/>
              <a:t>¿Y el ruido que no elegimos? [Izquierda] En una damisela de arrecife, dos estudios encontraron que, con ruido de motores o de buques, el escape ante un estímulo es más lento. McCormick y colaboradores vieron además que el motor de cuatro tiempos lo retrasaba más que el de dos. Una advertencia: los dos estudios comparten autores y paradigma, y no está verificado que sus muestras sean independientes.</a:t>
            </a:r>
            <a:br>
              <a:rPr lang="en-US"/>
            </a:br>
            <a:br>
              <a:rPr lang="en-US"/>
            </a:br>
            <a:r>
              <a:rPr lang="en-US"/>
              <a:t>[Derecha] Voellmy y colaboradores compararon dos especies ante el mismo ruido de barco y una amenaza visual. El espinoso respondió más rápido, el piscardo no cambió y la probabilidad de responder fue la misma.</a:t>
            </a:r>
            <a:br>
              <a:rPr lang="en-US"/>
            </a:br>
            <a:br>
              <a:rPr lang="en-US"/>
            </a:br>
            <a:r>
              <a:rPr lang="en-US"/>
              <a:t>Así que el ruido puede retrasar, acelerar o no modificar el escape, según la especie. Y ojo: responder más rápido no significa estar más seguro; puede reflejar un estado de alerta excesiva.</a:t>
            </a:r>
            <a:endParaRPr/>
          </a:p>
        </p:txBody>
      </p:sp>
      <p:sp>
        <p:nvSpPr>
          <p:cNvPr id="475" name="Google Shape;47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1:10</a:t>
            </a:r>
            <a:br>
              <a:rPr lang="en-US"/>
            </a:br>
            <a:br>
              <a:rPr lang="en-US"/>
            </a:br>
            <a:r>
              <a:rPr lang="en-US"/>
              <a:t>¿Todo esto tiene consecuencias reales? [Izquierda] Simpson y colaboradores colocaron reclutas de damisela en pequeños arrecifes con sonido ambiente o con ruido de lanchas. A las 72 horas sobrevivía el 79 % en ambiente y solo el 27 % con ruido, y la depredación aumentó. Es el único de nuestros 20 estudios que llega hasta la supervivencia.</a:t>
            </a:r>
            <a:br>
              <a:rPr lang="en-US"/>
            </a:br>
            <a:br>
              <a:rPr lang="en-US"/>
            </a:br>
            <a:r>
              <a:rPr lang="en-US"/>
              <a:t>[Derecha] En el otro extremo, Meekan y colaboradores evaluaron una prospección sísmica real con un diseño antes–después y control–impacto, con más de 600 despliegues de vídeo. No detectaron declives ni desplazamientos persistentes en la fauna demersal.</a:t>
            </a:r>
            <a:br>
              <a:rPr lang="en-US"/>
            </a:br>
            <a:br>
              <a:rPr lang="en-US"/>
            </a:br>
            <a:r>
              <a:rPr lang="en-US"/>
              <a:t>¿Se contradicen? No. Difieren en la fuente, las especies, la escala y el tiempo. Y el nulo no prueba inocuidad: los censos fueron uno y dos meses después, así que no capturan efectos agudos.</a:t>
            </a:r>
            <a:endParaRPr/>
          </a:p>
        </p:txBody>
      </p:sp>
      <p:sp>
        <p:nvSpPr>
          <p:cNvPr id="519" name="Google Shape;51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8" name="Google Shape;54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1:20</a:t>
            </a:r>
            <a:br>
              <a:rPr lang="en-US"/>
            </a:br>
            <a:br>
              <a:rPr lang="en-US"/>
            </a:br>
            <a:r>
              <a:rPr lang="en-US"/>
              <a:t>Juntemos todo. La idea intuitiva sería "más sonido, más respuesta". La evidencia dice otra cosa: la respuesta depende del campo, del sistema sensorial y del contexto a la vez.</a:t>
            </a:r>
            <a:br>
              <a:rPr lang="en-US"/>
            </a:br>
            <a:br>
              <a:rPr lang="en-US"/>
            </a:br>
            <a:r>
              <a:rPr lang="en-US"/>
              <a:t>[Tarjetas] Sistema sensorial: al desinflar la vejiga del pez sapo, su audición no cambió de forma detectable. Contexto: con un ruido de fondo enmascarante, las carpas casi dejaron de distinguir la señal, aunque en peces dorados, con otro diseño, el fondo no tuvo un efecto global. En guppies, la identidad del grupo pesó más que el ruido. El pez león no mostró preferencia de día. Y la evasión de las carpas desapareció con la repetición.</a:t>
            </a:r>
            <a:br>
              <a:rPr lang="en-US"/>
            </a:br>
            <a:br>
              <a:rPr lang="en-US"/>
            </a:br>
            <a:r>
              <a:rPr lang="en-US"/>
              <a:t>Fíjense en que cada tarjeta modifica un factor distinto: la anatomía, el fondo acústico, el grupo, el horario, la historia de exposición. Estos resultados nulos no invalidan los positivos: marcan su alcance. Y recordemos que no encontrar un efecto no demuestra que no exista.</a:t>
            </a:r>
            <a:endParaRPr/>
          </a:p>
        </p:txBody>
      </p:sp>
      <p:sp>
        <p:nvSpPr>
          <p:cNvPr id="549" name="Google Shape;54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9" name="Google Shape;59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2:00</a:t>
            </a:r>
            <a:br>
              <a:rPr lang="en-US"/>
            </a:br>
            <a:br>
              <a:rPr lang="en-US"/>
            </a:br>
            <a:r>
              <a:rPr lang="en-US"/>
              <a:t>Con esta cautela, veamos las aplicaciones. [Señalar la matriz] Cada fila es una aplicación y cada columna un eslabón de la cadena. Lo sólido está demostrado; lo punteado está propuesto.</a:t>
            </a:r>
            <a:br>
              <a:rPr lang="en-US"/>
            </a:br>
            <a:br>
              <a:rPr lang="en-US"/>
            </a:br>
            <a:r>
              <a:rPr lang="en-US"/>
              <a:t>Enriquecimiento de arrecifes: llega hasta la respuesta y la abundancia local, pero no hasta la restauración. Disuasores para carpas invasoras: tenemos umbrales auditivos y una evasión inicial en tanque, pero no eficacia en un río ni efectos sobre especies nativas. Señuelos: orientación del bacalao hacia un tono, pero ningún efecto en el pez león, y nadie ha probado una captura operativa. Mitigación del ruido: tenemos cambios en el escape y en la supervivencia, pero ninguna medida concreta, como cambiar de motor o regular el tráfico, se ha evaluado como intervención.</a:t>
            </a:r>
            <a:br>
              <a:rPr lang="en-US"/>
            </a:br>
            <a:br>
              <a:rPr lang="en-US"/>
            </a:br>
            <a:r>
              <a:rPr lang="en-US"/>
              <a:t>[Última fila] Y una aplicación que sí es real: las herramientas de investigación. La manipulación de fase, las cámaras autónomas y los diseños antes–después a gran escala ya permiten medir mejor. Por ejemplo, sin el experimento de fase no sabríamos que medir solo presión puede ocultar la información direccional. Una respuesta reproducible es necesaria para una aplicación, pero no suficiente: también hay que demostrar que se mantiene en el tiempo, que funciona en el lugar real y que no afecta a especies que no queremos alterar.</a:t>
            </a:r>
            <a:endParaRPr/>
          </a:p>
        </p:txBody>
      </p:sp>
      <p:sp>
        <p:nvSpPr>
          <p:cNvPr id="600" name="Google Shape;60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1:45</a:t>
            </a:r>
            <a:br>
              <a:rPr lang="en-US"/>
            </a:br>
            <a:br>
              <a:rPr lang="en-US"/>
            </a:br>
            <a:r>
              <a:rPr lang="en-US"/>
              <a:t>Lo resumimos en dos columnas. [Izquierda] Demostrado, siempre en las condiciones ensayadas: la relación de fase entre presión y movimiento determina la dirección del escape en Danionella; el enriquecimiento aumentó los juveniles de forma local durante 40 días; las carpas evitan el sonido al principio, pero se habitúan; las larvas de bacalao se orientan hacia un tono; y el ruido altera el escape y redujo la supervivencia en experimentos concretos.</a:t>
            </a:r>
            <a:br>
              <a:rPr lang="en-US"/>
            </a:br>
            <a:br>
              <a:rPr lang="en-US"/>
            </a:br>
            <a:r>
              <a:rPr lang="en-US"/>
              <a:t>[Derecha] Propuesto o sin demostrar: la restauración de arrecifes, las barreras acústicas operativas, los señuelos de captura, el beneficio de medidas concretas contra el ruido y, sobre todo, la generalización a todas las especies.</a:t>
            </a:r>
            <a:br>
              <a:rPr lang="en-US"/>
            </a:br>
            <a:br>
              <a:rPr lang="en-US"/>
            </a:br>
            <a:r>
              <a:rPr lang="en-US"/>
              <a:t>Cada punto de la columna izquierda corresponde a una de las diapositivas que vimos: el experimento de fase, los arrecifes, las carpas, el bacalao y las damiselas. Quiero subrayar algo: "no demostrado" no significa "falso". Significa que la cadena todavía tiene eslabones sin medir, y eso marca exactamente dónde debería ir la próxima investigación. Por ejemplo, para hablar de restauración haría falta seguir a los reclutas durante meses, medir su supervivencia y comprobar que el efecto persiste cuando se apagan los altavoces; para hablar de una barrera, probarla en el río, con exposiciones repetidas y con especies nativas presentes.</a:t>
            </a:r>
            <a:endParaRPr/>
          </a:p>
        </p:txBody>
      </p:sp>
      <p:sp>
        <p:nvSpPr>
          <p:cNvPr id="675" name="Google Shape;67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7" name="Google Shape;70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1:25</a:t>
            </a:r>
            <a:br>
              <a:rPr lang="en-US"/>
            </a:br>
            <a:br>
              <a:rPr lang="en-US"/>
            </a:br>
            <a:r>
              <a:rPr lang="en-US"/>
              <a:t>Nuestra revisión también tiene límites. [Izquierda] El principal: 493 informes que no pudimos recuperar, el 73 % de los buscados. Podrían cambiar el panorama. Además, lo recuperado tiende a ser de acceso abierto, el cribado lo hizo un solo revisor y la extracción profunda cubrió 20 de 74 informes.</a:t>
            </a:r>
            <a:br>
              <a:rPr lang="en-US"/>
            </a:br>
            <a:br>
              <a:rPr lang="en-US"/>
            </a:br>
            <a:r>
              <a:rPr lang="en-US"/>
              <a:t>[Derecha] ¿Por qué no hicimos un metaanálisis? Evaluamos siete agrupaciones de estudios y ninguna era combinable: cambiaban la especie, el estímulo, la unidad experimental y la métrica, faltaban datos por grupo y había posible dependencia entre estudios. El par más cercano eran los dos estudios de damiselas con ruido de motor: misma especie, misma etapa y mismo tipo de escape. Aun así, faltaban las medias por grupo en una escala común y no sabemos si las muestras son independientes. Promediarlas habría dado un número preciso, pero sin sentido. No es un fracaso: es un diagnóstico de qué habría que medir para poder combinar.</a:t>
            </a:r>
            <a:endParaRPr/>
          </a:p>
        </p:txBody>
      </p:sp>
      <p:sp>
        <p:nvSpPr>
          <p:cNvPr id="708" name="Google Shape;708;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1:10</a:t>
            </a:r>
            <a:br>
              <a:rPr lang="en-US"/>
            </a:br>
            <a:br>
              <a:rPr lang="en-US"/>
            </a:br>
            <a:r>
              <a:rPr lang="en-US"/>
              <a:t>Volvamos a la pregunta: ¿qué oye realmente un pez?</a:t>
            </a:r>
            <a:br>
              <a:rPr lang="en-US"/>
            </a:br>
            <a:br>
              <a:rPr lang="en-US"/>
            </a:br>
            <a:r>
              <a:rPr lang="en-US"/>
              <a:t>[Recorrer la cadena] Un pez recibe un campo con presión y movimiento, y el SPL solo describe una parte. Lo que percibe depende de su anatomía. La información, por ejemplo la dirección, puede estar en la relación entre ambos componentes. Su respuesta cambia con la especie, el contexto y la repetición. Y las aplicaciones son prometedoras, pero solo se han demostrado en condiciones concretas.</a:t>
            </a:r>
            <a:br>
              <a:rPr lang="en-US"/>
            </a:br>
            <a:br>
              <a:rPr lang="en-US"/>
            </a:br>
            <a:r>
              <a:rPr lang="en-US"/>
              <a:t>Por eso no existe una "frecuencia universal" que controle a los peces. Si algo queremos que se lleven, es esto: para entender o manejar la respuesta de un pez al sonido, hay que medir presión y movimiento donde está el pez, decir qué métrica se usa y comprobar si la respuesta se mantiene en el tiempo.</a:t>
            </a:r>
            <a:endParaRPr/>
          </a:p>
        </p:txBody>
      </p:sp>
      <p:sp>
        <p:nvSpPr>
          <p:cNvPr id="757" name="Google Shape;75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0" name="Google Shape;780;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previsto: 0:10</a:t>
            </a:r>
            <a:br>
              <a:rPr lang="en-US"/>
            </a:br>
            <a:br>
              <a:rPr lang="en-US"/>
            </a:br>
            <a:r>
              <a:rPr lang="en-US"/>
              <a:t>Muchas gracias. Quedamos atentos a sus preguntas.</a:t>
            </a:r>
            <a:br>
              <a:rPr lang="en-US"/>
            </a:br>
            <a:br>
              <a:rPr lang="en-US"/>
            </a:br>
            <a:r>
              <a:rPr lang="en-US"/>
              <a:t>RESPUESTAS PREPARADAS (ver también las diapositivas de respaldo R1–R5):</a:t>
            </a:r>
            <a:br>
              <a:rPr lang="en-US"/>
            </a:br>
            <a:br>
              <a:rPr lang="en-US"/>
            </a:br>
            <a:r>
              <a:rPr lang="en-US"/>
              <a:t>- "¿Y los otros organismos del título del curso?" Los invertebrados se cribaron (183 registros) pero no se analizaron a texto completo; por eso no presentamos conclusiones sobre ellos.</a:t>
            </a:r>
            <a:br>
              <a:rPr lang="en-US"/>
            </a:br>
            <a:r>
              <a:rPr lang="en-US"/>
              <a:t>- "¿Por qué confiar en 20 estudios?" No pretendemos estimar el efecto medio. Son 20 estudios leídos a fondo y elegidos por diversidad; incluyen resultados nulos. Los otros 54 están identificados y pendientes.</a:t>
            </a:r>
            <a:br>
              <a:rPr lang="en-US"/>
            </a:br>
            <a:r>
              <a:rPr lang="en-US"/>
              <a:t>- "¿El pez oye por la vejiga o no?" Depende de la especie: en cíclidos con extensiones, la sensibilidad es mayor por encima de 0,3 kHz; en el pez sapo lusitano, desinflarla no cambió la audición de forma detectable.</a:t>
            </a:r>
            <a:br>
              <a:rPr lang="en-US"/>
            </a:br>
            <a:r>
              <a:rPr lang="en-US"/>
              <a:t>- "¿Entonces el ruido de barcos es inocuo?" No podemos afirmarlo. Hay efectos sobre el escape y la supervivencia en experimentos concretos, y ausencia de efectos detectables en una prospección sísmica a gran escala. Depende de la fuente, la especie y la escala.</a:t>
            </a:r>
            <a:br>
              <a:rPr lang="en-US"/>
            </a:br>
            <a:r>
              <a:rPr lang="en-US"/>
              <a:t>- "¿Qué haría falta para un metaanálisis?" Medias y dispersiones por grupo, número efectivo de individuos, la misma métrica de respuesta y la confirmación de que los estudios son independientes.</a:t>
            </a:r>
            <a:endParaRPr/>
          </a:p>
        </p:txBody>
      </p:sp>
      <p:sp>
        <p:nvSpPr>
          <p:cNvPr id="781" name="Google Shape;781;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0" name="Google Shape;790;p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Lista completa de referencias citadas en la presentación (APA 7). No se proyecta durante la exposición.</a:t>
            </a:r>
            <a:endParaRPr/>
          </a:p>
        </p:txBody>
      </p:sp>
      <p:sp>
        <p:nvSpPr>
          <p:cNvPr id="791" name="Google Shape;791;p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Lista completa de referencias citadas en la presentación (APA 7). No se proyecta durante la exposición.</a:t>
            </a:r>
            <a:endParaRPr/>
          </a:p>
        </p:txBody>
      </p:sp>
      <p:sp>
        <p:nvSpPr>
          <p:cNvPr id="800" name="Google Shape;800;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7.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8.png"/><Relationship Id="rId4" Type="http://schemas.openxmlformats.org/officeDocument/2006/relationships/image" Target="../media/image30.png"/><Relationship Id="rId5"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3.png"/><Relationship Id="rId4" Type="http://schemas.openxmlformats.org/officeDocument/2006/relationships/image" Target="../media/image48.png"/><Relationship Id="rId5" Type="http://schemas.openxmlformats.org/officeDocument/2006/relationships/image" Target="../media/image44.png"/><Relationship Id="rId6" Type="http://schemas.openxmlformats.org/officeDocument/2006/relationships/image" Target="../media/image4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 name="Shape 15"/>
        <p:cNvGrpSpPr/>
        <p:nvPr/>
      </p:nvGrpSpPr>
      <p:grpSpPr>
        <a:xfrm>
          <a:off x="0" y="0"/>
          <a:ext cx="0" cy="0"/>
          <a:chOff x="0" y="0"/>
          <a:chExt cx="0" cy="0"/>
        </a:xfrm>
      </p:grpSpPr>
      <p:sp>
        <p:nvSpPr>
          <p:cNvPr id="16" name="Google Shape;16;p3"/>
          <p:cNvSpPr txBox="1"/>
          <p:nvPr/>
        </p:nvSpPr>
        <p:spPr>
          <a:xfrm>
            <a:off x="731520" y="1417320"/>
            <a:ext cx="7315200" cy="3657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2BB3B1"/>
              </a:buClr>
              <a:buSzPts val="1400"/>
              <a:buFont typeface="Calibri"/>
              <a:buNone/>
            </a:pPr>
            <a:r>
              <a:rPr b="1" i="0" lang="en-US" sz="1400" u="none" cap="none" strike="noStrike">
                <a:solidFill>
                  <a:srgbClr val="2BB3B1"/>
                </a:solidFill>
                <a:latin typeface="Calibri"/>
                <a:ea typeface="Calibri"/>
                <a:cs typeface="Calibri"/>
                <a:sym typeface="Calibri"/>
              </a:rPr>
              <a:t>ACÚSTICA BIOLÓGICA EXPERIMENTAL</a:t>
            </a:r>
            <a:endParaRPr b="0" i="0" sz="1400" u="none" cap="none" strike="noStrike">
              <a:solidFill>
                <a:schemeClr val="dk1"/>
              </a:solidFill>
              <a:latin typeface="Calibri"/>
              <a:ea typeface="Calibri"/>
              <a:cs typeface="Calibri"/>
              <a:sym typeface="Calibri"/>
            </a:endParaRPr>
          </a:p>
        </p:txBody>
      </p:sp>
      <p:sp>
        <p:nvSpPr>
          <p:cNvPr id="17" name="Google Shape;17;p3"/>
          <p:cNvSpPr txBox="1"/>
          <p:nvPr/>
        </p:nvSpPr>
        <p:spPr>
          <a:xfrm>
            <a:off x="731520" y="1828800"/>
            <a:ext cx="7498080" cy="11887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4800"/>
              <a:buFont typeface="Calibri"/>
              <a:buNone/>
            </a:pPr>
            <a:r>
              <a:rPr b="1" i="0" lang="en-US" sz="4800" u="none" cap="none" strike="noStrike">
                <a:solidFill>
                  <a:srgbClr val="FFFFFF"/>
                </a:solidFill>
                <a:latin typeface="Calibri"/>
                <a:ea typeface="Calibri"/>
                <a:cs typeface="Calibri"/>
                <a:sym typeface="Calibri"/>
              </a:rPr>
              <a:t>¿Qué oye realmente un pez?</a:t>
            </a:r>
            <a:endParaRPr b="0" i="0" sz="4800" u="none" cap="none" strike="noStrike">
              <a:solidFill>
                <a:schemeClr val="dk1"/>
              </a:solidFill>
              <a:latin typeface="Calibri"/>
              <a:ea typeface="Calibri"/>
              <a:cs typeface="Calibri"/>
              <a:sym typeface="Calibri"/>
            </a:endParaRPr>
          </a:p>
        </p:txBody>
      </p:sp>
      <p:sp>
        <p:nvSpPr>
          <p:cNvPr id="18" name="Google Shape;18;p3"/>
          <p:cNvSpPr txBox="1"/>
          <p:nvPr/>
        </p:nvSpPr>
        <p:spPr>
          <a:xfrm>
            <a:off x="731520" y="3063240"/>
            <a:ext cx="8686800" cy="5486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DCEBF2"/>
              </a:buClr>
              <a:buSzPts val="2400"/>
              <a:buFont typeface="Calibri"/>
              <a:buNone/>
            </a:pPr>
            <a:r>
              <a:rPr b="0" i="0" lang="en-US" sz="2400" u="none" cap="none" strike="noStrike">
                <a:solidFill>
                  <a:srgbClr val="DCEBF2"/>
                </a:solidFill>
                <a:latin typeface="Calibri"/>
                <a:ea typeface="Calibri"/>
                <a:cs typeface="Calibri"/>
                <a:sym typeface="Calibri"/>
              </a:rPr>
              <a:t>Campo acústico, percepción y respuestas conductuales en peces</a:t>
            </a:r>
            <a:endParaRPr b="0" i="0" sz="2400" u="none" cap="none" strike="noStrike">
              <a:solidFill>
                <a:schemeClr val="dk1"/>
              </a:solidFill>
              <a:latin typeface="Calibri"/>
              <a:ea typeface="Calibri"/>
              <a:cs typeface="Calibri"/>
              <a:sym typeface="Calibri"/>
            </a:endParaRPr>
          </a:p>
        </p:txBody>
      </p:sp>
      <p:sp>
        <p:nvSpPr>
          <p:cNvPr id="19" name="Google Shape;19;p3"/>
          <p:cNvSpPr txBox="1"/>
          <p:nvPr/>
        </p:nvSpPr>
        <p:spPr>
          <a:xfrm>
            <a:off x="731520" y="3611880"/>
            <a:ext cx="8686800" cy="4572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A9C1D3"/>
              </a:buClr>
              <a:buSzPts val="1800"/>
              <a:buFont typeface="Calibri"/>
              <a:buNone/>
            </a:pPr>
            <a:r>
              <a:rPr b="0" i="1" lang="en-US" sz="1800" u="none" cap="none" strike="noStrike">
                <a:solidFill>
                  <a:srgbClr val="A9C1D3"/>
                </a:solidFill>
                <a:latin typeface="Calibri"/>
                <a:ea typeface="Calibri"/>
                <a:cs typeface="Calibri"/>
                <a:sym typeface="Calibri"/>
              </a:rPr>
              <a:t>Revisión sistemática con síntesis narrativa</a:t>
            </a:r>
            <a:endParaRPr b="0" i="0" sz="1800" u="none" cap="none" strike="noStrike">
              <a:solidFill>
                <a:schemeClr val="dk1"/>
              </a:solidFill>
              <a:latin typeface="Calibri"/>
              <a:ea typeface="Calibri"/>
              <a:cs typeface="Calibri"/>
              <a:sym typeface="Calibri"/>
            </a:endParaRPr>
          </a:p>
        </p:txBody>
      </p:sp>
      <p:sp>
        <p:nvSpPr>
          <p:cNvPr id="20" name="Google Shape;20;p3"/>
          <p:cNvSpPr txBox="1"/>
          <p:nvPr/>
        </p:nvSpPr>
        <p:spPr>
          <a:xfrm>
            <a:off x="731520" y="5760720"/>
            <a:ext cx="914400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DCEBF2"/>
              </a:buClr>
              <a:buSzPts val="1500"/>
              <a:buFont typeface="Calibri"/>
              <a:buNone/>
            </a:pPr>
            <a:r>
              <a:rPr b="0" i="0" lang="en-US" sz="1900" u="none" cap="none" strike="noStrike">
                <a:solidFill>
                  <a:srgbClr val="DCEBF2"/>
                </a:solidFill>
                <a:latin typeface="Calibri"/>
                <a:ea typeface="Calibri"/>
                <a:cs typeface="Calibri"/>
                <a:sym typeface="Calibri"/>
              </a:rPr>
              <a:t>Acústica Submarina  ·  </a:t>
            </a:r>
            <a:r>
              <a:rPr lang="en-US" sz="1900">
                <a:solidFill>
                  <a:srgbClr val="DCEBF2"/>
                </a:solidFill>
                <a:latin typeface="Calibri"/>
                <a:ea typeface="Calibri"/>
                <a:cs typeface="Calibri"/>
                <a:sym typeface="Calibri"/>
              </a:rPr>
              <a:t>Huamani Arroyo, Cristian</a:t>
            </a:r>
            <a:r>
              <a:rPr b="0" i="0" lang="en-US" sz="1900" u="none" cap="none" strike="noStrike">
                <a:solidFill>
                  <a:srgbClr val="DCEBF2"/>
                </a:solidFill>
                <a:latin typeface="Calibri"/>
                <a:ea typeface="Calibri"/>
                <a:cs typeface="Calibri"/>
                <a:sym typeface="Calibri"/>
              </a:rPr>
              <a:t>  ·  </a:t>
            </a:r>
            <a:r>
              <a:rPr lang="en-US" sz="1900">
                <a:solidFill>
                  <a:srgbClr val="DCEBF2"/>
                </a:solidFill>
                <a:latin typeface="Calibri"/>
                <a:ea typeface="Calibri"/>
                <a:cs typeface="Calibri"/>
                <a:sym typeface="Calibri"/>
              </a:rPr>
              <a:t>29/09/2026</a:t>
            </a:r>
            <a:endParaRPr b="0" i="0" sz="1900" u="none" cap="none" strike="noStrike">
              <a:solidFill>
                <a:schemeClr val="dk1"/>
              </a:solidFill>
              <a:latin typeface="Calibri"/>
              <a:ea typeface="Calibri"/>
              <a:cs typeface="Calibri"/>
              <a:sym typeface="Calibri"/>
            </a:endParaRPr>
          </a:p>
        </p:txBody>
      </p:sp>
      <p:sp>
        <p:nvSpPr>
          <p:cNvPr id="21" name="Google Shape;21;p3"/>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A9C1D3"/>
              </a:buClr>
              <a:buSzPts val="1100"/>
              <a:buFont typeface="Calibri"/>
              <a:buNone/>
            </a:pPr>
            <a:r>
              <a:rPr b="0" i="0" lang="en-US" sz="1100" u="none" cap="none" strike="noStrike">
                <a:solidFill>
                  <a:srgbClr val="A9C1D3"/>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A"/>
        </a:solidFill>
      </p:bgPr>
    </p:bg>
    <p:spTree>
      <p:nvGrpSpPr>
        <p:cNvPr id="26" name="Shape 26"/>
        <p:cNvGrpSpPr/>
        <p:nvPr/>
      </p:nvGrpSpPr>
      <p:grpSpPr>
        <a:xfrm>
          <a:off x="0" y="0"/>
          <a:ext cx="0" cy="0"/>
          <a:chOff x="0" y="0"/>
          <a:chExt cx="0" cy="0"/>
        </a:xfrm>
      </p:grpSpPr>
      <p:pic>
        <p:nvPicPr>
          <p:cNvPr descr="/home/claude/pres/img/s2_fish_wave.png" id="27" name="Google Shape;27;p4"/>
          <p:cNvPicPr preferRelativeResize="0"/>
          <p:nvPr/>
        </p:nvPicPr>
        <p:blipFill rotWithShape="1">
          <a:blip r:embed="rId3">
            <a:alphaModFix/>
          </a:blip>
          <a:srcRect b="0" l="0" r="0" t="0"/>
          <a:stretch/>
        </p:blipFill>
        <p:spPr>
          <a:xfrm>
            <a:off x="457200" y="1188720"/>
            <a:ext cx="6035040" cy="4023360"/>
          </a:xfrm>
          <a:prstGeom prst="rect">
            <a:avLst/>
          </a:prstGeom>
          <a:noFill/>
          <a:ln>
            <a:noFill/>
          </a:ln>
        </p:spPr>
      </p:pic>
      <p:sp>
        <p:nvSpPr>
          <p:cNvPr id="28" name="Google Shape;28;p4"/>
          <p:cNvSpPr txBox="1"/>
          <p:nvPr/>
        </p:nvSpPr>
        <p:spPr>
          <a:xfrm>
            <a:off x="6766560" y="1371600"/>
            <a:ext cx="4937760" cy="1554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4000"/>
              <a:buFont typeface="Calibri"/>
              <a:buNone/>
            </a:pPr>
            <a:r>
              <a:rPr b="1" i="0" lang="en-US" sz="4000" u="none" cap="none" strike="noStrike">
                <a:solidFill>
                  <a:srgbClr val="FFFFFF"/>
                </a:solidFill>
                <a:latin typeface="Calibri"/>
                <a:ea typeface="Calibri"/>
                <a:cs typeface="Calibri"/>
                <a:sym typeface="Calibri"/>
              </a:rPr>
              <a:t>¿Qué oye realmente un pez?</a:t>
            </a:r>
            <a:endParaRPr b="0" i="0" sz="4000" u="none" cap="none" strike="noStrike">
              <a:solidFill>
                <a:schemeClr val="dk1"/>
              </a:solidFill>
              <a:latin typeface="Calibri"/>
              <a:ea typeface="Calibri"/>
              <a:cs typeface="Calibri"/>
              <a:sym typeface="Calibri"/>
            </a:endParaRPr>
          </a:p>
        </p:txBody>
      </p:sp>
      <p:sp>
        <p:nvSpPr>
          <p:cNvPr id="29" name="Google Shape;29;p4"/>
          <p:cNvSpPr txBox="1"/>
          <p:nvPr/>
        </p:nvSpPr>
        <p:spPr>
          <a:xfrm>
            <a:off x="6766560" y="3154680"/>
            <a:ext cx="4937760" cy="5486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9FD8D6"/>
              </a:buClr>
              <a:buSzPts val="2400"/>
              <a:buFont typeface="Calibri"/>
              <a:buNone/>
            </a:pPr>
            <a:r>
              <a:rPr b="0" i="1" lang="en-US" sz="2400" u="none" cap="none" strike="noStrike">
                <a:solidFill>
                  <a:srgbClr val="9FD8D6"/>
                </a:solidFill>
                <a:latin typeface="Calibri"/>
                <a:ea typeface="Calibri"/>
                <a:cs typeface="Calibri"/>
                <a:sym typeface="Calibri"/>
              </a:rPr>
              <a:t>«El sonido era de 140 dB»…</a:t>
            </a:r>
            <a:endParaRPr b="0" i="0" sz="2400" u="none" cap="none" strike="noStrike">
              <a:solidFill>
                <a:schemeClr val="dk1"/>
              </a:solidFill>
              <a:latin typeface="Calibri"/>
              <a:ea typeface="Calibri"/>
              <a:cs typeface="Calibri"/>
              <a:sym typeface="Calibri"/>
            </a:endParaRPr>
          </a:p>
        </p:txBody>
      </p:sp>
      <p:sp>
        <p:nvSpPr>
          <p:cNvPr id="30" name="Google Shape;30;p4"/>
          <p:cNvSpPr txBox="1"/>
          <p:nvPr/>
        </p:nvSpPr>
        <p:spPr>
          <a:xfrm>
            <a:off x="6766560" y="3794760"/>
            <a:ext cx="4937760" cy="9144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¿140 dB de qué, y medidos dónde?</a:t>
            </a:r>
            <a:endParaRPr b="0" i="0" sz="2600" u="none" cap="none" strike="noStrike">
              <a:solidFill>
                <a:schemeClr val="dk1"/>
              </a:solidFill>
              <a:latin typeface="Calibri"/>
              <a:ea typeface="Calibri"/>
              <a:cs typeface="Calibri"/>
              <a:sym typeface="Calibri"/>
            </a:endParaRPr>
          </a:p>
        </p:txBody>
      </p:sp>
      <p:sp>
        <p:nvSpPr>
          <p:cNvPr id="31" name="Google Shape;31;p4"/>
          <p:cNvSpPr txBox="1"/>
          <p:nvPr/>
        </p:nvSpPr>
        <p:spPr>
          <a:xfrm>
            <a:off x="6766560" y="4892040"/>
            <a:ext cx="4846320" cy="7315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A9C1D3"/>
              </a:buClr>
              <a:buSzPts val="1500"/>
              <a:buFont typeface="Calibri"/>
              <a:buNone/>
            </a:pPr>
            <a:r>
              <a:rPr b="0" i="0" lang="en-US" sz="1500" u="none" cap="none" strike="noStrike">
                <a:solidFill>
                  <a:srgbClr val="A9C1D3"/>
                </a:solidFill>
                <a:latin typeface="Calibri"/>
                <a:ea typeface="Calibri"/>
                <a:cs typeface="Calibri"/>
                <a:sym typeface="Calibri"/>
              </a:rPr>
              <a:t>Sin oído externo ni medio, con un cuerpo casi «transparente» al sonido</a:t>
            </a:r>
            <a:endParaRPr b="0" i="0" sz="1500" u="none" cap="none" strike="noStrike">
              <a:solidFill>
                <a:schemeClr val="dk1"/>
              </a:solidFill>
              <a:latin typeface="Calibri"/>
              <a:ea typeface="Calibri"/>
              <a:cs typeface="Calibri"/>
              <a:sym typeface="Calibri"/>
            </a:endParaRPr>
          </a:p>
        </p:txBody>
      </p:sp>
      <p:sp>
        <p:nvSpPr>
          <p:cNvPr id="32" name="Google Shape;32;p4"/>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A9C1D3"/>
              </a:buClr>
              <a:buSzPts val="1100"/>
              <a:buFont typeface="Calibri"/>
              <a:buNone/>
            </a:pPr>
            <a:r>
              <a:rPr b="0" i="0" lang="en-US" sz="1100" u="none" cap="none" strike="noStrike">
                <a:solidFill>
                  <a:srgbClr val="A9C1D3"/>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 name="Shape 37"/>
        <p:cNvGrpSpPr/>
        <p:nvPr/>
      </p:nvGrpSpPr>
      <p:grpSpPr>
        <a:xfrm>
          <a:off x="0" y="0"/>
          <a:ext cx="0" cy="0"/>
          <a:chOff x="0" y="0"/>
          <a:chExt cx="0" cy="0"/>
        </a:xfrm>
      </p:grpSpPr>
      <p:sp>
        <p:nvSpPr>
          <p:cNvPr id="38" name="Google Shape;38;p5"/>
          <p:cNvSpPr txBox="1"/>
          <p:nvPr/>
        </p:nvSpPr>
        <p:spPr>
          <a:xfrm>
            <a:off x="548640" y="41148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800"/>
              <a:buFont typeface="Calibri"/>
              <a:buNone/>
            </a:pPr>
            <a:r>
              <a:rPr b="1" i="0" lang="en-US" sz="2800" u="none" cap="none" strike="noStrike">
                <a:solidFill>
                  <a:srgbClr val="0B2A4A"/>
                </a:solidFill>
                <a:latin typeface="Calibri"/>
                <a:ea typeface="Calibri"/>
                <a:cs typeface="Calibri"/>
                <a:sym typeface="Calibri"/>
              </a:rPr>
              <a:t>Un sonido submarino son dos magnitudes: presión y movimiento</a:t>
            </a:r>
            <a:endParaRPr b="0" i="0" sz="2800" u="none" cap="none" strike="noStrike">
              <a:solidFill>
                <a:schemeClr val="dk1"/>
              </a:solidFill>
              <a:latin typeface="Calibri"/>
              <a:ea typeface="Calibri"/>
              <a:cs typeface="Calibri"/>
              <a:sym typeface="Calibri"/>
            </a:endParaRPr>
          </a:p>
        </p:txBody>
      </p:sp>
      <p:pic>
        <p:nvPicPr>
          <p:cNvPr descr="/home/claude/pres/img/s3_wave.png" id="39" name="Google Shape;39;p5"/>
          <p:cNvPicPr preferRelativeResize="0"/>
          <p:nvPr/>
        </p:nvPicPr>
        <p:blipFill rotWithShape="1">
          <a:blip r:embed="rId3">
            <a:alphaModFix/>
          </a:blip>
          <a:srcRect b="0" l="0" r="0" t="0"/>
          <a:stretch/>
        </p:blipFill>
        <p:spPr>
          <a:xfrm>
            <a:off x="548640" y="1417320"/>
            <a:ext cx="7589520" cy="2816352"/>
          </a:xfrm>
          <a:prstGeom prst="rect">
            <a:avLst/>
          </a:prstGeom>
          <a:noFill/>
          <a:ln>
            <a:noFill/>
          </a:ln>
        </p:spPr>
      </p:pic>
      <p:sp>
        <p:nvSpPr>
          <p:cNvPr id="40" name="Google Shape;40;p5"/>
          <p:cNvSpPr txBox="1"/>
          <p:nvPr/>
        </p:nvSpPr>
        <p:spPr>
          <a:xfrm>
            <a:off x="1600200" y="1371600"/>
            <a:ext cx="1371600" cy="2743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F6F9F"/>
              </a:buClr>
              <a:buSzPts val="1300"/>
              <a:buFont typeface="Calibri"/>
              <a:buNone/>
            </a:pPr>
            <a:r>
              <a:rPr b="1" i="0" lang="en-US" sz="1300" u="none" cap="none" strike="noStrike">
                <a:solidFill>
                  <a:srgbClr val="1F6F9F"/>
                </a:solidFill>
                <a:latin typeface="Calibri"/>
                <a:ea typeface="Calibri"/>
                <a:cs typeface="Calibri"/>
                <a:sym typeface="Calibri"/>
              </a:rPr>
              <a:t>presión</a:t>
            </a:r>
            <a:endParaRPr b="0" i="0" sz="1300" u="none" cap="none" strike="noStrike">
              <a:solidFill>
                <a:schemeClr val="dk1"/>
              </a:solidFill>
              <a:latin typeface="Calibri"/>
              <a:ea typeface="Calibri"/>
              <a:cs typeface="Calibri"/>
              <a:sym typeface="Calibri"/>
            </a:endParaRPr>
          </a:p>
        </p:txBody>
      </p:sp>
      <p:sp>
        <p:nvSpPr>
          <p:cNvPr id="41" name="Google Shape;41;p5"/>
          <p:cNvSpPr txBox="1"/>
          <p:nvPr/>
        </p:nvSpPr>
        <p:spPr>
          <a:xfrm>
            <a:off x="1600200" y="3931920"/>
            <a:ext cx="2743200" cy="2743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4807E"/>
              </a:buClr>
              <a:buSzPts val="1300"/>
              <a:buFont typeface="Calibri"/>
              <a:buNone/>
            </a:pPr>
            <a:r>
              <a:rPr b="1" i="0" lang="en-US" sz="1300" u="none" cap="none" strike="noStrike">
                <a:solidFill>
                  <a:srgbClr val="14807E"/>
                </a:solidFill>
                <a:latin typeface="Calibri"/>
                <a:ea typeface="Calibri"/>
                <a:cs typeface="Calibri"/>
                <a:sym typeface="Calibri"/>
              </a:rPr>
              <a:t>movimiento de partículas</a:t>
            </a:r>
            <a:endParaRPr b="0" i="0" sz="1300" u="none" cap="none" strike="noStrike">
              <a:solidFill>
                <a:schemeClr val="dk1"/>
              </a:solidFill>
              <a:latin typeface="Calibri"/>
              <a:ea typeface="Calibri"/>
              <a:cs typeface="Calibri"/>
              <a:sym typeface="Calibri"/>
            </a:endParaRPr>
          </a:p>
        </p:txBody>
      </p:sp>
      <p:sp>
        <p:nvSpPr>
          <p:cNvPr id="42" name="Google Shape;42;p5"/>
          <p:cNvSpPr/>
          <p:nvPr/>
        </p:nvSpPr>
        <p:spPr>
          <a:xfrm>
            <a:off x="548640" y="4389120"/>
            <a:ext cx="3703320" cy="1600200"/>
          </a:xfrm>
          <a:prstGeom prst="roundRect">
            <a:avLst>
              <a:gd fmla="val 4571" name="adj"/>
            </a:avLst>
          </a:prstGeom>
          <a:solidFill>
            <a:srgbClr val="E6F0F7"/>
          </a:solidFill>
          <a:ln cap="flat" cmpd="sng" w="12700">
            <a:solidFill>
              <a:srgbClr val="E6F0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txBox="1"/>
          <p:nvPr/>
        </p:nvSpPr>
        <p:spPr>
          <a:xfrm>
            <a:off x="731520" y="4480560"/>
            <a:ext cx="338328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F6F9F"/>
              </a:buClr>
              <a:buSzPts val="1900"/>
              <a:buFont typeface="Calibri"/>
              <a:buNone/>
            </a:pPr>
            <a:r>
              <a:rPr b="1" i="0" lang="en-US" sz="1900" u="none" cap="none" strike="noStrike">
                <a:solidFill>
                  <a:srgbClr val="1F6F9F"/>
                </a:solidFill>
                <a:latin typeface="Calibri"/>
                <a:ea typeface="Calibri"/>
                <a:cs typeface="Calibri"/>
                <a:sym typeface="Calibri"/>
              </a:rPr>
              <a:t>Presión acústica</a:t>
            </a:r>
            <a:endParaRPr b="0" i="0" sz="1900" u="none" cap="none" strike="noStrike">
              <a:solidFill>
                <a:schemeClr val="dk1"/>
              </a:solidFill>
              <a:latin typeface="Calibri"/>
              <a:ea typeface="Calibri"/>
              <a:cs typeface="Calibri"/>
              <a:sym typeface="Calibri"/>
            </a:endParaRPr>
          </a:p>
        </p:txBody>
      </p:sp>
      <p:sp>
        <p:nvSpPr>
          <p:cNvPr id="44" name="Google Shape;44;p5"/>
          <p:cNvSpPr txBox="1"/>
          <p:nvPr/>
        </p:nvSpPr>
        <p:spPr>
          <a:xfrm>
            <a:off x="731520" y="4892040"/>
            <a:ext cx="338328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700"/>
              <a:buFont typeface="Calibri"/>
              <a:buNone/>
            </a:pPr>
            <a:r>
              <a:rPr b="0" i="0" lang="en-US" sz="1700" u="none" cap="none" strike="noStrike">
                <a:solidFill>
                  <a:srgbClr val="1B2B3A"/>
                </a:solidFill>
                <a:latin typeface="Calibri"/>
                <a:ea typeface="Calibri"/>
                <a:cs typeface="Calibri"/>
                <a:sym typeface="Calibri"/>
              </a:rPr>
              <a:t>Escalar: dice cuánto</a:t>
            </a:r>
            <a:endParaRPr b="0" i="0" sz="1700" u="none" cap="none" strike="noStrike">
              <a:solidFill>
                <a:schemeClr val="dk1"/>
              </a:solidFill>
              <a:latin typeface="Calibri"/>
              <a:ea typeface="Calibri"/>
              <a:cs typeface="Calibri"/>
              <a:sym typeface="Calibri"/>
            </a:endParaRPr>
          </a:p>
        </p:txBody>
      </p:sp>
      <p:sp>
        <p:nvSpPr>
          <p:cNvPr id="45" name="Google Shape;45;p5"/>
          <p:cNvSpPr txBox="1"/>
          <p:nvPr/>
        </p:nvSpPr>
        <p:spPr>
          <a:xfrm>
            <a:off x="731520" y="5303520"/>
            <a:ext cx="3383280" cy="3657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300"/>
              <a:buFont typeface="Calibri"/>
              <a:buNone/>
            </a:pPr>
            <a:r>
              <a:rPr b="0" i="1" lang="en-US" sz="1300" u="none" cap="none" strike="noStrike">
                <a:solidFill>
                  <a:srgbClr val="5A6B7B"/>
                </a:solidFill>
                <a:latin typeface="Calibri"/>
                <a:ea typeface="Calibri"/>
                <a:cs typeface="Calibri"/>
                <a:sym typeface="Calibri"/>
              </a:rPr>
              <a:t>como un termómetro</a:t>
            </a:r>
            <a:endParaRPr b="0" i="0" sz="1300" u="none" cap="none" strike="noStrike">
              <a:solidFill>
                <a:schemeClr val="dk1"/>
              </a:solidFill>
              <a:latin typeface="Calibri"/>
              <a:ea typeface="Calibri"/>
              <a:cs typeface="Calibri"/>
              <a:sym typeface="Calibri"/>
            </a:endParaRPr>
          </a:p>
        </p:txBody>
      </p:sp>
      <p:sp>
        <p:nvSpPr>
          <p:cNvPr id="46" name="Google Shape;46;p5"/>
          <p:cNvSpPr/>
          <p:nvPr/>
        </p:nvSpPr>
        <p:spPr>
          <a:xfrm>
            <a:off x="4434840" y="4389120"/>
            <a:ext cx="3703320" cy="1600200"/>
          </a:xfrm>
          <a:prstGeom prst="roundRect">
            <a:avLst>
              <a:gd fmla="val 4571" name="adj"/>
            </a:avLst>
          </a:prstGeom>
          <a:solidFill>
            <a:srgbClr val="E3F4F3"/>
          </a:solidFill>
          <a:ln cap="flat" cmpd="sng" w="12700">
            <a:solidFill>
              <a:srgbClr val="E3F4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txBox="1"/>
          <p:nvPr/>
        </p:nvSpPr>
        <p:spPr>
          <a:xfrm>
            <a:off x="4617720" y="4480560"/>
            <a:ext cx="347472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4807E"/>
              </a:buClr>
              <a:buSzPts val="1900"/>
              <a:buFont typeface="Calibri"/>
              <a:buNone/>
            </a:pPr>
            <a:r>
              <a:rPr b="1" i="0" lang="en-US" sz="1900" u="none" cap="none" strike="noStrike">
                <a:solidFill>
                  <a:srgbClr val="14807E"/>
                </a:solidFill>
                <a:latin typeface="Calibri"/>
                <a:ea typeface="Calibri"/>
                <a:cs typeface="Calibri"/>
                <a:sym typeface="Calibri"/>
              </a:rPr>
              <a:t>Movimiento de partículas</a:t>
            </a:r>
            <a:endParaRPr b="0" i="0" sz="1900" u="none" cap="none" strike="noStrike">
              <a:solidFill>
                <a:schemeClr val="dk1"/>
              </a:solidFill>
              <a:latin typeface="Calibri"/>
              <a:ea typeface="Calibri"/>
              <a:cs typeface="Calibri"/>
              <a:sym typeface="Calibri"/>
            </a:endParaRPr>
          </a:p>
        </p:txBody>
      </p:sp>
      <p:sp>
        <p:nvSpPr>
          <p:cNvPr id="48" name="Google Shape;48;p5"/>
          <p:cNvSpPr txBox="1"/>
          <p:nvPr/>
        </p:nvSpPr>
        <p:spPr>
          <a:xfrm>
            <a:off x="4617720" y="4892040"/>
            <a:ext cx="347472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700"/>
              <a:buFont typeface="Calibri"/>
              <a:buNone/>
            </a:pPr>
            <a:r>
              <a:rPr b="0" i="0" lang="en-US" sz="1700" u="none" cap="none" strike="noStrike">
                <a:solidFill>
                  <a:srgbClr val="1B2B3A"/>
                </a:solidFill>
                <a:latin typeface="Calibri"/>
                <a:ea typeface="Calibri"/>
                <a:cs typeface="Calibri"/>
                <a:sym typeface="Calibri"/>
              </a:rPr>
              <a:t>Vectorial: dice cuánto y hacia dónde</a:t>
            </a:r>
            <a:endParaRPr b="0" i="0" sz="1700" u="none" cap="none" strike="noStrike">
              <a:solidFill>
                <a:schemeClr val="dk1"/>
              </a:solidFill>
              <a:latin typeface="Calibri"/>
              <a:ea typeface="Calibri"/>
              <a:cs typeface="Calibri"/>
              <a:sym typeface="Calibri"/>
            </a:endParaRPr>
          </a:p>
        </p:txBody>
      </p:sp>
      <p:sp>
        <p:nvSpPr>
          <p:cNvPr id="49" name="Google Shape;49;p5"/>
          <p:cNvSpPr txBox="1"/>
          <p:nvPr/>
        </p:nvSpPr>
        <p:spPr>
          <a:xfrm>
            <a:off x="4617720" y="5303520"/>
            <a:ext cx="3383280" cy="3657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300"/>
              <a:buFont typeface="Calibri"/>
              <a:buNone/>
            </a:pPr>
            <a:r>
              <a:rPr b="0" i="1" lang="en-US" sz="1300" u="none" cap="none" strike="noStrike">
                <a:solidFill>
                  <a:srgbClr val="5A6B7B"/>
                </a:solidFill>
                <a:latin typeface="Calibri"/>
                <a:ea typeface="Calibri"/>
                <a:cs typeface="Calibri"/>
                <a:sym typeface="Calibri"/>
              </a:rPr>
              <a:t>como una veleta</a:t>
            </a:r>
            <a:endParaRPr b="0" i="0" sz="1300" u="none" cap="none" strike="noStrike">
              <a:solidFill>
                <a:schemeClr val="dk1"/>
              </a:solidFill>
              <a:latin typeface="Calibri"/>
              <a:ea typeface="Calibri"/>
              <a:cs typeface="Calibri"/>
              <a:sym typeface="Calibri"/>
            </a:endParaRPr>
          </a:p>
        </p:txBody>
      </p:sp>
      <p:pic>
        <p:nvPicPr>
          <p:cNvPr descr="/home/claude/pres/img/s3_tank.png" id="50" name="Google Shape;50;p5"/>
          <p:cNvPicPr preferRelativeResize="0"/>
          <p:nvPr/>
        </p:nvPicPr>
        <p:blipFill rotWithShape="1">
          <a:blip r:embed="rId4">
            <a:alphaModFix/>
          </a:blip>
          <a:srcRect b="0" l="0" r="0" t="0"/>
          <a:stretch/>
        </p:blipFill>
        <p:spPr>
          <a:xfrm>
            <a:off x="8549640" y="1417320"/>
            <a:ext cx="3108960" cy="2176272"/>
          </a:xfrm>
          <a:prstGeom prst="rect">
            <a:avLst/>
          </a:prstGeom>
          <a:noFill/>
          <a:ln>
            <a:noFill/>
          </a:ln>
        </p:spPr>
      </p:pic>
      <p:sp>
        <p:nvSpPr>
          <p:cNvPr id="51" name="Google Shape;51;p5"/>
          <p:cNvSpPr txBox="1"/>
          <p:nvPr/>
        </p:nvSpPr>
        <p:spPr>
          <a:xfrm>
            <a:off x="8549640" y="3657600"/>
            <a:ext cx="3108960" cy="6400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300"/>
              <a:buFont typeface="Calibri"/>
              <a:buNone/>
            </a:pPr>
            <a:r>
              <a:rPr b="0" i="0" lang="en-US" sz="1300" u="none" cap="none" strike="noStrike">
                <a:solidFill>
                  <a:srgbClr val="5A6B7B"/>
                </a:solidFill>
                <a:latin typeface="Calibri"/>
                <a:ea typeface="Calibri"/>
                <a:cs typeface="Calibri"/>
                <a:sym typeface="Calibri"/>
              </a:rPr>
              <a:t>En un tanque, las reflexiones y el campo cercano desordenan el movimiento</a:t>
            </a:r>
            <a:endParaRPr b="0" i="0" sz="1300" u="none" cap="none" strike="noStrike">
              <a:solidFill>
                <a:schemeClr val="dk1"/>
              </a:solidFill>
              <a:latin typeface="Calibri"/>
              <a:ea typeface="Calibri"/>
              <a:cs typeface="Calibri"/>
              <a:sym typeface="Calibri"/>
            </a:endParaRPr>
          </a:p>
        </p:txBody>
      </p:sp>
      <p:sp>
        <p:nvSpPr>
          <p:cNvPr id="52" name="Google Shape;52;p5"/>
          <p:cNvSpPr/>
          <p:nvPr/>
        </p:nvSpPr>
        <p:spPr>
          <a:xfrm>
            <a:off x="8549640" y="4389120"/>
            <a:ext cx="3108960" cy="1600200"/>
          </a:xfrm>
          <a:prstGeom prst="roundRect">
            <a:avLst>
              <a:gd fmla="val 4571" name="adj"/>
            </a:avLst>
          </a:prstGeom>
          <a:solidFill>
            <a:srgbClr val="0B2A4A"/>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txBox="1"/>
          <p:nvPr/>
        </p:nvSpPr>
        <p:spPr>
          <a:xfrm>
            <a:off x="8686800" y="4480560"/>
            <a:ext cx="2834640" cy="4572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Onda plana:  u = p / ρc</a:t>
            </a:r>
            <a:endParaRPr b="0" i="0" sz="1900" u="none" cap="none" strike="noStrike">
              <a:solidFill>
                <a:schemeClr val="dk1"/>
              </a:solidFill>
              <a:latin typeface="Calibri"/>
              <a:ea typeface="Calibri"/>
              <a:cs typeface="Calibri"/>
              <a:sym typeface="Calibri"/>
            </a:endParaRPr>
          </a:p>
        </p:txBody>
      </p:sp>
      <p:sp>
        <p:nvSpPr>
          <p:cNvPr id="54" name="Google Shape;54;p5"/>
          <p:cNvSpPr txBox="1"/>
          <p:nvPr/>
        </p:nvSpPr>
        <p:spPr>
          <a:xfrm>
            <a:off x="8686800" y="4937760"/>
            <a:ext cx="2880360" cy="9601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DCEBF2"/>
              </a:buClr>
              <a:buSzPts val="1300"/>
              <a:buFont typeface="Calibri"/>
              <a:buNone/>
            </a:pPr>
            <a:r>
              <a:rPr b="0" i="0" lang="en-US" sz="1300" u="none" cap="none" strike="noStrike">
                <a:solidFill>
                  <a:srgbClr val="DCEBF2"/>
                </a:solidFill>
                <a:latin typeface="Calibri"/>
                <a:ea typeface="Calibri"/>
                <a:cs typeface="Calibri"/>
                <a:sym typeface="Calibri"/>
              </a:rPr>
              <a:t>Cerca de la fuente, de superficies o en tanques la relación se rompe → hay que medir el movimiento</a:t>
            </a:r>
            <a:endParaRPr b="0" i="0" sz="1300" u="none" cap="none" strike="noStrike">
              <a:solidFill>
                <a:schemeClr val="dk1"/>
              </a:solidFill>
              <a:latin typeface="Calibri"/>
              <a:ea typeface="Calibri"/>
              <a:cs typeface="Calibri"/>
              <a:sym typeface="Calibri"/>
            </a:endParaRPr>
          </a:p>
        </p:txBody>
      </p:sp>
      <p:sp>
        <p:nvSpPr>
          <p:cNvPr id="55" name="Google Shape;55;p5"/>
          <p:cNvSpPr txBox="1"/>
          <p:nvPr/>
        </p:nvSpPr>
        <p:spPr>
          <a:xfrm>
            <a:off x="548640" y="6382512"/>
            <a:ext cx="10241280" cy="29260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Nedelec et al., 2016  ·  Zielinski y Sorensen, 2017</a:t>
            </a:r>
            <a:endParaRPr b="0" i="0" sz="1200" u="none" cap="none" strike="noStrike">
              <a:solidFill>
                <a:schemeClr val="dk1"/>
              </a:solidFill>
              <a:latin typeface="Calibri"/>
              <a:ea typeface="Calibri"/>
              <a:cs typeface="Calibri"/>
              <a:sym typeface="Calibri"/>
            </a:endParaRPr>
          </a:p>
        </p:txBody>
      </p:sp>
      <p:sp>
        <p:nvSpPr>
          <p:cNvPr id="56" name="Google Shape;56;p5"/>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 name="Shape 61"/>
        <p:cNvGrpSpPr/>
        <p:nvPr/>
      </p:nvGrpSpPr>
      <p:grpSpPr>
        <a:xfrm>
          <a:off x="0" y="0"/>
          <a:ext cx="0" cy="0"/>
          <a:chOff x="0" y="0"/>
          <a:chExt cx="0" cy="0"/>
        </a:xfrm>
      </p:grpSpPr>
      <p:sp>
        <p:nvSpPr>
          <p:cNvPr id="62" name="Google Shape;62;p6"/>
          <p:cNvSpPr txBox="1"/>
          <p:nvPr/>
        </p:nvSpPr>
        <p:spPr>
          <a:xfrm>
            <a:off x="548640" y="41148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800"/>
              <a:buFont typeface="Calibri"/>
              <a:buNone/>
            </a:pPr>
            <a:r>
              <a:rPr b="1" i="0" lang="en-US" sz="2800" u="none" cap="none" strike="noStrike">
                <a:solidFill>
                  <a:srgbClr val="0B2A4A"/>
                </a:solidFill>
                <a:latin typeface="Calibri"/>
                <a:ea typeface="Calibri"/>
                <a:cs typeface="Calibri"/>
                <a:sym typeface="Calibri"/>
              </a:rPr>
              <a:t>Cómo percibe el sonido un pez: dos vías principales</a:t>
            </a:r>
            <a:endParaRPr b="0" i="0" sz="2800" u="none" cap="none" strike="noStrike">
              <a:solidFill>
                <a:schemeClr val="dk1"/>
              </a:solidFill>
              <a:latin typeface="Calibri"/>
              <a:ea typeface="Calibri"/>
              <a:cs typeface="Calibri"/>
              <a:sym typeface="Calibri"/>
            </a:endParaRPr>
          </a:p>
        </p:txBody>
      </p:sp>
      <p:pic>
        <p:nvPicPr>
          <p:cNvPr descr="/home/claude/pres/img/s4_fish.png" id="63" name="Google Shape;63;p6"/>
          <p:cNvPicPr preferRelativeResize="0"/>
          <p:nvPr/>
        </p:nvPicPr>
        <p:blipFill rotWithShape="1">
          <a:blip r:embed="rId3">
            <a:alphaModFix/>
          </a:blip>
          <a:srcRect b="0" l="0" r="0" t="0"/>
          <a:stretch/>
        </p:blipFill>
        <p:spPr>
          <a:xfrm>
            <a:off x="365760" y="1554480"/>
            <a:ext cx="6766560" cy="3520440"/>
          </a:xfrm>
          <a:prstGeom prst="rect">
            <a:avLst/>
          </a:prstGeom>
          <a:noFill/>
          <a:ln>
            <a:noFill/>
          </a:ln>
        </p:spPr>
      </p:pic>
      <p:sp>
        <p:nvSpPr>
          <p:cNvPr id="64" name="Google Shape;64;p6"/>
          <p:cNvSpPr txBox="1"/>
          <p:nvPr/>
        </p:nvSpPr>
        <p:spPr>
          <a:xfrm>
            <a:off x="5074920" y="2057400"/>
            <a:ext cx="109728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4807E"/>
              </a:buClr>
              <a:buSzPts val="1400"/>
              <a:buFont typeface="Calibri"/>
              <a:buNone/>
            </a:pPr>
            <a:r>
              <a:rPr b="1" i="0" lang="en-US" sz="1400" u="none" cap="none" strike="noStrike">
                <a:solidFill>
                  <a:srgbClr val="14807E"/>
                </a:solidFill>
                <a:latin typeface="Calibri"/>
                <a:ea typeface="Calibri"/>
                <a:cs typeface="Calibri"/>
                <a:sym typeface="Calibri"/>
              </a:rPr>
              <a:t>otolito</a:t>
            </a:r>
            <a:endParaRPr b="0" i="0" sz="1400" u="none" cap="none" strike="noStrike">
              <a:solidFill>
                <a:schemeClr val="dk1"/>
              </a:solidFill>
              <a:latin typeface="Calibri"/>
              <a:ea typeface="Calibri"/>
              <a:cs typeface="Calibri"/>
              <a:sym typeface="Calibri"/>
            </a:endParaRPr>
          </a:p>
        </p:txBody>
      </p:sp>
      <p:sp>
        <p:nvSpPr>
          <p:cNvPr id="65" name="Google Shape;65;p6"/>
          <p:cNvSpPr txBox="1"/>
          <p:nvPr/>
        </p:nvSpPr>
        <p:spPr>
          <a:xfrm>
            <a:off x="2542032" y="3419856"/>
            <a:ext cx="2011680" cy="3200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vejiga natatoria</a:t>
            </a:r>
            <a:endParaRPr b="0" i="0" sz="1400" u="none" cap="none" strike="noStrike">
              <a:solidFill>
                <a:schemeClr val="dk1"/>
              </a:solidFill>
              <a:latin typeface="Calibri"/>
              <a:ea typeface="Calibri"/>
              <a:cs typeface="Calibri"/>
              <a:sym typeface="Calibri"/>
            </a:endParaRPr>
          </a:p>
        </p:txBody>
      </p:sp>
      <p:sp>
        <p:nvSpPr>
          <p:cNvPr id="66" name="Google Shape;66;p6"/>
          <p:cNvSpPr txBox="1"/>
          <p:nvPr/>
        </p:nvSpPr>
        <p:spPr>
          <a:xfrm>
            <a:off x="1737360" y="2194560"/>
            <a:ext cx="146304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300"/>
              <a:buFont typeface="Calibri"/>
              <a:buNone/>
            </a:pPr>
            <a:r>
              <a:rPr b="1" i="0" lang="en-US" sz="1300" u="none" cap="none" strike="noStrike">
                <a:solidFill>
                  <a:srgbClr val="5A6B7B"/>
                </a:solidFill>
                <a:latin typeface="Calibri"/>
                <a:ea typeface="Calibri"/>
                <a:cs typeface="Calibri"/>
                <a:sym typeface="Calibri"/>
              </a:rPr>
              <a:t>línea lateral</a:t>
            </a:r>
            <a:endParaRPr b="0" i="0" sz="1300" u="none" cap="none" strike="noStrike">
              <a:solidFill>
                <a:schemeClr val="dk1"/>
              </a:solidFill>
              <a:latin typeface="Calibri"/>
              <a:ea typeface="Calibri"/>
              <a:cs typeface="Calibri"/>
              <a:sym typeface="Calibri"/>
            </a:endParaRPr>
          </a:p>
        </p:txBody>
      </p:sp>
      <p:pic>
        <p:nvPicPr>
          <p:cNvPr descr="preencoded.png" id="67" name="Google Shape;67;p6"/>
          <p:cNvPicPr preferRelativeResize="0"/>
          <p:nvPr/>
        </p:nvPicPr>
        <p:blipFill rotWithShape="1">
          <a:blip r:embed="rId4">
            <a:alphaModFix/>
          </a:blip>
          <a:srcRect b="0" l="0" r="0" t="0"/>
          <a:stretch/>
        </p:blipFill>
        <p:spPr>
          <a:xfrm>
            <a:off x="7498080" y="1554480"/>
            <a:ext cx="292608" cy="292608"/>
          </a:xfrm>
          <a:prstGeom prst="rect">
            <a:avLst/>
          </a:prstGeom>
          <a:noFill/>
          <a:ln>
            <a:noFill/>
          </a:ln>
        </p:spPr>
      </p:pic>
      <p:sp>
        <p:nvSpPr>
          <p:cNvPr id="68" name="Google Shape;68;p6"/>
          <p:cNvSpPr txBox="1"/>
          <p:nvPr/>
        </p:nvSpPr>
        <p:spPr>
          <a:xfrm>
            <a:off x="7955280" y="1463040"/>
            <a:ext cx="374904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4807E"/>
              </a:buClr>
              <a:buSzPts val="1800"/>
              <a:buFont typeface="Calibri"/>
              <a:buNone/>
            </a:pPr>
            <a:r>
              <a:rPr b="1" i="0" lang="en-US" sz="1800" u="none" cap="none" strike="noStrike">
                <a:solidFill>
                  <a:srgbClr val="14807E"/>
                </a:solidFill>
                <a:latin typeface="Calibri"/>
                <a:ea typeface="Calibri"/>
                <a:cs typeface="Calibri"/>
                <a:sym typeface="Calibri"/>
              </a:rPr>
              <a:t>Otolito</a:t>
            </a:r>
            <a:endParaRPr b="0" i="0" sz="1800" u="none" cap="none" strike="noStrike">
              <a:solidFill>
                <a:schemeClr val="dk1"/>
              </a:solidFill>
              <a:latin typeface="Calibri"/>
              <a:ea typeface="Calibri"/>
              <a:cs typeface="Calibri"/>
              <a:sym typeface="Calibri"/>
            </a:endParaRPr>
          </a:p>
        </p:txBody>
      </p:sp>
      <p:sp>
        <p:nvSpPr>
          <p:cNvPr id="69" name="Google Shape;69;p6"/>
          <p:cNvSpPr txBox="1"/>
          <p:nvPr/>
        </p:nvSpPr>
        <p:spPr>
          <a:xfrm>
            <a:off x="7955280" y="1874520"/>
            <a:ext cx="3749040" cy="685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00"/>
              <a:buFont typeface="Calibri"/>
              <a:buNone/>
            </a:pPr>
            <a:r>
              <a:rPr b="0" i="0" lang="en-US" sz="1400" u="none" cap="none" strike="noStrike">
                <a:solidFill>
                  <a:srgbClr val="1B2B3A"/>
                </a:solidFill>
                <a:latin typeface="Calibri"/>
                <a:ea typeface="Calibri"/>
                <a:cs typeface="Calibri"/>
                <a:sym typeface="Calibri"/>
              </a:rPr>
              <a:t>Detecta el movimiento: actúa como un acelerómetro (vía directa)</a:t>
            </a:r>
            <a:endParaRPr b="0" i="0" sz="1400" u="none" cap="none" strike="noStrike">
              <a:solidFill>
                <a:schemeClr val="dk1"/>
              </a:solidFill>
              <a:latin typeface="Calibri"/>
              <a:ea typeface="Calibri"/>
              <a:cs typeface="Calibri"/>
              <a:sym typeface="Calibri"/>
            </a:endParaRPr>
          </a:p>
        </p:txBody>
      </p:sp>
      <p:pic>
        <p:nvPicPr>
          <p:cNvPr descr="preencoded.png" id="70" name="Google Shape;70;p6"/>
          <p:cNvPicPr preferRelativeResize="0"/>
          <p:nvPr/>
        </p:nvPicPr>
        <p:blipFill rotWithShape="1">
          <a:blip r:embed="rId5">
            <a:alphaModFix/>
          </a:blip>
          <a:srcRect b="0" l="0" r="0" t="0"/>
          <a:stretch/>
        </p:blipFill>
        <p:spPr>
          <a:xfrm>
            <a:off x="7498080" y="2743200"/>
            <a:ext cx="292608" cy="292608"/>
          </a:xfrm>
          <a:prstGeom prst="rect">
            <a:avLst/>
          </a:prstGeom>
          <a:noFill/>
          <a:ln>
            <a:noFill/>
          </a:ln>
        </p:spPr>
      </p:pic>
      <p:sp>
        <p:nvSpPr>
          <p:cNvPr id="71" name="Google Shape;71;p6"/>
          <p:cNvSpPr txBox="1"/>
          <p:nvPr/>
        </p:nvSpPr>
        <p:spPr>
          <a:xfrm>
            <a:off x="7955280" y="2651760"/>
            <a:ext cx="374904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F6F9F"/>
              </a:buClr>
              <a:buSzPts val="1800"/>
              <a:buFont typeface="Calibri"/>
              <a:buNone/>
            </a:pPr>
            <a:r>
              <a:rPr b="1" i="0" lang="en-US" sz="1800" u="none" cap="none" strike="noStrike">
                <a:solidFill>
                  <a:srgbClr val="1F6F9F"/>
                </a:solidFill>
                <a:latin typeface="Calibri"/>
                <a:ea typeface="Calibri"/>
                <a:cs typeface="Calibri"/>
                <a:sym typeface="Calibri"/>
              </a:rPr>
              <a:t>Vejiga natatoria</a:t>
            </a:r>
            <a:endParaRPr b="0" i="0" sz="1800" u="none" cap="none" strike="noStrike">
              <a:solidFill>
                <a:schemeClr val="dk1"/>
              </a:solidFill>
              <a:latin typeface="Calibri"/>
              <a:ea typeface="Calibri"/>
              <a:cs typeface="Calibri"/>
              <a:sym typeface="Calibri"/>
            </a:endParaRPr>
          </a:p>
        </p:txBody>
      </p:sp>
      <p:sp>
        <p:nvSpPr>
          <p:cNvPr id="72" name="Google Shape;72;p6"/>
          <p:cNvSpPr txBox="1"/>
          <p:nvPr/>
        </p:nvSpPr>
        <p:spPr>
          <a:xfrm>
            <a:off x="7955280" y="3063240"/>
            <a:ext cx="3749040" cy="685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00"/>
              <a:buFont typeface="Calibri"/>
              <a:buNone/>
            </a:pPr>
            <a:r>
              <a:rPr b="0" i="0" lang="en-US" sz="1400" u="none" cap="none" strike="noStrike">
                <a:solidFill>
                  <a:srgbClr val="1B2B3A"/>
                </a:solidFill>
                <a:latin typeface="Calibri"/>
                <a:ea typeface="Calibri"/>
                <a:cs typeface="Calibri"/>
                <a:sym typeface="Calibri"/>
              </a:rPr>
              <a:t>Convierte la presión en desplazamiento, solo si está cerca del oído o acoplada a él</a:t>
            </a:r>
            <a:endParaRPr b="0" i="0" sz="1400" u="none" cap="none" strike="noStrike">
              <a:solidFill>
                <a:schemeClr val="dk1"/>
              </a:solidFill>
              <a:latin typeface="Calibri"/>
              <a:ea typeface="Calibri"/>
              <a:cs typeface="Calibri"/>
              <a:sym typeface="Calibri"/>
            </a:endParaRPr>
          </a:p>
        </p:txBody>
      </p:sp>
      <p:pic>
        <p:nvPicPr>
          <p:cNvPr descr="preencoded.png" id="73" name="Google Shape;73;p6"/>
          <p:cNvPicPr preferRelativeResize="0"/>
          <p:nvPr/>
        </p:nvPicPr>
        <p:blipFill rotWithShape="1">
          <a:blip r:embed="rId6">
            <a:alphaModFix/>
          </a:blip>
          <a:srcRect b="0" l="0" r="0" t="0"/>
          <a:stretch/>
        </p:blipFill>
        <p:spPr>
          <a:xfrm>
            <a:off x="7498080" y="3931920"/>
            <a:ext cx="292608" cy="292608"/>
          </a:xfrm>
          <a:prstGeom prst="rect">
            <a:avLst/>
          </a:prstGeom>
          <a:noFill/>
          <a:ln>
            <a:noFill/>
          </a:ln>
        </p:spPr>
      </p:pic>
      <p:sp>
        <p:nvSpPr>
          <p:cNvPr id="74" name="Google Shape;74;p6"/>
          <p:cNvSpPr txBox="1"/>
          <p:nvPr/>
        </p:nvSpPr>
        <p:spPr>
          <a:xfrm>
            <a:off x="7955280" y="3840480"/>
            <a:ext cx="374904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800"/>
              <a:buFont typeface="Calibri"/>
              <a:buNone/>
            </a:pPr>
            <a:r>
              <a:rPr b="1" i="0" lang="en-US" sz="1800" u="none" cap="none" strike="noStrike">
                <a:solidFill>
                  <a:srgbClr val="5A6B7B"/>
                </a:solidFill>
                <a:latin typeface="Calibri"/>
                <a:ea typeface="Calibri"/>
                <a:cs typeface="Calibri"/>
                <a:sym typeface="Calibri"/>
              </a:rPr>
              <a:t>Línea lateral</a:t>
            </a:r>
            <a:endParaRPr b="0" i="0" sz="1800" u="none" cap="none" strike="noStrike">
              <a:solidFill>
                <a:schemeClr val="dk1"/>
              </a:solidFill>
              <a:latin typeface="Calibri"/>
              <a:ea typeface="Calibri"/>
              <a:cs typeface="Calibri"/>
              <a:sym typeface="Calibri"/>
            </a:endParaRPr>
          </a:p>
        </p:txBody>
      </p:sp>
      <p:sp>
        <p:nvSpPr>
          <p:cNvPr id="75" name="Google Shape;75;p6"/>
          <p:cNvSpPr txBox="1"/>
          <p:nvPr/>
        </p:nvSpPr>
        <p:spPr>
          <a:xfrm>
            <a:off x="7955280" y="4251960"/>
            <a:ext cx="3749040" cy="685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00"/>
              <a:buFont typeface="Calibri"/>
              <a:buNone/>
            </a:pPr>
            <a:r>
              <a:rPr b="0" i="0" lang="en-US" sz="1400" u="none" cap="none" strike="noStrike">
                <a:solidFill>
                  <a:srgbClr val="1B2B3A"/>
                </a:solidFill>
                <a:latin typeface="Calibri"/>
                <a:ea typeface="Calibri"/>
                <a:cs typeface="Calibri"/>
                <a:sym typeface="Calibri"/>
              </a:rPr>
              <a:t>Órgano mecanosensorial; en Danionella no fue necesaria para la dirección del escape</a:t>
            </a:r>
            <a:endParaRPr b="0" i="0" sz="1400" u="none" cap="none" strike="noStrike">
              <a:solidFill>
                <a:schemeClr val="dk1"/>
              </a:solidFill>
              <a:latin typeface="Calibri"/>
              <a:ea typeface="Calibri"/>
              <a:cs typeface="Calibri"/>
              <a:sym typeface="Calibri"/>
            </a:endParaRPr>
          </a:p>
        </p:txBody>
      </p:sp>
      <p:sp>
        <p:nvSpPr>
          <p:cNvPr id="76" name="Google Shape;76;p6"/>
          <p:cNvSpPr/>
          <p:nvPr/>
        </p:nvSpPr>
        <p:spPr>
          <a:xfrm>
            <a:off x="548640" y="5257800"/>
            <a:ext cx="11109960" cy="868680"/>
          </a:xfrm>
          <a:prstGeom prst="roundRect">
            <a:avLst>
              <a:gd fmla="val 8421"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6"/>
          <p:cNvSpPr txBox="1"/>
          <p:nvPr/>
        </p:nvSpPr>
        <p:spPr>
          <a:xfrm>
            <a:off x="777240" y="5303520"/>
            <a:ext cx="10698480" cy="7772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00"/>
              <a:buFont typeface="Calibri"/>
              <a:buNone/>
            </a:pPr>
            <a:r>
              <a:rPr b="0" i="0" lang="en-US" sz="1500" u="none" cap="none" strike="noStrike">
                <a:solidFill>
                  <a:srgbClr val="1B2B3A"/>
                </a:solidFill>
                <a:latin typeface="Calibri"/>
                <a:ea typeface="Calibri"/>
                <a:cs typeface="Calibri"/>
                <a:sym typeface="Calibri"/>
              </a:rPr>
              <a:t>Tejido ≈ agua y oídos muy juntos (≈ 0,6 mm en D. cerebrum) → casi no hay pistas «entre oídos».  </a:t>
            </a:r>
            <a:r>
              <a:rPr b="1" i="0" lang="en-US" sz="1500" u="none" cap="none" strike="noStrike">
                <a:solidFill>
                  <a:srgbClr val="0B2A4A"/>
                </a:solidFill>
                <a:latin typeface="Calibri"/>
                <a:ea typeface="Calibri"/>
                <a:cs typeface="Calibri"/>
                <a:sym typeface="Calibri"/>
              </a:rPr>
              <a:t>No todos los peces detectan la misma magnitud física.</a:t>
            </a:r>
            <a:endParaRPr b="0" i="0" sz="1500" u="none" cap="none" strike="noStrike">
              <a:solidFill>
                <a:schemeClr val="dk1"/>
              </a:solidFill>
              <a:latin typeface="Calibri"/>
              <a:ea typeface="Calibri"/>
              <a:cs typeface="Calibri"/>
              <a:sym typeface="Calibri"/>
            </a:endParaRPr>
          </a:p>
        </p:txBody>
      </p:sp>
      <p:sp>
        <p:nvSpPr>
          <p:cNvPr id="78" name="Google Shape;78;p6"/>
          <p:cNvSpPr txBox="1"/>
          <p:nvPr/>
        </p:nvSpPr>
        <p:spPr>
          <a:xfrm>
            <a:off x="548640" y="6382512"/>
            <a:ext cx="10241280" cy="29260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Schulz-Mirbach et al., 2012  ·  Veith et al., 2024</a:t>
            </a:r>
            <a:endParaRPr b="0" i="0" sz="1200" u="none" cap="none" strike="noStrike">
              <a:solidFill>
                <a:schemeClr val="dk1"/>
              </a:solidFill>
              <a:latin typeface="Calibri"/>
              <a:ea typeface="Calibri"/>
              <a:cs typeface="Calibri"/>
              <a:sym typeface="Calibri"/>
            </a:endParaRPr>
          </a:p>
        </p:txBody>
      </p:sp>
      <p:sp>
        <p:nvSpPr>
          <p:cNvPr id="79" name="Google Shape;79;p6"/>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7"/>
          <p:cNvSpPr txBox="1"/>
          <p:nvPr/>
        </p:nvSpPr>
        <p:spPr>
          <a:xfrm>
            <a:off x="548640" y="41148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800"/>
              <a:buFont typeface="Calibri"/>
              <a:buNone/>
            </a:pPr>
            <a:r>
              <a:rPr b="1" i="0" lang="en-US" sz="2800" u="none" cap="none" strike="noStrike">
                <a:solidFill>
                  <a:srgbClr val="0B2A4A"/>
                </a:solidFill>
                <a:latin typeface="Calibri"/>
                <a:ea typeface="Calibri"/>
                <a:cs typeface="Calibri"/>
                <a:sym typeface="Calibri"/>
              </a:rPr>
              <a:t>«140 dB» no describe lo que recibe el pez</a:t>
            </a:r>
            <a:endParaRPr b="0" i="0" sz="2800" u="none" cap="none" strike="noStrike">
              <a:solidFill>
                <a:schemeClr val="dk1"/>
              </a:solidFill>
              <a:latin typeface="Calibri"/>
              <a:ea typeface="Calibri"/>
              <a:cs typeface="Calibri"/>
              <a:sym typeface="Calibri"/>
            </a:endParaRPr>
          </a:p>
        </p:txBody>
      </p:sp>
      <p:sp>
        <p:nvSpPr>
          <p:cNvPr id="86" name="Google Shape;86;p7"/>
          <p:cNvSpPr/>
          <p:nvPr/>
        </p:nvSpPr>
        <p:spPr>
          <a:xfrm>
            <a:off x="548640" y="1463040"/>
            <a:ext cx="2560320" cy="1645920"/>
          </a:xfrm>
          <a:prstGeom prst="roundRect">
            <a:avLst>
              <a:gd fmla="val 4444"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7" name="Google Shape;87;p7"/>
          <p:cNvPicPr preferRelativeResize="0"/>
          <p:nvPr/>
        </p:nvPicPr>
        <p:blipFill rotWithShape="1">
          <a:blip r:embed="rId3">
            <a:alphaModFix/>
          </a:blip>
          <a:srcRect b="0" l="0" r="0" t="0"/>
          <a:stretch/>
        </p:blipFill>
        <p:spPr>
          <a:xfrm>
            <a:off x="1554480" y="1691640"/>
            <a:ext cx="548640" cy="548640"/>
          </a:xfrm>
          <a:prstGeom prst="rect">
            <a:avLst/>
          </a:prstGeom>
          <a:noFill/>
          <a:ln>
            <a:noFill/>
          </a:ln>
        </p:spPr>
      </p:pic>
      <p:sp>
        <p:nvSpPr>
          <p:cNvPr id="88" name="Google Shape;88;p7"/>
          <p:cNvSpPr txBox="1"/>
          <p:nvPr/>
        </p:nvSpPr>
        <p:spPr>
          <a:xfrm>
            <a:off x="685800" y="2331720"/>
            <a:ext cx="2286000" cy="64008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0B2A4A"/>
              </a:buClr>
              <a:buSzPts val="1600"/>
              <a:buFont typeface="Calibri"/>
              <a:buNone/>
            </a:pPr>
            <a:r>
              <a:rPr b="1" i="0" lang="en-US" sz="1600" u="none" cap="none" strike="noStrike">
                <a:solidFill>
                  <a:srgbClr val="0B2A4A"/>
                </a:solidFill>
                <a:latin typeface="Calibri"/>
                <a:ea typeface="Calibri"/>
                <a:cs typeface="Calibri"/>
                <a:sym typeface="Calibri"/>
              </a:rPr>
              <a:t>¿Presión o movimiento?</a:t>
            </a:r>
            <a:endParaRPr b="0" i="0" sz="1600" u="none" cap="none" strike="noStrike">
              <a:solidFill>
                <a:schemeClr val="dk1"/>
              </a:solidFill>
              <a:latin typeface="Calibri"/>
              <a:ea typeface="Calibri"/>
              <a:cs typeface="Calibri"/>
              <a:sym typeface="Calibri"/>
            </a:endParaRPr>
          </a:p>
        </p:txBody>
      </p:sp>
      <p:sp>
        <p:nvSpPr>
          <p:cNvPr id="89" name="Google Shape;89;p7"/>
          <p:cNvSpPr/>
          <p:nvPr/>
        </p:nvSpPr>
        <p:spPr>
          <a:xfrm>
            <a:off x="3246120" y="1463040"/>
            <a:ext cx="2560320" cy="1645920"/>
          </a:xfrm>
          <a:prstGeom prst="roundRect">
            <a:avLst>
              <a:gd fmla="val 4444"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0" name="Google Shape;90;p7"/>
          <p:cNvPicPr preferRelativeResize="0"/>
          <p:nvPr/>
        </p:nvPicPr>
        <p:blipFill rotWithShape="1">
          <a:blip r:embed="rId4">
            <a:alphaModFix/>
          </a:blip>
          <a:srcRect b="0" l="0" r="0" t="0"/>
          <a:stretch/>
        </p:blipFill>
        <p:spPr>
          <a:xfrm>
            <a:off x="4251960" y="1691640"/>
            <a:ext cx="548640" cy="548640"/>
          </a:xfrm>
          <a:prstGeom prst="rect">
            <a:avLst/>
          </a:prstGeom>
          <a:noFill/>
          <a:ln>
            <a:noFill/>
          </a:ln>
        </p:spPr>
      </p:pic>
      <p:sp>
        <p:nvSpPr>
          <p:cNvPr id="91" name="Google Shape;91;p7"/>
          <p:cNvSpPr txBox="1"/>
          <p:nvPr/>
        </p:nvSpPr>
        <p:spPr>
          <a:xfrm>
            <a:off x="3383280" y="2331720"/>
            <a:ext cx="2286000" cy="64008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0B2A4A"/>
              </a:buClr>
              <a:buSzPts val="1600"/>
              <a:buFont typeface="Calibri"/>
              <a:buNone/>
            </a:pPr>
            <a:r>
              <a:rPr b="1" i="0" lang="en-US" sz="1600" u="none" cap="none" strike="noStrike">
                <a:solidFill>
                  <a:srgbClr val="0B2A4A"/>
                </a:solidFill>
                <a:latin typeface="Calibri"/>
                <a:ea typeface="Calibri"/>
                <a:cs typeface="Calibri"/>
                <a:sym typeface="Calibri"/>
              </a:rPr>
              <a:t>¿Nivel de fuente o recibido?</a:t>
            </a:r>
            <a:endParaRPr b="0" i="0" sz="1600" u="none" cap="none" strike="noStrike">
              <a:solidFill>
                <a:schemeClr val="dk1"/>
              </a:solidFill>
              <a:latin typeface="Calibri"/>
              <a:ea typeface="Calibri"/>
              <a:cs typeface="Calibri"/>
              <a:sym typeface="Calibri"/>
            </a:endParaRPr>
          </a:p>
        </p:txBody>
      </p:sp>
      <p:sp>
        <p:nvSpPr>
          <p:cNvPr id="92" name="Google Shape;92;p7"/>
          <p:cNvSpPr/>
          <p:nvPr/>
        </p:nvSpPr>
        <p:spPr>
          <a:xfrm>
            <a:off x="548640" y="3246120"/>
            <a:ext cx="2560320" cy="1645920"/>
          </a:xfrm>
          <a:prstGeom prst="roundRect">
            <a:avLst>
              <a:gd fmla="val 4444"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3" name="Google Shape;93;p7"/>
          <p:cNvPicPr preferRelativeResize="0"/>
          <p:nvPr/>
        </p:nvPicPr>
        <p:blipFill rotWithShape="1">
          <a:blip r:embed="rId5">
            <a:alphaModFix/>
          </a:blip>
          <a:srcRect b="0" l="0" r="0" t="0"/>
          <a:stretch/>
        </p:blipFill>
        <p:spPr>
          <a:xfrm>
            <a:off x="1554480" y="3474720"/>
            <a:ext cx="548640" cy="548640"/>
          </a:xfrm>
          <a:prstGeom prst="rect">
            <a:avLst/>
          </a:prstGeom>
          <a:noFill/>
          <a:ln>
            <a:noFill/>
          </a:ln>
        </p:spPr>
      </p:pic>
      <p:sp>
        <p:nvSpPr>
          <p:cNvPr id="94" name="Google Shape;94;p7"/>
          <p:cNvSpPr txBox="1"/>
          <p:nvPr/>
        </p:nvSpPr>
        <p:spPr>
          <a:xfrm>
            <a:off x="685800" y="4114800"/>
            <a:ext cx="2286000" cy="64008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0B2A4A"/>
              </a:buClr>
              <a:buSzPts val="1600"/>
              <a:buFont typeface="Calibri"/>
              <a:buNone/>
            </a:pPr>
            <a:r>
              <a:rPr b="1" i="0" lang="en-US" sz="1600" u="none" cap="none" strike="noStrike">
                <a:solidFill>
                  <a:srgbClr val="0B2A4A"/>
                </a:solidFill>
                <a:latin typeface="Calibri"/>
                <a:ea typeface="Calibri"/>
                <a:cs typeface="Calibri"/>
                <a:sym typeface="Calibri"/>
              </a:rPr>
              <a:t>¿Pico o RMS?</a:t>
            </a:r>
            <a:endParaRPr b="0" i="0" sz="1600" u="none" cap="none" strike="noStrike">
              <a:solidFill>
                <a:schemeClr val="dk1"/>
              </a:solidFill>
              <a:latin typeface="Calibri"/>
              <a:ea typeface="Calibri"/>
              <a:cs typeface="Calibri"/>
              <a:sym typeface="Calibri"/>
            </a:endParaRPr>
          </a:p>
        </p:txBody>
      </p:sp>
      <p:sp>
        <p:nvSpPr>
          <p:cNvPr id="95" name="Google Shape;95;p7"/>
          <p:cNvSpPr/>
          <p:nvPr/>
        </p:nvSpPr>
        <p:spPr>
          <a:xfrm>
            <a:off x="3246120" y="3246120"/>
            <a:ext cx="2560320" cy="1645920"/>
          </a:xfrm>
          <a:prstGeom prst="roundRect">
            <a:avLst>
              <a:gd fmla="val 4444"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6" name="Google Shape;96;p7"/>
          <p:cNvPicPr preferRelativeResize="0"/>
          <p:nvPr/>
        </p:nvPicPr>
        <p:blipFill rotWithShape="1">
          <a:blip r:embed="rId6">
            <a:alphaModFix/>
          </a:blip>
          <a:srcRect b="0" l="0" r="0" t="0"/>
          <a:stretch/>
        </p:blipFill>
        <p:spPr>
          <a:xfrm>
            <a:off x="4251960" y="3474720"/>
            <a:ext cx="548640" cy="548640"/>
          </a:xfrm>
          <a:prstGeom prst="rect">
            <a:avLst/>
          </a:prstGeom>
          <a:noFill/>
          <a:ln>
            <a:noFill/>
          </a:ln>
        </p:spPr>
      </p:pic>
      <p:sp>
        <p:nvSpPr>
          <p:cNvPr id="97" name="Google Shape;97;p7"/>
          <p:cNvSpPr txBox="1"/>
          <p:nvPr/>
        </p:nvSpPr>
        <p:spPr>
          <a:xfrm>
            <a:off x="3383280" y="4114800"/>
            <a:ext cx="2286000" cy="64008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0B2A4A"/>
              </a:buClr>
              <a:buSzPts val="1600"/>
              <a:buFont typeface="Calibri"/>
              <a:buNone/>
            </a:pPr>
            <a:r>
              <a:rPr b="1" i="0" lang="en-US" sz="1600" u="none" cap="none" strike="noStrike">
                <a:solidFill>
                  <a:srgbClr val="0B2A4A"/>
                </a:solidFill>
                <a:latin typeface="Calibri"/>
                <a:ea typeface="Calibri"/>
                <a:cs typeface="Calibri"/>
                <a:sym typeface="Calibri"/>
              </a:rPr>
              <a:t>¿Medido dónde?</a:t>
            </a:r>
            <a:endParaRPr b="0" i="0" sz="1600" u="none" cap="none" strike="noStrike">
              <a:solidFill>
                <a:schemeClr val="dk1"/>
              </a:solidFill>
              <a:latin typeface="Calibri"/>
              <a:ea typeface="Calibri"/>
              <a:cs typeface="Calibri"/>
              <a:sym typeface="Calibri"/>
            </a:endParaRPr>
          </a:p>
        </p:txBody>
      </p:sp>
      <p:sp>
        <p:nvSpPr>
          <p:cNvPr id="98" name="Google Shape;98;p7"/>
          <p:cNvSpPr txBox="1"/>
          <p:nvPr/>
        </p:nvSpPr>
        <p:spPr>
          <a:xfrm>
            <a:off x="548640" y="5120640"/>
            <a:ext cx="5257800" cy="5486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4807E"/>
              </a:buClr>
              <a:buSzPts val="2000"/>
              <a:buFont typeface="Calibri"/>
              <a:buNone/>
            </a:pPr>
            <a:r>
              <a:rPr b="1" i="1" lang="en-US" sz="2000" u="none" cap="none" strike="noStrike">
                <a:solidFill>
                  <a:srgbClr val="14807E"/>
                </a:solidFill>
                <a:latin typeface="Calibri"/>
                <a:ea typeface="Calibri"/>
                <a:cs typeface="Calibri"/>
                <a:sym typeface="Calibri"/>
              </a:rPr>
              <a:t>El SPL no es inútil: es incompleto.</a:t>
            </a:r>
            <a:endParaRPr b="0" i="0" sz="2000" u="none" cap="none" strike="noStrike">
              <a:solidFill>
                <a:schemeClr val="dk1"/>
              </a:solidFill>
              <a:latin typeface="Calibri"/>
              <a:ea typeface="Calibri"/>
              <a:cs typeface="Calibri"/>
              <a:sym typeface="Calibri"/>
            </a:endParaRPr>
          </a:p>
        </p:txBody>
      </p:sp>
      <p:sp>
        <p:nvSpPr>
          <p:cNvPr id="99" name="Google Shape;99;p7"/>
          <p:cNvSpPr/>
          <p:nvPr/>
        </p:nvSpPr>
        <p:spPr>
          <a:xfrm>
            <a:off x="6309360" y="1463040"/>
            <a:ext cx="5349240" cy="1325880"/>
          </a:xfrm>
          <a:prstGeom prst="roundRect">
            <a:avLst>
              <a:gd fmla="val 5517" name="adj"/>
            </a:avLst>
          </a:prstGeom>
          <a:solidFill>
            <a:srgbClr val="FFFFFF"/>
          </a:solidFill>
          <a:ln cap="flat" cmpd="sng" w="12700">
            <a:solidFill>
              <a:srgbClr val="C9D6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7"/>
          <p:cNvSpPr txBox="1"/>
          <p:nvPr/>
        </p:nvSpPr>
        <p:spPr>
          <a:xfrm>
            <a:off x="6446520" y="1463040"/>
            <a:ext cx="1600200" cy="13258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F6F9F"/>
              </a:buClr>
              <a:buSzPts val="2800"/>
              <a:buFont typeface="Calibri"/>
              <a:buNone/>
            </a:pPr>
            <a:r>
              <a:rPr b="1" i="0" lang="en-US" sz="2800" u="none" cap="none" strike="noStrike">
                <a:solidFill>
                  <a:srgbClr val="1F6F9F"/>
                </a:solidFill>
                <a:latin typeface="Calibri"/>
                <a:ea typeface="Calibri"/>
                <a:cs typeface="Calibri"/>
                <a:sym typeface="Calibri"/>
              </a:rPr>
              <a:t>~10 dB</a:t>
            </a:r>
            <a:endParaRPr b="0" i="0" sz="2800" u="none" cap="none" strike="noStrike">
              <a:solidFill>
                <a:schemeClr val="dk1"/>
              </a:solidFill>
              <a:latin typeface="Calibri"/>
              <a:ea typeface="Calibri"/>
              <a:cs typeface="Calibri"/>
              <a:sym typeface="Calibri"/>
            </a:endParaRPr>
          </a:p>
        </p:txBody>
      </p:sp>
      <p:sp>
        <p:nvSpPr>
          <p:cNvPr id="101" name="Google Shape;101;p7"/>
          <p:cNvSpPr txBox="1"/>
          <p:nvPr/>
        </p:nvSpPr>
        <p:spPr>
          <a:xfrm>
            <a:off x="8092440" y="1572768"/>
            <a:ext cx="3474720" cy="8229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00"/>
              <a:buFont typeface="Calibri"/>
              <a:buNone/>
            </a:pPr>
            <a:r>
              <a:rPr b="0" i="0" lang="en-US" sz="1400" u="none" cap="none" strike="noStrike">
                <a:solidFill>
                  <a:srgbClr val="1B2B3A"/>
                </a:solidFill>
                <a:latin typeface="Calibri"/>
                <a:ea typeface="Calibri"/>
                <a:cs typeface="Calibri"/>
                <a:sym typeface="Calibri"/>
              </a:rPr>
              <a:t>variación del SPL con la profundidad dentro de un mismo cilindro de ensayo</a:t>
            </a:r>
            <a:endParaRPr b="0" i="0" sz="1400" u="none" cap="none" strike="noStrike">
              <a:solidFill>
                <a:schemeClr val="dk1"/>
              </a:solidFill>
              <a:latin typeface="Calibri"/>
              <a:ea typeface="Calibri"/>
              <a:cs typeface="Calibri"/>
              <a:sym typeface="Calibri"/>
            </a:endParaRPr>
          </a:p>
        </p:txBody>
      </p:sp>
      <p:sp>
        <p:nvSpPr>
          <p:cNvPr id="102" name="Google Shape;102;p7"/>
          <p:cNvSpPr txBox="1"/>
          <p:nvPr/>
        </p:nvSpPr>
        <p:spPr>
          <a:xfrm>
            <a:off x="8092440" y="2395728"/>
            <a:ext cx="3474720" cy="30175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Holgate et al., 2023</a:t>
            </a:r>
            <a:endParaRPr b="0" i="0" sz="1200" u="none" cap="none" strike="noStrike">
              <a:solidFill>
                <a:schemeClr val="dk1"/>
              </a:solidFill>
              <a:latin typeface="Calibri"/>
              <a:ea typeface="Calibri"/>
              <a:cs typeface="Calibri"/>
              <a:sym typeface="Calibri"/>
            </a:endParaRPr>
          </a:p>
        </p:txBody>
      </p:sp>
      <p:sp>
        <p:nvSpPr>
          <p:cNvPr id="103" name="Google Shape;103;p7"/>
          <p:cNvSpPr/>
          <p:nvPr/>
        </p:nvSpPr>
        <p:spPr>
          <a:xfrm>
            <a:off x="6309360" y="2944368"/>
            <a:ext cx="5349240" cy="1325880"/>
          </a:xfrm>
          <a:prstGeom prst="roundRect">
            <a:avLst>
              <a:gd fmla="val 5517" name="adj"/>
            </a:avLst>
          </a:prstGeom>
          <a:solidFill>
            <a:srgbClr val="FFFFFF"/>
          </a:solidFill>
          <a:ln cap="flat" cmpd="sng" w="12700">
            <a:solidFill>
              <a:srgbClr val="C9D6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7"/>
          <p:cNvSpPr txBox="1"/>
          <p:nvPr/>
        </p:nvSpPr>
        <p:spPr>
          <a:xfrm>
            <a:off x="6446520" y="2944368"/>
            <a:ext cx="1600200" cy="13258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F6F9F"/>
              </a:buClr>
              <a:buSzPts val="2800"/>
              <a:buFont typeface="Calibri"/>
              <a:buNone/>
            </a:pPr>
            <a:r>
              <a:rPr b="1" i="0" lang="en-US" sz="2800" u="none" cap="none" strike="noStrike">
                <a:solidFill>
                  <a:srgbClr val="1F6F9F"/>
                </a:solidFill>
                <a:latin typeface="Calibri"/>
                <a:ea typeface="Calibri"/>
                <a:cs typeface="Calibri"/>
                <a:sym typeface="Calibri"/>
              </a:rPr>
              <a:t>50 m</a:t>
            </a:r>
            <a:endParaRPr b="0" i="0" sz="2800" u="none" cap="none" strike="noStrike">
              <a:solidFill>
                <a:schemeClr val="dk1"/>
              </a:solidFill>
              <a:latin typeface="Calibri"/>
              <a:ea typeface="Calibri"/>
              <a:cs typeface="Calibri"/>
              <a:sym typeface="Calibri"/>
            </a:endParaRPr>
          </a:p>
        </p:txBody>
      </p:sp>
      <p:sp>
        <p:nvSpPr>
          <p:cNvPr id="105" name="Google Shape;105;p7"/>
          <p:cNvSpPr txBox="1"/>
          <p:nvPr/>
        </p:nvSpPr>
        <p:spPr>
          <a:xfrm>
            <a:off x="8092440" y="3054096"/>
            <a:ext cx="3474720" cy="8229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00"/>
              <a:buFont typeface="Calibri"/>
              <a:buNone/>
            </a:pPr>
            <a:r>
              <a:rPr b="0" i="0" lang="en-US" sz="1400" u="none" cap="none" strike="noStrike">
                <a:solidFill>
                  <a:srgbClr val="1B2B3A"/>
                </a:solidFill>
                <a:latin typeface="Calibri"/>
                <a:ea typeface="Calibri"/>
                <a:cs typeface="Calibri"/>
                <a:sym typeface="Calibri"/>
              </a:rPr>
              <a:t>a esa distancia del altavoz, la aceleración de partículas ya no se distinguía del fondo</a:t>
            </a:r>
            <a:endParaRPr b="0" i="0" sz="1400" u="none" cap="none" strike="noStrike">
              <a:solidFill>
                <a:schemeClr val="dk1"/>
              </a:solidFill>
              <a:latin typeface="Calibri"/>
              <a:ea typeface="Calibri"/>
              <a:cs typeface="Calibri"/>
              <a:sym typeface="Calibri"/>
            </a:endParaRPr>
          </a:p>
        </p:txBody>
      </p:sp>
      <p:sp>
        <p:nvSpPr>
          <p:cNvPr id="106" name="Google Shape;106;p7"/>
          <p:cNvSpPr txBox="1"/>
          <p:nvPr/>
        </p:nvSpPr>
        <p:spPr>
          <a:xfrm>
            <a:off x="8092440" y="3877056"/>
            <a:ext cx="3474720" cy="30175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Gordon et al., 2019</a:t>
            </a:r>
            <a:endParaRPr b="0" i="0" sz="1200" u="none" cap="none" strike="noStrike">
              <a:solidFill>
                <a:schemeClr val="dk1"/>
              </a:solidFill>
              <a:latin typeface="Calibri"/>
              <a:ea typeface="Calibri"/>
              <a:cs typeface="Calibri"/>
              <a:sym typeface="Calibri"/>
            </a:endParaRPr>
          </a:p>
        </p:txBody>
      </p:sp>
      <p:sp>
        <p:nvSpPr>
          <p:cNvPr id="107" name="Google Shape;107;p7"/>
          <p:cNvSpPr/>
          <p:nvPr/>
        </p:nvSpPr>
        <p:spPr>
          <a:xfrm>
            <a:off x="6309360" y="4425696"/>
            <a:ext cx="5349240" cy="1325880"/>
          </a:xfrm>
          <a:prstGeom prst="roundRect">
            <a:avLst>
              <a:gd fmla="val 5517" name="adj"/>
            </a:avLst>
          </a:prstGeom>
          <a:solidFill>
            <a:srgbClr val="FFFFFF"/>
          </a:solidFill>
          <a:ln cap="flat" cmpd="sng" w="12700">
            <a:solidFill>
              <a:srgbClr val="C9D6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txBox="1"/>
          <p:nvPr/>
        </p:nvSpPr>
        <p:spPr>
          <a:xfrm>
            <a:off x="6446520" y="4425696"/>
            <a:ext cx="1600200" cy="13258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F6F9F"/>
              </a:buClr>
              <a:buSzPts val="2800"/>
              <a:buFont typeface="Calibri"/>
              <a:buNone/>
            </a:pPr>
            <a:r>
              <a:rPr b="1" i="0" lang="en-US" sz="2800" u="none" cap="none" strike="noStrike">
                <a:solidFill>
                  <a:srgbClr val="1F6F9F"/>
                </a:solidFill>
                <a:latin typeface="Calibri"/>
                <a:ea typeface="Calibri"/>
                <a:cs typeface="Calibri"/>
                <a:sym typeface="Calibri"/>
              </a:rPr>
              <a:t>2 cifras</a:t>
            </a:r>
            <a:endParaRPr b="0" i="0" sz="2800" u="none" cap="none" strike="noStrike">
              <a:solidFill>
                <a:schemeClr val="dk1"/>
              </a:solidFill>
              <a:latin typeface="Calibri"/>
              <a:ea typeface="Calibri"/>
              <a:cs typeface="Calibri"/>
              <a:sym typeface="Calibri"/>
            </a:endParaRPr>
          </a:p>
        </p:txBody>
      </p:sp>
      <p:sp>
        <p:nvSpPr>
          <p:cNvPr id="109" name="Google Shape;109;p7"/>
          <p:cNvSpPr txBox="1"/>
          <p:nvPr/>
        </p:nvSpPr>
        <p:spPr>
          <a:xfrm>
            <a:off x="8092440" y="4535424"/>
            <a:ext cx="3474720" cy="8229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00"/>
              <a:buFont typeface="Calibri"/>
              <a:buNone/>
            </a:pPr>
            <a:r>
              <a:rPr b="0" i="0" lang="en-US" sz="1400" u="none" cap="none" strike="noStrike">
                <a:solidFill>
                  <a:srgbClr val="1B2B3A"/>
                </a:solidFill>
                <a:latin typeface="Calibri"/>
                <a:ea typeface="Calibri"/>
                <a:cs typeface="Calibri"/>
                <a:sym typeface="Calibri"/>
              </a:rPr>
              <a:t>una misma exposición: 139,5 dB re 1 µPa (presión) y 6,0 µm/s (velocidad de partícula)</a:t>
            </a:r>
            <a:endParaRPr b="0" i="0" sz="1400" u="none" cap="none" strike="noStrike">
              <a:solidFill>
                <a:schemeClr val="dk1"/>
              </a:solidFill>
              <a:latin typeface="Calibri"/>
              <a:ea typeface="Calibri"/>
              <a:cs typeface="Calibri"/>
              <a:sym typeface="Calibri"/>
            </a:endParaRPr>
          </a:p>
        </p:txBody>
      </p:sp>
      <p:sp>
        <p:nvSpPr>
          <p:cNvPr id="110" name="Google Shape;110;p7"/>
          <p:cNvSpPr txBox="1"/>
          <p:nvPr/>
        </p:nvSpPr>
        <p:spPr>
          <a:xfrm>
            <a:off x="8092440" y="5358384"/>
            <a:ext cx="3474720" cy="30175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Cresci et al., 2023</a:t>
            </a:r>
            <a:endParaRPr b="0" i="0" sz="1200" u="none" cap="none" strike="noStrike">
              <a:solidFill>
                <a:schemeClr val="dk1"/>
              </a:solidFill>
              <a:latin typeface="Calibri"/>
              <a:ea typeface="Calibri"/>
              <a:cs typeface="Calibri"/>
              <a:sym typeface="Calibri"/>
            </a:endParaRPr>
          </a:p>
        </p:txBody>
      </p:sp>
      <p:sp>
        <p:nvSpPr>
          <p:cNvPr id="111" name="Google Shape;111;p7"/>
          <p:cNvSpPr txBox="1"/>
          <p:nvPr/>
        </p:nvSpPr>
        <p:spPr>
          <a:xfrm>
            <a:off x="548640" y="6382512"/>
            <a:ext cx="10241280" cy="29260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Ejemplos reales del corpus revisado</a:t>
            </a:r>
            <a:endParaRPr b="0" i="0" sz="1200" u="none" cap="none" strike="noStrike">
              <a:solidFill>
                <a:schemeClr val="dk1"/>
              </a:solidFill>
              <a:latin typeface="Calibri"/>
              <a:ea typeface="Calibri"/>
              <a:cs typeface="Calibri"/>
              <a:sym typeface="Calibri"/>
            </a:endParaRPr>
          </a:p>
        </p:txBody>
      </p:sp>
      <p:sp>
        <p:nvSpPr>
          <p:cNvPr id="112" name="Google Shape;112;p7"/>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8"/>
          <p:cNvSpPr txBox="1"/>
          <p:nvPr/>
        </p:nvSpPr>
        <p:spPr>
          <a:xfrm>
            <a:off x="548640" y="41148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800"/>
              <a:buFont typeface="Calibri"/>
              <a:buNone/>
            </a:pPr>
            <a:r>
              <a:rPr b="1" i="0" lang="en-US" sz="2800" u="none" cap="none" strike="noStrike">
                <a:solidFill>
                  <a:srgbClr val="0B2A4A"/>
                </a:solidFill>
                <a:latin typeface="Calibri"/>
                <a:ea typeface="Calibri"/>
                <a:cs typeface="Calibri"/>
                <a:sym typeface="Calibri"/>
              </a:rPr>
              <a:t>Nuestra pregunta</a:t>
            </a:r>
            <a:endParaRPr b="0" i="0" sz="2800" u="none" cap="none" strike="noStrike">
              <a:solidFill>
                <a:schemeClr val="dk1"/>
              </a:solidFill>
              <a:latin typeface="Calibri"/>
              <a:ea typeface="Calibri"/>
              <a:cs typeface="Calibri"/>
              <a:sym typeface="Calibri"/>
            </a:endParaRPr>
          </a:p>
        </p:txBody>
      </p:sp>
      <p:sp>
        <p:nvSpPr>
          <p:cNvPr id="119" name="Google Shape;119;p8"/>
          <p:cNvSpPr/>
          <p:nvPr/>
        </p:nvSpPr>
        <p:spPr>
          <a:xfrm>
            <a:off x="548640" y="1371600"/>
            <a:ext cx="11109960" cy="1417320"/>
          </a:xfrm>
          <a:prstGeom prst="roundRect">
            <a:avLst>
              <a:gd fmla="val 5161"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txBox="1"/>
          <p:nvPr/>
        </p:nvSpPr>
        <p:spPr>
          <a:xfrm>
            <a:off x="822960" y="1417320"/>
            <a:ext cx="10607040" cy="13258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100"/>
              <a:buFont typeface="Calibri"/>
              <a:buNone/>
            </a:pPr>
            <a:r>
              <a:rPr b="0" i="1" lang="en-US" sz="2100" u="none" cap="none" strike="noStrike">
                <a:solidFill>
                  <a:srgbClr val="0B2A4A"/>
                </a:solidFill>
                <a:latin typeface="Calibri"/>
                <a:ea typeface="Calibri"/>
                <a:cs typeface="Calibri"/>
                <a:sym typeface="Calibri"/>
              </a:rPr>
              <a:t>¿Cómo influyen el campo acústico y la biología sensorial de los peces en sus respuestas conductuales, y qué evidencia respalda usar el sonido en investigación, manejo y conservación?</a:t>
            </a:r>
            <a:endParaRPr b="0" i="0" sz="2100" u="none" cap="none" strike="noStrike">
              <a:solidFill>
                <a:schemeClr val="dk1"/>
              </a:solidFill>
              <a:latin typeface="Calibri"/>
              <a:ea typeface="Calibri"/>
              <a:cs typeface="Calibri"/>
              <a:sym typeface="Calibri"/>
            </a:endParaRPr>
          </a:p>
        </p:txBody>
      </p:sp>
      <p:sp>
        <p:nvSpPr>
          <p:cNvPr id="121" name="Google Shape;121;p8"/>
          <p:cNvSpPr/>
          <p:nvPr/>
        </p:nvSpPr>
        <p:spPr>
          <a:xfrm>
            <a:off x="548640" y="3246120"/>
            <a:ext cx="2148840" cy="777240"/>
          </a:xfrm>
          <a:prstGeom prst="chevron">
            <a:avLst>
              <a:gd fmla="val 50000" name="adj"/>
            </a:avLst>
          </a:prstGeom>
          <a:solidFill>
            <a:srgbClr val="1F6F9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txBox="1"/>
          <p:nvPr/>
        </p:nvSpPr>
        <p:spPr>
          <a:xfrm>
            <a:off x="822960" y="3246120"/>
            <a:ext cx="1600200" cy="7772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CAMPO</a:t>
            </a:r>
            <a:endParaRPr b="0" i="0" sz="1400" u="none" cap="none" strike="noStrike">
              <a:solidFill>
                <a:schemeClr val="dk1"/>
              </a:solidFill>
              <a:latin typeface="Calibri"/>
              <a:ea typeface="Calibri"/>
              <a:cs typeface="Calibri"/>
              <a:sym typeface="Calibri"/>
            </a:endParaRPr>
          </a:p>
        </p:txBody>
      </p:sp>
      <p:sp>
        <p:nvSpPr>
          <p:cNvPr id="123" name="Google Shape;123;p8"/>
          <p:cNvSpPr/>
          <p:nvPr/>
        </p:nvSpPr>
        <p:spPr>
          <a:xfrm>
            <a:off x="2788920" y="3246120"/>
            <a:ext cx="2148840" cy="777240"/>
          </a:xfrm>
          <a:prstGeom prst="chevron">
            <a:avLst>
              <a:gd fmla="val 50000" name="adj"/>
            </a:avLst>
          </a:prstGeom>
          <a:solidFill>
            <a:srgbClr val="1A7FA6"/>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txBox="1"/>
          <p:nvPr/>
        </p:nvSpPr>
        <p:spPr>
          <a:xfrm>
            <a:off x="3063240" y="3246120"/>
            <a:ext cx="1600200" cy="7772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PERCEPCIÓN</a:t>
            </a:r>
            <a:endParaRPr b="0" i="0" sz="1400" u="none" cap="none" strike="noStrike">
              <a:solidFill>
                <a:schemeClr val="dk1"/>
              </a:solidFill>
              <a:latin typeface="Calibri"/>
              <a:ea typeface="Calibri"/>
              <a:cs typeface="Calibri"/>
              <a:sym typeface="Calibri"/>
            </a:endParaRPr>
          </a:p>
        </p:txBody>
      </p:sp>
      <p:sp>
        <p:nvSpPr>
          <p:cNvPr id="125" name="Google Shape;125;p8"/>
          <p:cNvSpPr/>
          <p:nvPr/>
        </p:nvSpPr>
        <p:spPr>
          <a:xfrm>
            <a:off x="5029200" y="3246120"/>
            <a:ext cx="2148840" cy="777240"/>
          </a:xfrm>
          <a:prstGeom prst="chevron">
            <a:avLst>
              <a:gd fmla="val 50000" name="adj"/>
            </a:avLst>
          </a:prstGeom>
          <a:solidFill>
            <a:srgbClr val="14807E"/>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txBox="1"/>
          <p:nvPr/>
        </p:nvSpPr>
        <p:spPr>
          <a:xfrm>
            <a:off x="5303520" y="3246120"/>
            <a:ext cx="1600200" cy="7772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INFORMACIÓN</a:t>
            </a:r>
            <a:endParaRPr b="0" i="0" sz="1400" u="none" cap="none" strike="noStrike">
              <a:solidFill>
                <a:schemeClr val="dk1"/>
              </a:solidFill>
              <a:latin typeface="Calibri"/>
              <a:ea typeface="Calibri"/>
              <a:cs typeface="Calibri"/>
              <a:sym typeface="Calibri"/>
            </a:endParaRPr>
          </a:p>
        </p:txBody>
      </p:sp>
      <p:sp>
        <p:nvSpPr>
          <p:cNvPr id="127" name="Google Shape;127;p8"/>
          <p:cNvSpPr/>
          <p:nvPr/>
        </p:nvSpPr>
        <p:spPr>
          <a:xfrm>
            <a:off x="7269480" y="3246120"/>
            <a:ext cx="2148840" cy="777240"/>
          </a:xfrm>
          <a:prstGeom prst="chevron">
            <a:avLst>
              <a:gd fmla="val 50000" name="adj"/>
            </a:avLst>
          </a:prstGeom>
          <a:solidFill>
            <a:srgbClr val="2BB3B1"/>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txBox="1"/>
          <p:nvPr/>
        </p:nvSpPr>
        <p:spPr>
          <a:xfrm>
            <a:off x="7543800" y="3246120"/>
            <a:ext cx="1600200" cy="7772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RESPUESTA</a:t>
            </a:r>
            <a:endParaRPr b="0" i="0" sz="1400" u="none" cap="none" strike="noStrike">
              <a:solidFill>
                <a:schemeClr val="dk1"/>
              </a:solidFill>
              <a:latin typeface="Calibri"/>
              <a:ea typeface="Calibri"/>
              <a:cs typeface="Calibri"/>
              <a:sym typeface="Calibri"/>
            </a:endParaRPr>
          </a:p>
        </p:txBody>
      </p:sp>
      <p:sp>
        <p:nvSpPr>
          <p:cNvPr id="129" name="Google Shape;129;p8"/>
          <p:cNvSpPr/>
          <p:nvPr/>
        </p:nvSpPr>
        <p:spPr>
          <a:xfrm>
            <a:off x="9509760" y="3246120"/>
            <a:ext cx="2148840" cy="777240"/>
          </a:xfrm>
          <a:prstGeom prst="chevron">
            <a:avLst>
              <a:gd fmla="val 50000" name="adj"/>
            </a:avLst>
          </a:prstGeom>
          <a:solidFill>
            <a:srgbClr val="0B2A4A"/>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txBox="1"/>
          <p:nvPr/>
        </p:nvSpPr>
        <p:spPr>
          <a:xfrm>
            <a:off x="9784080" y="3246120"/>
            <a:ext cx="1600200" cy="7772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APLICACIÓN</a:t>
            </a:r>
            <a:endParaRPr b="0" i="0" sz="1400" u="none" cap="none" strike="noStrike">
              <a:solidFill>
                <a:schemeClr val="dk1"/>
              </a:solidFill>
              <a:latin typeface="Calibri"/>
              <a:ea typeface="Calibri"/>
              <a:cs typeface="Calibri"/>
              <a:sym typeface="Calibri"/>
            </a:endParaRPr>
          </a:p>
        </p:txBody>
      </p:sp>
      <p:sp>
        <p:nvSpPr>
          <p:cNvPr id="131" name="Google Shape;131;p8"/>
          <p:cNvSpPr/>
          <p:nvPr/>
        </p:nvSpPr>
        <p:spPr>
          <a:xfrm>
            <a:off x="1394460" y="4297680"/>
            <a:ext cx="457200" cy="457200"/>
          </a:xfrm>
          <a:prstGeom prst="ellipse">
            <a:avLst/>
          </a:prstGeom>
          <a:solidFill>
            <a:srgbClr val="0B2A4A"/>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8"/>
          <p:cNvSpPr txBox="1"/>
          <p:nvPr/>
        </p:nvSpPr>
        <p:spPr>
          <a:xfrm>
            <a:off x="1394460" y="4297680"/>
            <a:ext cx="457200" cy="45720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133" name="Google Shape;133;p8"/>
          <p:cNvSpPr txBox="1"/>
          <p:nvPr/>
        </p:nvSpPr>
        <p:spPr>
          <a:xfrm>
            <a:off x="594360" y="4846320"/>
            <a:ext cx="2057400" cy="82296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1B2B3A"/>
              </a:buClr>
              <a:buSzPts val="1500"/>
              <a:buFont typeface="Calibri"/>
              <a:buNone/>
            </a:pPr>
            <a:r>
              <a:rPr b="0" i="0" lang="en-US" sz="1500" u="none" cap="none" strike="noStrike">
                <a:solidFill>
                  <a:srgbClr val="1B2B3A"/>
                </a:solidFill>
                <a:latin typeface="Calibri"/>
                <a:ea typeface="Calibri"/>
                <a:cs typeface="Calibri"/>
                <a:sym typeface="Calibri"/>
              </a:rPr>
              <a:t>Caracterizar estímulos y cómo se midieron</a:t>
            </a:r>
            <a:endParaRPr b="0" i="0" sz="1500" u="none" cap="none" strike="noStrike">
              <a:solidFill>
                <a:schemeClr val="dk1"/>
              </a:solidFill>
              <a:latin typeface="Calibri"/>
              <a:ea typeface="Calibri"/>
              <a:cs typeface="Calibri"/>
              <a:sym typeface="Calibri"/>
            </a:endParaRPr>
          </a:p>
        </p:txBody>
      </p:sp>
      <p:sp>
        <p:nvSpPr>
          <p:cNvPr id="134" name="Google Shape;134;p8"/>
          <p:cNvSpPr/>
          <p:nvPr/>
        </p:nvSpPr>
        <p:spPr>
          <a:xfrm>
            <a:off x="3634740" y="4297680"/>
            <a:ext cx="457200" cy="457200"/>
          </a:xfrm>
          <a:prstGeom prst="ellipse">
            <a:avLst/>
          </a:prstGeom>
          <a:solidFill>
            <a:srgbClr val="0B2A4A"/>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txBox="1"/>
          <p:nvPr/>
        </p:nvSpPr>
        <p:spPr>
          <a:xfrm>
            <a:off x="3634740" y="4297680"/>
            <a:ext cx="457200" cy="45720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136" name="Google Shape;136;p8"/>
          <p:cNvSpPr txBox="1"/>
          <p:nvPr/>
        </p:nvSpPr>
        <p:spPr>
          <a:xfrm>
            <a:off x="2834640" y="4846320"/>
            <a:ext cx="2057400" cy="82296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1B2B3A"/>
              </a:buClr>
              <a:buSzPts val="1500"/>
              <a:buFont typeface="Calibri"/>
              <a:buNone/>
            </a:pPr>
            <a:r>
              <a:rPr b="0" i="0" lang="en-US" sz="1500" u="none" cap="none" strike="noStrike">
                <a:solidFill>
                  <a:srgbClr val="1B2B3A"/>
                </a:solidFill>
                <a:latin typeface="Calibri"/>
                <a:ea typeface="Calibri"/>
                <a:cs typeface="Calibri"/>
                <a:sym typeface="Calibri"/>
              </a:rPr>
              <a:t>Papel del sistema sensorial</a:t>
            </a:r>
            <a:endParaRPr b="0" i="0" sz="1500" u="none" cap="none" strike="noStrike">
              <a:solidFill>
                <a:schemeClr val="dk1"/>
              </a:solidFill>
              <a:latin typeface="Calibri"/>
              <a:ea typeface="Calibri"/>
              <a:cs typeface="Calibri"/>
              <a:sym typeface="Calibri"/>
            </a:endParaRPr>
          </a:p>
        </p:txBody>
      </p:sp>
      <p:sp>
        <p:nvSpPr>
          <p:cNvPr id="137" name="Google Shape;137;p8"/>
          <p:cNvSpPr/>
          <p:nvPr/>
        </p:nvSpPr>
        <p:spPr>
          <a:xfrm>
            <a:off x="6995160" y="4297680"/>
            <a:ext cx="457200" cy="457200"/>
          </a:xfrm>
          <a:prstGeom prst="ellipse">
            <a:avLst/>
          </a:prstGeom>
          <a:solidFill>
            <a:srgbClr val="0B2A4A"/>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txBox="1"/>
          <p:nvPr/>
        </p:nvSpPr>
        <p:spPr>
          <a:xfrm>
            <a:off x="6995160" y="4297680"/>
            <a:ext cx="457200" cy="45720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139" name="Google Shape;139;p8"/>
          <p:cNvSpPr txBox="1"/>
          <p:nvPr/>
        </p:nvSpPr>
        <p:spPr>
          <a:xfrm>
            <a:off x="5074920" y="4846320"/>
            <a:ext cx="4297680" cy="82296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1B2B3A"/>
              </a:buClr>
              <a:buSzPts val="1500"/>
              <a:buFont typeface="Calibri"/>
              <a:buNone/>
            </a:pPr>
            <a:r>
              <a:rPr b="0" i="0" lang="en-US" sz="1500" u="none" cap="none" strike="noStrike">
                <a:solidFill>
                  <a:srgbClr val="1B2B3A"/>
                </a:solidFill>
                <a:latin typeface="Calibri"/>
                <a:ea typeface="Calibri"/>
                <a:cs typeface="Calibri"/>
                <a:sym typeface="Calibri"/>
              </a:rPr>
              <a:t>Relación estímulo → respuesta</a:t>
            </a:r>
            <a:endParaRPr b="0" i="0" sz="1500" u="none" cap="none" strike="noStrike">
              <a:solidFill>
                <a:schemeClr val="dk1"/>
              </a:solidFill>
              <a:latin typeface="Calibri"/>
              <a:ea typeface="Calibri"/>
              <a:cs typeface="Calibri"/>
              <a:sym typeface="Calibri"/>
            </a:endParaRPr>
          </a:p>
        </p:txBody>
      </p:sp>
      <p:sp>
        <p:nvSpPr>
          <p:cNvPr id="140" name="Google Shape;140;p8"/>
          <p:cNvSpPr/>
          <p:nvPr/>
        </p:nvSpPr>
        <p:spPr>
          <a:xfrm>
            <a:off x="10355580" y="4297680"/>
            <a:ext cx="457200" cy="457200"/>
          </a:xfrm>
          <a:prstGeom prst="ellipse">
            <a:avLst/>
          </a:prstGeom>
          <a:solidFill>
            <a:srgbClr val="0B2A4A"/>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txBox="1"/>
          <p:nvPr/>
        </p:nvSpPr>
        <p:spPr>
          <a:xfrm>
            <a:off x="10355580" y="4297680"/>
            <a:ext cx="457200" cy="45720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142" name="Google Shape;142;p8"/>
          <p:cNvSpPr txBox="1"/>
          <p:nvPr/>
        </p:nvSpPr>
        <p:spPr>
          <a:xfrm>
            <a:off x="9555480" y="4846320"/>
            <a:ext cx="2057400" cy="82296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1B2B3A"/>
              </a:buClr>
              <a:buSzPts val="1500"/>
              <a:buFont typeface="Calibri"/>
              <a:buNone/>
            </a:pPr>
            <a:r>
              <a:rPr b="0" i="0" lang="en-US" sz="1500" u="none" cap="none" strike="noStrike">
                <a:solidFill>
                  <a:srgbClr val="1B2B3A"/>
                </a:solidFill>
                <a:latin typeface="Calibri"/>
                <a:ea typeface="Calibri"/>
                <a:cs typeface="Calibri"/>
                <a:sym typeface="Calibri"/>
              </a:rPr>
              <a:t>Aplicaciones demostradas frente a propuestas</a:t>
            </a:r>
            <a:endParaRPr b="0" i="0" sz="1500" u="none" cap="none" strike="noStrike">
              <a:solidFill>
                <a:schemeClr val="dk1"/>
              </a:solidFill>
              <a:latin typeface="Calibri"/>
              <a:ea typeface="Calibri"/>
              <a:cs typeface="Calibri"/>
              <a:sym typeface="Calibri"/>
            </a:endParaRPr>
          </a:p>
        </p:txBody>
      </p:sp>
      <p:sp>
        <p:nvSpPr>
          <p:cNvPr id="143" name="Google Shape;143;p8"/>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9"/>
          <p:cNvSpPr txBox="1"/>
          <p:nvPr/>
        </p:nvSpPr>
        <p:spPr>
          <a:xfrm>
            <a:off x="548640" y="41148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800"/>
              <a:buFont typeface="Calibri"/>
              <a:buNone/>
            </a:pPr>
            <a:r>
              <a:rPr b="1" i="0" lang="en-US" sz="2800" u="none" cap="none" strike="noStrike">
                <a:solidFill>
                  <a:srgbClr val="0B2A4A"/>
                </a:solidFill>
                <a:latin typeface="Calibri"/>
                <a:ea typeface="Calibri"/>
                <a:cs typeface="Calibri"/>
                <a:sym typeface="Calibri"/>
              </a:rPr>
              <a:t>Cómo buscamos: revisión sistemática según PRISMA 2020</a:t>
            </a:r>
            <a:endParaRPr b="0" i="0" sz="2800" u="none" cap="none" strike="noStrike">
              <a:solidFill>
                <a:schemeClr val="dk1"/>
              </a:solidFill>
              <a:latin typeface="Calibri"/>
              <a:ea typeface="Calibri"/>
              <a:cs typeface="Calibri"/>
              <a:sym typeface="Calibri"/>
            </a:endParaRPr>
          </a:p>
        </p:txBody>
      </p:sp>
      <p:sp>
        <p:nvSpPr>
          <p:cNvPr id="150" name="Google Shape;150;p9"/>
          <p:cNvSpPr/>
          <p:nvPr/>
        </p:nvSpPr>
        <p:spPr>
          <a:xfrm>
            <a:off x="548640" y="1463040"/>
            <a:ext cx="2560320" cy="2606040"/>
          </a:xfrm>
          <a:prstGeom prst="roundRect">
            <a:avLst>
              <a:gd fmla="val 2857"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9"/>
          <p:cNvSpPr/>
          <p:nvPr/>
        </p:nvSpPr>
        <p:spPr>
          <a:xfrm>
            <a:off x="1508760" y="1645920"/>
            <a:ext cx="640080" cy="640080"/>
          </a:xfrm>
          <a:prstGeom prst="ellipse">
            <a:avLst/>
          </a:prstGeom>
          <a:solidFill>
            <a:srgbClr val="1F6F9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2" name="Google Shape;152;p9"/>
          <p:cNvPicPr preferRelativeResize="0"/>
          <p:nvPr/>
        </p:nvPicPr>
        <p:blipFill rotWithShape="1">
          <a:blip r:embed="rId3">
            <a:alphaModFix/>
          </a:blip>
          <a:srcRect b="0" l="0" r="0" t="0"/>
          <a:stretch/>
        </p:blipFill>
        <p:spPr>
          <a:xfrm>
            <a:off x="1664208" y="1801368"/>
            <a:ext cx="329184" cy="329184"/>
          </a:xfrm>
          <a:prstGeom prst="rect">
            <a:avLst/>
          </a:prstGeom>
          <a:noFill/>
          <a:ln>
            <a:noFill/>
          </a:ln>
        </p:spPr>
      </p:pic>
      <p:sp>
        <p:nvSpPr>
          <p:cNvPr id="153" name="Google Shape;153;p9"/>
          <p:cNvSpPr txBox="1"/>
          <p:nvPr/>
        </p:nvSpPr>
        <p:spPr>
          <a:xfrm>
            <a:off x="685800" y="2377440"/>
            <a:ext cx="2286000" cy="36576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0B2A4A"/>
              </a:buClr>
              <a:buSzPts val="1800"/>
              <a:buFont typeface="Calibri"/>
              <a:buNone/>
            </a:pPr>
            <a:r>
              <a:rPr b="1" i="0" lang="en-US" sz="1800" u="none" cap="none" strike="noStrike">
                <a:solidFill>
                  <a:srgbClr val="0B2A4A"/>
                </a:solidFill>
                <a:latin typeface="Calibri"/>
                <a:ea typeface="Calibri"/>
                <a:cs typeface="Calibri"/>
                <a:sym typeface="Calibri"/>
              </a:rPr>
              <a:t>Bases</a:t>
            </a:r>
            <a:endParaRPr b="0" i="0" sz="1800" u="none" cap="none" strike="noStrike">
              <a:solidFill>
                <a:schemeClr val="dk1"/>
              </a:solidFill>
              <a:latin typeface="Calibri"/>
              <a:ea typeface="Calibri"/>
              <a:cs typeface="Calibri"/>
              <a:sym typeface="Calibri"/>
            </a:endParaRPr>
          </a:p>
        </p:txBody>
      </p:sp>
      <p:sp>
        <p:nvSpPr>
          <p:cNvPr id="154" name="Google Shape;154;p9"/>
          <p:cNvSpPr txBox="1"/>
          <p:nvPr/>
        </p:nvSpPr>
        <p:spPr>
          <a:xfrm>
            <a:off x="685800" y="2743200"/>
            <a:ext cx="2286000" cy="5486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1B2B3A"/>
              </a:buClr>
              <a:buSzPts val="1400"/>
              <a:buFont typeface="Calibri"/>
              <a:buNone/>
            </a:pPr>
            <a:r>
              <a:rPr b="1" i="0" lang="en-US" sz="1400" u="none" cap="none" strike="noStrike">
                <a:solidFill>
                  <a:srgbClr val="1B2B3A"/>
                </a:solidFill>
                <a:latin typeface="Calibri"/>
                <a:ea typeface="Calibri"/>
                <a:cs typeface="Calibri"/>
                <a:sym typeface="Calibri"/>
              </a:rPr>
              <a:t>PubMed · Europe PMC · OpenAlex</a:t>
            </a:r>
            <a:endParaRPr b="0" i="0" sz="1400" u="none" cap="none" strike="noStrike">
              <a:solidFill>
                <a:schemeClr val="dk1"/>
              </a:solidFill>
              <a:latin typeface="Calibri"/>
              <a:ea typeface="Calibri"/>
              <a:cs typeface="Calibri"/>
              <a:sym typeface="Calibri"/>
            </a:endParaRPr>
          </a:p>
        </p:txBody>
      </p:sp>
      <p:sp>
        <p:nvSpPr>
          <p:cNvPr id="155" name="Google Shape;155;p9"/>
          <p:cNvSpPr txBox="1"/>
          <p:nvPr/>
        </p:nvSpPr>
        <p:spPr>
          <a:xfrm>
            <a:off x="685800" y="3291840"/>
            <a:ext cx="2286000" cy="68580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1250"/>
              <a:buFont typeface="Calibri"/>
              <a:buNone/>
            </a:pPr>
            <a:r>
              <a:rPr b="0" i="0" lang="en-US" sz="1250" u="none" cap="none" strike="noStrike">
                <a:solidFill>
                  <a:srgbClr val="5A6B7B"/>
                </a:solidFill>
                <a:latin typeface="Calibri"/>
                <a:ea typeface="Calibri"/>
                <a:cs typeface="Calibri"/>
                <a:sym typeface="Calibri"/>
              </a:rPr>
              <a:t>23–24/09/2026, sin filtros de fecha ni de idioma</a:t>
            </a:r>
            <a:endParaRPr b="0" i="0" sz="1250" u="none" cap="none" strike="noStrike">
              <a:solidFill>
                <a:schemeClr val="dk1"/>
              </a:solidFill>
              <a:latin typeface="Calibri"/>
              <a:ea typeface="Calibri"/>
              <a:cs typeface="Calibri"/>
              <a:sym typeface="Calibri"/>
            </a:endParaRPr>
          </a:p>
        </p:txBody>
      </p:sp>
      <p:sp>
        <p:nvSpPr>
          <p:cNvPr id="156" name="Google Shape;156;p9"/>
          <p:cNvSpPr txBox="1"/>
          <p:nvPr/>
        </p:nvSpPr>
        <p:spPr>
          <a:xfrm>
            <a:off x="3090672" y="2377440"/>
            <a:ext cx="310896" cy="5486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8A9BAA"/>
              </a:buClr>
              <a:buSzPts val="3000"/>
              <a:buFont typeface="Calibri"/>
              <a:buNone/>
            </a:pPr>
            <a:r>
              <a:rPr b="1" i="0" lang="en-US" sz="3000" u="none" cap="none" strike="noStrike">
                <a:solidFill>
                  <a:srgbClr val="8A9BAA"/>
                </a:solidFill>
                <a:latin typeface="Calibri"/>
                <a:ea typeface="Calibri"/>
                <a:cs typeface="Calibri"/>
                <a:sym typeface="Calibri"/>
              </a:rPr>
              <a:t>›</a:t>
            </a:r>
            <a:endParaRPr b="0" i="0" sz="3000" u="none" cap="none" strike="noStrike">
              <a:solidFill>
                <a:schemeClr val="dk1"/>
              </a:solidFill>
              <a:latin typeface="Calibri"/>
              <a:ea typeface="Calibri"/>
              <a:cs typeface="Calibri"/>
              <a:sym typeface="Calibri"/>
            </a:endParaRPr>
          </a:p>
        </p:txBody>
      </p:sp>
      <p:sp>
        <p:nvSpPr>
          <p:cNvPr id="157" name="Google Shape;157;p9"/>
          <p:cNvSpPr/>
          <p:nvPr/>
        </p:nvSpPr>
        <p:spPr>
          <a:xfrm>
            <a:off x="3383280" y="1463040"/>
            <a:ext cx="2560320" cy="2606040"/>
          </a:xfrm>
          <a:prstGeom prst="roundRect">
            <a:avLst>
              <a:gd fmla="val 2857"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9"/>
          <p:cNvSpPr/>
          <p:nvPr/>
        </p:nvSpPr>
        <p:spPr>
          <a:xfrm>
            <a:off x="4343400" y="1645920"/>
            <a:ext cx="640080" cy="640080"/>
          </a:xfrm>
          <a:prstGeom prst="ellipse">
            <a:avLst/>
          </a:prstGeom>
          <a:solidFill>
            <a:srgbClr val="1A7FA6"/>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9" name="Google Shape;159;p9"/>
          <p:cNvPicPr preferRelativeResize="0"/>
          <p:nvPr/>
        </p:nvPicPr>
        <p:blipFill rotWithShape="1">
          <a:blip r:embed="rId4">
            <a:alphaModFix/>
          </a:blip>
          <a:srcRect b="0" l="0" r="0" t="0"/>
          <a:stretch/>
        </p:blipFill>
        <p:spPr>
          <a:xfrm>
            <a:off x="4498848" y="1801368"/>
            <a:ext cx="329184" cy="329184"/>
          </a:xfrm>
          <a:prstGeom prst="rect">
            <a:avLst/>
          </a:prstGeom>
          <a:noFill/>
          <a:ln>
            <a:noFill/>
          </a:ln>
        </p:spPr>
      </p:pic>
      <p:sp>
        <p:nvSpPr>
          <p:cNvPr id="160" name="Google Shape;160;p9"/>
          <p:cNvSpPr txBox="1"/>
          <p:nvPr/>
        </p:nvSpPr>
        <p:spPr>
          <a:xfrm>
            <a:off x="3520440" y="2377440"/>
            <a:ext cx="2286000" cy="36576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0B2A4A"/>
              </a:buClr>
              <a:buSzPts val="1800"/>
              <a:buFont typeface="Calibri"/>
              <a:buNone/>
            </a:pPr>
            <a:r>
              <a:rPr b="1" i="0" lang="en-US" sz="1800" u="none" cap="none" strike="noStrike">
                <a:solidFill>
                  <a:srgbClr val="0B2A4A"/>
                </a:solidFill>
                <a:latin typeface="Calibri"/>
                <a:ea typeface="Calibri"/>
                <a:cs typeface="Calibri"/>
                <a:sym typeface="Calibri"/>
              </a:rPr>
              <a:t>Ecuaciones</a:t>
            </a:r>
            <a:endParaRPr b="0" i="0" sz="1800" u="none" cap="none" strike="noStrike">
              <a:solidFill>
                <a:schemeClr val="dk1"/>
              </a:solidFill>
              <a:latin typeface="Calibri"/>
              <a:ea typeface="Calibri"/>
              <a:cs typeface="Calibri"/>
              <a:sym typeface="Calibri"/>
            </a:endParaRPr>
          </a:p>
        </p:txBody>
      </p:sp>
      <p:sp>
        <p:nvSpPr>
          <p:cNvPr id="161" name="Google Shape;161;p9"/>
          <p:cNvSpPr txBox="1"/>
          <p:nvPr/>
        </p:nvSpPr>
        <p:spPr>
          <a:xfrm>
            <a:off x="3520440" y="2743200"/>
            <a:ext cx="2286000" cy="5486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1B2B3A"/>
              </a:buClr>
              <a:buSzPts val="1400"/>
              <a:buFont typeface="Calibri"/>
              <a:buNone/>
            </a:pPr>
            <a:r>
              <a:rPr b="1" i="0" lang="en-US" sz="1400" u="none" cap="none" strike="noStrike">
                <a:solidFill>
                  <a:srgbClr val="1B2B3A"/>
                </a:solidFill>
                <a:latin typeface="Calibri"/>
                <a:ea typeface="Calibri"/>
                <a:cs typeface="Calibri"/>
                <a:sym typeface="Calibri"/>
              </a:rPr>
              <a:t>organismo + estímulo + respuesta</a:t>
            </a:r>
            <a:endParaRPr b="0" i="0" sz="1400" u="none" cap="none" strike="noStrike">
              <a:solidFill>
                <a:schemeClr val="dk1"/>
              </a:solidFill>
              <a:latin typeface="Calibri"/>
              <a:ea typeface="Calibri"/>
              <a:cs typeface="Calibri"/>
              <a:sym typeface="Calibri"/>
            </a:endParaRPr>
          </a:p>
        </p:txBody>
      </p:sp>
      <p:sp>
        <p:nvSpPr>
          <p:cNvPr id="162" name="Google Shape;162;p9"/>
          <p:cNvSpPr txBox="1"/>
          <p:nvPr/>
        </p:nvSpPr>
        <p:spPr>
          <a:xfrm>
            <a:off x="3520440" y="3291840"/>
            <a:ext cx="2286000" cy="68580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1250"/>
              <a:buFont typeface="Calibri"/>
              <a:buNone/>
            </a:pPr>
            <a:r>
              <a:rPr b="0" i="0" lang="en-US" sz="1250" u="none" cap="none" strike="noStrike">
                <a:solidFill>
                  <a:srgbClr val="5A6B7B"/>
                </a:solidFill>
                <a:latin typeface="Calibri"/>
                <a:ea typeface="Calibri"/>
                <a:cs typeface="Calibri"/>
                <a:sym typeface="Calibri"/>
              </a:rPr>
              <a:t>más un bloque taxonómico: zebrafish, goldfish, cod…</a:t>
            </a:r>
            <a:endParaRPr b="0" i="0" sz="1250" u="none" cap="none" strike="noStrike">
              <a:solidFill>
                <a:schemeClr val="dk1"/>
              </a:solidFill>
              <a:latin typeface="Calibri"/>
              <a:ea typeface="Calibri"/>
              <a:cs typeface="Calibri"/>
              <a:sym typeface="Calibri"/>
            </a:endParaRPr>
          </a:p>
        </p:txBody>
      </p:sp>
      <p:sp>
        <p:nvSpPr>
          <p:cNvPr id="163" name="Google Shape;163;p9"/>
          <p:cNvSpPr txBox="1"/>
          <p:nvPr/>
        </p:nvSpPr>
        <p:spPr>
          <a:xfrm>
            <a:off x="5925312" y="2377440"/>
            <a:ext cx="310896" cy="5486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8A9BAA"/>
              </a:buClr>
              <a:buSzPts val="3000"/>
              <a:buFont typeface="Calibri"/>
              <a:buNone/>
            </a:pPr>
            <a:r>
              <a:rPr b="1" i="0" lang="en-US" sz="3000" u="none" cap="none" strike="noStrike">
                <a:solidFill>
                  <a:srgbClr val="8A9BAA"/>
                </a:solidFill>
                <a:latin typeface="Calibri"/>
                <a:ea typeface="Calibri"/>
                <a:cs typeface="Calibri"/>
                <a:sym typeface="Calibri"/>
              </a:rPr>
              <a:t>›</a:t>
            </a:r>
            <a:endParaRPr b="0" i="0" sz="3000" u="none" cap="none" strike="noStrike">
              <a:solidFill>
                <a:schemeClr val="dk1"/>
              </a:solidFill>
              <a:latin typeface="Calibri"/>
              <a:ea typeface="Calibri"/>
              <a:cs typeface="Calibri"/>
              <a:sym typeface="Calibri"/>
            </a:endParaRPr>
          </a:p>
        </p:txBody>
      </p:sp>
      <p:sp>
        <p:nvSpPr>
          <p:cNvPr id="164" name="Google Shape;164;p9"/>
          <p:cNvSpPr/>
          <p:nvPr/>
        </p:nvSpPr>
        <p:spPr>
          <a:xfrm>
            <a:off x="6217920" y="1463040"/>
            <a:ext cx="2560320" cy="2606040"/>
          </a:xfrm>
          <a:prstGeom prst="roundRect">
            <a:avLst>
              <a:gd fmla="val 2857"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7178040" y="1645920"/>
            <a:ext cx="640080" cy="640080"/>
          </a:xfrm>
          <a:prstGeom prst="ellipse">
            <a:avLst/>
          </a:prstGeom>
          <a:solidFill>
            <a:srgbClr val="14807E"/>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6" name="Google Shape;166;p9"/>
          <p:cNvPicPr preferRelativeResize="0"/>
          <p:nvPr/>
        </p:nvPicPr>
        <p:blipFill rotWithShape="1">
          <a:blip r:embed="rId5">
            <a:alphaModFix/>
          </a:blip>
          <a:srcRect b="0" l="0" r="0" t="0"/>
          <a:stretch/>
        </p:blipFill>
        <p:spPr>
          <a:xfrm>
            <a:off x="7333488" y="1801368"/>
            <a:ext cx="329184" cy="329184"/>
          </a:xfrm>
          <a:prstGeom prst="rect">
            <a:avLst/>
          </a:prstGeom>
          <a:noFill/>
          <a:ln>
            <a:noFill/>
          </a:ln>
        </p:spPr>
      </p:pic>
      <p:sp>
        <p:nvSpPr>
          <p:cNvPr id="167" name="Google Shape;167;p9"/>
          <p:cNvSpPr txBox="1"/>
          <p:nvPr/>
        </p:nvSpPr>
        <p:spPr>
          <a:xfrm>
            <a:off x="6355080" y="2377440"/>
            <a:ext cx="2286000" cy="36576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0B2A4A"/>
              </a:buClr>
              <a:buSzPts val="1800"/>
              <a:buFont typeface="Calibri"/>
              <a:buNone/>
            </a:pPr>
            <a:r>
              <a:rPr b="1" i="0" lang="en-US" sz="1800" u="none" cap="none" strike="noStrike">
                <a:solidFill>
                  <a:srgbClr val="0B2A4A"/>
                </a:solidFill>
                <a:latin typeface="Calibri"/>
                <a:ea typeface="Calibri"/>
                <a:cs typeface="Calibri"/>
                <a:sym typeface="Calibri"/>
              </a:rPr>
              <a:t>Criterios</a:t>
            </a:r>
            <a:endParaRPr b="0" i="0" sz="1800" u="none" cap="none" strike="noStrike">
              <a:solidFill>
                <a:schemeClr val="dk1"/>
              </a:solidFill>
              <a:latin typeface="Calibri"/>
              <a:ea typeface="Calibri"/>
              <a:cs typeface="Calibri"/>
              <a:sym typeface="Calibri"/>
            </a:endParaRPr>
          </a:p>
        </p:txBody>
      </p:sp>
      <p:sp>
        <p:nvSpPr>
          <p:cNvPr id="168" name="Google Shape;168;p9"/>
          <p:cNvSpPr txBox="1"/>
          <p:nvPr/>
        </p:nvSpPr>
        <p:spPr>
          <a:xfrm>
            <a:off x="6355080" y="2743200"/>
            <a:ext cx="2286000" cy="5486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1B2B3A"/>
              </a:buClr>
              <a:buSzPts val="1400"/>
              <a:buFont typeface="Calibri"/>
              <a:buNone/>
            </a:pPr>
            <a:r>
              <a:rPr b="1" i="0" lang="en-US" sz="1400" u="none" cap="none" strike="noStrike">
                <a:solidFill>
                  <a:srgbClr val="1B2B3A"/>
                </a:solidFill>
                <a:latin typeface="Calibri"/>
                <a:ea typeface="Calibri"/>
                <a:cs typeface="Calibri"/>
                <a:sym typeface="Calibri"/>
              </a:rPr>
              <a:t>I1–I7 inclusión · E1–E7 exclusión</a:t>
            </a:r>
            <a:endParaRPr b="0" i="0" sz="1400" u="none" cap="none" strike="noStrike">
              <a:solidFill>
                <a:schemeClr val="dk1"/>
              </a:solidFill>
              <a:latin typeface="Calibri"/>
              <a:ea typeface="Calibri"/>
              <a:cs typeface="Calibri"/>
              <a:sym typeface="Calibri"/>
            </a:endParaRPr>
          </a:p>
        </p:txBody>
      </p:sp>
      <p:sp>
        <p:nvSpPr>
          <p:cNvPr id="169" name="Google Shape;169;p9"/>
          <p:cNvSpPr txBox="1"/>
          <p:nvPr/>
        </p:nvSpPr>
        <p:spPr>
          <a:xfrm>
            <a:off x="6355080" y="3291840"/>
            <a:ext cx="2286000" cy="68580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1250"/>
              <a:buFont typeface="Calibri"/>
              <a:buNone/>
            </a:pPr>
            <a:r>
              <a:rPr b="0" i="0" lang="en-US" sz="1250" u="none" cap="none" strike="noStrike">
                <a:solidFill>
                  <a:srgbClr val="5A6B7B"/>
                </a:solidFill>
                <a:latin typeface="Calibri"/>
                <a:ea typeface="Calibri"/>
                <a:cs typeface="Calibri"/>
                <a:sym typeface="Calibri"/>
              </a:rPr>
              <a:t>estudios experimentales en peces con estímulo acústico identificable</a:t>
            </a:r>
            <a:endParaRPr b="0" i="0" sz="1250" u="none" cap="none" strike="noStrike">
              <a:solidFill>
                <a:schemeClr val="dk1"/>
              </a:solidFill>
              <a:latin typeface="Calibri"/>
              <a:ea typeface="Calibri"/>
              <a:cs typeface="Calibri"/>
              <a:sym typeface="Calibri"/>
            </a:endParaRPr>
          </a:p>
        </p:txBody>
      </p:sp>
      <p:sp>
        <p:nvSpPr>
          <p:cNvPr id="170" name="Google Shape;170;p9"/>
          <p:cNvSpPr txBox="1"/>
          <p:nvPr/>
        </p:nvSpPr>
        <p:spPr>
          <a:xfrm>
            <a:off x="8759952" y="2377440"/>
            <a:ext cx="310896" cy="5486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8A9BAA"/>
              </a:buClr>
              <a:buSzPts val="3000"/>
              <a:buFont typeface="Calibri"/>
              <a:buNone/>
            </a:pPr>
            <a:r>
              <a:rPr b="1" i="0" lang="en-US" sz="3000" u="none" cap="none" strike="noStrike">
                <a:solidFill>
                  <a:srgbClr val="8A9BAA"/>
                </a:solidFill>
                <a:latin typeface="Calibri"/>
                <a:ea typeface="Calibri"/>
                <a:cs typeface="Calibri"/>
                <a:sym typeface="Calibri"/>
              </a:rPr>
              <a:t>›</a:t>
            </a:r>
            <a:endParaRPr b="0" i="0" sz="3000" u="none" cap="none" strike="noStrike">
              <a:solidFill>
                <a:schemeClr val="dk1"/>
              </a:solidFill>
              <a:latin typeface="Calibri"/>
              <a:ea typeface="Calibri"/>
              <a:cs typeface="Calibri"/>
              <a:sym typeface="Calibri"/>
            </a:endParaRPr>
          </a:p>
        </p:txBody>
      </p:sp>
      <p:sp>
        <p:nvSpPr>
          <p:cNvPr id="171" name="Google Shape;171;p9"/>
          <p:cNvSpPr/>
          <p:nvPr/>
        </p:nvSpPr>
        <p:spPr>
          <a:xfrm>
            <a:off x="9052560" y="1463040"/>
            <a:ext cx="2560320" cy="2606040"/>
          </a:xfrm>
          <a:prstGeom prst="roundRect">
            <a:avLst>
              <a:gd fmla="val 2857"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9"/>
          <p:cNvSpPr/>
          <p:nvPr/>
        </p:nvSpPr>
        <p:spPr>
          <a:xfrm>
            <a:off x="10012680" y="1645920"/>
            <a:ext cx="640080" cy="640080"/>
          </a:xfrm>
          <a:prstGeom prst="ellipse">
            <a:avLst/>
          </a:prstGeom>
          <a:solidFill>
            <a:srgbClr val="0B2A4A"/>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3" name="Google Shape;173;p9"/>
          <p:cNvPicPr preferRelativeResize="0"/>
          <p:nvPr/>
        </p:nvPicPr>
        <p:blipFill rotWithShape="1">
          <a:blip r:embed="rId6">
            <a:alphaModFix/>
          </a:blip>
          <a:srcRect b="0" l="0" r="0" t="0"/>
          <a:stretch/>
        </p:blipFill>
        <p:spPr>
          <a:xfrm>
            <a:off x="10168128" y="1801368"/>
            <a:ext cx="329184" cy="329184"/>
          </a:xfrm>
          <a:prstGeom prst="rect">
            <a:avLst/>
          </a:prstGeom>
          <a:noFill/>
          <a:ln>
            <a:noFill/>
          </a:ln>
        </p:spPr>
      </p:pic>
      <p:sp>
        <p:nvSpPr>
          <p:cNvPr id="174" name="Google Shape;174;p9"/>
          <p:cNvSpPr txBox="1"/>
          <p:nvPr/>
        </p:nvSpPr>
        <p:spPr>
          <a:xfrm>
            <a:off x="9189720" y="2377440"/>
            <a:ext cx="2286000" cy="36576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0B2A4A"/>
              </a:buClr>
              <a:buSzPts val="1800"/>
              <a:buFont typeface="Calibri"/>
              <a:buNone/>
            </a:pPr>
            <a:r>
              <a:rPr b="1" i="0" lang="en-US" sz="1800" u="none" cap="none" strike="noStrike">
                <a:solidFill>
                  <a:srgbClr val="0B2A4A"/>
                </a:solidFill>
                <a:latin typeface="Calibri"/>
                <a:ea typeface="Calibri"/>
                <a:cs typeface="Calibri"/>
                <a:sym typeface="Calibri"/>
              </a:rPr>
              <a:t>Cribado</a:t>
            </a:r>
            <a:endParaRPr b="0" i="0" sz="1800" u="none" cap="none" strike="noStrike">
              <a:solidFill>
                <a:schemeClr val="dk1"/>
              </a:solidFill>
              <a:latin typeface="Calibri"/>
              <a:ea typeface="Calibri"/>
              <a:cs typeface="Calibri"/>
              <a:sym typeface="Calibri"/>
            </a:endParaRPr>
          </a:p>
        </p:txBody>
      </p:sp>
      <p:sp>
        <p:nvSpPr>
          <p:cNvPr id="175" name="Google Shape;175;p9"/>
          <p:cNvSpPr txBox="1"/>
          <p:nvPr/>
        </p:nvSpPr>
        <p:spPr>
          <a:xfrm>
            <a:off x="9189720" y="2743200"/>
            <a:ext cx="2286000" cy="5486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1B2B3A"/>
              </a:buClr>
              <a:buSzPts val="1400"/>
              <a:buFont typeface="Calibri"/>
              <a:buNone/>
            </a:pPr>
            <a:r>
              <a:rPr b="1" i="0" lang="en-US" sz="1400" u="none" cap="none" strike="noStrike">
                <a:solidFill>
                  <a:srgbClr val="1B2B3A"/>
                </a:solidFill>
                <a:latin typeface="Calibri"/>
                <a:ea typeface="Calibri"/>
                <a:cs typeface="Calibri"/>
                <a:sym typeface="Calibri"/>
              </a:rPr>
              <a:t>un revisor</a:t>
            </a:r>
            <a:endParaRPr b="0" i="0" sz="1400" u="none" cap="none" strike="noStrike">
              <a:solidFill>
                <a:schemeClr val="dk1"/>
              </a:solidFill>
              <a:latin typeface="Calibri"/>
              <a:ea typeface="Calibri"/>
              <a:cs typeface="Calibri"/>
              <a:sym typeface="Calibri"/>
            </a:endParaRPr>
          </a:p>
        </p:txBody>
      </p:sp>
      <p:sp>
        <p:nvSpPr>
          <p:cNvPr id="176" name="Google Shape;176;p9"/>
          <p:cNvSpPr txBox="1"/>
          <p:nvPr/>
        </p:nvSpPr>
        <p:spPr>
          <a:xfrm>
            <a:off x="9189720" y="3291840"/>
            <a:ext cx="2286000" cy="68580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1250"/>
              <a:buFont typeface="Calibri"/>
              <a:buNone/>
            </a:pPr>
            <a:r>
              <a:rPr b="0" i="0" lang="en-US" sz="1250" u="none" cap="none" strike="noStrike">
                <a:solidFill>
                  <a:srgbClr val="5A6B7B"/>
                </a:solidFill>
                <a:latin typeface="Calibri"/>
                <a:ea typeface="Calibri"/>
                <a:cs typeface="Calibri"/>
                <a:sym typeface="Calibri"/>
              </a:rPr>
              <a:t>asistente de IA supervisado, sin doble revisión</a:t>
            </a:r>
            <a:endParaRPr b="0" i="0" sz="1250" u="none" cap="none" strike="noStrike">
              <a:solidFill>
                <a:schemeClr val="dk1"/>
              </a:solidFill>
              <a:latin typeface="Calibri"/>
              <a:ea typeface="Calibri"/>
              <a:cs typeface="Calibri"/>
              <a:sym typeface="Calibri"/>
            </a:endParaRPr>
          </a:p>
        </p:txBody>
      </p:sp>
      <p:sp>
        <p:nvSpPr>
          <p:cNvPr id="177" name="Google Shape;177;p9"/>
          <p:cNvSpPr/>
          <p:nvPr/>
        </p:nvSpPr>
        <p:spPr>
          <a:xfrm>
            <a:off x="548640" y="4389120"/>
            <a:ext cx="11109960" cy="1051560"/>
          </a:xfrm>
          <a:prstGeom prst="roundRect">
            <a:avLst>
              <a:gd fmla="val 6957" name="adj"/>
            </a:avLst>
          </a:prstGeom>
          <a:solidFill>
            <a:srgbClr val="E3F4F3"/>
          </a:solidFill>
          <a:ln cap="flat" cmpd="sng" w="12700">
            <a:solidFill>
              <a:srgbClr val="E3F4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8" name="Google Shape;178;p9"/>
          <p:cNvPicPr preferRelativeResize="0"/>
          <p:nvPr/>
        </p:nvPicPr>
        <p:blipFill rotWithShape="1">
          <a:blip r:embed="rId7">
            <a:alphaModFix/>
          </a:blip>
          <a:srcRect b="0" l="0" r="0" t="0"/>
          <a:stretch/>
        </p:blipFill>
        <p:spPr>
          <a:xfrm>
            <a:off x="822960" y="4681728"/>
            <a:ext cx="457200" cy="457200"/>
          </a:xfrm>
          <a:prstGeom prst="rect">
            <a:avLst/>
          </a:prstGeom>
          <a:noFill/>
          <a:ln>
            <a:noFill/>
          </a:ln>
        </p:spPr>
      </p:pic>
      <p:sp>
        <p:nvSpPr>
          <p:cNvPr id="179" name="Google Shape;179;p9"/>
          <p:cNvSpPr txBox="1"/>
          <p:nvPr/>
        </p:nvSpPr>
        <p:spPr>
          <a:xfrm>
            <a:off x="1463040" y="4434840"/>
            <a:ext cx="9966960" cy="9601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4807E"/>
              </a:buClr>
              <a:buSzPts val="1700"/>
              <a:buFont typeface="Calibri"/>
              <a:buNone/>
            </a:pPr>
            <a:r>
              <a:rPr b="1" i="0" lang="en-US" sz="1700" u="none" cap="none" strike="noStrike">
                <a:solidFill>
                  <a:srgbClr val="14807E"/>
                </a:solidFill>
                <a:latin typeface="Calibri"/>
                <a:ea typeface="Calibri"/>
                <a:cs typeface="Calibri"/>
                <a:sym typeface="Calibri"/>
              </a:rPr>
              <a:t>Criterio clave: </a:t>
            </a:r>
            <a:r>
              <a:rPr b="0" i="0" lang="en-US" sz="1700" u="none" cap="none" strike="noStrike">
                <a:solidFill>
                  <a:srgbClr val="1B2B3A"/>
                </a:solidFill>
                <a:latin typeface="Calibri"/>
                <a:ea typeface="Calibri"/>
                <a:cs typeface="Calibri"/>
                <a:sym typeface="Calibri"/>
              </a:rPr>
              <a:t>no se excluyó ningún estudio por no medir el movimiento de partículas. Era justamente lo que queríamos evaluar.</a:t>
            </a:r>
            <a:endParaRPr b="0" i="0" sz="1700" u="none" cap="none" strike="noStrike">
              <a:solidFill>
                <a:schemeClr val="dk1"/>
              </a:solidFill>
              <a:latin typeface="Calibri"/>
              <a:ea typeface="Calibri"/>
              <a:cs typeface="Calibri"/>
              <a:sym typeface="Calibri"/>
            </a:endParaRPr>
          </a:p>
        </p:txBody>
      </p:sp>
      <p:sp>
        <p:nvSpPr>
          <p:cNvPr id="180" name="Google Shape;180;p9"/>
          <p:cNvSpPr txBox="1"/>
          <p:nvPr/>
        </p:nvSpPr>
        <p:spPr>
          <a:xfrm>
            <a:off x="548640" y="5623560"/>
            <a:ext cx="10972800" cy="3657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300"/>
              <a:buFont typeface="Calibri"/>
              <a:buNone/>
            </a:pPr>
            <a:r>
              <a:rPr b="0" i="0" lang="en-US" sz="1300" u="none" cap="none" strike="noStrike">
                <a:solidFill>
                  <a:srgbClr val="5A6B7B"/>
                </a:solidFill>
                <a:latin typeface="Calibri"/>
                <a:ea typeface="Calibri"/>
                <a:cs typeface="Calibri"/>
                <a:sym typeface="Calibri"/>
              </a:rPr>
              <a:t>No consultadas: Scopus y Web of Science (sin acceso institucional).</a:t>
            </a:r>
            <a:endParaRPr b="0" i="0" sz="1300" u="none" cap="none" strike="noStrike">
              <a:solidFill>
                <a:schemeClr val="dk1"/>
              </a:solidFill>
              <a:latin typeface="Calibri"/>
              <a:ea typeface="Calibri"/>
              <a:cs typeface="Calibri"/>
              <a:sym typeface="Calibri"/>
            </a:endParaRPr>
          </a:p>
        </p:txBody>
      </p:sp>
      <p:sp>
        <p:nvSpPr>
          <p:cNvPr id="181" name="Google Shape;181;p9"/>
          <p:cNvSpPr txBox="1"/>
          <p:nvPr/>
        </p:nvSpPr>
        <p:spPr>
          <a:xfrm>
            <a:off x="548640" y="6382512"/>
            <a:ext cx="10241280" cy="29260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Page et al., 2021 (PRISMA 2020)</a:t>
            </a:r>
            <a:endParaRPr b="0" i="0" sz="1200" u="none" cap="none" strike="noStrike">
              <a:solidFill>
                <a:schemeClr val="dk1"/>
              </a:solidFill>
              <a:latin typeface="Calibri"/>
              <a:ea typeface="Calibri"/>
              <a:cs typeface="Calibri"/>
              <a:sym typeface="Calibri"/>
            </a:endParaRPr>
          </a:p>
        </p:txBody>
      </p:sp>
      <p:sp>
        <p:nvSpPr>
          <p:cNvPr id="182" name="Google Shape;182;p9"/>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7</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 name="Shape 187"/>
        <p:cNvGrpSpPr/>
        <p:nvPr/>
      </p:nvGrpSpPr>
      <p:grpSpPr>
        <a:xfrm>
          <a:off x="0" y="0"/>
          <a:ext cx="0" cy="0"/>
          <a:chOff x="0" y="0"/>
          <a:chExt cx="0" cy="0"/>
        </a:xfrm>
      </p:grpSpPr>
      <p:sp>
        <p:nvSpPr>
          <p:cNvPr id="188" name="Google Shape;188;p10"/>
          <p:cNvSpPr txBox="1"/>
          <p:nvPr/>
        </p:nvSpPr>
        <p:spPr>
          <a:xfrm>
            <a:off x="548640" y="41148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800"/>
              <a:buFont typeface="Calibri"/>
              <a:buNone/>
            </a:pPr>
            <a:r>
              <a:rPr b="1" i="0" lang="en-US" sz="2800" u="none" cap="none" strike="noStrike">
                <a:solidFill>
                  <a:srgbClr val="0B2A4A"/>
                </a:solidFill>
                <a:latin typeface="Calibri"/>
                <a:ea typeface="Calibri"/>
                <a:cs typeface="Calibri"/>
                <a:sym typeface="Calibri"/>
              </a:rPr>
              <a:t>De 4180 registros a 171 informes provisionales</a:t>
            </a:r>
            <a:endParaRPr b="0" i="0" sz="2800" u="none" cap="none" strike="noStrike">
              <a:solidFill>
                <a:schemeClr val="dk1"/>
              </a:solidFill>
              <a:latin typeface="Calibri"/>
              <a:ea typeface="Calibri"/>
              <a:cs typeface="Calibri"/>
              <a:sym typeface="Calibri"/>
            </a:endParaRPr>
          </a:p>
        </p:txBody>
      </p:sp>
      <p:sp>
        <p:nvSpPr>
          <p:cNvPr id="189" name="Google Shape;189;p10"/>
          <p:cNvSpPr/>
          <p:nvPr/>
        </p:nvSpPr>
        <p:spPr>
          <a:xfrm>
            <a:off x="2743200" y="1325880"/>
            <a:ext cx="4206240" cy="658368"/>
          </a:xfrm>
          <a:prstGeom prst="roundRect">
            <a:avLst>
              <a:gd fmla="val 11111"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0"/>
          <p:cNvSpPr txBox="1"/>
          <p:nvPr/>
        </p:nvSpPr>
        <p:spPr>
          <a:xfrm>
            <a:off x="2834640" y="1344168"/>
            <a:ext cx="4023360" cy="38404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0B2A4A"/>
              </a:buClr>
              <a:buSzPts val="1600"/>
              <a:buFont typeface="Calibri"/>
              <a:buNone/>
            </a:pPr>
            <a:r>
              <a:rPr b="1" i="0" lang="en-US" sz="1600" u="none" cap="none" strike="noStrike">
                <a:solidFill>
                  <a:srgbClr val="0B2A4A"/>
                </a:solidFill>
                <a:latin typeface="Calibri"/>
                <a:ea typeface="Calibri"/>
                <a:cs typeface="Calibri"/>
                <a:sym typeface="Calibri"/>
              </a:rPr>
              <a:t>4180 registros identificados</a:t>
            </a:r>
            <a:endParaRPr b="0" i="0" sz="1600" u="none" cap="none" strike="noStrike">
              <a:solidFill>
                <a:schemeClr val="dk1"/>
              </a:solidFill>
              <a:latin typeface="Calibri"/>
              <a:ea typeface="Calibri"/>
              <a:cs typeface="Calibri"/>
              <a:sym typeface="Calibri"/>
            </a:endParaRPr>
          </a:p>
        </p:txBody>
      </p:sp>
      <p:sp>
        <p:nvSpPr>
          <p:cNvPr id="191" name="Google Shape;191;p10"/>
          <p:cNvSpPr txBox="1"/>
          <p:nvPr/>
        </p:nvSpPr>
        <p:spPr>
          <a:xfrm>
            <a:off x="2834640" y="1691640"/>
            <a:ext cx="4023360"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1150"/>
              <a:buFont typeface="Calibri"/>
              <a:buNone/>
            </a:pPr>
            <a:r>
              <a:rPr b="0" i="0" lang="en-US" sz="1150" u="none" cap="none" strike="noStrike">
                <a:solidFill>
                  <a:srgbClr val="5A6B7B"/>
                </a:solidFill>
                <a:latin typeface="Calibri"/>
                <a:ea typeface="Calibri"/>
                <a:cs typeface="Calibri"/>
                <a:sym typeface="Calibri"/>
              </a:rPr>
              <a:t>PubMed 775 + 407 · Europe PMC 856 · OpenAlex 2142</a:t>
            </a:r>
            <a:endParaRPr b="0" i="0" sz="1150" u="none" cap="none" strike="noStrike">
              <a:solidFill>
                <a:schemeClr val="dk1"/>
              </a:solidFill>
              <a:latin typeface="Calibri"/>
              <a:ea typeface="Calibri"/>
              <a:cs typeface="Calibri"/>
              <a:sym typeface="Calibri"/>
            </a:endParaRPr>
          </a:p>
        </p:txBody>
      </p:sp>
      <p:sp>
        <p:nvSpPr>
          <p:cNvPr id="192" name="Google Shape;192;p10"/>
          <p:cNvSpPr txBox="1"/>
          <p:nvPr/>
        </p:nvSpPr>
        <p:spPr>
          <a:xfrm>
            <a:off x="548640" y="1325880"/>
            <a:ext cx="2011680" cy="65836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8A9BAA"/>
              </a:buClr>
              <a:buSzPts val="1400"/>
              <a:buFont typeface="Calibri"/>
              <a:buNone/>
            </a:pPr>
            <a:r>
              <a:rPr b="1" i="0" lang="en-US" sz="1400" u="none" cap="none" strike="noStrike">
                <a:solidFill>
                  <a:srgbClr val="8A9BAA"/>
                </a:solidFill>
                <a:latin typeface="Calibri"/>
                <a:ea typeface="Calibri"/>
                <a:cs typeface="Calibri"/>
                <a:sym typeface="Calibri"/>
              </a:rPr>
              <a:t>Identificación</a:t>
            </a:r>
            <a:endParaRPr b="0" i="0" sz="1400" u="none" cap="none" strike="noStrike">
              <a:solidFill>
                <a:schemeClr val="dk1"/>
              </a:solidFill>
              <a:latin typeface="Calibri"/>
              <a:ea typeface="Calibri"/>
              <a:cs typeface="Calibri"/>
              <a:sym typeface="Calibri"/>
            </a:endParaRPr>
          </a:p>
        </p:txBody>
      </p:sp>
      <p:cxnSp>
        <p:nvCxnSpPr>
          <p:cNvPr id="193" name="Google Shape;193;p10"/>
          <p:cNvCxnSpPr/>
          <p:nvPr/>
        </p:nvCxnSpPr>
        <p:spPr>
          <a:xfrm>
            <a:off x="4846320" y="1984248"/>
            <a:ext cx="0" cy="256032"/>
          </a:xfrm>
          <a:prstGeom prst="straightConnector1">
            <a:avLst/>
          </a:prstGeom>
          <a:noFill/>
          <a:ln cap="flat" cmpd="sng" w="25400">
            <a:solidFill>
              <a:srgbClr val="8A9BAA"/>
            </a:solidFill>
            <a:prstDash val="solid"/>
            <a:round/>
            <a:headEnd len="sm" w="sm" type="none"/>
            <a:tailEnd len="med" w="med" type="triangle"/>
          </a:ln>
        </p:spPr>
      </p:cxnSp>
      <p:sp>
        <p:nvSpPr>
          <p:cNvPr id="194" name="Google Shape;194;p10"/>
          <p:cNvSpPr/>
          <p:nvPr/>
        </p:nvSpPr>
        <p:spPr>
          <a:xfrm>
            <a:off x="2743200" y="2240280"/>
            <a:ext cx="4206240" cy="658368"/>
          </a:xfrm>
          <a:prstGeom prst="roundRect">
            <a:avLst>
              <a:gd fmla="val 11111"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0"/>
          <p:cNvSpPr txBox="1"/>
          <p:nvPr/>
        </p:nvSpPr>
        <p:spPr>
          <a:xfrm>
            <a:off x="2834640" y="2258568"/>
            <a:ext cx="4023360" cy="38404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0B2A4A"/>
              </a:buClr>
              <a:buSzPts val="1600"/>
              <a:buFont typeface="Calibri"/>
              <a:buNone/>
            </a:pPr>
            <a:r>
              <a:rPr b="1" i="0" lang="en-US" sz="1600" u="none" cap="none" strike="noStrike">
                <a:solidFill>
                  <a:srgbClr val="0B2A4A"/>
                </a:solidFill>
                <a:latin typeface="Calibri"/>
                <a:ea typeface="Calibri"/>
                <a:cs typeface="Calibri"/>
                <a:sym typeface="Calibri"/>
              </a:rPr>
              <a:t>2662 registros cribados</a:t>
            </a:r>
            <a:endParaRPr b="0" i="0" sz="1600" u="none" cap="none" strike="noStrike">
              <a:solidFill>
                <a:schemeClr val="dk1"/>
              </a:solidFill>
              <a:latin typeface="Calibri"/>
              <a:ea typeface="Calibri"/>
              <a:cs typeface="Calibri"/>
              <a:sym typeface="Calibri"/>
            </a:endParaRPr>
          </a:p>
        </p:txBody>
      </p:sp>
      <p:sp>
        <p:nvSpPr>
          <p:cNvPr id="196" name="Google Shape;196;p10"/>
          <p:cNvSpPr txBox="1"/>
          <p:nvPr/>
        </p:nvSpPr>
        <p:spPr>
          <a:xfrm>
            <a:off x="2834640" y="2606040"/>
            <a:ext cx="4023360"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1150"/>
              <a:buFont typeface="Calibri"/>
              <a:buNone/>
            </a:pPr>
            <a:r>
              <a:rPr b="0" i="0" lang="en-US" sz="1150" u="none" cap="none" strike="noStrike">
                <a:solidFill>
                  <a:srgbClr val="5A6B7B"/>
                </a:solidFill>
                <a:latin typeface="Calibri"/>
                <a:ea typeface="Calibri"/>
                <a:cs typeface="Calibri"/>
                <a:sym typeface="Calibri"/>
              </a:rPr>
              <a:t>título y resumen</a:t>
            </a:r>
            <a:endParaRPr b="0" i="0" sz="1150" u="none" cap="none" strike="noStrike">
              <a:solidFill>
                <a:schemeClr val="dk1"/>
              </a:solidFill>
              <a:latin typeface="Calibri"/>
              <a:ea typeface="Calibri"/>
              <a:cs typeface="Calibri"/>
              <a:sym typeface="Calibri"/>
            </a:endParaRPr>
          </a:p>
        </p:txBody>
      </p:sp>
      <p:sp>
        <p:nvSpPr>
          <p:cNvPr id="197" name="Google Shape;197;p10"/>
          <p:cNvSpPr txBox="1"/>
          <p:nvPr/>
        </p:nvSpPr>
        <p:spPr>
          <a:xfrm>
            <a:off x="548640" y="2240280"/>
            <a:ext cx="2011680" cy="65836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8A9BAA"/>
              </a:buClr>
              <a:buSzPts val="1400"/>
              <a:buFont typeface="Calibri"/>
              <a:buNone/>
            </a:pPr>
            <a:r>
              <a:rPr b="1" i="0" lang="en-US" sz="1400" u="none" cap="none" strike="noStrike">
                <a:solidFill>
                  <a:srgbClr val="8A9BAA"/>
                </a:solidFill>
                <a:latin typeface="Calibri"/>
                <a:ea typeface="Calibri"/>
                <a:cs typeface="Calibri"/>
                <a:sym typeface="Calibri"/>
              </a:rPr>
              <a:t>Cribado</a:t>
            </a:r>
            <a:endParaRPr b="0" i="0" sz="1400" u="none" cap="none" strike="noStrike">
              <a:solidFill>
                <a:schemeClr val="dk1"/>
              </a:solidFill>
              <a:latin typeface="Calibri"/>
              <a:ea typeface="Calibri"/>
              <a:cs typeface="Calibri"/>
              <a:sym typeface="Calibri"/>
            </a:endParaRPr>
          </a:p>
        </p:txBody>
      </p:sp>
      <p:cxnSp>
        <p:nvCxnSpPr>
          <p:cNvPr id="198" name="Google Shape;198;p10"/>
          <p:cNvCxnSpPr/>
          <p:nvPr/>
        </p:nvCxnSpPr>
        <p:spPr>
          <a:xfrm>
            <a:off x="4846320" y="2898648"/>
            <a:ext cx="0" cy="256032"/>
          </a:xfrm>
          <a:prstGeom prst="straightConnector1">
            <a:avLst/>
          </a:prstGeom>
          <a:noFill/>
          <a:ln cap="flat" cmpd="sng" w="25400">
            <a:solidFill>
              <a:srgbClr val="8A9BAA"/>
            </a:solidFill>
            <a:prstDash val="solid"/>
            <a:round/>
            <a:headEnd len="sm" w="sm" type="none"/>
            <a:tailEnd len="med" w="med" type="triangle"/>
          </a:ln>
        </p:spPr>
      </p:cxnSp>
      <p:sp>
        <p:nvSpPr>
          <p:cNvPr id="199" name="Google Shape;199;p10"/>
          <p:cNvSpPr/>
          <p:nvPr/>
        </p:nvSpPr>
        <p:spPr>
          <a:xfrm>
            <a:off x="2743200" y="3154680"/>
            <a:ext cx="4206240" cy="658368"/>
          </a:xfrm>
          <a:prstGeom prst="roundRect">
            <a:avLst>
              <a:gd fmla="val 11111"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0"/>
          <p:cNvSpPr txBox="1"/>
          <p:nvPr/>
        </p:nvSpPr>
        <p:spPr>
          <a:xfrm>
            <a:off x="2834640" y="3154680"/>
            <a:ext cx="4023360" cy="65836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0B2A4A"/>
              </a:buClr>
              <a:buSzPts val="1600"/>
              <a:buFont typeface="Calibri"/>
              <a:buNone/>
            </a:pPr>
            <a:r>
              <a:rPr b="1" i="0" lang="en-US" sz="1600" u="none" cap="none" strike="noStrike">
                <a:solidFill>
                  <a:srgbClr val="0B2A4A"/>
                </a:solidFill>
                <a:latin typeface="Calibri"/>
                <a:ea typeface="Calibri"/>
                <a:cs typeface="Calibri"/>
                <a:sym typeface="Calibri"/>
              </a:rPr>
              <a:t>676 informes buscados a texto completo</a:t>
            </a:r>
            <a:endParaRPr b="0" i="0" sz="1600" u="none" cap="none" strike="noStrike">
              <a:solidFill>
                <a:schemeClr val="dk1"/>
              </a:solidFill>
              <a:latin typeface="Calibri"/>
              <a:ea typeface="Calibri"/>
              <a:cs typeface="Calibri"/>
              <a:sym typeface="Calibri"/>
            </a:endParaRPr>
          </a:p>
        </p:txBody>
      </p:sp>
      <p:sp>
        <p:nvSpPr>
          <p:cNvPr id="201" name="Google Shape;201;p10"/>
          <p:cNvSpPr txBox="1"/>
          <p:nvPr/>
        </p:nvSpPr>
        <p:spPr>
          <a:xfrm>
            <a:off x="548640" y="3154680"/>
            <a:ext cx="2011680" cy="65836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8A9BAA"/>
              </a:buClr>
              <a:buSzPts val="1400"/>
              <a:buFont typeface="Calibri"/>
              <a:buNone/>
            </a:pPr>
            <a:r>
              <a:rPr b="1" i="0" lang="en-US" sz="1400" u="none" cap="none" strike="noStrike">
                <a:solidFill>
                  <a:srgbClr val="8A9BAA"/>
                </a:solidFill>
                <a:latin typeface="Calibri"/>
                <a:ea typeface="Calibri"/>
                <a:cs typeface="Calibri"/>
                <a:sym typeface="Calibri"/>
              </a:rPr>
              <a:t>Recuperación</a:t>
            </a:r>
            <a:endParaRPr b="0" i="0" sz="1400" u="none" cap="none" strike="noStrike">
              <a:solidFill>
                <a:schemeClr val="dk1"/>
              </a:solidFill>
              <a:latin typeface="Calibri"/>
              <a:ea typeface="Calibri"/>
              <a:cs typeface="Calibri"/>
              <a:sym typeface="Calibri"/>
            </a:endParaRPr>
          </a:p>
        </p:txBody>
      </p:sp>
      <p:cxnSp>
        <p:nvCxnSpPr>
          <p:cNvPr id="202" name="Google Shape;202;p10"/>
          <p:cNvCxnSpPr/>
          <p:nvPr/>
        </p:nvCxnSpPr>
        <p:spPr>
          <a:xfrm>
            <a:off x="4846320" y="3813048"/>
            <a:ext cx="0" cy="256032"/>
          </a:xfrm>
          <a:prstGeom prst="straightConnector1">
            <a:avLst/>
          </a:prstGeom>
          <a:noFill/>
          <a:ln cap="flat" cmpd="sng" w="25400">
            <a:solidFill>
              <a:srgbClr val="8A9BAA"/>
            </a:solidFill>
            <a:prstDash val="solid"/>
            <a:round/>
            <a:headEnd len="sm" w="sm" type="none"/>
            <a:tailEnd len="med" w="med" type="triangle"/>
          </a:ln>
        </p:spPr>
      </p:cxnSp>
      <p:sp>
        <p:nvSpPr>
          <p:cNvPr id="203" name="Google Shape;203;p10"/>
          <p:cNvSpPr/>
          <p:nvPr/>
        </p:nvSpPr>
        <p:spPr>
          <a:xfrm>
            <a:off x="2743200" y="4069080"/>
            <a:ext cx="4206240" cy="658368"/>
          </a:xfrm>
          <a:prstGeom prst="roundRect">
            <a:avLst>
              <a:gd fmla="val 11111"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0"/>
          <p:cNvSpPr txBox="1"/>
          <p:nvPr/>
        </p:nvSpPr>
        <p:spPr>
          <a:xfrm>
            <a:off x="2834640" y="4069080"/>
            <a:ext cx="4023360" cy="65836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0B2A4A"/>
              </a:buClr>
              <a:buSzPts val="1600"/>
              <a:buFont typeface="Calibri"/>
              <a:buNone/>
            </a:pPr>
            <a:r>
              <a:rPr b="1" i="0" lang="en-US" sz="1600" u="none" cap="none" strike="noStrike">
                <a:solidFill>
                  <a:srgbClr val="0B2A4A"/>
                </a:solidFill>
                <a:latin typeface="Calibri"/>
                <a:ea typeface="Calibri"/>
                <a:cs typeface="Calibri"/>
                <a:sym typeface="Calibri"/>
              </a:rPr>
              <a:t>183 evaluados a texto completo</a:t>
            </a:r>
            <a:endParaRPr b="0" i="0" sz="1600" u="none" cap="none" strike="noStrike">
              <a:solidFill>
                <a:schemeClr val="dk1"/>
              </a:solidFill>
              <a:latin typeface="Calibri"/>
              <a:ea typeface="Calibri"/>
              <a:cs typeface="Calibri"/>
              <a:sym typeface="Calibri"/>
            </a:endParaRPr>
          </a:p>
        </p:txBody>
      </p:sp>
      <p:sp>
        <p:nvSpPr>
          <p:cNvPr id="205" name="Google Shape;205;p10"/>
          <p:cNvSpPr txBox="1"/>
          <p:nvPr/>
        </p:nvSpPr>
        <p:spPr>
          <a:xfrm>
            <a:off x="548640" y="4069080"/>
            <a:ext cx="2011680" cy="65836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8A9BAA"/>
              </a:buClr>
              <a:buSzPts val="1400"/>
              <a:buFont typeface="Calibri"/>
              <a:buNone/>
            </a:pPr>
            <a:r>
              <a:rPr b="1" i="0" lang="en-US" sz="1400" u="none" cap="none" strike="noStrike">
                <a:solidFill>
                  <a:srgbClr val="8A9BAA"/>
                </a:solidFill>
                <a:latin typeface="Calibri"/>
                <a:ea typeface="Calibri"/>
                <a:cs typeface="Calibri"/>
                <a:sym typeface="Calibri"/>
              </a:rPr>
              <a:t>Elegibilidad</a:t>
            </a:r>
            <a:endParaRPr b="0" i="0" sz="1400" u="none" cap="none" strike="noStrike">
              <a:solidFill>
                <a:schemeClr val="dk1"/>
              </a:solidFill>
              <a:latin typeface="Calibri"/>
              <a:ea typeface="Calibri"/>
              <a:cs typeface="Calibri"/>
              <a:sym typeface="Calibri"/>
            </a:endParaRPr>
          </a:p>
        </p:txBody>
      </p:sp>
      <p:cxnSp>
        <p:nvCxnSpPr>
          <p:cNvPr id="206" name="Google Shape;206;p10"/>
          <p:cNvCxnSpPr/>
          <p:nvPr/>
        </p:nvCxnSpPr>
        <p:spPr>
          <a:xfrm>
            <a:off x="4846320" y="4727448"/>
            <a:ext cx="0" cy="256032"/>
          </a:xfrm>
          <a:prstGeom prst="straightConnector1">
            <a:avLst/>
          </a:prstGeom>
          <a:noFill/>
          <a:ln cap="flat" cmpd="sng" w="25400">
            <a:solidFill>
              <a:srgbClr val="8A9BAA"/>
            </a:solidFill>
            <a:prstDash val="solid"/>
            <a:round/>
            <a:headEnd len="sm" w="sm" type="none"/>
            <a:tailEnd len="med" w="med" type="triangle"/>
          </a:ln>
        </p:spPr>
      </p:cxnSp>
      <p:sp>
        <p:nvSpPr>
          <p:cNvPr id="207" name="Google Shape;207;p10"/>
          <p:cNvSpPr/>
          <p:nvPr/>
        </p:nvSpPr>
        <p:spPr>
          <a:xfrm>
            <a:off x="2743200" y="4983480"/>
            <a:ext cx="4206240" cy="658368"/>
          </a:xfrm>
          <a:prstGeom prst="roundRect">
            <a:avLst>
              <a:gd fmla="val 11111" name="adj"/>
            </a:avLst>
          </a:prstGeom>
          <a:solidFill>
            <a:srgbClr val="0B2A4A"/>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
          <p:cNvSpPr txBox="1"/>
          <p:nvPr/>
        </p:nvSpPr>
        <p:spPr>
          <a:xfrm>
            <a:off x="2834640" y="4983480"/>
            <a:ext cx="4023360" cy="65836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171 informes incluidos provisionalmente</a:t>
            </a:r>
            <a:endParaRPr b="0" i="0" sz="1600" u="none" cap="none" strike="noStrike">
              <a:solidFill>
                <a:schemeClr val="dk1"/>
              </a:solidFill>
              <a:latin typeface="Calibri"/>
              <a:ea typeface="Calibri"/>
              <a:cs typeface="Calibri"/>
              <a:sym typeface="Calibri"/>
            </a:endParaRPr>
          </a:p>
        </p:txBody>
      </p:sp>
      <p:sp>
        <p:nvSpPr>
          <p:cNvPr id="209" name="Google Shape;209;p10"/>
          <p:cNvSpPr txBox="1"/>
          <p:nvPr/>
        </p:nvSpPr>
        <p:spPr>
          <a:xfrm>
            <a:off x="548640" y="4983480"/>
            <a:ext cx="2011680" cy="65836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8A9BAA"/>
              </a:buClr>
              <a:buSzPts val="1400"/>
              <a:buFont typeface="Calibri"/>
              <a:buNone/>
            </a:pPr>
            <a:r>
              <a:rPr b="1" i="0" lang="en-US" sz="1400" u="none" cap="none" strike="noStrike">
                <a:solidFill>
                  <a:srgbClr val="8A9BAA"/>
                </a:solidFill>
                <a:latin typeface="Calibri"/>
                <a:ea typeface="Calibri"/>
                <a:cs typeface="Calibri"/>
                <a:sym typeface="Calibri"/>
              </a:rPr>
              <a:t>Inclusión</a:t>
            </a:r>
            <a:endParaRPr b="0" i="0" sz="1400" u="none" cap="none" strike="noStrike">
              <a:solidFill>
                <a:schemeClr val="dk1"/>
              </a:solidFill>
              <a:latin typeface="Calibri"/>
              <a:ea typeface="Calibri"/>
              <a:cs typeface="Calibri"/>
              <a:sym typeface="Calibri"/>
            </a:endParaRPr>
          </a:p>
        </p:txBody>
      </p:sp>
      <p:sp>
        <p:nvSpPr>
          <p:cNvPr id="210" name="Google Shape;210;p10"/>
          <p:cNvSpPr/>
          <p:nvPr/>
        </p:nvSpPr>
        <p:spPr>
          <a:xfrm>
            <a:off x="7589520" y="1399032"/>
            <a:ext cx="4069080" cy="502920"/>
          </a:xfrm>
          <a:prstGeom prst="roundRect">
            <a:avLst>
              <a:gd fmla="val 14545" name="adj"/>
            </a:avLst>
          </a:prstGeom>
          <a:solidFill>
            <a:srgbClr val="FFFFFF"/>
          </a:solidFill>
          <a:ln cap="flat" cmpd="sng" w="12700">
            <a:solidFill>
              <a:srgbClr val="C9D6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0"/>
          <p:cNvSpPr txBox="1"/>
          <p:nvPr/>
        </p:nvSpPr>
        <p:spPr>
          <a:xfrm>
            <a:off x="7635240" y="1399032"/>
            <a:ext cx="3977640" cy="5029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1B2B3A"/>
              </a:buClr>
              <a:buSzPts val="1400"/>
              <a:buFont typeface="Calibri"/>
              <a:buNone/>
            </a:pPr>
            <a:r>
              <a:rPr b="0" i="0" lang="en-US" sz="1400" u="none" cap="none" strike="noStrike">
                <a:solidFill>
                  <a:srgbClr val="1B2B3A"/>
                </a:solidFill>
                <a:latin typeface="Calibri"/>
                <a:ea typeface="Calibri"/>
                <a:cs typeface="Calibri"/>
                <a:sym typeface="Calibri"/>
              </a:rPr>
              <a:t>1518 duplicados eliminados</a:t>
            </a:r>
            <a:endParaRPr b="0" i="0" sz="1400" u="none" cap="none" strike="noStrike">
              <a:solidFill>
                <a:schemeClr val="dk1"/>
              </a:solidFill>
              <a:latin typeface="Calibri"/>
              <a:ea typeface="Calibri"/>
              <a:cs typeface="Calibri"/>
              <a:sym typeface="Calibri"/>
            </a:endParaRPr>
          </a:p>
        </p:txBody>
      </p:sp>
      <p:cxnSp>
        <p:nvCxnSpPr>
          <p:cNvPr id="212" name="Google Shape;212;p10"/>
          <p:cNvCxnSpPr/>
          <p:nvPr/>
        </p:nvCxnSpPr>
        <p:spPr>
          <a:xfrm>
            <a:off x="6949440" y="1645920"/>
            <a:ext cx="640080" cy="0"/>
          </a:xfrm>
          <a:prstGeom prst="straightConnector1">
            <a:avLst/>
          </a:prstGeom>
          <a:noFill/>
          <a:ln cap="flat" cmpd="sng" w="19050">
            <a:solidFill>
              <a:srgbClr val="8A9BAA"/>
            </a:solidFill>
            <a:prstDash val="solid"/>
            <a:round/>
            <a:headEnd len="sm" w="sm" type="none"/>
            <a:tailEnd len="med" w="med" type="triangle"/>
          </a:ln>
        </p:spPr>
      </p:cxnSp>
      <p:sp>
        <p:nvSpPr>
          <p:cNvPr id="213" name="Google Shape;213;p10"/>
          <p:cNvSpPr/>
          <p:nvPr/>
        </p:nvSpPr>
        <p:spPr>
          <a:xfrm>
            <a:off x="7589520" y="2313432"/>
            <a:ext cx="4069080" cy="502920"/>
          </a:xfrm>
          <a:prstGeom prst="roundRect">
            <a:avLst>
              <a:gd fmla="val 14545" name="adj"/>
            </a:avLst>
          </a:prstGeom>
          <a:solidFill>
            <a:srgbClr val="FFFFFF"/>
          </a:solidFill>
          <a:ln cap="flat" cmpd="sng" w="12700">
            <a:solidFill>
              <a:srgbClr val="C9D6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0"/>
          <p:cNvSpPr txBox="1"/>
          <p:nvPr/>
        </p:nvSpPr>
        <p:spPr>
          <a:xfrm>
            <a:off x="7635240" y="2313432"/>
            <a:ext cx="3977640" cy="5029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1B2B3A"/>
              </a:buClr>
              <a:buSzPts val="1400"/>
              <a:buFont typeface="Calibri"/>
              <a:buNone/>
            </a:pPr>
            <a:r>
              <a:rPr b="0" i="0" lang="en-US" sz="1400" u="none" cap="none" strike="noStrike">
                <a:solidFill>
                  <a:srgbClr val="1B2B3A"/>
                </a:solidFill>
                <a:latin typeface="Calibri"/>
                <a:ea typeface="Calibri"/>
                <a:cs typeface="Calibri"/>
                <a:sym typeface="Calibri"/>
              </a:rPr>
              <a:t>1986 excluidos por título o resumen</a:t>
            </a:r>
            <a:endParaRPr b="0" i="0" sz="1400" u="none" cap="none" strike="noStrike">
              <a:solidFill>
                <a:schemeClr val="dk1"/>
              </a:solidFill>
              <a:latin typeface="Calibri"/>
              <a:ea typeface="Calibri"/>
              <a:cs typeface="Calibri"/>
              <a:sym typeface="Calibri"/>
            </a:endParaRPr>
          </a:p>
        </p:txBody>
      </p:sp>
      <p:cxnSp>
        <p:nvCxnSpPr>
          <p:cNvPr id="215" name="Google Shape;215;p10"/>
          <p:cNvCxnSpPr/>
          <p:nvPr/>
        </p:nvCxnSpPr>
        <p:spPr>
          <a:xfrm>
            <a:off x="6949440" y="2560320"/>
            <a:ext cx="640080" cy="0"/>
          </a:xfrm>
          <a:prstGeom prst="straightConnector1">
            <a:avLst/>
          </a:prstGeom>
          <a:noFill/>
          <a:ln cap="flat" cmpd="sng" w="19050">
            <a:solidFill>
              <a:srgbClr val="8A9BAA"/>
            </a:solidFill>
            <a:prstDash val="solid"/>
            <a:round/>
            <a:headEnd len="sm" w="sm" type="none"/>
            <a:tailEnd len="med" w="med" type="triangle"/>
          </a:ln>
        </p:spPr>
      </p:cxnSp>
      <p:sp>
        <p:nvSpPr>
          <p:cNvPr id="216" name="Google Shape;216;p10"/>
          <p:cNvSpPr/>
          <p:nvPr/>
        </p:nvSpPr>
        <p:spPr>
          <a:xfrm>
            <a:off x="7589520" y="4069080"/>
            <a:ext cx="4069080" cy="502920"/>
          </a:xfrm>
          <a:prstGeom prst="roundRect">
            <a:avLst>
              <a:gd fmla="val 14545" name="adj"/>
            </a:avLst>
          </a:prstGeom>
          <a:solidFill>
            <a:srgbClr val="FFFFFF"/>
          </a:solidFill>
          <a:ln cap="flat" cmpd="sng" w="12700">
            <a:solidFill>
              <a:srgbClr val="C9D6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txBox="1"/>
          <p:nvPr/>
        </p:nvSpPr>
        <p:spPr>
          <a:xfrm>
            <a:off x="7635240" y="4069080"/>
            <a:ext cx="3977640" cy="5029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1B2B3A"/>
              </a:buClr>
              <a:buSzPts val="1400"/>
              <a:buFont typeface="Calibri"/>
              <a:buNone/>
            </a:pPr>
            <a:r>
              <a:rPr b="0" i="0" lang="en-US" sz="1400" u="none" cap="none" strike="noStrike">
                <a:solidFill>
                  <a:srgbClr val="1B2B3A"/>
                </a:solidFill>
                <a:latin typeface="Calibri"/>
                <a:ea typeface="Calibri"/>
                <a:cs typeface="Calibri"/>
                <a:sym typeface="Calibri"/>
              </a:rPr>
              <a:t>12 excluidos  (E2 4 · E3 5 · E4 3)</a:t>
            </a:r>
            <a:endParaRPr b="0" i="0" sz="1400" u="none" cap="none" strike="noStrike">
              <a:solidFill>
                <a:schemeClr val="dk1"/>
              </a:solidFill>
              <a:latin typeface="Calibri"/>
              <a:ea typeface="Calibri"/>
              <a:cs typeface="Calibri"/>
              <a:sym typeface="Calibri"/>
            </a:endParaRPr>
          </a:p>
        </p:txBody>
      </p:sp>
      <p:cxnSp>
        <p:nvCxnSpPr>
          <p:cNvPr id="218" name="Google Shape;218;p10"/>
          <p:cNvCxnSpPr/>
          <p:nvPr/>
        </p:nvCxnSpPr>
        <p:spPr>
          <a:xfrm>
            <a:off x="6949440" y="4315968"/>
            <a:ext cx="640080" cy="0"/>
          </a:xfrm>
          <a:prstGeom prst="straightConnector1">
            <a:avLst/>
          </a:prstGeom>
          <a:noFill/>
          <a:ln cap="flat" cmpd="sng" w="19050">
            <a:solidFill>
              <a:srgbClr val="8A9BAA"/>
            </a:solidFill>
            <a:prstDash val="solid"/>
            <a:round/>
            <a:headEnd len="sm" w="sm" type="none"/>
            <a:tailEnd len="med" w="med" type="triangle"/>
          </a:ln>
        </p:spPr>
      </p:cxnSp>
      <p:sp>
        <p:nvSpPr>
          <p:cNvPr id="219" name="Google Shape;219;p10"/>
          <p:cNvSpPr/>
          <p:nvPr/>
        </p:nvSpPr>
        <p:spPr>
          <a:xfrm>
            <a:off x="7589520" y="2926080"/>
            <a:ext cx="4069080" cy="1005840"/>
          </a:xfrm>
          <a:prstGeom prst="roundRect">
            <a:avLst>
              <a:gd fmla="val 7273" name="adj"/>
            </a:avLst>
          </a:prstGeom>
          <a:solidFill>
            <a:srgbClr val="FBEAE6"/>
          </a:solidFill>
          <a:ln cap="flat" cmpd="sng" w="25400">
            <a:solidFill>
              <a:srgbClr val="E36F5A"/>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txBox="1"/>
          <p:nvPr/>
        </p:nvSpPr>
        <p:spPr>
          <a:xfrm>
            <a:off x="7680960" y="2953512"/>
            <a:ext cx="3886200" cy="45720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B8432F"/>
              </a:buClr>
              <a:buSzPts val="2000"/>
              <a:buFont typeface="Calibri"/>
              <a:buNone/>
            </a:pPr>
            <a:r>
              <a:rPr b="1" i="0" lang="en-US" sz="2000" u="none" cap="none" strike="noStrike">
                <a:solidFill>
                  <a:srgbClr val="B8432F"/>
                </a:solidFill>
                <a:latin typeface="Calibri"/>
                <a:ea typeface="Calibri"/>
                <a:cs typeface="Calibri"/>
                <a:sym typeface="Calibri"/>
              </a:rPr>
              <a:t>493 no recuperados</a:t>
            </a:r>
            <a:endParaRPr b="0" i="0" sz="2000" u="none" cap="none" strike="noStrike">
              <a:solidFill>
                <a:schemeClr val="dk1"/>
              </a:solidFill>
              <a:latin typeface="Calibri"/>
              <a:ea typeface="Calibri"/>
              <a:cs typeface="Calibri"/>
              <a:sym typeface="Calibri"/>
            </a:endParaRPr>
          </a:p>
        </p:txBody>
      </p:sp>
      <p:sp>
        <p:nvSpPr>
          <p:cNvPr id="221" name="Google Shape;221;p10"/>
          <p:cNvSpPr txBox="1"/>
          <p:nvPr/>
        </p:nvSpPr>
        <p:spPr>
          <a:xfrm>
            <a:off x="7680960" y="3383280"/>
            <a:ext cx="3886200" cy="45720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B8432F"/>
              </a:buClr>
              <a:buSzPts val="1350"/>
              <a:buFont typeface="Calibri"/>
              <a:buNone/>
            </a:pPr>
            <a:r>
              <a:rPr b="0" i="0" lang="en-US" sz="1350" u="none" cap="none" strike="noStrike">
                <a:solidFill>
                  <a:srgbClr val="B8432F"/>
                </a:solidFill>
                <a:latin typeface="Calibri"/>
                <a:ea typeface="Calibri"/>
                <a:cs typeface="Calibri"/>
                <a:sym typeface="Calibri"/>
              </a:rPr>
              <a:t>no evaluados, NO excluidos · 73 % de los buscados</a:t>
            </a:r>
            <a:endParaRPr b="0" i="0" sz="1350" u="none" cap="none" strike="noStrike">
              <a:solidFill>
                <a:schemeClr val="dk1"/>
              </a:solidFill>
              <a:latin typeface="Calibri"/>
              <a:ea typeface="Calibri"/>
              <a:cs typeface="Calibri"/>
              <a:sym typeface="Calibri"/>
            </a:endParaRPr>
          </a:p>
        </p:txBody>
      </p:sp>
      <p:cxnSp>
        <p:nvCxnSpPr>
          <p:cNvPr id="222" name="Google Shape;222;p10"/>
          <p:cNvCxnSpPr/>
          <p:nvPr/>
        </p:nvCxnSpPr>
        <p:spPr>
          <a:xfrm>
            <a:off x="6949440" y="3429000"/>
            <a:ext cx="640080" cy="0"/>
          </a:xfrm>
          <a:prstGeom prst="straightConnector1">
            <a:avLst/>
          </a:prstGeom>
          <a:noFill/>
          <a:ln cap="flat" cmpd="sng" w="19050">
            <a:solidFill>
              <a:srgbClr val="E36F5A"/>
            </a:solidFill>
            <a:prstDash val="dash"/>
            <a:round/>
            <a:headEnd len="sm" w="sm" type="none"/>
            <a:tailEnd len="med" w="med" type="triangle"/>
          </a:ln>
        </p:spPr>
      </p:cxnSp>
      <p:sp>
        <p:nvSpPr>
          <p:cNvPr id="223" name="Google Shape;223;p10"/>
          <p:cNvSpPr txBox="1"/>
          <p:nvPr/>
        </p:nvSpPr>
        <p:spPr>
          <a:xfrm>
            <a:off x="548640" y="6382512"/>
            <a:ext cx="10241280" cy="29260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Page et al., 2021  ·  Datos: esta revisión</a:t>
            </a:r>
            <a:endParaRPr b="0" i="0" sz="1200" u="none" cap="none" strike="noStrike">
              <a:solidFill>
                <a:schemeClr val="dk1"/>
              </a:solidFill>
              <a:latin typeface="Calibri"/>
              <a:ea typeface="Calibri"/>
              <a:cs typeface="Calibri"/>
              <a:sym typeface="Calibri"/>
            </a:endParaRPr>
          </a:p>
        </p:txBody>
      </p:sp>
      <p:sp>
        <p:nvSpPr>
          <p:cNvPr id="224" name="Google Shape;224;p10"/>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8</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11"/>
          <p:cNvSpPr txBox="1"/>
          <p:nvPr/>
        </p:nvSpPr>
        <p:spPr>
          <a:xfrm>
            <a:off x="548640" y="41148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800"/>
              <a:buFont typeface="Calibri"/>
              <a:buNone/>
            </a:pPr>
            <a:r>
              <a:rPr b="1" i="0" lang="en-US" sz="2800" u="none" cap="none" strike="noStrike">
                <a:solidFill>
                  <a:srgbClr val="0B2A4A"/>
                </a:solidFill>
                <a:latin typeface="Calibri"/>
                <a:ea typeface="Calibri"/>
                <a:cs typeface="Calibri"/>
                <a:sym typeface="Calibri"/>
              </a:rPr>
              <a:t>171 informes no son 171 estudios analizados a fondo</a:t>
            </a:r>
            <a:endParaRPr b="0" i="0" sz="2800" u="none" cap="none" strike="noStrike">
              <a:solidFill>
                <a:schemeClr val="dk1"/>
              </a:solidFill>
              <a:latin typeface="Calibri"/>
              <a:ea typeface="Calibri"/>
              <a:cs typeface="Calibri"/>
              <a:sym typeface="Calibri"/>
            </a:endParaRPr>
          </a:p>
        </p:txBody>
      </p:sp>
      <p:sp>
        <p:nvSpPr>
          <p:cNvPr id="231" name="Google Shape;231;p11"/>
          <p:cNvSpPr/>
          <p:nvPr/>
        </p:nvSpPr>
        <p:spPr>
          <a:xfrm>
            <a:off x="548640" y="1417320"/>
            <a:ext cx="6217920" cy="685800"/>
          </a:xfrm>
          <a:prstGeom prst="roundRect">
            <a:avLst>
              <a:gd fmla="val 8000" name="adj"/>
            </a:avLst>
          </a:prstGeom>
          <a:solidFill>
            <a:srgbClr val="D5E4EE"/>
          </a:solidFill>
          <a:ln cap="flat" cmpd="sng" w="12700">
            <a:solidFill>
              <a:srgbClr val="D5E4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txBox="1"/>
          <p:nvPr/>
        </p:nvSpPr>
        <p:spPr>
          <a:xfrm>
            <a:off x="685800" y="1417320"/>
            <a:ext cx="1097280" cy="685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600"/>
              <a:buFont typeface="Calibri"/>
              <a:buNone/>
            </a:pPr>
            <a:r>
              <a:rPr b="1" i="0" lang="en-US" sz="2600" u="none" cap="none" strike="noStrike">
                <a:solidFill>
                  <a:srgbClr val="0B2A4A"/>
                </a:solidFill>
                <a:latin typeface="Calibri"/>
                <a:ea typeface="Calibri"/>
                <a:cs typeface="Calibri"/>
                <a:sym typeface="Calibri"/>
              </a:rPr>
              <a:t>171</a:t>
            </a:r>
            <a:endParaRPr b="0" i="0" sz="2600" u="none" cap="none" strike="noStrike">
              <a:solidFill>
                <a:schemeClr val="dk1"/>
              </a:solidFill>
              <a:latin typeface="Calibri"/>
              <a:ea typeface="Calibri"/>
              <a:cs typeface="Calibri"/>
              <a:sym typeface="Calibri"/>
            </a:endParaRPr>
          </a:p>
        </p:txBody>
      </p:sp>
      <p:sp>
        <p:nvSpPr>
          <p:cNvPr id="233" name="Google Shape;233;p11"/>
          <p:cNvSpPr txBox="1"/>
          <p:nvPr/>
        </p:nvSpPr>
        <p:spPr>
          <a:xfrm>
            <a:off x="7040880" y="1417320"/>
            <a:ext cx="4663440" cy="685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00"/>
              <a:buFont typeface="Calibri"/>
              <a:buNone/>
            </a:pPr>
            <a:r>
              <a:rPr b="0" i="0" lang="en-US" sz="1500" u="none" cap="none" strike="noStrike">
                <a:solidFill>
                  <a:srgbClr val="1B2B3A"/>
                </a:solidFill>
                <a:latin typeface="Calibri"/>
                <a:ea typeface="Calibri"/>
                <a:cs typeface="Calibri"/>
                <a:sym typeface="Calibri"/>
              </a:rPr>
              <a:t>Incluidos provisionalmente (PRISMA)</a:t>
            </a:r>
            <a:endParaRPr b="0" i="0" sz="1500" u="none" cap="none" strike="noStrike">
              <a:solidFill>
                <a:schemeClr val="dk1"/>
              </a:solidFill>
              <a:latin typeface="Calibri"/>
              <a:ea typeface="Calibri"/>
              <a:cs typeface="Calibri"/>
              <a:sym typeface="Calibri"/>
            </a:endParaRPr>
          </a:p>
        </p:txBody>
      </p:sp>
      <p:sp>
        <p:nvSpPr>
          <p:cNvPr id="234" name="Google Shape;234;p11"/>
          <p:cNvSpPr/>
          <p:nvPr/>
        </p:nvSpPr>
        <p:spPr>
          <a:xfrm>
            <a:off x="548640" y="2286000"/>
            <a:ext cx="4327091" cy="685800"/>
          </a:xfrm>
          <a:prstGeom prst="roundRect">
            <a:avLst>
              <a:gd fmla="val 8000" name="adj"/>
            </a:avLst>
          </a:prstGeom>
          <a:solidFill>
            <a:srgbClr val="B9D3E4"/>
          </a:solidFill>
          <a:ln cap="flat" cmpd="sng" w="12700">
            <a:solidFill>
              <a:srgbClr val="B9D3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1"/>
          <p:cNvSpPr txBox="1"/>
          <p:nvPr/>
        </p:nvSpPr>
        <p:spPr>
          <a:xfrm>
            <a:off x="685800" y="2286000"/>
            <a:ext cx="1097280" cy="685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600"/>
              <a:buFont typeface="Calibri"/>
              <a:buNone/>
            </a:pPr>
            <a:r>
              <a:rPr b="1" i="0" lang="en-US" sz="2600" u="none" cap="none" strike="noStrike">
                <a:solidFill>
                  <a:srgbClr val="0B2A4A"/>
                </a:solidFill>
                <a:latin typeface="Calibri"/>
                <a:ea typeface="Calibri"/>
                <a:cs typeface="Calibri"/>
                <a:sym typeface="Calibri"/>
              </a:rPr>
              <a:t>119</a:t>
            </a:r>
            <a:endParaRPr b="0" i="0" sz="2600" u="none" cap="none" strike="noStrike">
              <a:solidFill>
                <a:schemeClr val="dk1"/>
              </a:solidFill>
              <a:latin typeface="Calibri"/>
              <a:ea typeface="Calibri"/>
              <a:cs typeface="Calibri"/>
              <a:sym typeface="Calibri"/>
            </a:endParaRPr>
          </a:p>
        </p:txBody>
      </p:sp>
      <p:sp>
        <p:nvSpPr>
          <p:cNvPr id="236" name="Google Shape;236;p11"/>
          <p:cNvSpPr txBox="1"/>
          <p:nvPr/>
        </p:nvSpPr>
        <p:spPr>
          <a:xfrm>
            <a:off x="7040880" y="2286000"/>
            <a:ext cx="4663440" cy="685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00"/>
              <a:buFont typeface="Calibri"/>
              <a:buNone/>
            </a:pPr>
            <a:r>
              <a:rPr b="0" i="0" lang="en-US" sz="1500" u="none" cap="none" strike="noStrike">
                <a:solidFill>
                  <a:srgbClr val="1B2B3A"/>
                </a:solidFill>
                <a:latin typeface="Calibri"/>
                <a:ea typeface="Calibri"/>
                <a:cs typeface="Calibri"/>
                <a:sym typeface="Calibri"/>
              </a:rPr>
              <a:t>Priorizados: vínculo acústica–conducta o física–sensorial · 52 complementarios</a:t>
            </a:r>
            <a:endParaRPr b="0" i="0" sz="1500" u="none" cap="none" strike="noStrike">
              <a:solidFill>
                <a:schemeClr val="dk1"/>
              </a:solidFill>
              <a:latin typeface="Calibri"/>
              <a:ea typeface="Calibri"/>
              <a:cs typeface="Calibri"/>
              <a:sym typeface="Calibri"/>
            </a:endParaRPr>
          </a:p>
        </p:txBody>
      </p:sp>
      <p:sp>
        <p:nvSpPr>
          <p:cNvPr id="237" name="Google Shape;237;p11"/>
          <p:cNvSpPr/>
          <p:nvPr/>
        </p:nvSpPr>
        <p:spPr>
          <a:xfrm>
            <a:off x="548640" y="3154680"/>
            <a:ext cx="4290728" cy="685800"/>
          </a:xfrm>
          <a:prstGeom prst="roundRect">
            <a:avLst>
              <a:gd fmla="val 8000" name="adj"/>
            </a:avLst>
          </a:prstGeom>
          <a:solidFill>
            <a:srgbClr val="8FB8D2"/>
          </a:solidFill>
          <a:ln cap="flat" cmpd="sng" w="12700">
            <a:solidFill>
              <a:srgbClr val="8FB8D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txBox="1"/>
          <p:nvPr/>
        </p:nvSpPr>
        <p:spPr>
          <a:xfrm>
            <a:off x="685800" y="3154680"/>
            <a:ext cx="1097280" cy="685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600"/>
              <a:buFont typeface="Calibri"/>
              <a:buNone/>
            </a:pPr>
            <a:r>
              <a:rPr b="1" i="0" lang="en-US" sz="2600" u="none" cap="none" strike="noStrike">
                <a:solidFill>
                  <a:srgbClr val="0B2A4A"/>
                </a:solidFill>
                <a:latin typeface="Calibri"/>
                <a:ea typeface="Calibri"/>
                <a:cs typeface="Calibri"/>
                <a:sym typeface="Calibri"/>
              </a:rPr>
              <a:t>118</a:t>
            </a:r>
            <a:endParaRPr b="0" i="0" sz="2600" u="none" cap="none" strike="noStrike">
              <a:solidFill>
                <a:schemeClr val="dk1"/>
              </a:solidFill>
              <a:latin typeface="Calibri"/>
              <a:ea typeface="Calibri"/>
              <a:cs typeface="Calibri"/>
              <a:sym typeface="Calibri"/>
            </a:endParaRPr>
          </a:p>
        </p:txBody>
      </p:sp>
      <p:sp>
        <p:nvSpPr>
          <p:cNvPr id="239" name="Google Shape;239;p11"/>
          <p:cNvSpPr txBox="1"/>
          <p:nvPr/>
        </p:nvSpPr>
        <p:spPr>
          <a:xfrm>
            <a:off x="7040880" y="3154680"/>
            <a:ext cx="4663440" cy="685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00"/>
              <a:buFont typeface="Calibri"/>
              <a:buNone/>
            </a:pPr>
            <a:r>
              <a:rPr b="0" i="0" lang="en-US" sz="1500" u="none" cap="none" strike="noStrike">
                <a:solidFill>
                  <a:srgbClr val="1B2B3A"/>
                </a:solidFill>
                <a:latin typeface="Calibri"/>
                <a:ea typeface="Calibri"/>
                <a:cs typeface="Calibri"/>
                <a:sym typeface="Calibri"/>
              </a:rPr>
              <a:t>A+B (32 A · 86 B) · 1 excluido: la acústica era telemetría, no estímulo</a:t>
            </a:r>
            <a:endParaRPr b="0" i="0" sz="1500" u="none" cap="none" strike="noStrike">
              <a:solidFill>
                <a:schemeClr val="dk1"/>
              </a:solidFill>
              <a:latin typeface="Calibri"/>
              <a:ea typeface="Calibri"/>
              <a:cs typeface="Calibri"/>
              <a:sym typeface="Calibri"/>
            </a:endParaRPr>
          </a:p>
        </p:txBody>
      </p:sp>
      <p:sp>
        <p:nvSpPr>
          <p:cNvPr id="240" name="Google Shape;240;p11"/>
          <p:cNvSpPr/>
          <p:nvPr/>
        </p:nvSpPr>
        <p:spPr>
          <a:xfrm>
            <a:off x="548640" y="4023360"/>
            <a:ext cx="2690796" cy="685800"/>
          </a:xfrm>
          <a:prstGeom prst="roundRect">
            <a:avLst>
              <a:gd fmla="val 8000" name="adj"/>
            </a:avLst>
          </a:prstGeom>
          <a:solidFill>
            <a:srgbClr val="4F8FB8"/>
          </a:solidFill>
          <a:ln cap="flat" cmpd="sng" w="12700">
            <a:solidFill>
              <a:srgbClr val="4F8F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txBox="1"/>
          <p:nvPr/>
        </p:nvSpPr>
        <p:spPr>
          <a:xfrm>
            <a:off x="685800" y="4023360"/>
            <a:ext cx="1097280" cy="685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74</a:t>
            </a:r>
            <a:endParaRPr b="0" i="0" sz="2600" u="none" cap="none" strike="noStrike">
              <a:solidFill>
                <a:schemeClr val="dk1"/>
              </a:solidFill>
              <a:latin typeface="Calibri"/>
              <a:ea typeface="Calibri"/>
              <a:cs typeface="Calibri"/>
              <a:sym typeface="Calibri"/>
            </a:endParaRPr>
          </a:p>
        </p:txBody>
      </p:sp>
      <p:sp>
        <p:nvSpPr>
          <p:cNvPr id="242" name="Google Shape;242;p11"/>
          <p:cNvSpPr txBox="1"/>
          <p:nvPr/>
        </p:nvSpPr>
        <p:spPr>
          <a:xfrm>
            <a:off x="7040880" y="4023360"/>
            <a:ext cx="4663440" cy="685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00"/>
              <a:buFont typeface="Calibri"/>
              <a:buNone/>
            </a:pPr>
            <a:r>
              <a:rPr b="0" i="0" lang="en-US" sz="1500" u="none" cap="none" strike="noStrike">
                <a:solidFill>
                  <a:srgbClr val="1B2B3A"/>
                </a:solidFill>
                <a:latin typeface="Calibri"/>
                <a:ea typeface="Calibri"/>
                <a:cs typeface="Calibri"/>
                <a:sym typeface="Calibri"/>
              </a:rPr>
              <a:t>Con texto completo verificado · 44 solo con resumen</a:t>
            </a:r>
            <a:endParaRPr b="0" i="0" sz="1500" u="none" cap="none" strike="noStrike">
              <a:solidFill>
                <a:schemeClr val="dk1"/>
              </a:solidFill>
              <a:latin typeface="Calibri"/>
              <a:ea typeface="Calibri"/>
              <a:cs typeface="Calibri"/>
              <a:sym typeface="Calibri"/>
            </a:endParaRPr>
          </a:p>
        </p:txBody>
      </p:sp>
      <p:sp>
        <p:nvSpPr>
          <p:cNvPr id="243" name="Google Shape;243;p11"/>
          <p:cNvSpPr/>
          <p:nvPr/>
        </p:nvSpPr>
        <p:spPr>
          <a:xfrm>
            <a:off x="548640" y="4892040"/>
            <a:ext cx="1188720" cy="685800"/>
          </a:xfrm>
          <a:prstGeom prst="roundRect">
            <a:avLst>
              <a:gd fmla="val 8000"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1"/>
          <p:cNvSpPr txBox="1"/>
          <p:nvPr/>
        </p:nvSpPr>
        <p:spPr>
          <a:xfrm>
            <a:off x="685800" y="4892040"/>
            <a:ext cx="1097280" cy="685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2600"/>
              <a:buFont typeface="Calibri"/>
              <a:buNone/>
            </a:pPr>
            <a:r>
              <a:rPr b="1" i="0" lang="en-US" sz="2600" u="none" cap="none" strike="noStrike">
                <a:solidFill>
                  <a:srgbClr val="FFFFFF"/>
                </a:solidFill>
                <a:latin typeface="Calibri"/>
                <a:ea typeface="Calibri"/>
                <a:cs typeface="Calibri"/>
                <a:sym typeface="Calibri"/>
              </a:rPr>
              <a:t>20</a:t>
            </a:r>
            <a:endParaRPr b="0" i="0" sz="2600" u="none" cap="none" strike="noStrike">
              <a:solidFill>
                <a:schemeClr val="dk1"/>
              </a:solidFill>
              <a:latin typeface="Calibri"/>
              <a:ea typeface="Calibri"/>
              <a:cs typeface="Calibri"/>
              <a:sym typeface="Calibri"/>
            </a:endParaRPr>
          </a:p>
        </p:txBody>
      </p:sp>
      <p:sp>
        <p:nvSpPr>
          <p:cNvPr id="245" name="Google Shape;245;p11"/>
          <p:cNvSpPr txBox="1"/>
          <p:nvPr/>
        </p:nvSpPr>
        <p:spPr>
          <a:xfrm>
            <a:off x="7040880" y="4892040"/>
            <a:ext cx="4663440" cy="685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4807E"/>
              </a:buClr>
              <a:buSzPts val="1500"/>
              <a:buFont typeface="Calibri"/>
              <a:buNone/>
            </a:pPr>
            <a:r>
              <a:rPr b="1" i="0" lang="en-US" sz="1500" u="none" cap="none" strike="noStrike">
                <a:solidFill>
                  <a:srgbClr val="14807E"/>
                </a:solidFill>
                <a:latin typeface="Calibri"/>
                <a:ea typeface="Calibri"/>
                <a:cs typeface="Calibri"/>
                <a:sym typeface="Calibri"/>
              </a:rPr>
              <a:t>Extracción profunda · 54 pendientes</a:t>
            </a:r>
            <a:endParaRPr b="0" i="0" sz="1500" u="none" cap="none" strike="noStrike">
              <a:solidFill>
                <a:schemeClr val="dk1"/>
              </a:solidFill>
              <a:latin typeface="Calibri"/>
              <a:ea typeface="Calibri"/>
              <a:cs typeface="Calibri"/>
              <a:sym typeface="Calibri"/>
            </a:endParaRPr>
          </a:p>
        </p:txBody>
      </p:sp>
      <p:sp>
        <p:nvSpPr>
          <p:cNvPr id="246" name="Google Shape;246;p11"/>
          <p:cNvSpPr/>
          <p:nvPr/>
        </p:nvSpPr>
        <p:spPr>
          <a:xfrm>
            <a:off x="548640" y="5715000"/>
            <a:ext cx="11109960" cy="548640"/>
          </a:xfrm>
          <a:prstGeom prst="roundRect">
            <a:avLst>
              <a:gd fmla="val 13333" name="adj"/>
            </a:avLst>
          </a:prstGeom>
          <a:solidFill>
            <a:srgbClr val="E3F4F3"/>
          </a:solidFill>
          <a:ln cap="flat" cmpd="sng" w="12700">
            <a:solidFill>
              <a:srgbClr val="E3F4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txBox="1"/>
          <p:nvPr/>
        </p:nvSpPr>
        <p:spPr>
          <a:xfrm>
            <a:off x="731520" y="5715000"/>
            <a:ext cx="10789920" cy="5486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400"/>
              <a:buFont typeface="Calibri"/>
              <a:buNone/>
            </a:pPr>
            <a:r>
              <a:rPr b="0" i="1" lang="en-US" sz="1400" u="none" cap="none" strike="noStrike">
                <a:solidFill>
                  <a:srgbClr val="0B2A4A"/>
                </a:solidFill>
                <a:latin typeface="Calibri"/>
                <a:ea typeface="Calibri"/>
                <a:cs typeface="Calibri"/>
                <a:sym typeface="Calibri"/>
              </a:rPr>
              <a:t>Los 20 se eligieron por pertinencia y diversidad, no por sus resultados; incluyen resultados nulos. Son una síntesis crítica, no todo el corpus.</a:t>
            </a:r>
            <a:endParaRPr b="0" i="0" sz="1400" u="none" cap="none" strike="noStrike">
              <a:solidFill>
                <a:schemeClr val="dk1"/>
              </a:solidFill>
              <a:latin typeface="Calibri"/>
              <a:ea typeface="Calibri"/>
              <a:cs typeface="Calibri"/>
              <a:sym typeface="Calibri"/>
            </a:endParaRPr>
          </a:p>
        </p:txBody>
      </p:sp>
      <p:sp>
        <p:nvSpPr>
          <p:cNvPr id="248" name="Google Shape;248;p11"/>
          <p:cNvSpPr txBox="1"/>
          <p:nvPr/>
        </p:nvSpPr>
        <p:spPr>
          <a:xfrm>
            <a:off x="548640" y="6382512"/>
            <a:ext cx="10241280" cy="29260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Datos: esta revisión</a:t>
            </a:r>
            <a:endParaRPr b="0" i="0" sz="1200" u="none" cap="none" strike="noStrike">
              <a:solidFill>
                <a:schemeClr val="dk1"/>
              </a:solidFill>
              <a:latin typeface="Calibri"/>
              <a:ea typeface="Calibri"/>
              <a:cs typeface="Calibri"/>
              <a:sym typeface="Calibri"/>
            </a:endParaRPr>
          </a:p>
        </p:txBody>
      </p:sp>
      <p:sp>
        <p:nvSpPr>
          <p:cNvPr id="249" name="Google Shape;249;p11"/>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9</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sp>
        <p:nvSpPr>
          <p:cNvPr id="255" name="Google Shape;255;p12"/>
          <p:cNvSpPr/>
          <p:nvPr/>
        </p:nvSpPr>
        <p:spPr>
          <a:xfrm>
            <a:off x="5580583" y="182880"/>
            <a:ext cx="1170432" cy="274320"/>
          </a:xfrm>
          <a:prstGeom prst="roundRect">
            <a:avLst>
              <a:gd fmla="val 50000"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2"/>
          <p:cNvSpPr txBox="1"/>
          <p:nvPr/>
        </p:nvSpPr>
        <p:spPr>
          <a:xfrm>
            <a:off x="558058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CAMPO</a:t>
            </a:r>
            <a:endParaRPr b="0" i="0" sz="950" u="none" cap="none" strike="noStrike">
              <a:solidFill>
                <a:schemeClr val="dk1"/>
              </a:solidFill>
              <a:latin typeface="Calibri"/>
              <a:ea typeface="Calibri"/>
              <a:cs typeface="Calibri"/>
              <a:sym typeface="Calibri"/>
            </a:endParaRPr>
          </a:p>
        </p:txBody>
      </p:sp>
      <p:sp>
        <p:nvSpPr>
          <p:cNvPr id="257" name="Google Shape;257;p12"/>
          <p:cNvSpPr/>
          <p:nvPr/>
        </p:nvSpPr>
        <p:spPr>
          <a:xfrm>
            <a:off x="681502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2"/>
          <p:cNvSpPr txBox="1"/>
          <p:nvPr/>
        </p:nvSpPr>
        <p:spPr>
          <a:xfrm>
            <a:off x="681502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PERCEPCIÓN</a:t>
            </a:r>
            <a:endParaRPr b="0" i="0" sz="950" u="none" cap="none" strike="noStrike">
              <a:solidFill>
                <a:schemeClr val="dk1"/>
              </a:solidFill>
              <a:latin typeface="Calibri"/>
              <a:ea typeface="Calibri"/>
              <a:cs typeface="Calibri"/>
              <a:sym typeface="Calibri"/>
            </a:endParaRPr>
          </a:p>
        </p:txBody>
      </p:sp>
      <p:sp>
        <p:nvSpPr>
          <p:cNvPr id="259" name="Google Shape;259;p12"/>
          <p:cNvSpPr/>
          <p:nvPr/>
        </p:nvSpPr>
        <p:spPr>
          <a:xfrm>
            <a:off x="804946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2"/>
          <p:cNvSpPr txBox="1"/>
          <p:nvPr/>
        </p:nvSpPr>
        <p:spPr>
          <a:xfrm>
            <a:off x="804946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INFORMACIÓN</a:t>
            </a:r>
            <a:endParaRPr b="0" i="0" sz="950" u="none" cap="none" strike="noStrike">
              <a:solidFill>
                <a:schemeClr val="dk1"/>
              </a:solidFill>
              <a:latin typeface="Calibri"/>
              <a:ea typeface="Calibri"/>
              <a:cs typeface="Calibri"/>
              <a:sym typeface="Calibri"/>
            </a:endParaRPr>
          </a:p>
        </p:txBody>
      </p:sp>
      <p:sp>
        <p:nvSpPr>
          <p:cNvPr id="261" name="Google Shape;261;p12"/>
          <p:cNvSpPr/>
          <p:nvPr/>
        </p:nvSpPr>
        <p:spPr>
          <a:xfrm>
            <a:off x="928390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2"/>
          <p:cNvSpPr txBox="1"/>
          <p:nvPr/>
        </p:nvSpPr>
        <p:spPr>
          <a:xfrm>
            <a:off x="928390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RESPUESTA</a:t>
            </a:r>
            <a:endParaRPr b="0" i="0" sz="950" u="none" cap="none" strike="noStrike">
              <a:solidFill>
                <a:schemeClr val="dk1"/>
              </a:solidFill>
              <a:latin typeface="Calibri"/>
              <a:ea typeface="Calibri"/>
              <a:cs typeface="Calibri"/>
              <a:sym typeface="Calibri"/>
            </a:endParaRPr>
          </a:p>
        </p:txBody>
      </p:sp>
      <p:sp>
        <p:nvSpPr>
          <p:cNvPr id="263" name="Google Shape;263;p12"/>
          <p:cNvSpPr/>
          <p:nvPr/>
        </p:nvSpPr>
        <p:spPr>
          <a:xfrm>
            <a:off x="1051834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2"/>
          <p:cNvSpPr txBox="1"/>
          <p:nvPr/>
        </p:nvSpPr>
        <p:spPr>
          <a:xfrm>
            <a:off x="1051834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APLICACIÓN</a:t>
            </a:r>
            <a:endParaRPr b="0" i="0" sz="950" u="none" cap="none" strike="noStrike">
              <a:solidFill>
                <a:schemeClr val="dk1"/>
              </a:solidFill>
              <a:latin typeface="Calibri"/>
              <a:ea typeface="Calibri"/>
              <a:cs typeface="Calibri"/>
              <a:sym typeface="Calibri"/>
            </a:endParaRPr>
          </a:p>
        </p:txBody>
      </p:sp>
      <p:sp>
        <p:nvSpPr>
          <p:cNvPr id="265" name="Google Shape;265;p12"/>
          <p:cNvSpPr txBox="1"/>
          <p:nvPr/>
        </p:nvSpPr>
        <p:spPr>
          <a:xfrm>
            <a:off x="548640" y="54864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700"/>
              <a:buFont typeface="Calibri"/>
              <a:buNone/>
            </a:pPr>
            <a:r>
              <a:rPr b="1" i="0" lang="en-US" sz="2700" u="none" cap="none" strike="noStrike">
                <a:solidFill>
                  <a:srgbClr val="0B2A4A"/>
                </a:solidFill>
                <a:latin typeface="Calibri"/>
                <a:ea typeface="Calibri"/>
                <a:cs typeface="Calibri"/>
                <a:sym typeface="Calibri"/>
              </a:rPr>
              <a:t>20 estudios: solo 8 midieron directamente el movimiento de partículas</a:t>
            </a:r>
            <a:endParaRPr b="0" i="0" sz="2700" u="none" cap="none" strike="noStrike">
              <a:solidFill>
                <a:schemeClr val="dk1"/>
              </a:solidFill>
              <a:latin typeface="Calibri"/>
              <a:ea typeface="Calibri"/>
              <a:cs typeface="Calibri"/>
              <a:sym typeface="Calibri"/>
            </a:endParaRPr>
          </a:p>
        </p:txBody>
      </p:sp>
      <p:sp>
        <p:nvSpPr>
          <p:cNvPr id="266" name="Google Shape;266;p12"/>
          <p:cNvSpPr/>
          <p:nvPr/>
        </p:nvSpPr>
        <p:spPr>
          <a:xfrm>
            <a:off x="548640" y="1691640"/>
            <a:ext cx="475488" cy="475488"/>
          </a:xfrm>
          <a:prstGeom prst="roundRect">
            <a:avLst>
              <a:gd fmla="val 11538" name="adj"/>
            </a:avLst>
          </a:prstGeom>
          <a:solidFill>
            <a:srgbClr val="1F6F9F"/>
          </a:solidFill>
          <a:ln cap="flat" cmpd="sng" w="12700">
            <a:solidFill>
              <a:srgbClr val="1F6F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2"/>
          <p:cNvSpPr/>
          <p:nvPr/>
        </p:nvSpPr>
        <p:spPr>
          <a:xfrm>
            <a:off x="1115568" y="1691640"/>
            <a:ext cx="475488" cy="475488"/>
          </a:xfrm>
          <a:prstGeom prst="roundRect">
            <a:avLst>
              <a:gd fmla="val 11538" name="adj"/>
            </a:avLst>
          </a:prstGeom>
          <a:solidFill>
            <a:srgbClr val="1F6F9F"/>
          </a:solidFill>
          <a:ln cap="flat" cmpd="sng" w="12700">
            <a:solidFill>
              <a:srgbClr val="1F6F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2"/>
          <p:cNvSpPr/>
          <p:nvPr/>
        </p:nvSpPr>
        <p:spPr>
          <a:xfrm>
            <a:off x="1682496" y="1691640"/>
            <a:ext cx="475488" cy="475488"/>
          </a:xfrm>
          <a:prstGeom prst="roundRect">
            <a:avLst>
              <a:gd fmla="val 11538" name="adj"/>
            </a:avLst>
          </a:prstGeom>
          <a:solidFill>
            <a:srgbClr val="1F6F9F"/>
          </a:solidFill>
          <a:ln cap="flat" cmpd="sng" w="12700">
            <a:solidFill>
              <a:srgbClr val="1F6F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2"/>
          <p:cNvSpPr/>
          <p:nvPr/>
        </p:nvSpPr>
        <p:spPr>
          <a:xfrm>
            <a:off x="2249424" y="1691640"/>
            <a:ext cx="475488" cy="475488"/>
          </a:xfrm>
          <a:prstGeom prst="roundRect">
            <a:avLst>
              <a:gd fmla="val 11538" name="adj"/>
            </a:avLst>
          </a:prstGeom>
          <a:solidFill>
            <a:srgbClr val="1F6F9F"/>
          </a:solidFill>
          <a:ln cap="flat" cmpd="sng" w="12700">
            <a:solidFill>
              <a:srgbClr val="1F6F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2"/>
          <p:cNvSpPr/>
          <p:nvPr/>
        </p:nvSpPr>
        <p:spPr>
          <a:xfrm>
            <a:off x="2816352" y="1691640"/>
            <a:ext cx="475488" cy="475488"/>
          </a:xfrm>
          <a:prstGeom prst="roundRect">
            <a:avLst>
              <a:gd fmla="val 11538"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2"/>
          <p:cNvSpPr/>
          <p:nvPr/>
        </p:nvSpPr>
        <p:spPr>
          <a:xfrm>
            <a:off x="548640" y="2258568"/>
            <a:ext cx="475488" cy="475488"/>
          </a:xfrm>
          <a:prstGeom prst="roundRect">
            <a:avLst>
              <a:gd fmla="val 11538"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2"/>
          <p:cNvSpPr/>
          <p:nvPr/>
        </p:nvSpPr>
        <p:spPr>
          <a:xfrm>
            <a:off x="1115568" y="2258568"/>
            <a:ext cx="475488" cy="475488"/>
          </a:xfrm>
          <a:prstGeom prst="roundRect">
            <a:avLst>
              <a:gd fmla="val 11538"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2"/>
          <p:cNvSpPr/>
          <p:nvPr/>
        </p:nvSpPr>
        <p:spPr>
          <a:xfrm>
            <a:off x="1682496" y="2258568"/>
            <a:ext cx="475488" cy="475488"/>
          </a:xfrm>
          <a:prstGeom prst="roundRect">
            <a:avLst>
              <a:gd fmla="val 11538"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2"/>
          <p:cNvSpPr/>
          <p:nvPr/>
        </p:nvSpPr>
        <p:spPr>
          <a:xfrm>
            <a:off x="2249424" y="2258568"/>
            <a:ext cx="475488" cy="475488"/>
          </a:xfrm>
          <a:prstGeom prst="roundRect">
            <a:avLst>
              <a:gd fmla="val 11538" name="adj"/>
            </a:avLst>
          </a:prstGeom>
          <a:solidFill>
            <a:srgbClr val="0B2A4A"/>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2"/>
          <p:cNvSpPr/>
          <p:nvPr/>
        </p:nvSpPr>
        <p:spPr>
          <a:xfrm>
            <a:off x="2816352" y="2258568"/>
            <a:ext cx="475488" cy="475488"/>
          </a:xfrm>
          <a:prstGeom prst="roundRect">
            <a:avLst>
              <a:gd fmla="val 11538" name="adj"/>
            </a:avLst>
          </a:prstGeom>
          <a:solidFill>
            <a:srgbClr val="0B2A4A"/>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2"/>
          <p:cNvSpPr/>
          <p:nvPr/>
        </p:nvSpPr>
        <p:spPr>
          <a:xfrm>
            <a:off x="548640" y="2825496"/>
            <a:ext cx="475488" cy="475488"/>
          </a:xfrm>
          <a:prstGeom prst="roundRect">
            <a:avLst>
              <a:gd fmla="val 11538" name="adj"/>
            </a:avLst>
          </a:prstGeom>
          <a:solidFill>
            <a:srgbClr val="0B2A4A"/>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2"/>
          <p:cNvSpPr/>
          <p:nvPr/>
        </p:nvSpPr>
        <p:spPr>
          <a:xfrm>
            <a:off x="1115568" y="2825496"/>
            <a:ext cx="475488" cy="475488"/>
          </a:xfrm>
          <a:prstGeom prst="roundRect">
            <a:avLst>
              <a:gd fmla="val 11538" name="adj"/>
            </a:avLst>
          </a:prstGeom>
          <a:solidFill>
            <a:srgbClr val="0B2A4A"/>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2"/>
          <p:cNvSpPr/>
          <p:nvPr/>
        </p:nvSpPr>
        <p:spPr>
          <a:xfrm>
            <a:off x="1682496" y="2825496"/>
            <a:ext cx="475488" cy="475488"/>
          </a:xfrm>
          <a:prstGeom prst="roundRect">
            <a:avLst>
              <a:gd fmla="val 11538" name="adj"/>
            </a:avLst>
          </a:prstGeom>
          <a:solidFill>
            <a:srgbClr val="7FB3D5"/>
          </a:solidFill>
          <a:ln cap="flat" cmpd="sng" w="12700">
            <a:solidFill>
              <a:srgbClr val="7FB3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2"/>
          <p:cNvSpPr/>
          <p:nvPr/>
        </p:nvSpPr>
        <p:spPr>
          <a:xfrm>
            <a:off x="2249424" y="2825496"/>
            <a:ext cx="475488" cy="475488"/>
          </a:xfrm>
          <a:prstGeom prst="roundRect">
            <a:avLst>
              <a:gd fmla="val 11538" name="adj"/>
            </a:avLst>
          </a:prstGeom>
          <a:solidFill>
            <a:srgbClr val="7FB3D5"/>
          </a:solidFill>
          <a:ln cap="flat" cmpd="sng" w="12700">
            <a:solidFill>
              <a:srgbClr val="7FB3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2"/>
          <p:cNvSpPr/>
          <p:nvPr/>
        </p:nvSpPr>
        <p:spPr>
          <a:xfrm>
            <a:off x="2816352" y="2825496"/>
            <a:ext cx="475488" cy="475488"/>
          </a:xfrm>
          <a:prstGeom prst="roundRect">
            <a:avLst>
              <a:gd fmla="val 11538" name="adj"/>
            </a:avLst>
          </a:prstGeom>
          <a:solidFill>
            <a:srgbClr val="7FB3D5"/>
          </a:solidFill>
          <a:ln cap="flat" cmpd="sng" w="12700">
            <a:solidFill>
              <a:srgbClr val="7FB3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
          <p:cNvSpPr/>
          <p:nvPr/>
        </p:nvSpPr>
        <p:spPr>
          <a:xfrm>
            <a:off x="548640" y="3392424"/>
            <a:ext cx="475488" cy="475488"/>
          </a:xfrm>
          <a:prstGeom prst="roundRect">
            <a:avLst>
              <a:gd fmla="val 11538" name="adj"/>
            </a:avLst>
          </a:prstGeom>
          <a:solidFill>
            <a:srgbClr val="E36F5A"/>
          </a:solidFill>
          <a:ln cap="flat" cmpd="sng" w="12700">
            <a:solidFill>
              <a:srgbClr val="E36F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2"/>
          <p:cNvSpPr/>
          <p:nvPr/>
        </p:nvSpPr>
        <p:spPr>
          <a:xfrm>
            <a:off x="1115568" y="3392424"/>
            <a:ext cx="475488" cy="475488"/>
          </a:xfrm>
          <a:prstGeom prst="roundRect">
            <a:avLst>
              <a:gd fmla="val 11538" name="adj"/>
            </a:avLst>
          </a:prstGeom>
          <a:solidFill>
            <a:srgbClr val="E36F5A"/>
          </a:solidFill>
          <a:ln cap="flat" cmpd="sng" w="12700">
            <a:solidFill>
              <a:srgbClr val="E36F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2"/>
          <p:cNvSpPr/>
          <p:nvPr/>
        </p:nvSpPr>
        <p:spPr>
          <a:xfrm>
            <a:off x="1682496" y="3392424"/>
            <a:ext cx="475488" cy="475488"/>
          </a:xfrm>
          <a:prstGeom prst="roundRect">
            <a:avLst>
              <a:gd fmla="val 11538" name="adj"/>
            </a:avLst>
          </a:prstGeom>
          <a:solidFill>
            <a:srgbClr val="E36F5A"/>
          </a:solidFill>
          <a:ln cap="flat" cmpd="sng" w="12700">
            <a:solidFill>
              <a:srgbClr val="E36F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2"/>
          <p:cNvSpPr/>
          <p:nvPr/>
        </p:nvSpPr>
        <p:spPr>
          <a:xfrm>
            <a:off x="2249424" y="3392424"/>
            <a:ext cx="475488" cy="475488"/>
          </a:xfrm>
          <a:prstGeom prst="roundRect">
            <a:avLst>
              <a:gd fmla="val 11538" name="adj"/>
            </a:avLst>
          </a:prstGeom>
          <a:solidFill>
            <a:srgbClr val="E36F5A"/>
          </a:solidFill>
          <a:ln cap="flat" cmpd="sng" w="12700">
            <a:solidFill>
              <a:srgbClr val="E36F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2"/>
          <p:cNvSpPr/>
          <p:nvPr/>
        </p:nvSpPr>
        <p:spPr>
          <a:xfrm>
            <a:off x="2816352" y="3392424"/>
            <a:ext cx="475488" cy="475488"/>
          </a:xfrm>
          <a:prstGeom prst="roundRect">
            <a:avLst>
              <a:gd fmla="val 11538" name="adj"/>
            </a:avLst>
          </a:prstGeom>
          <a:solidFill>
            <a:srgbClr val="8A9BAA"/>
          </a:solidFill>
          <a:ln cap="flat" cmpd="sng" w="12700">
            <a:solidFill>
              <a:srgbClr val="8A9B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2"/>
          <p:cNvSpPr/>
          <p:nvPr/>
        </p:nvSpPr>
        <p:spPr>
          <a:xfrm>
            <a:off x="548640" y="4133088"/>
            <a:ext cx="182880" cy="182880"/>
          </a:xfrm>
          <a:prstGeom prst="roundRect">
            <a:avLst>
              <a:gd fmla="val 15000" name="adj"/>
            </a:avLst>
          </a:prstGeom>
          <a:solidFill>
            <a:srgbClr val="1F6F9F"/>
          </a:solidFill>
          <a:ln cap="flat" cmpd="sng" w="12700">
            <a:solidFill>
              <a:srgbClr val="1F6F9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2"/>
          <p:cNvSpPr txBox="1"/>
          <p:nvPr/>
        </p:nvSpPr>
        <p:spPr>
          <a:xfrm>
            <a:off x="822960" y="4069080"/>
            <a:ext cx="3291840" cy="30175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250"/>
              <a:buFont typeface="Calibri"/>
              <a:buNone/>
            </a:pPr>
            <a:r>
              <a:rPr b="0" i="0" lang="en-US" sz="1250" u="none" cap="none" strike="noStrike">
                <a:solidFill>
                  <a:srgbClr val="1B2B3A"/>
                </a:solidFill>
                <a:latin typeface="Calibri"/>
                <a:ea typeface="Calibri"/>
                <a:cs typeface="Calibri"/>
                <a:sym typeface="Calibri"/>
              </a:rPr>
              <a:t>Física / percepción  4</a:t>
            </a:r>
            <a:endParaRPr b="0" i="0" sz="1250" u="none" cap="none" strike="noStrike">
              <a:solidFill>
                <a:schemeClr val="dk1"/>
              </a:solidFill>
              <a:latin typeface="Calibri"/>
              <a:ea typeface="Calibri"/>
              <a:cs typeface="Calibri"/>
              <a:sym typeface="Calibri"/>
            </a:endParaRPr>
          </a:p>
        </p:txBody>
      </p:sp>
      <p:sp>
        <p:nvSpPr>
          <p:cNvPr id="288" name="Google Shape;288;p12"/>
          <p:cNvSpPr/>
          <p:nvPr/>
        </p:nvSpPr>
        <p:spPr>
          <a:xfrm>
            <a:off x="548640" y="4434840"/>
            <a:ext cx="182880" cy="182880"/>
          </a:xfrm>
          <a:prstGeom prst="roundRect">
            <a:avLst>
              <a:gd fmla="val 15000"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2"/>
          <p:cNvSpPr txBox="1"/>
          <p:nvPr/>
        </p:nvSpPr>
        <p:spPr>
          <a:xfrm>
            <a:off x="822960" y="4370832"/>
            <a:ext cx="3291840" cy="30175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250"/>
              <a:buFont typeface="Calibri"/>
              <a:buNone/>
            </a:pPr>
            <a:r>
              <a:rPr b="0" i="0" lang="en-US" sz="1250" u="none" cap="none" strike="noStrike">
                <a:solidFill>
                  <a:srgbClr val="1B2B3A"/>
                </a:solidFill>
                <a:latin typeface="Calibri"/>
                <a:ea typeface="Calibri"/>
                <a:cs typeface="Calibri"/>
                <a:sym typeface="Calibri"/>
              </a:rPr>
              <a:t>Orientación / atracción  4</a:t>
            </a:r>
            <a:endParaRPr b="0" i="0" sz="1250" u="none" cap="none" strike="noStrike">
              <a:solidFill>
                <a:schemeClr val="dk1"/>
              </a:solidFill>
              <a:latin typeface="Calibri"/>
              <a:ea typeface="Calibri"/>
              <a:cs typeface="Calibri"/>
              <a:sym typeface="Calibri"/>
            </a:endParaRPr>
          </a:p>
        </p:txBody>
      </p:sp>
      <p:sp>
        <p:nvSpPr>
          <p:cNvPr id="290" name="Google Shape;290;p12"/>
          <p:cNvSpPr/>
          <p:nvPr/>
        </p:nvSpPr>
        <p:spPr>
          <a:xfrm>
            <a:off x="548640" y="4736592"/>
            <a:ext cx="182880" cy="182880"/>
          </a:xfrm>
          <a:prstGeom prst="roundRect">
            <a:avLst>
              <a:gd fmla="val 15000" name="adj"/>
            </a:avLst>
          </a:prstGeom>
          <a:solidFill>
            <a:srgbClr val="0B2A4A"/>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2"/>
          <p:cNvSpPr txBox="1"/>
          <p:nvPr/>
        </p:nvSpPr>
        <p:spPr>
          <a:xfrm>
            <a:off x="822960" y="4672584"/>
            <a:ext cx="3291840" cy="30175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250"/>
              <a:buFont typeface="Calibri"/>
              <a:buNone/>
            </a:pPr>
            <a:r>
              <a:rPr b="0" i="0" lang="en-US" sz="1250" u="none" cap="none" strike="noStrike">
                <a:solidFill>
                  <a:srgbClr val="1B2B3A"/>
                </a:solidFill>
                <a:latin typeface="Calibri"/>
                <a:ea typeface="Calibri"/>
                <a:cs typeface="Calibri"/>
                <a:sym typeface="Calibri"/>
              </a:rPr>
              <a:t>Evasión / disuasión  4</a:t>
            </a:r>
            <a:endParaRPr b="0" i="0" sz="1250" u="none" cap="none" strike="noStrike">
              <a:solidFill>
                <a:schemeClr val="dk1"/>
              </a:solidFill>
              <a:latin typeface="Calibri"/>
              <a:ea typeface="Calibri"/>
              <a:cs typeface="Calibri"/>
              <a:sym typeface="Calibri"/>
            </a:endParaRPr>
          </a:p>
        </p:txBody>
      </p:sp>
      <p:sp>
        <p:nvSpPr>
          <p:cNvPr id="292" name="Google Shape;292;p12"/>
          <p:cNvSpPr/>
          <p:nvPr/>
        </p:nvSpPr>
        <p:spPr>
          <a:xfrm>
            <a:off x="548640" y="5038344"/>
            <a:ext cx="182880" cy="182880"/>
          </a:xfrm>
          <a:prstGeom prst="roundRect">
            <a:avLst>
              <a:gd fmla="val 15000" name="adj"/>
            </a:avLst>
          </a:prstGeom>
          <a:solidFill>
            <a:srgbClr val="7FB3D5"/>
          </a:solidFill>
          <a:ln cap="flat" cmpd="sng" w="12700">
            <a:solidFill>
              <a:srgbClr val="7FB3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2"/>
          <p:cNvSpPr txBox="1"/>
          <p:nvPr/>
        </p:nvSpPr>
        <p:spPr>
          <a:xfrm>
            <a:off x="822960" y="4974336"/>
            <a:ext cx="3291840" cy="30175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250"/>
              <a:buFont typeface="Calibri"/>
              <a:buNone/>
            </a:pPr>
            <a:r>
              <a:rPr b="0" i="0" lang="en-US" sz="1250" u="none" cap="none" strike="noStrike">
                <a:solidFill>
                  <a:srgbClr val="1B2B3A"/>
                </a:solidFill>
                <a:latin typeface="Calibri"/>
                <a:ea typeface="Calibri"/>
                <a:cs typeface="Calibri"/>
                <a:sym typeface="Calibri"/>
              </a:rPr>
              <a:t>Sobresalto / natación  3</a:t>
            </a:r>
            <a:endParaRPr b="0" i="0" sz="1250" u="none" cap="none" strike="noStrike">
              <a:solidFill>
                <a:schemeClr val="dk1"/>
              </a:solidFill>
              <a:latin typeface="Calibri"/>
              <a:ea typeface="Calibri"/>
              <a:cs typeface="Calibri"/>
              <a:sym typeface="Calibri"/>
            </a:endParaRPr>
          </a:p>
        </p:txBody>
      </p:sp>
      <p:sp>
        <p:nvSpPr>
          <p:cNvPr id="294" name="Google Shape;294;p12"/>
          <p:cNvSpPr/>
          <p:nvPr/>
        </p:nvSpPr>
        <p:spPr>
          <a:xfrm>
            <a:off x="548640" y="5340096"/>
            <a:ext cx="182880" cy="182880"/>
          </a:xfrm>
          <a:prstGeom prst="roundRect">
            <a:avLst>
              <a:gd fmla="val 15000" name="adj"/>
            </a:avLst>
          </a:prstGeom>
          <a:solidFill>
            <a:srgbClr val="E36F5A"/>
          </a:solidFill>
          <a:ln cap="flat" cmpd="sng" w="12700">
            <a:solidFill>
              <a:srgbClr val="E36F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2"/>
          <p:cNvSpPr txBox="1"/>
          <p:nvPr/>
        </p:nvSpPr>
        <p:spPr>
          <a:xfrm>
            <a:off x="822960" y="5276088"/>
            <a:ext cx="3291840" cy="30175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250"/>
              <a:buFont typeface="Calibri"/>
              <a:buNone/>
            </a:pPr>
            <a:r>
              <a:rPr b="0" i="0" lang="en-US" sz="1250" u="none" cap="none" strike="noStrike">
                <a:solidFill>
                  <a:srgbClr val="1B2B3A"/>
                </a:solidFill>
                <a:latin typeface="Calibri"/>
                <a:ea typeface="Calibri"/>
                <a:cs typeface="Calibri"/>
                <a:sym typeface="Calibri"/>
              </a:rPr>
              <a:t>Ruido antropogénico  4</a:t>
            </a:r>
            <a:endParaRPr b="0" i="0" sz="1250" u="none" cap="none" strike="noStrike">
              <a:solidFill>
                <a:schemeClr val="dk1"/>
              </a:solidFill>
              <a:latin typeface="Calibri"/>
              <a:ea typeface="Calibri"/>
              <a:cs typeface="Calibri"/>
              <a:sym typeface="Calibri"/>
            </a:endParaRPr>
          </a:p>
        </p:txBody>
      </p:sp>
      <p:sp>
        <p:nvSpPr>
          <p:cNvPr id="296" name="Google Shape;296;p12"/>
          <p:cNvSpPr/>
          <p:nvPr/>
        </p:nvSpPr>
        <p:spPr>
          <a:xfrm>
            <a:off x="548640" y="5641848"/>
            <a:ext cx="182880" cy="182880"/>
          </a:xfrm>
          <a:prstGeom prst="roundRect">
            <a:avLst>
              <a:gd fmla="val 15000" name="adj"/>
            </a:avLst>
          </a:prstGeom>
          <a:solidFill>
            <a:srgbClr val="8A9BAA"/>
          </a:solidFill>
          <a:ln cap="flat" cmpd="sng" w="12700">
            <a:solidFill>
              <a:srgbClr val="8A9BA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2"/>
          <p:cNvSpPr txBox="1"/>
          <p:nvPr/>
        </p:nvSpPr>
        <p:spPr>
          <a:xfrm>
            <a:off x="822960" y="5577840"/>
            <a:ext cx="3291840" cy="30175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250"/>
              <a:buFont typeface="Calibri"/>
              <a:buNone/>
            </a:pPr>
            <a:r>
              <a:rPr b="0" i="0" lang="en-US" sz="1250" u="none" cap="none" strike="noStrike">
                <a:solidFill>
                  <a:srgbClr val="1B2B3A"/>
                </a:solidFill>
                <a:latin typeface="Calibri"/>
                <a:ea typeface="Calibri"/>
                <a:cs typeface="Calibri"/>
                <a:sym typeface="Calibri"/>
              </a:rPr>
              <a:t>Herramientas de investigación  1</a:t>
            </a:r>
            <a:endParaRPr b="0" i="0" sz="1250" u="none" cap="none" strike="noStrike">
              <a:solidFill>
                <a:schemeClr val="dk1"/>
              </a:solidFill>
              <a:latin typeface="Calibri"/>
              <a:ea typeface="Calibri"/>
              <a:cs typeface="Calibri"/>
              <a:sym typeface="Calibri"/>
            </a:endParaRPr>
          </a:p>
        </p:txBody>
      </p:sp>
      <p:sp>
        <p:nvSpPr>
          <p:cNvPr id="298" name="Google Shape;298;p12"/>
          <p:cNvSpPr txBox="1"/>
          <p:nvPr/>
        </p:nvSpPr>
        <p:spPr>
          <a:xfrm>
            <a:off x="548640" y="5897880"/>
            <a:ext cx="384048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250"/>
              <a:buFont typeface="Calibri"/>
              <a:buNone/>
            </a:pPr>
            <a:r>
              <a:rPr b="1" i="0" lang="en-US" sz="1250" u="none" cap="none" strike="noStrike">
                <a:solidFill>
                  <a:srgbClr val="0B2A4A"/>
                </a:solidFill>
                <a:latin typeface="Calibri"/>
                <a:ea typeface="Calibri"/>
                <a:cs typeface="Calibri"/>
                <a:sym typeface="Calibri"/>
              </a:rPr>
              <a:t>Laboratorio 12 · Campo 6 · Jaula marina 1 · Mixto 1</a:t>
            </a:r>
            <a:endParaRPr b="0" i="0" sz="1250" u="none" cap="none" strike="noStrike">
              <a:solidFill>
                <a:schemeClr val="dk1"/>
              </a:solidFill>
              <a:latin typeface="Calibri"/>
              <a:ea typeface="Calibri"/>
              <a:cs typeface="Calibri"/>
              <a:sym typeface="Calibri"/>
            </a:endParaRPr>
          </a:p>
        </p:txBody>
      </p:sp>
      <p:pic>
        <p:nvPicPr>
          <p:cNvPr id="299" name="Google Shape;299;p12"/>
          <p:cNvPicPr preferRelativeResize="0"/>
          <p:nvPr/>
        </p:nvPicPr>
        <p:blipFill rotWithShape="1">
          <a:blip r:embed="rId3">
            <a:alphaModFix/>
          </a:blip>
          <a:srcRect b="0" l="0" r="0" t="0"/>
          <a:stretch/>
        </p:blipFill>
        <p:spPr>
          <a:xfrm>
            <a:off x="4663440" y="1280160"/>
            <a:ext cx="6995160" cy="4892040"/>
          </a:xfrm>
          <a:prstGeom prst="rect">
            <a:avLst/>
          </a:prstGeom>
          <a:noFill/>
          <a:ln>
            <a:noFill/>
          </a:ln>
        </p:spPr>
      </p:pic>
      <p:sp>
        <p:nvSpPr>
          <p:cNvPr id="300" name="Google Shape;300;p12"/>
          <p:cNvSpPr txBox="1"/>
          <p:nvPr/>
        </p:nvSpPr>
        <p:spPr>
          <a:xfrm>
            <a:off x="548640" y="6382512"/>
            <a:ext cx="10241280" cy="29260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Datos: esta revisión (Tabla 3 del artículo)</a:t>
            </a:r>
            <a:endParaRPr b="0" i="0" sz="1200" u="none" cap="none" strike="noStrike">
              <a:solidFill>
                <a:schemeClr val="dk1"/>
              </a:solidFill>
              <a:latin typeface="Calibri"/>
              <a:ea typeface="Calibri"/>
              <a:cs typeface="Calibri"/>
              <a:sym typeface="Calibri"/>
            </a:endParaRPr>
          </a:p>
        </p:txBody>
      </p:sp>
      <p:sp>
        <p:nvSpPr>
          <p:cNvPr id="301" name="Google Shape;301;p12"/>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10</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2A4A"/>
        </a:solidFill>
      </p:bgPr>
    </p:bg>
    <p:spTree>
      <p:nvGrpSpPr>
        <p:cNvPr id="306" name="Shape 306"/>
        <p:cNvGrpSpPr/>
        <p:nvPr/>
      </p:nvGrpSpPr>
      <p:grpSpPr>
        <a:xfrm>
          <a:off x="0" y="0"/>
          <a:ext cx="0" cy="0"/>
          <a:chOff x="0" y="0"/>
          <a:chExt cx="0" cy="0"/>
        </a:xfrm>
      </p:grpSpPr>
      <p:sp>
        <p:nvSpPr>
          <p:cNvPr id="307" name="Google Shape;307;p13"/>
          <p:cNvSpPr/>
          <p:nvPr/>
        </p:nvSpPr>
        <p:spPr>
          <a:xfrm>
            <a:off x="5580583" y="182880"/>
            <a:ext cx="1170432" cy="274320"/>
          </a:xfrm>
          <a:prstGeom prst="roundRect">
            <a:avLst>
              <a:gd fmla="val 50000" name="adj"/>
            </a:avLst>
          </a:prstGeom>
          <a:solidFill>
            <a:srgbClr val="1C4468"/>
          </a:solidFill>
          <a:ln cap="flat" cmpd="sng" w="12700">
            <a:solidFill>
              <a:srgbClr val="1C44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3"/>
          <p:cNvSpPr txBox="1"/>
          <p:nvPr/>
        </p:nvSpPr>
        <p:spPr>
          <a:xfrm>
            <a:off x="558058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8FB0C8"/>
              </a:buClr>
              <a:buSzPts val="950"/>
              <a:buFont typeface="Calibri"/>
              <a:buNone/>
            </a:pPr>
            <a:r>
              <a:rPr b="1" i="0" lang="en-US" sz="950" u="none" cap="none" strike="noStrike">
                <a:solidFill>
                  <a:srgbClr val="8FB0C8"/>
                </a:solidFill>
                <a:latin typeface="Calibri"/>
                <a:ea typeface="Calibri"/>
                <a:cs typeface="Calibri"/>
                <a:sym typeface="Calibri"/>
              </a:rPr>
              <a:t>CAMPO</a:t>
            </a:r>
            <a:endParaRPr b="0" i="0" sz="950" u="none" cap="none" strike="noStrike">
              <a:solidFill>
                <a:schemeClr val="dk1"/>
              </a:solidFill>
              <a:latin typeface="Calibri"/>
              <a:ea typeface="Calibri"/>
              <a:cs typeface="Calibri"/>
              <a:sym typeface="Calibri"/>
            </a:endParaRPr>
          </a:p>
        </p:txBody>
      </p:sp>
      <p:sp>
        <p:nvSpPr>
          <p:cNvPr id="309" name="Google Shape;309;p13"/>
          <p:cNvSpPr/>
          <p:nvPr/>
        </p:nvSpPr>
        <p:spPr>
          <a:xfrm>
            <a:off x="6815023" y="182880"/>
            <a:ext cx="1170432" cy="274320"/>
          </a:xfrm>
          <a:prstGeom prst="roundRect">
            <a:avLst>
              <a:gd fmla="val 50000"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3"/>
          <p:cNvSpPr txBox="1"/>
          <p:nvPr/>
        </p:nvSpPr>
        <p:spPr>
          <a:xfrm>
            <a:off x="681502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PERCEPCIÓN</a:t>
            </a:r>
            <a:endParaRPr b="0" i="0" sz="950" u="none" cap="none" strike="noStrike">
              <a:solidFill>
                <a:schemeClr val="dk1"/>
              </a:solidFill>
              <a:latin typeface="Calibri"/>
              <a:ea typeface="Calibri"/>
              <a:cs typeface="Calibri"/>
              <a:sym typeface="Calibri"/>
            </a:endParaRPr>
          </a:p>
        </p:txBody>
      </p:sp>
      <p:sp>
        <p:nvSpPr>
          <p:cNvPr id="311" name="Google Shape;311;p13"/>
          <p:cNvSpPr/>
          <p:nvPr/>
        </p:nvSpPr>
        <p:spPr>
          <a:xfrm>
            <a:off x="8049463" y="182880"/>
            <a:ext cx="1170432" cy="274320"/>
          </a:xfrm>
          <a:prstGeom prst="roundRect">
            <a:avLst>
              <a:gd fmla="val 50000"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3"/>
          <p:cNvSpPr txBox="1"/>
          <p:nvPr/>
        </p:nvSpPr>
        <p:spPr>
          <a:xfrm>
            <a:off x="804946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INFORMACIÓN</a:t>
            </a:r>
            <a:endParaRPr b="0" i="0" sz="950" u="none" cap="none" strike="noStrike">
              <a:solidFill>
                <a:schemeClr val="dk1"/>
              </a:solidFill>
              <a:latin typeface="Calibri"/>
              <a:ea typeface="Calibri"/>
              <a:cs typeface="Calibri"/>
              <a:sym typeface="Calibri"/>
            </a:endParaRPr>
          </a:p>
        </p:txBody>
      </p:sp>
      <p:sp>
        <p:nvSpPr>
          <p:cNvPr id="313" name="Google Shape;313;p13"/>
          <p:cNvSpPr/>
          <p:nvPr/>
        </p:nvSpPr>
        <p:spPr>
          <a:xfrm>
            <a:off x="9283903" y="182880"/>
            <a:ext cx="1170432" cy="274320"/>
          </a:xfrm>
          <a:prstGeom prst="roundRect">
            <a:avLst>
              <a:gd fmla="val 50000"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3"/>
          <p:cNvSpPr txBox="1"/>
          <p:nvPr/>
        </p:nvSpPr>
        <p:spPr>
          <a:xfrm>
            <a:off x="928390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RESPUESTA</a:t>
            </a:r>
            <a:endParaRPr b="0" i="0" sz="950" u="none" cap="none" strike="noStrike">
              <a:solidFill>
                <a:schemeClr val="dk1"/>
              </a:solidFill>
              <a:latin typeface="Calibri"/>
              <a:ea typeface="Calibri"/>
              <a:cs typeface="Calibri"/>
              <a:sym typeface="Calibri"/>
            </a:endParaRPr>
          </a:p>
        </p:txBody>
      </p:sp>
      <p:sp>
        <p:nvSpPr>
          <p:cNvPr id="315" name="Google Shape;315;p13"/>
          <p:cNvSpPr/>
          <p:nvPr/>
        </p:nvSpPr>
        <p:spPr>
          <a:xfrm>
            <a:off x="10518343" y="182880"/>
            <a:ext cx="1170432" cy="274320"/>
          </a:xfrm>
          <a:prstGeom prst="roundRect">
            <a:avLst>
              <a:gd fmla="val 50000" name="adj"/>
            </a:avLst>
          </a:prstGeom>
          <a:solidFill>
            <a:srgbClr val="1C4468"/>
          </a:solidFill>
          <a:ln cap="flat" cmpd="sng" w="12700">
            <a:solidFill>
              <a:srgbClr val="1C446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3"/>
          <p:cNvSpPr txBox="1"/>
          <p:nvPr/>
        </p:nvSpPr>
        <p:spPr>
          <a:xfrm>
            <a:off x="1051834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8FB0C8"/>
              </a:buClr>
              <a:buSzPts val="950"/>
              <a:buFont typeface="Calibri"/>
              <a:buNone/>
            </a:pPr>
            <a:r>
              <a:rPr b="1" i="0" lang="en-US" sz="950" u="none" cap="none" strike="noStrike">
                <a:solidFill>
                  <a:srgbClr val="8FB0C8"/>
                </a:solidFill>
                <a:latin typeface="Calibri"/>
                <a:ea typeface="Calibri"/>
                <a:cs typeface="Calibri"/>
                <a:sym typeface="Calibri"/>
              </a:rPr>
              <a:t>APLICACIÓN</a:t>
            </a:r>
            <a:endParaRPr b="0" i="0" sz="950" u="none" cap="none" strike="noStrike">
              <a:solidFill>
                <a:schemeClr val="dk1"/>
              </a:solidFill>
              <a:latin typeface="Calibri"/>
              <a:ea typeface="Calibri"/>
              <a:cs typeface="Calibri"/>
              <a:sym typeface="Calibri"/>
            </a:endParaRPr>
          </a:p>
        </p:txBody>
      </p:sp>
      <p:sp>
        <p:nvSpPr>
          <p:cNvPr id="317" name="Google Shape;317;p13"/>
          <p:cNvSpPr txBox="1"/>
          <p:nvPr/>
        </p:nvSpPr>
        <p:spPr>
          <a:xfrm>
            <a:off x="548640" y="54864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Si se invierte la fase, se invierte el escape</a:t>
            </a:r>
            <a:endParaRPr b="0" i="0" sz="3200" u="none" cap="none" strike="noStrike">
              <a:solidFill>
                <a:schemeClr val="dk1"/>
              </a:solidFill>
              <a:latin typeface="Calibri"/>
              <a:ea typeface="Calibri"/>
              <a:cs typeface="Calibri"/>
              <a:sym typeface="Calibri"/>
            </a:endParaRPr>
          </a:p>
        </p:txBody>
      </p:sp>
      <p:sp>
        <p:nvSpPr>
          <p:cNvPr id="318" name="Google Shape;318;p13"/>
          <p:cNvSpPr txBox="1"/>
          <p:nvPr/>
        </p:nvSpPr>
        <p:spPr>
          <a:xfrm>
            <a:off x="548640" y="1371600"/>
            <a:ext cx="11064240" cy="3657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A9C1D3"/>
              </a:buClr>
              <a:buSzPts val="1500"/>
              <a:buFont typeface="Calibri"/>
              <a:buNone/>
            </a:pPr>
            <a:r>
              <a:rPr b="0" i="1" lang="en-US" sz="1500" u="none" cap="none" strike="noStrike">
                <a:solidFill>
                  <a:srgbClr val="A9C1D3"/>
                </a:solidFill>
                <a:latin typeface="Calibri"/>
                <a:ea typeface="Calibri"/>
                <a:cs typeface="Calibri"/>
                <a:sym typeface="Calibri"/>
              </a:rPr>
              <a:t>Danionella cerebrum  ·  arena de 10 × 10 cm  ·  pulso de ~780 Hz  ·  65 peces intactos</a:t>
            </a:r>
            <a:endParaRPr b="0" i="0" sz="1500" u="none" cap="none" strike="noStrike">
              <a:solidFill>
                <a:schemeClr val="dk1"/>
              </a:solidFill>
              <a:latin typeface="Calibri"/>
              <a:ea typeface="Calibri"/>
              <a:cs typeface="Calibri"/>
              <a:sym typeface="Calibri"/>
            </a:endParaRPr>
          </a:p>
        </p:txBody>
      </p:sp>
      <p:sp>
        <p:nvSpPr>
          <p:cNvPr id="319" name="Google Shape;319;p13"/>
          <p:cNvSpPr/>
          <p:nvPr/>
        </p:nvSpPr>
        <p:spPr>
          <a:xfrm>
            <a:off x="548640" y="1828800"/>
            <a:ext cx="3566160" cy="4389120"/>
          </a:xfrm>
          <a:prstGeom prst="roundRect">
            <a:avLst>
              <a:gd fmla="val 2051" name="adj"/>
            </a:avLst>
          </a:prstGeom>
          <a:solidFill>
            <a:srgbClr val="123A5E"/>
          </a:solidFill>
          <a:ln cap="flat" cmpd="sng" w="12700">
            <a:solidFill>
              <a:srgbClr val="1F4E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3"/>
          <p:cNvSpPr txBox="1"/>
          <p:nvPr/>
        </p:nvSpPr>
        <p:spPr>
          <a:xfrm>
            <a:off x="685800" y="1901952"/>
            <a:ext cx="3291840" cy="38404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 · Presión + movimiento</a:t>
            </a:r>
            <a:endParaRPr b="0" i="0" sz="1600" u="none" cap="none" strike="noStrike">
              <a:solidFill>
                <a:schemeClr val="dk1"/>
              </a:solidFill>
              <a:latin typeface="Calibri"/>
              <a:ea typeface="Calibri"/>
              <a:cs typeface="Calibri"/>
              <a:sym typeface="Calibri"/>
            </a:endParaRPr>
          </a:p>
        </p:txBody>
      </p:sp>
      <p:pic>
        <p:nvPicPr>
          <p:cNvPr descr="/home/claude/pres/img/s11_normal.png" id="321" name="Google Shape;321;p13"/>
          <p:cNvPicPr preferRelativeResize="0"/>
          <p:nvPr/>
        </p:nvPicPr>
        <p:blipFill rotWithShape="1">
          <a:blip r:embed="rId3">
            <a:alphaModFix/>
          </a:blip>
          <a:srcRect b="0" l="0" r="0" t="0"/>
          <a:stretch/>
        </p:blipFill>
        <p:spPr>
          <a:xfrm>
            <a:off x="1188720" y="2286000"/>
            <a:ext cx="2286000" cy="2286000"/>
          </a:xfrm>
          <a:prstGeom prst="rect">
            <a:avLst/>
          </a:prstGeom>
          <a:noFill/>
          <a:ln>
            <a:noFill/>
          </a:ln>
        </p:spPr>
      </p:pic>
      <p:sp>
        <p:nvSpPr>
          <p:cNvPr id="322" name="Google Shape;322;p13"/>
          <p:cNvSpPr txBox="1"/>
          <p:nvPr/>
        </p:nvSpPr>
        <p:spPr>
          <a:xfrm>
            <a:off x="640080" y="4572000"/>
            <a:ext cx="3383280" cy="65836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7BE0A8"/>
              </a:buClr>
              <a:buSzPts val="4000"/>
              <a:buFont typeface="Calibri"/>
              <a:buNone/>
            </a:pPr>
            <a:r>
              <a:rPr b="1" i="0" lang="en-US" sz="4000" u="none" cap="none" strike="noStrike">
                <a:solidFill>
                  <a:srgbClr val="7BE0A8"/>
                </a:solidFill>
                <a:latin typeface="Calibri"/>
                <a:ea typeface="Calibri"/>
                <a:cs typeface="Calibri"/>
                <a:sym typeface="Calibri"/>
              </a:rPr>
              <a:t>80 %</a:t>
            </a:r>
            <a:endParaRPr b="0" i="0" sz="4000" u="none" cap="none" strike="noStrike">
              <a:solidFill>
                <a:schemeClr val="dk1"/>
              </a:solidFill>
              <a:latin typeface="Calibri"/>
              <a:ea typeface="Calibri"/>
              <a:cs typeface="Calibri"/>
              <a:sym typeface="Calibri"/>
            </a:endParaRPr>
          </a:p>
        </p:txBody>
      </p:sp>
      <p:sp>
        <p:nvSpPr>
          <p:cNvPr id="323" name="Google Shape;323;p13"/>
          <p:cNvSpPr txBox="1"/>
          <p:nvPr/>
        </p:nvSpPr>
        <p:spPr>
          <a:xfrm>
            <a:off x="640080" y="5230368"/>
            <a:ext cx="3383280" cy="36576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se alejan de la fuente</a:t>
            </a:r>
            <a:endParaRPr b="0" i="0" sz="1700" u="none" cap="none" strike="noStrike">
              <a:solidFill>
                <a:schemeClr val="dk1"/>
              </a:solidFill>
              <a:latin typeface="Calibri"/>
              <a:ea typeface="Calibri"/>
              <a:cs typeface="Calibri"/>
              <a:sym typeface="Calibri"/>
            </a:endParaRPr>
          </a:p>
        </p:txBody>
      </p:sp>
      <p:sp>
        <p:nvSpPr>
          <p:cNvPr id="324" name="Google Shape;324;p13"/>
          <p:cNvSpPr txBox="1"/>
          <p:nvPr/>
        </p:nvSpPr>
        <p:spPr>
          <a:xfrm>
            <a:off x="685800" y="5596128"/>
            <a:ext cx="3291840" cy="56692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C4D6E3"/>
              </a:buClr>
              <a:buSzPts val="1150"/>
              <a:buFont typeface="Calibri"/>
              <a:buNone/>
            </a:pPr>
            <a:r>
              <a:rPr b="0" i="0" lang="en-US" sz="1150" u="none" cap="none" strike="noStrike">
                <a:solidFill>
                  <a:srgbClr val="C4D6E3"/>
                </a:solidFill>
                <a:latin typeface="Calibri"/>
                <a:ea typeface="Calibri"/>
                <a:cs typeface="Calibri"/>
                <a:sym typeface="Calibri"/>
              </a:rPr>
              <a:t>191 de 240 sobresaltos · 63 peces</a:t>
            </a:r>
            <a:endParaRPr b="0" i="0" sz="1150" u="none" cap="none" strike="noStrike">
              <a:solidFill>
                <a:schemeClr val="dk1"/>
              </a:solidFill>
              <a:latin typeface="Calibri"/>
              <a:ea typeface="Calibri"/>
              <a:cs typeface="Calibri"/>
              <a:sym typeface="Calibri"/>
            </a:endParaRPr>
          </a:p>
        </p:txBody>
      </p:sp>
      <p:sp>
        <p:nvSpPr>
          <p:cNvPr id="325" name="Google Shape;325;p13"/>
          <p:cNvSpPr/>
          <p:nvPr/>
        </p:nvSpPr>
        <p:spPr>
          <a:xfrm>
            <a:off x="4315968" y="1828800"/>
            <a:ext cx="3566160" cy="4389120"/>
          </a:xfrm>
          <a:prstGeom prst="roundRect">
            <a:avLst>
              <a:gd fmla="val 2051" name="adj"/>
            </a:avLst>
          </a:prstGeom>
          <a:solidFill>
            <a:srgbClr val="123A5E"/>
          </a:solidFill>
          <a:ln cap="flat" cmpd="sng" w="12700">
            <a:solidFill>
              <a:srgbClr val="1F4E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3"/>
          <p:cNvSpPr txBox="1"/>
          <p:nvPr/>
        </p:nvSpPr>
        <p:spPr>
          <a:xfrm>
            <a:off x="4453128" y="1901952"/>
            <a:ext cx="3291840" cy="38404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 · Solo uno de los dos</a:t>
            </a:r>
            <a:endParaRPr b="0" i="0" sz="1600" u="none" cap="none" strike="noStrike">
              <a:solidFill>
                <a:schemeClr val="dk1"/>
              </a:solidFill>
              <a:latin typeface="Calibri"/>
              <a:ea typeface="Calibri"/>
              <a:cs typeface="Calibri"/>
              <a:sym typeface="Calibri"/>
            </a:endParaRPr>
          </a:p>
        </p:txBody>
      </p:sp>
      <p:pic>
        <p:nvPicPr>
          <p:cNvPr descr="/home/claude/pres/img/s11_solo.png" id="327" name="Google Shape;327;p13"/>
          <p:cNvPicPr preferRelativeResize="0"/>
          <p:nvPr/>
        </p:nvPicPr>
        <p:blipFill rotWithShape="1">
          <a:blip r:embed="rId4">
            <a:alphaModFix/>
          </a:blip>
          <a:srcRect b="0" l="0" r="0" t="0"/>
          <a:stretch/>
        </p:blipFill>
        <p:spPr>
          <a:xfrm>
            <a:off x="4956048" y="2286000"/>
            <a:ext cx="2286000" cy="2286000"/>
          </a:xfrm>
          <a:prstGeom prst="rect">
            <a:avLst/>
          </a:prstGeom>
          <a:noFill/>
          <a:ln>
            <a:noFill/>
          </a:ln>
        </p:spPr>
      </p:pic>
      <p:sp>
        <p:nvSpPr>
          <p:cNvPr id="328" name="Google Shape;328;p13"/>
          <p:cNvSpPr txBox="1"/>
          <p:nvPr/>
        </p:nvSpPr>
        <p:spPr>
          <a:xfrm>
            <a:off x="4407408" y="4572000"/>
            <a:ext cx="3383280" cy="65836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B8C6D2"/>
              </a:buClr>
              <a:buSzPts val="3200"/>
              <a:buFont typeface="Calibri"/>
              <a:buNone/>
            </a:pPr>
            <a:r>
              <a:rPr b="1" i="0" lang="en-US" sz="3200" u="none" cap="none" strike="noStrike">
                <a:solidFill>
                  <a:srgbClr val="B8C6D2"/>
                </a:solidFill>
                <a:latin typeface="Calibri"/>
                <a:ea typeface="Calibri"/>
                <a:cs typeface="Calibri"/>
                <a:sym typeface="Calibri"/>
              </a:rPr>
              <a:t>44 % · 46 %</a:t>
            </a:r>
            <a:endParaRPr b="0" i="0" sz="3200" u="none" cap="none" strike="noStrike">
              <a:solidFill>
                <a:schemeClr val="dk1"/>
              </a:solidFill>
              <a:latin typeface="Calibri"/>
              <a:ea typeface="Calibri"/>
              <a:cs typeface="Calibri"/>
              <a:sym typeface="Calibri"/>
            </a:endParaRPr>
          </a:p>
        </p:txBody>
      </p:sp>
      <p:sp>
        <p:nvSpPr>
          <p:cNvPr id="329" name="Google Shape;329;p13"/>
          <p:cNvSpPr txBox="1"/>
          <p:nvPr/>
        </p:nvSpPr>
        <p:spPr>
          <a:xfrm>
            <a:off x="4407408" y="5230368"/>
            <a:ext cx="3383280" cy="36576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sin dirección preferente</a:t>
            </a:r>
            <a:endParaRPr b="0" i="0" sz="1700" u="none" cap="none" strike="noStrike">
              <a:solidFill>
                <a:schemeClr val="dk1"/>
              </a:solidFill>
              <a:latin typeface="Calibri"/>
              <a:ea typeface="Calibri"/>
              <a:cs typeface="Calibri"/>
              <a:sym typeface="Calibri"/>
            </a:endParaRPr>
          </a:p>
        </p:txBody>
      </p:sp>
      <p:sp>
        <p:nvSpPr>
          <p:cNvPr id="330" name="Google Shape;330;p13"/>
          <p:cNvSpPr txBox="1"/>
          <p:nvPr/>
        </p:nvSpPr>
        <p:spPr>
          <a:xfrm>
            <a:off x="4453128" y="5596128"/>
            <a:ext cx="3291840" cy="56692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C4D6E3"/>
              </a:buClr>
              <a:buSzPts val="1150"/>
              <a:buFont typeface="Calibri"/>
              <a:buNone/>
            </a:pPr>
            <a:r>
              <a:rPr b="0" i="0" lang="en-US" sz="1150" u="none" cap="none" strike="noStrike">
                <a:solidFill>
                  <a:srgbClr val="C4D6E3"/>
                </a:solidFill>
                <a:latin typeface="Calibri"/>
                <a:ea typeface="Calibri"/>
                <a:cs typeface="Calibri"/>
                <a:sym typeface="Calibri"/>
              </a:rPr>
              <a:t>solo presión (n = 90) · solo movimiento (n = 192) · p &gt; 0,05</a:t>
            </a:r>
            <a:endParaRPr b="0" i="0" sz="1150" u="none" cap="none" strike="noStrike">
              <a:solidFill>
                <a:schemeClr val="dk1"/>
              </a:solidFill>
              <a:latin typeface="Calibri"/>
              <a:ea typeface="Calibri"/>
              <a:cs typeface="Calibri"/>
              <a:sym typeface="Calibri"/>
            </a:endParaRPr>
          </a:p>
        </p:txBody>
      </p:sp>
      <p:sp>
        <p:nvSpPr>
          <p:cNvPr id="331" name="Google Shape;331;p13"/>
          <p:cNvSpPr/>
          <p:nvPr/>
        </p:nvSpPr>
        <p:spPr>
          <a:xfrm>
            <a:off x="8083296" y="1828800"/>
            <a:ext cx="3566160" cy="4389120"/>
          </a:xfrm>
          <a:prstGeom prst="roundRect">
            <a:avLst>
              <a:gd fmla="val 2051" name="adj"/>
            </a:avLst>
          </a:prstGeom>
          <a:solidFill>
            <a:srgbClr val="123A5E"/>
          </a:solidFill>
          <a:ln cap="flat" cmpd="sng" w="12700">
            <a:solidFill>
              <a:srgbClr val="1F4E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3"/>
          <p:cNvSpPr txBox="1"/>
          <p:nvPr/>
        </p:nvSpPr>
        <p:spPr>
          <a:xfrm>
            <a:off x="8220456" y="1901952"/>
            <a:ext cx="3291840" cy="38404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 · Presión invertida</a:t>
            </a:r>
            <a:endParaRPr b="0" i="0" sz="1600" u="none" cap="none" strike="noStrike">
              <a:solidFill>
                <a:schemeClr val="dk1"/>
              </a:solidFill>
              <a:latin typeface="Calibri"/>
              <a:ea typeface="Calibri"/>
              <a:cs typeface="Calibri"/>
              <a:sym typeface="Calibri"/>
            </a:endParaRPr>
          </a:p>
        </p:txBody>
      </p:sp>
      <p:pic>
        <p:nvPicPr>
          <p:cNvPr descr="/home/claude/pres/img/s11_inv.png" id="333" name="Google Shape;333;p13"/>
          <p:cNvPicPr preferRelativeResize="0"/>
          <p:nvPr/>
        </p:nvPicPr>
        <p:blipFill rotWithShape="1">
          <a:blip r:embed="rId5">
            <a:alphaModFix/>
          </a:blip>
          <a:srcRect b="0" l="0" r="0" t="0"/>
          <a:stretch/>
        </p:blipFill>
        <p:spPr>
          <a:xfrm>
            <a:off x="8723376" y="2286000"/>
            <a:ext cx="2286000" cy="2286000"/>
          </a:xfrm>
          <a:prstGeom prst="rect">
            <a:avLst/>
          </a:prstGeom>
          <a:noFill/>
          <a:ln>
            <a:noFill/>
          </a:ln>
        </p:spPr>
      </p:pic>
      <p:sp>
        <p:nvSpPr>
          <p:cNvPr id="334" name="Google Shape;334;p13"/>
          <p:cNvSpPr txBox="1"/>
          <p:nvPr/>
        </p:nvSpPr>
        <p:spPr>
          <a:xfrm>
            <a:off x="8174736" y="4572000"/>
            <a:ext cx="3383280" cy="65836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08A77"/>
              </a:buClr>
              <a:buSzPts val="4000"/>
              <a:buFont typeface="Calibri"/>
              <a:buNone/>
            </a:pPr>
            <a:r>
              <a:rPr b="1" i="0" lang="en-US" sz="4000" u="none" cap="none" strike="noStrike">
                <a:solidFill>
                  <a:srgbClr val="F08A77"/>
                </a:solidFill>
                <a:latin typeface="Calibri"/>
                <a:ea typeface="Calibri"/>
                <a:cs typeface="Calibri"/>
                <a:sym typeface="Calibri"/>
              </a:rPr>
              <a:t>67 %</a:t>
            </a:r>
            <a:endParaRPr b="0" i="0" sz="4000" u="none" cap="none" strike="noStrike">
              <a:solidFill>
                <a:schemeClr val="dk1"/>
              </a:solidFill>
              <a:latin typeface="Calibri"/>
              <a:ea typeface="Calibri"/>
              <a:cs typeface="Calibri"/>
              <a:sym typeface="Calibri"/>
            </a:endParaRPr>
          </a:p>
        </p:txBody>
      </p:sp>
      <p:sp>
        <p:nvSpPr>
          <p:cNvPr id="335" name="Google Shape;335;p13"/>
          <p:cNvSpPr txBox="1"/>
          <p:nvPr/>
        </p:nvSpPr>
        <p:spPr>
          <a:xfrm>
            <a:off x="8174736" y="5230368"/>
            <a:ext cx="3383280" cy="36576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700"/>
              <a:buFont typeface="Calibri"/>
              <a:buNone/>
            </a:pPr>
            <a:r>
              <a:rPr b="1" i="0" lang="en-US" sz="1700" u="none" cap="none" strike="noStrike">
                <a:solidFill>
                  <a:srgbClr val="FFFFFF"/>
                </a:solidFill>
                <a:latin typeface="Calibri"/>
                <a:ea typeface="Calibri"/>
                <a:cs typeface="Calibri"/>
                <a:sym typeface="Calibri"/>
              </a:rPr>
              <a:t>se ACERCAN a la fuente</a:t>
            </a:r>
            <a:endParaRPr b="0" i="0" sz="1700" u="none" cap="none" strike="noStrike">
              <a:solidFill>
                <a:schemeClr val="dk1"/>
              </a:solidFill>
              <a:latin typeface="Calibri"/>
              <a:ea typeface="Calibri"/>
              <a:cs typeface="Calibri"/>
              <a:sym typeface="Calibri"/>
            </a:endParaRPr>
          </a:p>
        </p:txBody>
      </p:sp>
      <p:sp>
        <p:nvSpPr>
          <p:cNvPr id="336" name="Google Shape;336;p13"/>
          <p:cNvSpPr txBox="1"/>
          <p:nvPr/>
        </p:nvSpPr>
        <p:spPr>
          <a:xfrm>
            <a:off x="8220456" y="5596128"/>
            <a:ext cx="3291840" cy="56692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C4D6E3"/>
              </a:buClr>
              <a:buSzPts val="1150"/>
              <a:buFont typeface="Calibri"/>
              <a:buNone/>
            </a:pPr>
            <a:r>
              <a:rPr b="0" i="0" lang="en-US" sz="1150" u="none" cap="none" strike="noStrike">
                <a:solidFill>
                  <a:srgbClr val="C4D6E3"/>
                </a:solidFill>
                <a:latin typeface="Calibri"/>
                <a:ea typeface="Calibri"/>
                <a:cs typeface="Calibri"/>
                <a:sym typeface="Calibri"/>
              </a:rPr>
              <a:t>331 sobresaltos · 61 peces · (−) altavoces que invierten solo la presión</a:t>
            </a:r>
            <a:endParaRPr b="0" i="0" sz="1150" u="none" cap="none" strike="noStrike">
              <a:solidFill>
                <a:schemeClr val="dk1"/>
              </a:solidFill>
              <a:latin typeface="Calibri"/>
              <a:ea typeface="Calibri"/>
              <a:cs typeface="Calibri"/>
              <a:sym typeface="Calibri"/>
            </a:endParaRPr>
          </a:p>
        </p:txBody>
      </p:sp>
      <p:sp>
        <p:nvSpPr>
          <p:cNvPr id="337" name="Google Shape;337;p13"/>
          <p:cNvSpPr txBox="1"/>
          <p:nvPr/>
        </p:nvSpPr>
        <p:spPr>
          <a:xfrm>
            <a:off x="548640" y="6382512"/>
            <a:ext cx="10241280" cy="29260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A9C1D3"/>
              </a:buClr>
              <a:buSzPts val="1200"/>
              <a:buFont typeface="Calibri"/>
              <a:buNone/>
            </a:pPr>
            <a:r>
              <a:rPr b="0" i="1" lang="en-US" sz="1200" u="none" cap="none" strike="noStrike">
                <a:solidFill>
                  <a:srgbClr val="A9C1D3"/>
                </a:solidFill>
                <a:latin typeface="Calibri"/>
                <a:ea typeface="Calibri"/>
                <a:cs typeface="Calibri"/>
                <a:sym typeface="Calibri"/>
              </a:rPr>
              <a:t>Adaptado de Veith et al., 2024 (Figs. 1–2)  ·  Efecto presente sin línea lateral  ·  % de sobresaltos, no de peces</a:t>
            </a:r>
            <a:endParaRPr b="0" i="0" sz="1200" u="none" cap="none" strike="noStrike">
              <a:solidFill>
                <a:schemeClr val="dk1"/>
              </a:solidFill>
              <a:latin typeface="Calibri"/>
              <a:ea typeface="Calibri"/>
              <a:cs typeface="Calibri"/>
              <a:sym typeface="Calibri"/>
            </a:endParaRPr>
          </a:p>
        </p:txBody>
      </p:sp>
      <p:sp>
        <p:nvSpPr>
          <p:cNvPr id="338" name="Google Shape;338;p13"/>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A9C1D3"/>
              </a:buClr>
              <a:buSzPts val="1100"/>
              <a:buFont typeface="Calibri"/>
              <a:buNone/>
            </a:pPr>
            <a:r>
              <a:rPr b="0" i="0" lang="en-US" sz="1100" u="none" cap="none" strike="noStrike">
                <a:solidFill>
                  <a:srgbClr val="A9C1D3"/>
                </a:solidFill>
                <a:latin typeface="Calibri"/>
                <a:ea typeface="Calibri"/>
                <a:cs typeface="Calibri"/>
                <a:sym typeface="Calibri"/>
              </a:rPr>
              <a:t>11</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14"/>
          <p:cNvSpPr/>
          <p:nvPr/>
        </p:nvSpPr>
        <p:spPr>
          <a:xfrm>
            <a:off x="558058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4"/>
          <p:cNvSpPr txBox="1"/>
          <p:nvPr/>
        </p:nvSpPr>
        <p:spPr>
          <a:xfrm>
            <a:off x="558058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CAMPO</a:t>
            </a:r>
            <a:endParaRPr b="0" i="0" sz="950" u="none" cap="none" strike="noStrike">
              <a:solidFill>
                <a:schemeClr val="dk1"/>
              </a:solidFill>
              <a:latin typeface="Calibri"/>
              <a:ea typeface="Calibri"/>
              <a:cs typeface="Calibri"/>
              <a:sym typeface="Calibri"/>
            </a:endParaRPr>
          </a:p>
        </p:txBody>
      </p:sp>
      <p:sp>
        <p:nvSpPr>
          <p:cNvPr id="346" name="Google Shape;346;p14"/>
          <p:cNvSpPr/>
          <p:nvPr/>
        </p:nvSpPr>
        <p:spPr>
          <a:xfrm>
            <a:off x="681502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4"/>
          <p:cNvSpPr txBox="1"/>
          <p:nvPr/>
        </p:nvSpPr>
        <p:spPr>
          <a:xfrm>
            <a:off x="681502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PERCEPCIÓN</a:t>
            </a:r>
            <a:endParaRPr b="0" i="0" sz="950" u="none" cap="none" strike="noStrike">
              <a:solidFill>
                <a:schemeClr val="dk1"/>
              </a:solidFill>
              <a:latin typeface="Calibri"/>
              <a:ea typeface="Calibri"/>
              <a:cs typeface="Calibri"/>
              <a:sym typeface="Calibri"/>
            </a:endParaRPr>
          </a:p>
        </p:txBody>
      </p:sp>
      <p:sp>
        <p:nvSpPr>
          <p:cNvPr id="348" name="Google Shape;348;p14"/>
          <p:cNvSpPr/>
          <p:nvPr/>
        </p:nvSpPr>
        <p:spPr>
          <a:xfrm>
            <a:off x="8049463" y="182880"/>
            <a:ext cx="1170432" cy="274320"/>
          </a:xfrm>
          <a:prstGeom prst="roundRect">
            <a:avLst>
              <a:gd fmla="val 50000"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4"/>
          <p:cNvSpPr txBox="1"/>
          <p:nvPr/>
        </p:nvSpPr>
        <p:spPr>
          <a:xfrm>
            <a:off x="804946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INFORMACIÓN</a:t>
            </a:r>
            <a:endParaRPr b="0" i="0" sz="950" u="none" cap="none" strike="noStrike">
              <a:solidFill>
                <a:schemeClr val="dk1"/>
              </a:solidFill>
              <a:latin typeface="Calibri"/>
              <a:ea typeface="Calibri"/>
              <a:cs typeface="Calibri"/>
              <a:sym typeface="Calibri"/>
            </a:endParaRPr>
          </a:p>
        </p:txBody>
      </p:sp>
      <p:sp>
        <p:nvSpPr>
          <p:cNvPr id="350" name="Google Shape;350;p14"/>
          <p:cNvSpPr/>
          <p:nvPr/>
        </p:nvSpPr>
        <p:spPr>
          <a:xfrm>
            <a:off x="928390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4"/>
          <p:cNvSpPr txBox="1"/>
          <p:nvPr/>
        </p:nvSpPr>
        <p:spPr>
          <a:xfrm>
            <a:off x="928390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RESPUESTA</a:t>
            </a:r>
            <a:endParaRPr b="0" i="0" sz="950" u="none" cap="none" strike="noStrike">
              <a:solidFill>
                <a:schemeClr val="dk1"/>
              </a:solidFill>
              <a:latin typeface="Calibri"/>
              <a:ea typeface="Calibri"/>
              <a:cs typeface="Calibri"/>
              <a:sym typeface="Calibri"/>
            </a:endParaRPr>
          </a:p>
        </p:txBody>
      </p:sp>
      <p:sp>
        <p:nvSpPr>
          <p:cNvPr id="352" name="Google Shape;352;p14"/>
          <p:cNvSpPr/>
          <p:nvPr/>
        </p:nvSpPr>
        <p:spPr>
          <a:xfrm>
            <a:off x="1051834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4"/>
          <p:cNvSpPr txBox="1"/>
          <p:nvPr/>
        </p:nvSpPr>
        <p:spPr>
          <a:xfrm>
            <a:off x="1051834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APLICACIÓN</a:t>
            </a:r>
            <a:endParaRPr b="0" i="0" sz="950" u="none" cap="none" strike="noStrike">
              <a:solidFill>
                <a:schemeClr val="dk1"/>
              </a:solidFill>
              <a:latin typeface="Calibri"/>
              <a:ea typeface="Calibri"/>
              <a:cs typeface="Calibri"/>
              <a:sym typeface="Calibri"/>
            </a:endParaRPr>
          </a:p>
        </p:txBody>
      </p:sp>
      <p:sp>
        <p:nvSpPr>
          <p:cNvPr id="354" name="Google Shape;354;p14"/>
          <p:cNvSpPr txBox="1"/>
          <p:nvPr/>
        </p:nvSpPr>
        <p:spPr>
          <a:xfrm>
            <a:off x="548640" y="54864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800"/>
              <a:buFont typeface="Calibri"/>
              <a:buNone/>
            </a:pPr>
            <a:r>
              <a:rPr b="1" i="0" lang="en-US" sz="2800" u="none" cap="none" strike="noStrike">
                <a:solidFill>
                  <a:srgbClr val="0B2A4A"/>
                </a:solidFill>
                <a:latin typeface="Calibri"/>
                <a:ea typeface="Calibri"/>
                <a:cs typeface="Calibri"/>
                <a:sym typeface="Calibri"/>
              </a:rPr>
              <a:t>El movimiento indica el eje; la presión, el sentido</a:t>
            </a:r>
            <a:endParaRPr b="0" i="0" sz="2800" u="none" cap="none" strike="noStrike">
              <a:solidFill>
                <a:schemeClr val="dk1"/>
              </a:solidFill>
              <a:latin typeface="Calibri"/>
              <a:ea typeface="Calibri"/>
              <a:cs typeface="Calibri"/>
              <a:sym typeface="Calibri"/>
            </a:endParaRPr>
          </a:p>
        </p:txBody>
      </p:sp>
      <p:sp>
        <p:nvSpPr>
          <p:cNvPr id="355" name="Google Shape;355;p14"/>
          <p:cNvSpPr txBox="1"/>
          <p:nvPr/>
        </p:nvSpPr>
        <p:spPr>
          <a:xfrm>
            <a:off x="548640" y="1371600"/>
            <a:ext cx="5394960" cy="3657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700"/>
              <a:buFont typeface="Calibri"/>
              <a:buNone/>
            </a:pPr>
            <a:r>
              <a:rPr b="1" i="0" lang="en-US" sz="1700" u="none" cap="none" strike="noStrike">
                <a:solidFill>
                  <a:srgbClr val="0B2A4A"/>
                </a:solidFill>
                <a:latin typeface="Calibri"/>
                <a:ea typeface="Calibri"/>
                <a:cs typeface="Calibri"/>
                <a:sym typeface="Calibri"/>
              </a:rPr>
              <a:t>Onda que llega desde la izquierda</a:t>
            </a:r>
            <a:endParaRPr b="0" i="0" sz="1700" u="none" cap="none" strike="noStrike">
              <a:solidFill>
                <a:schemeClr val="dk1"/>
              </a:solidFill>
              <a:latin typeface="Calibri"/>
              <a:ea typeface="Calibri"/>
              <a:cs typeface="Calibri"/>
              <a:sym typeface="Calibri"/>
            </a:endParaRPr>
          </a:p>
        </p:txBody>
      </p:sp>
      <p:pic>
        <p:nvPicPr>
          <p:cNvPr descr="/home/claude/pres/img/s12_left.png" id="356" name="Google Shape;356;p14"/>
          <p:cNvPicPr preferRelativeResize="0"/>
          <p:nvPr/>
        </p:nvPicPr>
        <p:blipFill rotWithShape="1">
          <a:blip r:embed="rId3">
            <a:alphaModFix/>
          </a:blip>
          <a:srcRect b="0" l="0" r="0" t="0"/>
          <a:stretch/>
        </p:blipFill>
        <p:spPr>
          <a:xfrm>
            <a:off x="548640" y="1783080"/>
            <a:ext cx="5394960" cy="3264408"/>
          </a:xfrm>
          <a:prstGeom prst="rect">
            <a:avLst/>
          </a:prstGeom>
          <a:noFill/>
          <a:ln>
            <a:noFill/>
          </a:ln>
        </p:spPr>
      </p:pic>
      <p:sp>
        <p:nvSpPr>
          <p:cNvPr id="357" name="Google Shape;357;p14"/>
          <p:cNvSpPr txBox="1"/>
          <p:nvPr/>
        </p:nvSpPr>
        <p:spPr>
          <a:xfrm>
            <a:off x="548640" y="2651760"/>
            <a:ext cx="100584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F6F9F"/>
              </a:buClr>
              <a:buSzPts val="1300"/>
              <a:buFont typeface="Calibri"/>
              <a:buNone/>
            </a:pPr>
            <a:r>
              <a:rPr b="1" i="0" lang="en-US" sz="1300" u="none" cap="none" strike="noStrike">
                <a:solidFill>
                  <a:srgbClr val="1F6F9F"/>
                </a:solidFill>
                <a:latin typeface="Calibri"/>
                <a:ea typeface="Calibri"/>
                <a:cs typeface="Calibri"/>
                <a:sym typeface="Calibri"/>
              </a:rPr>
              <a:t>presión</a:t>
            </a:r>
            <a:endParaRPr b="0" i="0" sz="1300" u="none" cap="none" strike="noStrike">
              <a:solidFill>
                <a:schemeClr val="dk1"/>
              </a:solidFill>
              <a:latin typeface="Calibri"/>
              <a:ea typeface="Calibri"/>
              <a:cs typeface="Calibri"/>
              <a:sym typeface="Calibri"/>
            </a:endParaRPr>
          </a:p>
        </p:txBody>
      </p:sp>
      <p:sp>
        <p:nvSpPr>
          <p:cNvPr id="358" name="Google Shape;358;p14"/>
          <p:cNvSpPr txBox="1"/>
          <p:nvPr/>
        </p:nvSpPr>
        <p:spPr>
          <a:xfrm>
            <a:off x="548640" y="3794760"/>
            <a:ext cx="1005840" cy="5486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4807E"/>
              </a:buClr>
              <a:buSzPts val="1200"/>
              <a:buFont typeface="Calibri"/>
              <a:buNone/>
            </a:pPr>
            <a:r>
              <a:rPr b="1" i="0" lang="en-US" sz="1200" u="none" cap="none" strike="noStrike">
                <a:solidFill>
                  <a:srgbClr val="14807E"/>
                </a:solidFill>
                <a:latin typeface="Calibri"/>
                <a:ea typeface="Calibri"/>
                <a:cs typeface="Calibri"/>
                <a:sym typeface="Calibri"/>
              </a:rPr>
              <a:t>velocidad de partícula</a:t>
            </a:r>
            <a:endParaRPr b="0" i="0" sz="1200" u="none" cap="none" strike="noStrike">
              <a:solidFill>
                <a:schemeClr val="dk1"/>
              </a:solidFill>
              <a:latin typeface="Calibri"/>
              <a:ea typeface="Calibri"/>
              <a:cs typeface="Calibri"/>
              <a:sym typeface="Calibri"/>
            </a:endParaRPr>
          </a:p>
        </p:txBody>
      </p:sp>
      <p:sp>
        <p:nvSpPr>
          <p:cNvPr id="359" name="Google Shape;359;p14"/>
          <p:cNvSpPr/>
          <p:nvPr/>
        </p:nvSpPr>
        <p:spPr>
          <a:xfrm>
            <a:off x="2286000" y="5029200"/>
            <a:ext cx="2194560" cy="384048"/>
          </a:xfrm>
          <a:prstGeom prst="roundRect">
            <a:avLst>
              <a:gd fmla="val 47619" name="adj"/>
            </a:avLst>
          </a:prstGeom>
          <a:solidFill>
            <a:srgbClr val="14807E"/>
          </a:solidFill>
          <a:ln cap="flat" cmpd="sng" w="12700">
            <a:solidFill>
              <a:srgbClr val="1480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4"/>
          <p:cNvSpPr txBox="1"/>
          <p:nvPr/>
        </p:nvSpPr>
        <p:spPr>
          <a:xfrm>
            <a:off x="2286000" y="5029200"/>
            <a:ext cx="2194560" cy="38404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EN FASE</a:t>
            </a:r>
            <a:endParaRPr b="0" i="0" sz="1400" u="none" cap="none" strike="noStrike">
              <a:solidFill>
                <a:schemeClr val="dk1"/>
              </a:solidFill>
              <a:latin typeface="Calibri"/>
              <a:ea typeface="Calibri"/>
              <a:cs typeface="Calibri"/>
              <a:sym typeface="Calibri"/>
            </a:endParaRPr>
          </a:p>
        </p:txBody>
      </p:sp>
      <p:sp>
        <p:nvSpPr>
          <p:cNvPr id="361" name="Google Shape;361;p14"/>
          <p:cNvSpPr txBox="1"/>
          <p:nvPr/>
        </p:nvSpPr>
        <p:spPr>
          <a:xfrm>
            <a:off x="6263640" y="1371600"/>
            <a:ext cx="5394960" cy="3657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700"/>
              <a:buFont typeface="Calibri"/>
              <a:buNone/>
            </a:pPr>
            <a:r>
              <a:rPr b="1" i="0" lang="en-US" sz="1700" u="none" cap="none" strike="noStrike">
                <a:solidFill>
                  <a:srgbClr val="0B2A4A"/>
                </a:solidFill>
                <a:latin typeface="Calibri"/>
                <a:ea typeface="Calibri"/>
                <a:cs typeface="Calibri"/>
                <a:sym typeface="Calibri"/>
              </a:rPr>
              <a:t>Onda que llega desde la derecha</a:t>
            </a:r>
            <a:endParaRPr b="0" i="0" sz="1700" u="none" cap="none" strike="noStrike">
              <a:solidFill>
                <a:schemeClr val="dk1"/>
              </a:solidFill>
              <a:latin typeface="Calibri"/>
              <a:ea typeface="Calibri"/>
              <a:cs typeface="Calibri"/>
              <a:sym typeface="Calibri"/>
            </a:endParaRPr>
          </a:p>
        </p:txBody>
      </p:sp>
      <p:pic>
        <p:nvPicPr>
          <p:cNvPr descr="/home/claude/pres/img/s12_right.png" id="362" name="Google Shape;362;p14"/>
          <p:cNvPicPr preferRelativeResize="0"/>
          <p:nvPr/>
        </p:nvPicPr>
        <p:blipFill rotWithShape="1">
          <a:blip r:embed="rId4">
            <a:alphaModFix/>
          </a:blip>
          <a:srcRect b="0" l="0" r="0" t="0"/>
          <a:stretch/>
        </p:blipFill>
        <p:spPr>
          <a:xfrm>
            <a:off x="6263640" y="1783080"/>
            <a:ext cx="5394960" cy="3264408"/>
          </a:xfrm>
          <a:prstGeom prst="rect">
            <a:avLst/>
          </a:prstGeom>
          <a:noFill/>
          <a:ln>
            <a:noFill/>
          </a:ln>
        </p:spPr>
      </p:pic>
      <p:sp>
        <p:nvSpPr>
          <p:cNvPr id="363" name="Google Shape;363;p14"/>
          <p:cNvSpPr txBox="1"/>
          <p:nvPr/>
        </p:nvSpPr>
        <p:spPr>
          <a:xfrm>
            <a:off x="6263640" y="2651760"/>
            <a:ext cx="100584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F6F9F"/>
              </a:buClr>
              <a:buSzPts val="1300"/>
              <a:buFont typeface="Calibri"/>
              <a:buNone/>
            </a:pPr>
            <a:r>
              <a:rPr b="1" i="0" lang="en-US" sz="1300" u="none" cap="none" strike="noStrike">
                <a:solidFill>
                  <a:srgbClr val="1F6F9F"/>
                </a:solidFill>
                <a:latin typeface="Calibri"/>
                <a:ea typeface="Calibri"/>
                <a:cs typeface="Calibri"/>
                <a:sym typeface="Calibri"/>
              </a:rPr>
              <a:t>presión</a:t>
            </a:r>
            <a:endParaRPr b="0" i="0" sz="1300" u="none" cap="none" strike="noStrike">
              <a:solidFill>
                <a:schemeClr val="dk1"/>
              </a:solidFill>
              <a:latin typeface="Calibri"/>
              <a:ea typeface="Calibri"/>
              <a:cs typeface="Calibri"/>
              <a:sym typeface="Calibri"/>
            </a:endParaRPr>
          </a:p>
        </p:txBody>
      </p:sp>
      <p:sp>
        <p:nvSpPr>
          <p:cNvPr id="364" name="Google Shape;364;p14"/>
          <p:cNvSpPr txBox="1"/>
          <p:nvPr/>
        </p:nvSpPr>
        <p:spPr>
          <a:xfrm>
            <a:off x="6263640" y="3794760"/>
            <a:ext cx="1005840" cy="5486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4807E"/>
              </a:buClr>
              <a:buSzPts val="1200"/>
              <a:buFont typeface="Calibri"/>
              <a:buNone/>
            </a:pPr>
            <a:r>
              <a:rPr b="1" i="0" lang="en-US" sz="1200" u="none" cap="none" strike="noStrike">
                <a:solidFill>
                  <a:srgbClr val="14807E"/>
                </a:solidFill>
                <a:latin typeface="Calibri"/>
                <a:ea typeface="Calibri"/>
                <a:cs typeface="Calibri"/>
                <a:sym typeface="Calibri"/>
              </a:rPr>
              <a:t>velocidad de partícula</a:t>
            </a:r>
            <a:endParaRPr b="0" i="0" sz="1200" u="none" cap="none" strike="noStrike">
              <a:solidFill>
                <a:schemeClr val="dk1"/>
              </a:solidFill>
              <a:latin typeface="Calibri"/>
              <a:ea typeface="Calibri"/>
              <a:cs typeface="Calibri"/>
              <a:sym typeface="Calibri"/>
            </a:endParaRPr>
          </a:p>
        </p:txBody>
      </p:sp>
      <p:sp>
        <p:nvSpPr>
          <p:cNvPr id="365" name="Google Shape;365;p14"/>
          <p:cNvSpPr/>
          <p:nvPr/>
        </p:nvSpPr>
        <p:spPr>
          <a:xfrm>
            <a:off x="8001000" y="5029200"/>
            <a:ext cx="2194560" cy="384048"/>
          </a:xfrm>
          <a:prstGeom prst="roundRect">
            <a:avLst>
              <a:gd fmla="val 47619" name="adj"/>
            </a:avLst>
          </a:prstGeom>
          <a:solidFill>
            <a:srgbClr val="B8432F"/>
          </a:solidFill>
          <a:ln cap="flat" cmpd="sng" w="12700">
            <a:solidFill>
              <a:srgbClr val="B843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4"/>
          <p:cNvSpPr txBox="1"/>
          <p:nvPr/>
        </p:nvSpPr>
        <p:spPr>
          <a:xfrm>
            <a:off x="8001000" y="5029200"/>
            <a:ext cx="2194560" cy="38404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EN CONTRAFASE</a:t>
            </a:r>
            <a:endParaRPr b="0" i="0" sz="1400" u="none" cap="none" strike="noStrike">
              <a:solidFill>
                <a:schemeClr val="dk1"/>
              </a:solidFill>
              <a:latin typeface="Calibri"/>
              <a:ea typeface="Calibri"/>
              <a:cs typeface="Calibri"/>
              <a:sym typeface="Calibri"/>
            </a:endParaRPr>
          </a:p>
        </p:txBody>
      </p:sp>
      <p:sp>
        <p:nvSpPr>
          <p:cNvPr id="367" name="Google Shape;367;p14"/>
          <p:cNvSpPr/>
          <p:nvPr/>
        </p:nvSpPr>
        <p:spPr>
          <a:xfrm>
            <a:off x="548640" y="5559552"/>
            <a:ext cx="5486400" cy="685800"/>
          </a:xfrm>
          <a:prstGeom prst="roundRect">
            <a:avLst>
              <a:gd fmla="val 10667" name="adj"/>
            </a:avLst>
          </a:prstGeom>
          <a:solidFill>
            <a:srgbClr val="FFFFFF"/>
          </a:solidFill>
          <a:ln cap="flat" cmpd="sng" w="19050">
            <a:solidFill>
              <a:srgbClr val="0B2A4A"/>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4"/>
          <p:cNvSpPr txBox="1"/>
          <p:nvPr/>
        </p:nvSpPr>
        <p:spPr>
          <a:xfrm>
            <a:off x="685800" y="5559552"/>
            <a:ext cx="5257800" cy="685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300"/>
              <a:buFont typeface="Calibri"/>
              <a:buNone/>
            </a:pPr>
            <a:r>
              <a:rPr b="0" i="0" lang="en-US" sz="1300" u="none" cap="none" strike="noStrike">
                <a:solidFill>
                  <a:srgbClr val="0B2A4A"/>
                </a:solidFill>
                <a:latin typeface="Calibri"/>
                <a:ea typeface="Calibri"/>
                <a:cs typeface="Calibri"/>
                <a:sym typeface="Calibri"/>
              </a:rPr>
              <a:t>Interpretación de los autores: el pez compara la fase entre presión y movimiento (modelo de Schuijf)</a:t>
            </a:r>
            <a:endParaRPr b="0" i="0" sz="1300" u="none" cap="none" strike="noStrike">
              <a:solidFill>
                <a:schemeClr val="dk1"/>
              </a:solidFill>
              <a:latin typeface="Calibri"/>
              <a:ea typeface="Calibri"/>
              <a:cs typeface="Calibri"/>
              <a:sym typeface="Calibri"/>
            </a:endParaRPr>
          </a:p>
        </p:txBody>
      </p:sp>
      <p:sp>
        <p:nvSpPr>
          <p:cNvPr id="369" name="Google Shape;369;p14"/>
          <p:cNvSpPr/>
          <p:nvPr/>
        </p:nvSpPr>
        <p:spPr>
          <a:xfrm>
            <a:off x="6263640" y="5559552"/>
            <a:ext cx="5394960" cy="685800"/>
          </a:xfrm>
          <a:prstGeom prst="roundRect">
            <a:avLst>
              <a:gd fmla="val 10667" name="adj"/>
            </a:avLst>
          </a:prstGeom>
          <a:solidFill>
            <a:srgbClr val="FBEAE6"/>
          </a:solidFill>
          <a:ln cap="flat" cmpd="sng" w="12700">
            <a:solidFill>
              <a:srgbClr val="E36F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4"/>
          <p:cNvSpPr txBox="1"/>
          <p:nvPr/>
        </p:nvSpPr>
        <p:spPr>
          <a:xfrm>
            <a:off x="6400800" y="5559552"/>
            <a:ext cx="5166360" cy="685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8432F"/>
              </a:buClr>
              <a:buSzPts val="1300"/>
              <a:buFont typeface="Calibri"/>
              <a:buNone/>
            </a:pPr>
            <a:r>
              <a:rPr b="0" i="0" lang="en-US" sz="1300" u="none" cap="none" strike="noStrike">
                <a:solidFill>
                  <a:srgbClr val="B8432F"/>
                </a:solidFill>
                <a:latin typeface="Calibri"/>
                <a:ea typeface="Calibri"/>
                <a:cs typeface="Calibri"/>
                <a:sym typeface="Calibri"/>
              </a:rPr>
              <a:t>Límites: una especie · campo artificial · estímulos repetidos en cada pez</a:t>
            </a:r>
            <a:endParaRPr b="0" i="0" sz="1300" u="none" cap="none" strike="noStrike">
              <a:solidFill>
                <a:schemeClr val="dk1"/>
              </a:solidFill>
              <a:latin typeface="Calibri"/>
              <a:ea typeface="Calibri"/>
              <a:cs typeface="Calibri"/>
              <a:sym typeface="Calibri"/>
            </a:endParaRPr>
          </a:p>
        </p:txBody>
      </p:sp>
      <p:sp>
        <p:nvSpPr>
          <p:cNvPr id="371" name="Google Shape;371;p14"/>
          <p:cNvSpPr txBox="1"/>
          <p:nvPr/>
        </p:nvSpPr>
        <p:spPr>
          <a:xfrm>
            <a:off x="548640" y="6382512"/>
            <a:ext cx="10241280" cy="29260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Basado en Veith et al., 2024 (Fig. 2b)  ·  esquema conceptual</a:t>
            </a:r>
            <a:endParaRPr b="0" i="0" sz="1200" u="none" cap="none" strike="noStrike">
              <a:solidFill>
                <a:schemeClr val="dk1"/>
              </a:solidFill>
              <a:latin typeface="Calibri"/>
              <a:ea typeface="Calibri"/>
              <a:cs typeface="Calibri"/>
              <a:sym typeface="Calibri"/>
            </a:endParaRPr>
          </a:p>
        </p:txBody>
      </p:sp>
      <p:sp>
        <p:nvSpPr>
          <p:cNvPr id="372" name="Google Shape;372;p14"/>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12</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7" name="Shape 377"/>
        <p:cNvGrpSpPr/>
        <p:nvPr/>
      </p:nvGrpSpPr>
      <p:grpSpPr>
        <a:xfrm>
          <a:off x="0" y="0"/>
          <a:ext cx="0" cy="0"/>
          <a:chOff x="0" y="0"/>
          <a:chExt cx="0" cy="0"/>
        </a:xfrm>
      </p:grpSpPr>
      <p:sp>
        <p:nvSpPr>
          <p:cNvPr id="378" name="Google Shape;378;p15"/>
          <p:cNvSpPr/>
          <p:nvPr/>
        </p:nvSpPr>
        <p:spPr>
          <a:xfrm>
            <a:off x="558058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5"/>
          <p:cNvSpPr txBox="1"/>
          <p:nvPr/>
        </p:nvSpPr>
        <p:spPr>
          <a:xfrm>
            <a:off x="558058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CAMPO</a:t>
            </a:r>
            <a:endParaRPr b="0" i="0" sz="950" u="none" cap="none" strike="noStrike">
              <a:solidFill>
                <a:schemeClr val="dk1"/>
              </a:solidFill>
              <a:latin typeface="Calibri"/>
              <a:ea typeface="Calibri"/>
              <a:cs typeface="Calibri"/>
              <a:sym typeface="Calibri"/>
            </a:endParaRPr>
          </a:p>
        </p:txBody>
      </p:sp>
      <p:sp>
        <p:nvSpPr>
          <p:cNvPr id="380" name="Google Shape;380;p15"/>
          <p:cNvSpPr/>
          <p:nvPr/>
        </p:nvSpPr>
        <p:spPr>
          <a:xfrm>
            <a:off x="681502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5"/>
          <p:cNvSpPr txBox="1"/>
          <p:nvPr/>
        </p:nvSpPr>
        <p:spPr>
          <a:xfrm>
            <a:off x="681502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PERCEPCIÓN</a:t>
            </a:r>
            <a:endParaRPr b="0" i="0" sz="950" u="none" cap="none" strike="noStrike">
              <a:solidFill>
                <a:schemeClr val="dk1"/>
              </a:solidFill>
              <a:latin typeface="Calibri"/>
              <a:ea typeface="Calibri"/>
              <a:cs typeface="Calibri"/>
              <a:sym typeface="Calibri"/>
            </a:endParaRPr>
          </a:p>
        </p:txBody>
      </p:sp>
      <p:sp>
        <p:nvSpPr>
          <p:cNvPr id="382" name="Google Shape;382;p15"/>
          <p:cNvSpPr/>
          <p:nvPr/>
        </p:nvSpPr>
        <p:spPr>
          <a:xfrm>
            <a:off x="804946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5"/>
          <p:cNvSpPr txBox="1"/>
          <p:nvPr/>
        </p:nvSpPr>
        <p:spPr>
          <a:xfrm>
            <a:off x="804946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INFORMACIÓN</a:t>
            </a:r>
            <a:endParaRPr b="0" i="0" sz="950" u="none" cap="none" strike="noStrike">
              <a:solidFill>
                <a:schemeClr val="dk1"/>
              </a:solidFill>
              <a:latin typeface="Calibri"/>
              <a:ea typeface="Calibri"/>
              <a:cs typeface="Calibri"/>
              <a:sym typeface="Calibri"/>
            </a:endParaRPr>
          </a:p>
        </p:txBody>
      </p:sp>
      <p:sp>
        <p:nvSpPr>
          <p:cNvPr id="384" name="Google Shape;384;p15"/>
          <p:cNvSpPr/>
          <p:nvPr/>
        </p:nvSpPr>
        <p:spPr>
          <a:xfrm>
            <a:off x="9283903" y="182880"/>
            <a:ext cx="1170432" cy="274320"/>
          </a:xfrm>
          <a:prstGeom prst="roundRect">
            <a:avLst>
              <a:gd fmla="val 50000"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5"/>
          <p:cNvSpPr txBox="1"/>
          <p:nvPr/>
        </p:nvSpPr>
        <p:spPr>
          <a:xfrm>
            <a:off x="928390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RESPUESTA</a:t>
            </a:r>
            <a:endParaRPr b="0" i="0" sz="950" u="none" cap="none" strike="noStrike">
              <a:solidFill>
                <a:schemeClr val="dk1"/>
              </a:solidFill>
              <a:latin typeface="Calibri"/>
              <a:ea typeface="Calibri"/>
              <a:cs typeface="Calibri"/>
              <a:sym typeface="Calibri"/>
            </a:endParaRPr>
          </a:p>
        </p:txBody>
      </p:sp>
      <p:sp>
        <p:nvSpPr>
          <p:cNvPr id="386" name="Google Shape;386;p15"/>
          <p:cNvSpPr/>
          <p:nvPr/>
        </p:nvSpPr>
        <p:spPr>
          <a:xfrm>
            <a:off x="1051834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5"/>
          <p:cNvSpPr txBox="1"/>
          <p:nvPr/>
        </p:nvSpPr>
        <p:spPr>
          <a:xfrm>
            <a:off x="1051834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APLICACIÓN</a:t>
            </a:r>
            <a:endParaRPr b="0" i="0" sz="950" u="none" cap="none" strike="noStrike">
              <a:solidFill>
                <a:schemeClr val="dk1"/>
              </a:solidFill>
              <a:latin typeface="Calibri"/>
              <a:ea typeface="Calibri"/>
              <a:cs typeface="Calibri"/>
              <a:sym typeface="Calibri"/>
            </a:endParaRPr>
          </a:p>
        </p:txBody>
      </p:sp>
      <p:sp>
        <p:nvSpPr>
          <p:cNvPr id="388" name="Google Shape;388;p15"/>
          <p:cNvSpPr txBox="1"/>
          <p:nvPr/>
        </p:nvSpPr>
        <p:spPr>
          <a:xfrm>
            <a:off x="548640" y="54864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800"/>
              <a:buFont typeface="Calibri"/>
              <a:buNone/>
            </a:pPr>
            <a:r>
              <a:rPr b="1" i="0" lang="en-US" sz="2800" u="none" cap="none" strike="noStrike">
                <a:solidFill>
                  <a:srgbClr val="0B2A4A"/>
                </a:solidFill>
                <a:latin typeface="Calibri"/>
                <a:ea typeface="Calibri"/>
                <a:cs typeface="Calibri"/>
                <a:sym typeface="Calibri"/>
              </a:rPr>
              <a:t>Unas larvas se orientan hacia el sonido; el pez león, no</a:t>
            </a:r>
            <a:endParaRPr b="0" i="0" sz="2800" u="none" cap="none" strike="noStrike">
              <a:solidFill>
                <a:schemeClr val="dk1"/>
              </a:solidFill>
              <a:latin typeface="Calibri"/>
              <a:ea typeface="Calibri"/>
              <a:cs typeface="Calibri"/>
              <a:sym typeface="Calibri"/>
            </a:endParaRPr>
          </a:p>
        </p:txBody>
      </p:sp>
      <p:sp>
        <p:nvSpPr>
          <p:cNvPr id="389" name="Google Shape;389;p15"/>
          <p:cNvSpPr/>
          <p:nvPr/>
        </p:nvSpPr>
        <p:spPr>
          <a:xfrm>
            <a:off x="548640" y="1417320"/>
            <a:ext cx="5440680" cy="4160520"/>
          </a:xfrm>
          <a:prstGeom prst="roundRect">
            <a:avLst>
              <a:gd fmla="val 1758" name="adj"/>
            </a:avLst>
          </a:prstGeom>
          <a:solidFill>
            <a:srgbClr val="E3F4F3"/>
          </a:solidFill>
          <a:ln cap="flat" cmpd="sng" w="12700">
            <a:solidFill>
              <a:srgbClr val="E3F4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0" name="Google Shape;390;p15"/>
          <p:cNvPicPr preferRelativeResize="0"/>
          <p:nvPr/>
        </p:nvPicPr>
        <p:blipFill rotWithShape="1">
          <a:blip r:embed="rId3">
            <a:alphaModFix/>
          </a:blip>
          <a:srcRect b="0" l="0" r="0" t="0"/>
          <a:stretch/>
        </p:blipFill>
        <p:spPr>
          <a:xfrm>
            <a:off x="822960" y="1645920"/>
            <a:ext cx="502920" cy="502920"/>
          </a:xfrm>
          <a:prstGeom prst="rect">
            <a:avLst/>
          </a:prstGeom>
          <a:noFill/>
          <a:ln>
            <a:noFill/>
          </a:ln>
        </p:spPr>
      </p:pic>
      <p:sp>
        <p:nvSpPr>
          <p:cNvPr id="391" name="Google Shape;391;p15"/>
          <p:cNvSpPr txBox="1"/>
          <p:nvPr/>
        </p:nvSpPr>
        <p:spPr>
          <a:xfrm>
            <a:off x="1463040" y="1600200"/>
            <a:ext cx="4389120" cy="5486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000"/>
              <a:buFont typeface="Calibri"/>
              <a:buNone/>
            </a:pPr>
            <a:r>
              <a:rPr b="1" i="0" lang="en-US" sz="2000" u="none" cap="none" strike="noStrike">
                <a:solidFill>
                  <a:srgbClr val="0B2A4A"/>
                </a:solidFill>
                <a:latin typeface="Calibri"/>
                <a:ea typeface="Calibri"/>
                <a:cs typeface="Calibri"/>
                <a:sym typeface="Calibri"/>
              </a:rPr>
              <a:t>Bacalao atlántico (larvas)</a:t>
            </a:r>
            <a:endParaRPr b="0" i="0" sz="2000" u="none" cap="none" strike="noStrike">
              <a:solidFill>
                <a:schemeClr val="dk1"/>
              </a:solidFill>
              <a:latin typeface="Calibri"/>
              <a:ea typeface="Calibri"/>
              <a:cs typeface="Calibri"/>
              <a:sym typeface="Calibri"/>
            </a:endParaRPr>
          </a:p>
        </p:txBody>
      </p:sp>
      <p:sp>
        <p:nvSpPr>
          <p:cNvPr id="392" name="Google Shape;392;p15"/>
          <p:cNvSpPr txBox="1"/>
          <p:nvPr/>
        </p:nvSpPr>
        <p:spPr>
          <a:xfrm>
            <a:off x="822960" y="2286000"/>
            <a:ext cx="4937760" cy="6400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00"/>
              <a:buFont typeface="Calibri"/>
              <a:buNone/>
            </a:pPr>
            <a:r>
              <a:rPr b="0" i="0" lang="en-US" sz="1500" u="none" cap="none" strike="noStrike">
                <a:solidFill>
                  <a:srgbClr val="1B2B3A"/>
                </a:solidFill>
                <a:latin typeface="Calibri"/>
                <a:ea typeface="Calibri"/>
                <a:cs typeface="Calibri"/>
                <a:sym typeface="Calibri"/>
              </a:rPr>
              <a:t>Tono de 100 Hz en el mar, en cámaras a la deriva</a:t>
            </a:r>
            <a:endParaRPr b="0" i="0" sz="1500" u="none" cap="none" strike="noStrike">
              <a:solidFill>
                <a:schemeClr val="dk1"/>
              </a:solidFill>
              <a:latin typeface="Calibri"/>
              <a:ea typeface="Calibri"/>
              <a:cs typeface="Calibri"/>
              <a:sym typeface="Calibri"/>
            </a:endParaRPr>
          </a:p>
        </p:txBody>
      </p:sp>
      <p:sp>
        <p:nvSpPr>
          <p:cNvPr id="393" name="Google Shape;393;p15"/>
          <p:cNvSpPr txBox="1"/>
          <p:nvPr/>
        </p:nvSpPr>
        <p:spPr>
          <a:xfrm>
            <a:off x="822960" y="2971800"/>
            <a:ext cx="493776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4807E"/>
              </a:buClr>
              <a:buSzPts val="4400"/>
              <a:buFont typeface="Calibri"/>
              <a:buNone/>
            </a:pPr>
            <a:r>
              <a:rPr b="1" i="0" lang="en-US" sz="4400" u="none" cap="none" strike="noStrike">
                <a:solidFill>
                  <a:srgbClr val="14807E"/>
                </a:solidFill>
                <a:latin typeface="Calibri"/>
                <a:ea typeface="Calibri"/>
                <a:cs typeface="Calibri"/>
                <a:sym typeface="Calibri"/>
              </a:rPr>
              <a:t>r = 0,23</a:t>
            </a:r>
            <a:endParaRPr b="0" i="0" sz="4400" u="none" cap="none" strike="noStrike">
              <a:solidFill>
                <a:schemeClr val="dk1"/>
              </a:solidFill>
              <a:latin typeface="Calibri"/>
              <a:ea typeface="Calibri"/>
              <a:cs typeface="Calibri"/>
              <a:sym typeface="Calibri"/>
            </a:endParaRPr>
          </a:p>
        </p:txBody>
      </p:sp>
      <p:sp>
        <p:nvSpPr>
          <p:cNvPr id="394" name="Google Shape;394;p15"/>
          <p:cNvSpPr txBox="1"/>
          <p:nvPr/>
        </p:nvSpPr>
        <p:spPr>
          <a:xfrm>
            <a:off x="822960" y="3840480"/>
            <a:ext cx="493776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00"/>
              <a:buFont typeface="Calibri"/>
              <a:buNone/>
            </a:pPr>
            <a:r>
              <a:rPr b="1" i="0" lang="en-US" sz="1500" u="none" cap="none" strike="noStrike">
                <a:solidFill>
                  <a:srgbClr val="1B2B3A"/>
                </a:solidFill>
                <a:latin typeface="Calibri"/>
                <a:ea typeface="Calibri"/>
                <a:cs typeface="Calibri"/>
                <a:sym typeface="Calibri"/>
              </a:rPr>
              <a:t>orientación hacia la fuente · p = 0,015 · n = 43</a:t>
            </a:r>
            <a:endParaRPr b="0" i="0" sz="1500" u="none" cap="none" strike="noStrike">
              <a:solidFill>
                <a:schemeClr val="dk1"/>
              </a:solidFill>
              <a:latin typeface="Calibri"/>
              <a:ea typeface="Calibri"/>
              <a:cs typeface="Calibri"/>
              <a:sym typeface="Calibri"/>
            </a:endParaRPr>
          </a:p>
        </p:txBody>
      </p:sp>
      <p:sp>
        <p:nvSpPr>
          <p:cNvPr id="395" name="Google Shape;395;p15"/>
          <p:cNvSpPr txBox="1"/>
          <p:nvPr/>
        </p:nvSpPr>
        <p:spPr>
          <a:xfrm>
            <a:off x="822960" y="4343400"/>
            <a:ext cx="4937760" cy="5486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400"/>
              <a:buFont typeface="Calibri"/>
              <a:buNone/>
            </a:pPr>
            <a:r>
              <a:rPr b="0" i="0" lang="en-US" sz="1400" u="none" cap="none" strike="noStrike">
                <a:solidFill>
                  <a:srgbClr val="5A6B7B"/>
                </a:solidFill>
                <a:latin typeface="Calibri"/>
                <a:ea typeface="Calibri"/>
                <a:cs typeface="Calibri"/>
                <a:sym typeface="Calibri"/>
              </a:rPr>
              <a:t>Velocidad de nado: sin cambios</a:t>
            </a:r>
            <a:endParaRPr b="0" i="0" sz="1400" u="none" cap="none" strike="noStrike">
              <a:solidFill>
                <a:schemeClr val="dk1"/>
              </a:solidFill>
              <a:latin typeface="Calibri"/>
              <a:ea typeface="Calibri"/>
              <a:cs typeface="Calibri"/>
              <a:sym typeface="Calibri"/>
            </a:endParaRPr>
          </a:p>
        </p:txBody>
      </p:sp>
      <p:sp>
        <p:nvSpPr>
          <p:cNvPr id="396" name="Google Shape;396;p15"/>
          <p:cNvSpPr txBox="1"/>
          <p:nvPr/>
        </p:nvSpPr>
        <p:spPr>
          <a:xfrm>
            <a:off x="822960" y="5120640"/>
            <a:ext cx="493776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Cresci et al., 2023</a:t>
            </a:r>
            <a:endParaRPr b="0" i="0" sz="1200" u="none" cap="none" strike="noStrike">
              <a:solidFill>
                <a:schemeClr val="dk1"/>
              </a:solidFill>
              <a:latin typeface="Calibri"/>
              <a:ea typeface="Calibri"/>
              <a:cs typeface="Calibri"/>
              <a:sym typeface="Calibri"/>
            </a:endParaRPr>
          </a:p>
        </p:txBody>
      </p:sp>
      <p:sp>
        <p:nvSpPr>
          <p:cNvPr id="397" name="Google Shape;397;p15"/>
          <p:cNvSpPr/>
          <p:nvPr/>
        </p:nvSpPr>
        <p:spPr>
          <a:xfrm>
            <a:off x="6217920" y="1417320"/>
            <a:ext cx="5440680" cy="4160520"/>
          </a:xfrm>
          <a:prstGeom prst="roundRect">
            <a:avLst>
              <a:gd fmla="val 1758" name="adj"/>
            </a:avLst>
          </a:prstGeom>
          <a:solidFill>
            <a:srgbClr val="F3F5F7"/>
          </a:solidFill>
          <a:ln cap="flat" cmpd="sng" w="12700">
            <a:solidFill>
              <a:srgbClr val="F3F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8" name="Google Shape;398;p15"/>
          <p:cNvPicPr preferRelativeResize="0"/>
          <p:nvPr/>
        </p:nvPicPr>
        <p:blipFill rotWithShape="1">
          <a:blip r:embed="rId4">
            <a:alphaModFix/>
          </a:blip>
          <a:srcRect b="0" l="0" r="0" t="0"/>
          <a:stretch/>
        </p:blipFill>
        <p:spPr>
          <a:xfrm>
            <a:off x="6492240" y="1645920"/>
            <a:ext cx="502920" cy="502920"/>
          </a:xfrm>
          <a:prstGeom prst="rect">
            <a:avLst/>
          </a:prstGeom>
          <a:noFill/>
          <a:ln>
            <a:noFill/>
          </a:ln>
        </p:spPr>
      </p:pic>
      <p:sp>
        <p:nvSpPr>
          <p:cNvPr id="399" name="Google Shape;399;p15"/>
          <p:cNvSpPr txBox="1"/>
          <p:nvPr/>
        </p:nvSpPr>
        <p:spPr>
          <a:xfrm>
            <a:off x="7132320" y="1600200"/>
            <a:ext cx="4389120" cy="5486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000"/>
              <a:buFont typeface="Calibri"/>
              <a:buNone/>
            </a:pPr>
            <a:r>
              <a:rPr b="1" i="0" lang="en-US" sz="2000" u="none" cap="none" strike="noStrike">
                <a:solidFill>
                  <a:srgbClr val="0B2A4A"/>
                </a:solidFill>
                <a:latin typeface="Calibri"/>
                <a:ea typeface="Calibri"/>
                <a:cs typeface="Calibri"/>
                <a:sym typeface="Calibri"/>
              </a:rPr>
              <a:t>Pez león (Pterois volitans)</a:t>
            </a:r>
            <a:endParaRPr b="0" i="0" sz="2000" u="none" cap="none" strike="noStrike">
              <a:solidFill>
                <a:schemeClr val="dk1"/>
              </a:solidFill>
              <a:latin typeface="Calibri"/>
              <a:ea typeface="Calibri"/>
              <a:cs typeface="Calibri"/>
              <a:sym typeface="Calibri"/>
            </a:endParaRPr>
          </a:p>
        </p:txBody>
      </p:sp>
      <p:sp>
        <p:nvSpPr>
          <p:cNvPr id="400" name="Google Shape;400;p15"/>
          <p:cNvSpPr txBox="1"/>
          <p:nvPr/>
        </p:nvSpPr>
        <p:spPr>
          <a:xfrm>
            <a:off x="6492240" y="2286000"/>
            <a:ext cx="4937760" cy="6400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00"/>
              <a:buFont typeface="Calibri"/>
              <a:buNone/>
            </a:pPr>
            <a:r>
              <a:rPr b="0" i="0" lang="en-US" sz="1500" u="none" cap="none" strike="noStrike">
                <a:solidFill>
                  <a:srgbClr val="1B2B3A"/>
                </a:solidFill>
                <a:latin typeface="Calibri"/>
                <a:ea typeface="Calibri"/>
                <a:cs typeface="Calibri"/>
                <a:sym typeface="Calibri"/>
              </a:rPr>
              <a:t>Paisajes de arrecife frente a arena · de día · Curazao · 36 peces</a:t>
            </a:r>
            <a:endParaRPr b="0" i="0" sz="1500" u="none" cap="none" strike="noStrike">
              <a:solidFill>
                <a:schemeClr val="dk1"/>
              </a:solidFill>
              <a:latin typeface="Calibri"/>
              <a:ea typeface="Calibri"/>
              <a:cs typeface="Calibri"/>
              <a:sym typeface="Calibri"/>
            </a:endParaRPr>
          </a:p>
        </p:txBody>
      </p:sp>
      <p:sp>
        <p:nvSpPr>
          <p:cNvPr id="401" name="Google Shape;401;p15"/>
          <p:cNvSpPr txBox="1"/>
          <p:nvPr/>
        </p:nvSpPr>
        <p:spPr>
          <a:xfrm>
            <a:off x="6492240" y="2971800"/>
            <a:ext cx="493776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8432F"/>
              </a:buClr>
              <a:buSzPts val="4400"/>
              <a:buFont typeface="Calibri"/>
              <a:buNone/>
            </a:pPr>
            <a:r>
              <a:rPr b="1" i="0" lang="en-US" sz="4400" u="none" cap="none" strike="noStrike">
                <a:solidFill>
                  <a:srgbClr val="B8432F"/>
                </a:solidFill>
                <a:latin typeface="Calibri"/>
                <a:ea typeface="Calibri"/>
                <a:cs typeface="Calibri"/>
                <a:sym typeface="Calibri"/>
              </a:rPr>
              <a:t>12 vs. 11</a:t>
            </a:r>
            <a:endParaRPr b="0" i="0" sz="4400" u="none" cap="none" strike="noStrike">
              <a:solidFill>
                <a:schemeClr val="dk1"/>
              </a:solidFill>
              <a:latin typeface="Calibri"/>
              <a:ea typeface="Calibri"/>
              <a:cs typeface="Calibri"/>
              <a:sym typeface="Calibri"/>
            </a:endParaRPr>
          </a:p>
        </p:txBody>
      </p:sp>
      <p:sp>
        <p:nvSpPr>
          <p:cNvPr id="402" name="Google Shape;402;p15"/>
          <p:cNvSpPr txBox="1"/>
          <p:nvPr/>
        </p:nvSpPr>
        <p:spPr>
          <a:xfrm>
            <a:off x="6492240" y="3840480"/>
            <a:ext cx="493776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00"/>
              <a:buFont typeface="Calibri"/>
              <a:buNone/>
            </a:pPr>
            <a:r>
              <a:rPr b="1" i="0" lang="en-US" sz="1500" u="none" cap="none" strike="noStrike">
                <a:solidFill>
                  <a:srgbClr val="1B2B3A"/>
                </a:solidFill>
                <a:latin typeface="Calibri"/>
                <a:ea typeface="Calibri"/>
                <a:cs typeface="Calibri"/>
                <a:sym typeface="Calibri"/>
              </a:rPr>
              <a:t>eligieron arrecife vs. arena: sin preferencia (p = 1)</a:t>
            </a:r>
            <a:endParaRPr b="0" i="0" sz="1500" u="none" cap="none" strike="noStrike">
              <a:solidFill>
                <a:schemeClr val="dk1"/>
              </a:solidFill>
              <a:latin typeface="Calibri"/>
              <a:ea typeface="Calibri"/>
              <a:cs typeface="Calibri"/>
              <a:sym typeface="Calibri"/>
            </a:endParaRPr>
          </a:p>
        </p:txBody>
      </p:sp>
      <p:sp>
        <p:nvSpPr>
          <p:cNvPr id="403" name="Google Shape;403;p15"/>
          <p:cNvSpPr txBox="1"/>
          <p:nvPr/>
        </p:nvSpPr>
        <p:spPr>
          <a:xfrm>
            <a:off x="6492240" y="4343400"/>
            <a:ext cx="4937760" cy="5486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400"/>
              <a:buFont typeface="Calibri"/>
              <a:buNone/>
            </a:pPr>
            <a:r>
              <a:rPr b="0" i="0" lang="en-US" sz="1400" u="none" cap="none" strike="noStrike">
                <a:solidFill>
                  <a:srgbClr val="5A6B7B"/>
                </a:solidFill>
                <a:latin typeface="Calibri"/>
                <a:ea typeface="Calibri"/>
                <a:cs typeface="Calibri"/>
                <a:sym typeface="Calibri"/>
              </a:rPr>
              <a:t>Tampoco prefirió el sonido de hábitat frente al silencio</a:t>
            </a:r>
            <a:endParaRPr b="0" i="0" sz="1400" u="none" cap="none" strike="noStrike">
              <a:solidFill>
                <a:schemeClr val="dk1"/>
              </a:solidFill>
              <a:latin typeface="Calibri"/>
              <a:ea typeface="Calibri"/>
              <a:cs typeface="Calibri"/>
              <a:sym typeface="Calibri"/>
            </a:endParaRPr>
          </a:p>
        </p:txBody>
      </p:sp>
      <p:sp>
        <p:nvSpPr>
          <p:cNvPr id="404" name="Google Shape;404;p15"/>
          <p:cNvSpPr txBox="1"/>
          <p:nvPr/>
        </p:nvSpPr>
        <p:spPr>
          <a:xfrm>
            <a:off x="6492240" y="5120640"/>
            <a:ext cx="493776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Holmes et al., 2025</a:t>
            </a:r>
            <a:endParaRPr b="0" i="0" sz="1200" u="none" cap="none" strike="noStrike">
              <a:solidFill>
                <a:schemeClr val="dk1"/>
              </a:solidFill>
              <a:latin typeface="Calibri"/>
              <a:ea typeface="Calibri"/>
              <a:cs typeface="Calibri"/>
              <a:sym typeface="Calibri"/>
            </a:endParaRPr>
          </a:p>
        </p:txBody>
      </p:sp>
      <p:sp>
        <p:nvSpPr>
          <p:cNvPr id="405" name="Google Shape;405;p15"/>
          <p:cNvSpPr txBox="1"/>
          <p:nvPr/>
        </p:nvSpPr>
        <p:spPr>
          <a:xfrm>
            <a:off x="548640" y="5760720"/>
            <a:ext cx="1106424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500"/>
              <a:buFont typeface="Calibri"/>
              <a:buNone/>
            </a:pPr>
            <a:r>
              <a:rPr b="0" i="1" lang="en-US" sz="1500" u="none" cap="none" strike="noStrike">
                <a:solidFill>
                  <a:srgbClr val="0B2A4A"/>
                </a:solidFill>
                <a:latin typeface="Calibri"/>
                <a:ea typeface="Calibri"/>
                <a:cs typeface="Calibri"/>
                <a:sym typeface="Calibri"/>
              </a:rPr>
              <a:t>Orientarse en una cámara no equivale a ser atraído a un parque eólico real  ·  el pez león solo se probó de día</a:t>
            </a:r>
            <a:endParaRPr b="0" i="0" sz="1500" u="none" cap="none" strike="noStrike">
              <a:solidFill>
                <a:schemeClr val="dk1"/>
              </a:solidFill>
              <a:latin typeface="Calibri"/>
              <a:ea typeface="Calibri"/>
              <a:cs typeface="Calibri"/>
              <a:sym typeface="Calibri"/>
            </a:endParaRPr>
          </a:p>
        </p:txBody>
      </p:sp>
      <p:sp>
        <p:nvSpPr>
          <p:cNvPr id="406" name="Google Shape;406;p15"/>
          <p:cNvSpPr txBox="1"/>
          <p:nvPr/>
        </p:nvSpPr>
        <p:spPr>
          <a:xfrm>
            <a:off x="548640" y="6382512"/>
            <a:ext cx="10241280" cy="29260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Cresci et al., 2023  ·  Holmes et al., 2025</a:t>
            </a:r>
            <a:endParaRPr b="0" i="0" sz="1200" u="none" cap="none" strike="noStrike">
              <a:solidFill>
                <a:schemeClr val="dk1"/>
              </a:solidFill>
              <a:latin typeface="Calibri"/>
              <a:ea typeface="Calibri"/>
              <a:cs typeface="Calibri"/>
              <a:sym typeface="Calibri"/>
            </a:endParaRPr>
          </a:p>
        </p:txBody>
      </p:sp>
      <p:sp>
        <p:nvSpPr>
          <p:cNvPr id="407" name="Google Shape;407;p15"/>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13</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2" name="Shape 412"/>
        <p:cNvGrpSpPr/>
        <p:nvPr/>
      </p:nvGrpSpPr>
      <p:grpSpPr>
        <a:xfrm>
          <a:off x="0" y="0"/>
          <a:ext cx="0" cy="0"/>
          <a:chOff x="0" y="0"/>
          <a:chExt cx="0" cy="0"/>
        </a:xfrm>
      </p:grpSpPr>
      <p:sp>
        <p:nvSpPr>
          <p:cNvPr id="413" name="Google Shape;413;p16"/>
          <p:cNvSpPr/>
          <p:nvPr/>
        </p:nvSpPr>
        <p:spPr>
          <a:xfrm>
            <a:off x="558058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6"/>
          <p:cNvSpPr txBox="1"/>
          <p:nvPr/>
        </p:nvSpPr>
        <p:spPr>
          <a:xfrm>
            <a:off x="558058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CAMPO</a:t>
            </a:r>
            <a:endParaRPr b="0" i="0" sz="950" u="none" cap="none" strike="noStrike">
              <a:solidFill>
                <a:schemeClr val="dk1"/>
              </a:solidFill>
              <a:latin typeface="Calibri"/>
              <a:ea typeface="Calibri"/>
              <a:cs typeface="Calibri"/>
              <a:sym typeface="Calibri"/>
            </a:endParaRPr>
          </a:p>
        </p:txBody>
      </p:sp>
      <p:sp>
        <p:nvSpPr>
          <p:cNvPr id="415" name="Google Shape;415;p16"/>
          <p:cNvSpPr/>
          <p:nvPr/>
        </p:nvSpPr>
        <p:spPr>
          <a:xfrm>
            <a:off x="681502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6"/>
          <p:cNvSpPr txBox="1"/>
          <p:nvPr/>
        </p:nvSpPr>
        <p:spPr>
          <a:xfrm>
            <a:off x="681502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PERCEPCIÓN</a:t>
            </a:r>
            <a:endParaRPr b="0" i="0" sz="950" u="none" cap="none" strike="noStrike">
              <a:solidFill>
                <a:schemeClr val="dk1"/>
              </a:solidFill>
              <a:latin typeface="Calibri"/>
              <a:ea typeface="Calibri"/>
              <a:cs typeface="Calibri"/>
              <a:sym typeface="Calibri"/>
            </a:endParaRPr>
          </a:p>
        </p:txBody>
      </p:sp>
      <p:sp>
        <p:nvSpPr>
          <p:cNvPr id="417" name="Google Shape;417;p16"/>
          <p:cNvSpPr/>
          <p:nvPr/>
        </p:nvSpPr>
        <p:spPr>
          <a:xfrm>
            <a:off x="804946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6"/>
          <p:cNvSpPr txBox="1"/>
          <p:nvPr/>
        </p:nvSpPr>
        <p:spPr>
          <a:xfrm>
            <a:off x="804946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INFORMACIÓN</a:t>
            </a:r>
            <a:endParaRPr b="0" i="0" sz="950" u="none" cap="none" strike="noStrike">
              <a:solidFill>
                <a:schemeClr val="dk1"/>
              </a:solidFill>
              <a:latin typeface="Calibri"/>
              <a:ea typeface="Calibri"/>
              <a:cs typeface="Calibri"/>
              <a:sym typeface="Calibri"/>
            </a:endParaRPr>
          </a:p>
        </p:txBody>
      </p:sp>
      <p:sp>
        <p:nvSpPr>
          <p:cNvPr id="419" name="Google Shape;419;p16"/>
          <p:cNvSpPr/>
          <p:nvPr/>
        </p:nvSpPr>
        <p:spPr>
          <a:xfrm>
            <a:off x="9283903" y="182880"/>
            <a:ext cx="1170432" cy="274320"/>
          </a:xfrm>
          <a:prstGeom prst="roundRect">
            <a:avLst>
              <a:gd fmla="val 50000"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6"/>
          <p:cNvSpPr txBox="1"/>
          <p:nvPr/>
        </p:nvSpPr>
        <p:spPr>
          <a:xfrm>
            <a:off x="928390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RESPUESTA</a:t>
            </a:r>
            <a:endParaRPr b="0" i="0" sz="950" u="none" cap="none" strike="noStrike">
              <a:solidFill>
                <a:schemeClr val="dk1"/>
              </a:solidFill>
              <a:latin typeface="Calibri"/>
              <a:ea typeface="Calibri"/>
              <a:cs typeface="Calibri"/>
              <a:sym typeface="Calibri"/>
            </a:endParaRPr>
          </a:p>
        </p:txBody>
      </p:sp>
      <p:sp>
        <p:nvSpPr>
          <p:cNvPr id="421" name="Google Shape;421;p16"/>
          <p:cNvSpPr/>
          <p:nvPr/>
        </p:nvSpPr>
        <p:spPr>
          <a:xfrm>
            <a:off x="10518343" y="182880"/>
            <a:ext cx="1170432" cy="274320"/>
          </a:xfrm>
          <a:prstGeom prst="roundRect">
            <a:avLst>
              <a:gd fmla="val 50000"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6"/>
          <p:cNvSpPr txBox="1"/>
          <p:nvPr/>
        </p:nvSpPr>
        <p:spPr>
          <a:xfrm>
            <a:off x="1051834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APLICACIÓN</a:t>
            </a:r>
            <a:endParaRPr b="0" i="0" sz="950" u="none" cap="none" strike="noStrike">
              <a:solidFill>
                <a:schemeClr val="dk1"/>
              </a:solidFill>
              <a:latin typeface="Calibri"/>
              <a:ea typeface="Calibri"/>
              <a:cs typeface="Calibri"/>
              <a:sym typeface="Calibri"/>
            </a:endParaRPr>
          </a:p>
        </p:txBody>
      </p:sp>
      <p:sp>
        <p:nvSpPr>
          <p:cNvPr id="423" name="Google Shape;423;p16"/>
          <p:cNvSpPr txBox="1"/>
          <p:nvPr/>
        </p:nvSpPr>
        <p:spPr>
          <a:xfrm>
            <a:off x="548640" y="54864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800"/>
              <a:buFont typeface="Calibri"/>
              <a:buNone/>
            </a:pPr>
            <a:r>
              <a:rPr b="1" i="0" lang="en-US" sz="2800" u="none" cap="none" strike="noStrike">
                <a:solidFill>
                  <a:srgbClr val="0B2A4A"/>
                </a:solidFill>
                <a:latin typeface="Calibri"/>
                <a:ea typeface="Calibri"/>
                <a:cs typeface="Calibri"/>
                <a:sym typeface="Calibri"/>
              </a:rPr>
              <a:t>Paisajes sonoros: más juveniles, pero todavía no restauración</a:t>
            </a:r>
            <a:endParaRPr b="0" i="0" sz="2800" u="none" cap="none" strike="noStrike">
              <a:solidFill>
                <a:schemeClr val="dk1"/>
              </a:solidFill>
              <a:latin typeface="Calibri"/>
              <a:ea typeface="Calibri"/>
              <a:cs typeface="Calibri"/>
              <a:sym typeface="Calibri"/>
            </a:endParaRPr>
          </a:p>
        </p:txBody>
      </p:sp>
      <p:sp>
        <p:nvSpPr>
          <p:cNvPr id="424" name="Google Shape;424;p16"/>
          <p:cNvSpPr/>
          <p:nvPr/>
        </p:nvSpPr>
        <p:spPr>
          <a:xfrm>
            <a:off x="548640" y="1417320"/>
            <a:ext cx="3566160" cy="3749040"/>
          </a:xfrm>
          <a:prstGeom prst="roundRect">
            <a:avLst>
              <a:gd fmla="val 2051"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6"/>
          <p:cNvSpPr txBox="1"/>
          <p:nvPr/>
        </p:nvSpPr>
        <p:spPr>
          <a:xfrm>
            <a:off x="731520" y="1554480"/>
            <a:ext cx="3200400" cy="5486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600"/>
              <a:buFont typeface="Calibri"/>
              <a:buNone/>
            </a:pPr>
            <a:r>
              <a:rPr b="1" i="0" lang="en-US" sz="1600" u="none" cap="none" strike="noStrike">
                <a:solidFill>
                  <a:srgbClr val="5A6B7B"/>
                </a:solidFill>
                <a:latin typeface="Calibri"/>
                <a:ea typeface="Calibri"/>
                <a:cs typeface="Calibri"/>
                <a:sym typeface="Calibri"/>
              </a:rPr>
              <a:t>Arrecife sano vs. degradado</a:t>
            </a:r>
            <a:endParaRPr b="0" i="0" sz="1600" u="none" cap="none" strike="noStrike">
              <a:solidFill>
                <a:schemeClr val="dk1"/>
              </a:solidFill>
              <a:latin typeface="Calibri"/>
              <a:ea typeface="Calibri"/>
              <a:cs typeface="Calibri"/>
              <a:sym typeface="Calibri"/>
            </a:endParaRPr>
          </a:p>
        </p:txBody>
      </p:sp>
      <p:sp>
        <p:nvSpPr>
          <p:cNvPr id="426" name="Google Shape;426;p16"/>
          <p:cNvSpPr txBox="1"/>
          <p:nvPr/>
        </p:nvSpPr>
        <p:spPr>
          <a:xfrm>
            <a:off x="731520" y="2103120"/>
            <a:ext cx="3200400" cy="10972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4807E"/>
              </a:buClr>
              <a:buSzPts val="2600"/>
              <a:buFont typeface="Calibri"/>
              <a:buNone/>
            </a:pPr>
            <a:r>
              <a:rPr b="1" i="0" lang="en-US" sz="2600" u="none" cap="none" strike="noStrike">
                <a:solidFill>
                  <a:srgbClr val="14807E"/>
                </a:solidFill>
                <a:latin typeface="Calibri"/>
                <a:ea typeface="Calibri"/>
                <a:cs typeface="Calibri"/>
                <a:sym typeface="Calibri"/>
              </a:rPr>
              <a:t>Sano &gt; degradado</a:t>
            </a:r>
            <a:endParaRPr b="0" i="0" sz="2600" u="none" cap="none" strike="noStrike">
              <a:solidFill>
                <a:schemeClr val="dk1"/>
              </a:solidFill>
              <a:latin typeface="Calibri"/>
              <a:ea typeface="Calibri"/>
              <a:cs typeface="Calibri"/>
              <a:sym typeface="Calibri"/>
            </a:endParaRPr>
          </a:p>
        </p:txBody>
      </p:sp>
      <p:sp>
        <p:nvSpPr>
          <p:cNvPr id="427" name="Google Shape;427;p16"/>
          <p:cNvSpPr txBox="1"/>
          <p:nvPr/>
        </p:nvSpPr>
        <p:spPr>
          <a:xfrm>
            <a:off x="731520" y="3291840"/>
            <a:ext cx="3200400" cy="14173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00"/>
              <a:buFont typeface="Calibri"/>
              <a:buNone/>
            </a:pPr>
            <a:r>
              <a:rPr b="0" i="0" lang="en-US" sz="1400" u="none" cap="none" strike="noStrike">
                <a:solidFill>
                  <a:srgbClr val="1B2B3A"/>
                </a:solidFill>
                <a:latin typeface="Calibri"/>
                <a:ea typeface="Calibri"/>
                <a:cs typeface="Calibri"/>
                <a:sym typeface="Calibri"/>
              </a:rPr>
              <a:t>Más colonizadores con el sonido previo a la degradación (trampas p = 0,002; arrecifes p &lt; 0,001). Diversidad sin cambios.</a:t>
            </a:r>
            <a:endParaRPr b="0" i="0" sz="1400" u="none" cap="none" strike="noStrike">
              <a:solidFill>
                <a:schemeClr val="dk1"/>
              </a:solidFill>
              <a:latin typeface="Calibri"/>
              <a:ea typeface="Calibri"/>
              <a:cs typeface="Calibri"/>
              <a:sym typeface="Calibri"/>
            </a:endParaRPr>
          </a:p>
        </p:txBody>
      </p:sp>
      <p:sp>
        <p:nvSpPr>
          <p:cNvPr id="428" name="Google Shape;428;p16"/>
          <p:cNvSpPr txBox="1"/>
          <p:nvPr/>
        </p:nvSpPr>
        <p:spPr>
          <a:xfrm>
            <a:off x="731520" y="4754880"/>
            <a:ext cx="320040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Gordon et al., 2018</a:t>
            </a:r>
            <a:endParaRPr b="0" i="0" sz="1200" u="none" cap="none" strike="noStrike">
              <a:solidFill>
                <a:schemeClr val="dk1"/>
              </a:solidFill>
              <a:latin typeface="Calibri"/>
              <a:ea typeface="Calibri"/>
              <a:cs typeface="Calibri"/>
              <a:sym typeface="Calibri"/>
            </a:endParaRPr>
          </a:p>
        </p:txBody>
      </p:sp>
      <p:sp>
        <p:nvSpPr>
          <p:cNvPr id="429" name="Google Shape;429;p16"/>
          <p:cNvSpPr/>
          <p:nvPr/>
        </p:nvSpPr>
        <p:spPr>
          <a:xfrm>
            <a:off x="4315968" y="1417320"/>
            <a:ext cx="3566160" cy="3749040"/>
          </a:xfrm>
          <a:prstGeom prst="roundRect">
            <a:avLst>
              <a:gd fmla="val 2051"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6"/>
          <p:cNvSpPr txBox="1"/>
          <p:nvPr/>
        </p:nvSpPr>
        <p:spPr>
          <a:xfrm>
            <a:off x="4498848" y="1554480"/>
            <a:ext cx="3200400" cy="5486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600"/>
              <a:buFont typeface="Calibri"/>
              <a:buNone/>
            </a:pPr>
            <a:r>
              <a:rPr b="1" i="0" lang="en-US" sz="1600" u="none" cap="none" strike="noStrike">
                <a:solidFill>
                  <a:srgbClr val="5A6B7B"/>
                </a:solidFill>
                <a:latin typeface="Calibri"/>
                <a:ea typeface="Calibri"/>
                <a:cs typeface="Calibri"/>
                <a:sym typeface="Calibri"/>
              </a:rPr>
              <a:t>Enriquecimiento: 33 arrecifes, 40 días</a:t>
            </a:r>
            <a:endParaRPr b="0" i="0" sz="1600" u="none" cap="none" strike="noStrike">
              <a:solidFill>
                <a:schemeClr val="dk1"/>
              </a:solidFill>
              <a:latin typeface="Calibri"/>
              <a:ea typeface="Calibri"/>
              <a:cs typeface="Calibri"/>
              <a:sym typeface="Calibri"/>
            </a:endParaRPr>
          </a:p>
        </p:txBody>
      </p:sp>
      <p:sp>
        <p:nvSpPr>
          <p:cNvPr id="431" name="Google Shape;431;p16"/>
          <p:cNvSpPr txBox="1"/>
          <p:nvPr/>
        </p:nvSpPr>
        <p:spPr>
          <a:xfrm>
            <a:off x="4498848" y="2103120"/>
            <a:ext cx="3200400" cy="10972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4807E"/>
              </a:buClr>
              <a:buSzPts val="2600"/>
              <a:buFont typeface="Calibri"/>
              <a:buNone/>
            </a:pPr>
            <a:r>
              <a:rPr b="1" i="0" lang="en-US" sz="2600" u="none" cap="none" strike="noStrike">
                <a:solidFill>
                  <a:srgbClr val="14807E"/>
                </a:solidFill>
                <a:latin typeface="Calibri"/>
                <a:ea typeface="Calibri"/>
                <a:cs typeface="Calibri"/>
                <a:sym typeface="Calibri"/>
              </a:rPr>
              <a:t>≈2× abundancia</a:t>
            </a:r>
            <a:endParaRPr b="0" i="0" sz="2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4807E"/>
              </a:buClr>
              <a:buSzPts val="2600"/>
              <a:buFont typeface="Calibri"/>
              <a:buNone/>
            </a:pPr>
            <a:r>
              <a:rPr b="1" i="0" lang="en-US" sz="2600" u="none" cap="none" strike="noStrike">
                <a:solidFill>
                  <a:srgbClr val="14807E"/>
                </a:solidFill>
                <a:latin typeface="Calibri"/>
                <a:ea typeface="Calibri"/>
                <a:cs typeface="Calibri"/>
                <a:sym typeface="Calibri"/>
              </a:rPr>
              <a:t>+50 % especies</a:t>
            </a:r>
            <a:endParaRPr b="0" i="0" sz="2600" u="none" cap="none" strike="noStrike">
              <a:solidFill>
                <a:schemeClr val="dk1"/>
              </a:solidFill>
              <a:latin typeface="Calibri"/>
              <a:ea typeface="Calibri"/>
              <a:cs typeface="Calibri"/>
              <a:sym typeface="Calibri"/>
            </a:endParaRPr>
          </a:p>
        </p:txBody>
      </p:sp>
      <p:sp>
        <p:nvSpPr>
          <p:cNvPr id="432" name="Google Shape;432;p16"/>
          <p:cNvSpPr txBox="1"/>
          <p:nvPr/>
        </p:nvSpPr>
        <p:spPr>
          <a:xfrm>
            <a:off x="4498848" y="3291840"/>
            <a:ext cx="3200400" cy="14173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00"/>
              <a:buFont typeface="Calibri"/>
              <a:buNone/>
            </a:pPr>
            <a:r>
              <a:rPr b="0" i="0" lang="en-US" sz="1400" u="none" cap="none" strike="noStrike">
                <a:solidFill>
                  <a:srgbClr val="1B2B3A"/>
                </a:solidFill>
                <a:latin typeface="Calibri"/>
                <a:ea typeface="Calibri"/>
                <a:cs typeface="Calibri"/>
                <a:sym typeface="Calibri"/>
              </a:rPr>
              <a:t>Más juveniles con altavoz activo que con altavoz inactivo o sin altavoz. A 50 m, la aceleración de partículas ya no se distinguía del fondo.</a:t>
            </a:r>
            <a:endParaRPr b="0" i="0" sz="1400" u="none" cap="none" strike="noStrike">
              <a:solidFill>
                <a:schemeClr val="dk1"/>
              </a:solidFill>
              <a:latin typeface="Calibri"/>
              <a:ea typeface="Calibri"/>
              <a:cs typeface="Calibri"/>
              <a:sym typeface="Calibri"/>
            </a:endParaRPr>
          </a:p>
        </p:txBody>
      </p:sp>
      <p:sp>
        <p:nvSpPr>
          <p:cNvPr id="433" name="Google Shape;433;p16"/>
          <p:cNvSpPr txBox="1"/>
          <p:nvPr/>
        </p:nvSpPr>
        <p:spPr>
          <a:xfrm>
            <a:off x="4498848" y="4754880"/>
            <a:ext cx="320040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Gordon et al., 2019</a:t>
            </a:r>
            <a:endParaRPr b="0" i="0" sz="1200" u="none" cap="none" strike="noStrike">
              <a:solidFill>
                <a:schemeClr val="dk1"/>
              </a:solidFill>
              <a:latin typeface="Calibri"/>
              <a:ea typeface="Calibri"/>
              <a:cs typeface="Calibri"/>
              <a:sym typeface="Calibri"/>
            </a:endParaRPr>
          </a:p>
        </p:txBody>
      </p:sp>
      <p:sp>
        <p:nvSpPr>
          <p:cNvPr id="434" name="Google Shape;434;p16"/>
          <p:cNvSpPr/>
          <p:nvPr/>
        </p:nvSpPr>
        <p:spPr>
          <a:xfrm>
            <a:off x="8083296" y="1417320"/>
            <a:ext cx="3566160" cy="3749040"/>
          </a:xfrm>
          <a:prstGeom prst="roundRect">
            <a:avLst>
              <a:gd fmla="val 2051"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6"/>
          <p:cNvSpPr txBox="1"/>
          <p:nvPr/>
        </p:nvSpPr>
        <p:spPr>
          <a:xfrm>
            <a:off x="8266176" y="1554480"/>
            <a:ext cx="3200400" cy="5486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600"/>
              <a:buFont typeface="Calibri"/>
              <a:buNone/>
            </a:pPr>
            <a:r>
              <a:rPr b="1" i="0" lang="en-US" sz="1600" u="none" cap="none" strike="noStrike">
                <a:solidFill>
                  <a:srgbClr val="5A6B7B"/>
                </a:solidFill>
                <a:latin typeface="Calibri"/>
                <a:ea typeface="Calibri"/>
                <a:cs typeface="Calibri"/>
                <a:sym typeface="Calibri"/>
              </a:rPr>
              <a:t>Cámaras autónomas (Hawái)</a:t>
            </a:r>
            <a:endParaRPr b="0" i="0" sz="1600" u="none" cap="none" strike="noStrike">
              <a:solidFill>
                <a:schemeClr val="dk1"/>
              </a:solidFill>
              <a:latin typeface="Calibri"/>
              <a:ea typeface="Calibri"/>
              <a:cs typeface="Calibri"/>
              <a:sym typeface="Calibri"/>
            </a:endParaRPr>
          </a:p>
        </p:txBody>
      </p:sp>
      <p:sp>
        <p:nvSpPr>
          <p:cNvPr id="436" name="Google Shape;436;p16"/>
          <p:cNvSpPr txBox="1"/>
          <p:nvPr/>
        </p:nvSpPr>
        <p:spPr>
          <a:xfrm>
            <a:off x="8266176" y="2103120"/>
            <a:ext cx="3200400" cy="10972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4807E"/>
              </a:buClr>
              <a:buSzPts val="2600"/>
              <a:buFont typeface="Calibri"/>
              <a:buNone/>
            </a:pPr>
            <a:r>
              <a:rPr b="1" i="0" lang="en-US" sz="2600" u="none" cap="none" strike="noStrike">
                <a:solidFill>
                  <a:srgbClr val="14807E"/>
                </a:solidFill>
                <a:latin typeface="Calibri"/>
                <a:ea typeface="Calibri"/>
                <a:cs typeface="Calibri"/>
                <a:sym typeface="Calibri"/>
              </a:rPr>
              <a:t>3 de 3 despliegues</a:t>
            </a:r>
            <a:endParaRPr b="0" i="0" sz="2600" u="none" cap="none" strike="noStrike">
              <a:solidFill>
                <a:schemeClr val="dk1"/>
              </a:solidFill>
              <a:latin typeface="Calibri"/>
              <a:ea typeface="Calibri"/>
              <a:cs typeface="Calibri"/>
              <a:sym typeface="Calibri"/>
            </a:endParaRPr>
          </a:p>
        </p:txBody>
      </p:sp>
      <p:sp>
        <p:nvSpPr>
          <p:cNvPr id="437" name="Google Shape;437;p16"/>
          <p:cNvSpPr txBox="1"/>
          <p:nvPr/>
        </p:nvSpPr>
        <p:spPr>
          <a:xfrm>
            <a:off x="8266176" y="3291840"/>
            <a:ext cx="3200400" cy="14173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00"/>
              <a:buFont typeface="Calibri"/>
              <a:buNone/>
            </a:pPr>
            <a:r>
              <a:rPr b="0" i="0" lang="en-US" sz="1400" u="none" cap="none" strike="noStrike">
                <a:solidFill>
                  <a:srgbClr val="1B2B3A"/>
                </a:solidFill>
                <a:latin typeface="Calibri"/>
                <a:ea typeface="Calibri"/>
                <a:cs typeface="Calibri"/>
                <a:sym typeface="Calibri"/>
              </a:rPr>
              <a:t>Más presencia de larvas con enriquecimiento, pero solo en 2 sitios; no mide supervivencia.</a:t>
            </a:r>
            <a:endParaRPr b="0" i="0" sz="1400" u="none" cap="none" strike="noStrike">
              <a:solidFill>
                <a:schemeClr val="dk1"/>
              </a:solidFill>
              <a:latin typeface="Calibri"/>
              <a:ea typeface="Calibri"/>
              <a:cs typeface="Calibri"/>
              <a:sym typeface="Calibri"/>
            </a:endParaRPr>
          </a:p>
        </p:txBody>
      </p:sp>
      <p:sp>
        <p:nvSpPr>
          <p:cNvPr id="438" name="Google Shape;438;p16"/>
          <p:cNvSpPr txBox="1"/>
          <p:nvPr/>
        </p:nvSpPr>
        <p:spPr>
          <a:xfrm>
            <a:off x="8266176" y="4754880"/>
            <a:ext cx="320040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Boulais et al., 2026</a:t>
            </a:r>
            <a:endParaRPr b="0" i="0" sz="1200" u="none" cap="none" strike="noStrike">
              <a:solidFill>
                <a:schemeClr val="dk1"/>
              </a:solidFill>
              <a:latin typeface="Calibri"/>
              <a:ea typeface="Calibri"/>
              <a:cs typeface="Calibri"/>
              <a:sym typeface="Calibri"/>
            </a:endParaRPr>
          </a:p>
        </p:txBody>
      </p:sp>
      <p:sp>
        <p:nvSpPr>
          <p:cNvPr id="439" name="Google Shape;439;p16"/>
          <p:cNvSpPr/>
          <p:nvPr/>
        </p:nvSpPr>
        <p:spPr>
          <a:xfrm>
            <a:off x="548640" y="5394960"/>
            <a:ext cx="11109960" cy="731520"/>
          </a:xfrm>
          <a:prstGeom prst="roundRect">
            <a:avLst>
              <a:gd fmla="val 10000" name="adj"/>
            </a:avLst>
          </a:prstGeom>
          <a:solidFill>
            <a:srgbClr val="FBEAE6"/>
          </a:solidFill>
          <a:ln cap="flat" cmpd="sng" w="12700">
            <a:solidFill>
              <a:srgbClr val="E36F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0" name="Google Shape;440;p16"/>
          <p:cNvPicPr preferRelativeResize="0"/>
          <p:nvPr/>
        </p:nvPicPr>
        <p:blipFill rotWithShape="1">
          <a:blip r:embed="rId3">
            <a:alphaModFix/>
          </a:blip>
          <a:srcRect b="0" l="0" r="0" t="0"/>
          <a:stretch/>
        </p:blipFill>
        <p:spPr>
          <a:xfrm>
            <a:off x="777240" y="5577840"/>
            <a:ext cx="365760" cy="365760"/>
          </a:xfrm>
          <a:prstGeom prst="rect">
            <a:avLst/>
          </a:prstGeom>
          <a:noFill/>
          <a:ln>
            <a:noFill/>
          </a:ln>
        </p:spPr>
      </p:pic>
      <p:sp>
        <p:nvSpPr>
          <p:cNvPr id="441" name="Google Shape;441;p16"/>
          <p:cNvSpPr txBox="1"/>
          <p:nvPr/>
        </p:nvSpPr>
        <p:spPr>
          <a:xfrm>
            <a:off x="1325880" y="5394960"/>
            <a:ext cx="10149840" cy="7315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8432F"/>
              </a:buClr>
              <a:buSzPts val="1600"/>
              <a:buFont typeface="Calibri"/>
              <a:buNone/>
            </a:pPr>
            <a:r>
              <a:rPr b="1" i="0" lang="en-US" sz="1600" u="none" cap="none" strike="noStrike">
                <a:solidFill>
                  <a:srgbClr val="B8432F"/>
                </a:solidFill>
                <a:latin typeface="Calibri"/>
                <a:ea typeface="Calibri"/>
                <a:cs typeface="Calibri"/>
                <a:sym typeface="Calibri"/>
              </a:rPr>
              <a:t>No se midió: recuperación del coral · supervivencia de los reclutas · persistencia del efecto</a:t>
            </a:r>
            <a:endParaRPr b="0" i="0" sz="1600" u="none" cap="none" strike="noStrike">
              <a:solidFill>
                <a:schemeClr val="dk1"/>
              </a:solidFill>
              <a:latin typeface="Calibri"/>
              <a:ea typeface="Calibri"/>
              <a:cs typeface="Calibri"/>
              <a:sym typeface="Calibri"/>
            </a:endParaRPr>
          </a:p>
        </p:txBody>
      </p:sp>
      <p:sp>
        <p:nvSpPr>
          <p:cNvPr id="442" name="Google Shape;442;p16"/>
          <p:cNvSpPr txBox="1"/>
          <p:nvPr/>
        </p:nvSpPr>
        <p:spPr>
          <a:xfrm>
            <a:off x="548640" y="6382512"/>
            <a:ext cx="10241280" cy="29260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Gordon et al., 2018; 2019  ·  Boulais et al., 2026</a:t>
            </a:r>
            <a:endParaRPr b="0" i="0" sz="1200" u="none" cap="none" strike="noStrike">
              <a:solidFill>
                <a:schemeClr val="dk1"/>
              </a:solidFill>
              <a:latin typeface="Calibri"/>
              <a:ea typeface="Calibri"/>
              <a:cs typeface="Calibri"/>
              <a:sym typeface="Calibri"/>
            </a:endParaRPr>
          </a:p>
        </p:txBody>
      </p:sp>
      <p:sp>
        <p:nvSpPr>
          <p:cNvPr id="443" name="Google Shape;443;p16"/>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14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8" name="Shape 448"/>
        <p:cNvGrpSpPr/>
        <p:nvPr/>
      </p:nvGrpSpPr>
      <p:grpSpPr>
        <a:xfrm>
          <a:off x="0" y="0"/>
          <a:ext cx="0" cy="0"/>
          <a:chOff x="0" y="0"/>
          <a:chExt cx="0" cy="0"/>
        </a:xfrm>
      </p:grpSpPr>
      <p:sp>
        <p:nvSpPr>
          <p:cNvPr id="449" name="Google Shape;449;p17"/>
          <p:cNvSpPr/>
          <p:nvPr/>
        </p:nvSpPr>
        <p:spPr>
          <a:xfrm>
            <a:off x="558058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7"/>
          <p:cNvSpPr txBox="1"/>
          <p:nvPr/>
        </p:nvSpPr>
        <p:spPr>
          <a:xfrm>
            <a:off x="558058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CAMPO</a:t>
            </a:r>
            <a:endParaRPr b="0" i="0" sz="950" u="none" cap="none" strike="noStrike">
              <a:solidFill>
                <a:schemeClr val="dk1"/>
              </a:solidFill>
              <a:latin typeface="Calibri"/>
              <a:ea typeface="Calibri"/>
              <a:cs typeface="Calibri"/>
              <a:sym typeface="Calibri"/>
            </a:endParaRPr>
          </a:p>
        </p:txBody>
      </p:sp>
      <p:sp>
        <p:nvSpPr>
          <p:cNvPr id="451" name="Google Shape;451;p17"/>
          <p:cNvSpPr/>
          <p:nvPr/>
        </p:nvSpPr>
        <p:spPr>
          <a:xfrm>
            <a:off x="681502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7"/>
          <p:cNvSpPr txBox="1"/>
          <p:nvPr/>
        </p:nvSpPr>
        <p:spPr>
          <a:xfrm>
            <a:off x="681502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PERCEPCIÓN</a:t>
            </a:r>
            <a:endParaRPr b="0" i="0" sz="950" u="none" cap="none" strike="noStrike">
              <a:solidFill>
                <a:schemeClr val="dk1"/>
              </a:solidFill>
              <a:latin typeface="Calibri"/>
              <a:ea typeface="Calibri"/>
              <a:cs typeface="Calibri"/>
              <a:sym typeface="Calibri"/>
            </a:endParaRPr>
          </a:p>
        </p:txBody>
      </p:sp>
      <p:sp>
        <p:nvSpPr>
          <p:cNvPr id="453" name="Google Shape;453;p17"/>
          <p:cNvSpPr/>
          <p:nvPr/>
        </p:nvSpPr>
        <p:spPr>
          <a:xfrm>
            <a:off x="804946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7"/>
          <p:cNvSpPr txBox="1"/>
          <p:nvPr/>
        </p:nvSpPr>
        <p:spPr>
          <a:xfrm>
            <a:off x="804946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INFORMACIÓN</a:t>
            </a:r>
            <a:endParaRPr b="0" i="0" sz="950" u="none" cap="none" strike="noStrike">
              <a:solidFill>
                <a:schemeClr val="dk1"/>
              </a:solidFill>
              <a:latin typeface="Calibri"/>
              <a:ea typeface="Calibri"/>
              <a:cs typeface="Calibri"/>
              <a:sym typeface="Calibri"/>
            </a:endParaRPr>
          </a:p>
        </p:txBody>
      </p:sp>
      <p:sp>
        <p:nvSpPr>
          <p:cNvPr id="455" name="Google Shape;455;p17"/>
          <p:cNvSpPr/>
          <p:nvPr/>
        </p:nvSpPr>
        <p:spPr>
          <a:xfrm>
            <a:off x="9283903" y="182880"/>
            <a:ext cx="1170432" cy="274320"/>
          </a:xfrm>
          <a:prstGeom prst="roundRect">
            <a:avLst>
              <a:gd fmla="val 50000"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7"/>
          <p:cNvSpPr txBox="1"/>
          <p:nvPr/>
        </p:nvSpPr>
        <p:spPr>
          <a:xfrm>
            <a:off x="928390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RESPUESTA</a:t>
            </a:r>
            <a:endParaRPr b="0" i="0" sz="950" u="none" cap="none" strike="noStrike">
              <a:solidFill>
                <a:schemeClr val="dk1"/>
              </a:solidFill>
              <a:latin typeface="Calibri"/>
              <a:ea typeface="Calibri"/>
              <a:cs typeface="Calibri"/>
              <a:sym typeface="Calibri"/>
            </a:endParaRPr>
          </a:p>
        </p:txBody>
      </p:sp>
      <p:sp>
        <p:nvSpPr>
          <p:cNvPr id="457" name="Google Shape;457;p17"/>
          <p:cNvSpPr/>
          <p:nvPr/>
        </p:nvSpPr>
        <p:spPr>
          <a:xfrm>
            <a:off x="1051834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7"/>
          <p:cNvSpPr txBox="1"/>
          <p:nvPr/>
        </p:nvSpPr>
        <p:spPr>
          <a:xfrm>
            <a:off x="1051834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APLICACIÓN</a:t>
            </a:r>
            <a:endParaRPr b="0" i="0" sz="950" u="none" cap="none" strike="noStrike">
              <a:solidFill>
                <a:schemeClr val="dk1"/>
              </a:solidFill>
              <a:latin typeface="Calibri"/>
              <a:ea typeface="Calibri"/>
              <a:cs typeface="Calibri"/>
              <a:sym typeface="Calibri"/>
            </a:endParaRPr>
          </a:p>
        </p:txBody>
      </p:sp>
      <p:sp>
        <p:nvSpPr>
          <p:cNvPr id="459" name="Google Shape;459;p17"/>
          <p:cNvSpPr txBox="1"/>
          <p:nvPr/>
        </p:nvSpPr>
        <p:spPr>
          <a:xfrm>
            <a:off x="548640" y="54864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800"/>
              <a:buFont typeface="Calibri"/>
              <a:buNone/>
            </a:pPr>
            <a:r>
              <a:rPr b="1" i="0" lang="en-US" sz="2800" u="none" cap="none" strike="noStrike">
                <a:solidFill>
                  <a:srgbClr val="0B2A4A"/>
                </a:solidFill>
                <a:latin typeface="Calibri"/>
                <a:ea typeface="Calibri"/>
                <a:cs typeface="Calibri"/>
                <a:sym typeface="Calibri"/>
              </a:rPr>
              <a:t>Las carpas evitan el sonido… las dos primeras veces</a:t>
            </a:r>
            <a:endParaRPr b="0" i="0" sz="2800" u="none" cap="none" strike="noStrike">
              <a:solidFill>
                <a:schemeClr val="dk1"/>
              </a:solidFill>
              <a:latin typeface="Calibri"/>
              <a:ea typeface="Calibri"/>
              <a:cs typeface="Calibri"/>
              <a:sym typeface="Calibri"/>
            </a:endParaRPr>
          </a:p>
        </p:txBody>
      </p:sp>
      <p:pic>
        <p:nvPicPr>
          <p:cNvPr id="460" name="Google Shape;460;p17"/>
          <p:cNvPicPr preferRelativeResize="0"/>
          <p:nvPr/>
        </p:nvPicPr>
        <p:blipFill rotWithShape="1">
          <a:blip r:embed="rId3">
            <a:alphaModFix/>
          </a:blip>
          <a:srcRect b="0" l="0" r="0" t="0"/>
          <a:stretch/>
        </p:blipFill>
        <p:spPr>
          <a:xfrm>
            <a:off x="457200" y="1325880"/>
            <a:ext cx="6309360" cy="3840480"/>
          </a:xfrm>
          <a:prstGeom prst="rect">
            <a:avLst/>
          </a:prstGeom>
          <a:noFill/>
          <a:ln>
            <a:noFill/>
          </a:ln>
        </p:spPr>
      </p:pic>
      <p:sp>
        <p:nvSpPr>
          <p:cNvPr id="461" name="Google Shape;461;p17"/>
          <p:cNvSpPr/>
          <p:nvPr/>
        </p:nvSpPr>
        <p:spPr>
          <a:xfrm>
            <a:off x="548640" y="5257800"/>
            <a:ext cx="6126480" cy="685800"/>
          </a:xfrm>
          <a:prstGeom prst="roundRect">
            <a:avLst>
              <a:gd fmla="val 10667" name="adj"/>
            </a:avLst>
          </a:prstGeom>
          <a:solidFill>
            <a:srgbClr val="FBEAE6"/>
          </a:solidFill>
          <a:ln cap="flat" cmpd="sng" w="12700">
            <a:solidFill>
              <a:srgbClr val="E36F5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62" name="Google Shape;462;p17"/>
          <p:cNvPicPr preferRelativeResize="0"/>
          <p:nvPr/>
        </p:nvPicPr>
        <p:blipFill rotWithShape="1">
          <a:blip r:embed="rId4">
            <a:alphaModFix/>
          </a:blip>
          <a:srcRect b="0" l="0" r="0" t="0"/>
          <a:stretch/>
        </p:blipFill>
        <p:spPr>
          <a:xfrm>
            <a:off x="731520" y="5422392"/>
            <a:ext cx="347472" cy="347472"/>
          </a:xfrm>
          <a:prstGeom prst="rect">
            <a:avLst/>
          </a:prstGeom>
          <a:noFill/>
          <a:ln>
            <a:noFill/>
          </a:ln>
        </p:spPr>
      </p:pic>
      <p:sp>
        <p:nvSpPr>
          <p:cNvPr id="463" name="Google Shape;463;p17"/>
          <p:cNvSpPr txBox="1"/>
          <p:nvPr/>
        </p:nvSpPr>
        <p:spPr>
          <a:xfrm>
            <a:off x="1234440" y="5257800"/>
            <a:ext cx="5349240" cy="6858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8432F"/>
              </a:buClr>
              <a:buSzPts val="1500"/>
              <a:buFont typeface="Calibri"/>
              <a:buNone/>
            </a:pPr>
            <a:r>
              <a:rPr b="1" i="0" lang="en-US" sz="1500" u="none" cap="none" strike="noStrike">
                <a:solidFill>
                  <a:srgbClr val="B8432F"/>
                </a:solidFill>
                <a:latin typeface="Calibri"/>
                <a:ea typeface="Calibri"/>
                <a:cs typeface="Calibri"/>
                <a:sym typeface="Calibri"/>
              </a:rPr>
              <a:t>3.ª y 4.ª exposición: sin cambio medible (p &gt; 0,05) → habituación</a:t>
            </a:r>
            <a:endParaRPr b="0" i="0" sz="1500" u="none" cap="none" strike="noStrike">
              <a:solidFill>
                <a:schemeClr val="dk1"/>
              </a:solidFill>
              <a:latin typeface="Calibri"/>
              <a:ea typeface="Calibri"/>
              <a:cs typeface="Calibri"/>
              <a:sym typeface="Calibri"/>
            </a:endParaRPr>
          </a:p>
        </p:txBody>
      </p:sp>
      <p:sp>
        <p:nvSpPr>
          <p:cNvPr id="464" name="Google Shape;464;p17"/>
          <p:cNvSpPr/>
          <p:nvPr/>
        </p:nvSpPr>
        <p:spPr>
          <a:xfrm>
            <a:off x="7086600" y="1417320"/>
            <a:ext cx="4572000" cy="4526280"/>
          </a:xfrm>
          <a:prstGeom prst="roundRect">
            <a:avLst>
              <a:gd fmla="val 1616"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7"/>
          <p:cNvSpPr txBox="1"/>
          <p:nvPr/>
        </p:nvSpPr>
        <p:spPr>
          <a:xfrm>
            <a:off x="7315200" y="1554480"/>
            <a:ext cx="4206240" cy="4572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800"/>
              <a:buFont typeface="Calibri"/>
              <a:buNone/>
            </a:pPr>
            <a:r>
              <a:rPr b="1" i="0" lang="en-US" sz="1800" u="none" cap="none" strike="noStrike">
                <a:solidFill>
                  <a:srgbClr val="0B2A4A"/>
                </a:solidFill>
                <a:latin typeface="Calibri"/>
                <a:ea typeface="Calibri"/>
                <a:cs typeface="Calibri"/>
                <a:sym typeface="Calibri"/>
              </a:rPr>
              <a:t>Pez dorado: frecuencia y nivel</a:t>
            </a:r>
            <a:endParaRPr b="0" i="0" sz="1800" u="none" cap="none" strike="noStrike">
              <a:solidFill>
                <a:schemeClr val="dk1"/>
              </a:solidFill>
              <a:latin typeface="Calibri"/>
              <a:ea typeface="Calibri"/>
              <a:cs typeface="Calibri"/>
              <a:sym typeface="Calibri"/>
            </a:endParaRPr>
          </a:p>
        </p:txBody>
      </p:sp>
      <p:sp>
        <p:nvSpPr>
          <p:cNvPr id="466" name="Google Shape;466;p17"/>
          <p:cNvSpPr txBox="1"/>
          <p:nvPr/>
        </p:nvSpPr>
        <p:spPr>
          <a:xfrm>
            <a:off x="7315200" y="2103120"/>
            <a:ext cx="4206240" cy="8229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F6F9F"/>
              </a:buClr>
              <a:buSzPts val="4000"/>
              <a:buFont typeface="Calibri"/>
              <a:buNone/>
            </a:pPr>
            <a:r>
              <a:rPr b="1" i="0" lang="en-US" sz="4000" u="none" cap="none" strike="noStrike">
                <a:solidFill>
                  <a:srgbClr val="1F6F9F"/>
                </a:solidFill>
                <a:latin typeface="Calibri"/>
                <a:ea typeface="Calibri"/>
                <a:cs typeface="Calibri"/>
                <a:sym typeface="Calibri"/>
              </a:rPr>
              <a:t>250–800 Hz</a:t>
            </a:r>
            <a:endParaRPr b="0" i="0" sz="4000" u="none" cap="none" strike="noStrike">
              <a:solidFill>
                <a:schemeClr val="dk1"/>
              </a:solidFill>
              <a:latin typeface="Calibri"/>
              <a:ea typeface="Calibri"/>
              <a:cs typeface="Calibri"/>
              <a:sym typeface="Calibri"/>
            </a:endParaRPr>
          </a:p>
        </p:txBody>
      </p:sp>
      <p:sp>
        <p:nvSpPr>
          <p:cNvPr id="467" name="Google Shape;467;p17"/>
          <p:cNvSpPr txBox="1"/>
          <p:nvPr/>
        </p:nvSpPr>
        <p:spPr>
          <a:xfrm>
            <a:off x="7315200" y="2926080"/>
            <a:ext cx="416052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50"/>
              <a:buFont typeface="Calibri"/>
              <a:buNone/>
            </a:pPr>
            <a:r>
              <a:rPr b="0" i="0" lang="en-US" sz="1450" u="none" cap="none" strike="noStrike">
                <a:solidFill>
                  <a:srgbClr val="1B2B3A"/>
                </a:solidFill>
                <a:latin typeface="Calibri"/>
                <a:ea typeface="Calibri"/>
                <a:cs typeface="Calibri"/>
                <a:sym typeface="Calibri"/>
              </a:rPr>
              <a:t>único rango en el que se sobresaltó al menos el 25 % de los peces (tonos de 115–145 dB re 1 µPa)</a:t>
            </a:r>
            <a:endParaRPr b="0" i="0" sz="1450" u="none" cap="none" strike="noStrike">
              <a:solidFill>
                <a:schemeClr val="dk1"/>
              </a:solidFill>
              <a:latin typeface="Calibri"/>
              <a:ea typeface="Calibri"/>
              <a:cs typeface="Calibri"/>
              <a:sym typeface="Calibri"/>
            </a:endParaRPr>
          </a:p>
        </p:txBody>
      </p:sp>
      <p:sp>
        <p:nvSpPr>
          <p:cNvPr id="468" name="Google Shape;468;p17"/>
          <p:cNvSpPr txBox="1"/>
          <p:nvPr/>
        </p:nvSpPr>
        <p:spPr>
          <a:xfrm>
            <a:off x="7315200" y="3886200"/>
            <a:ext cx="4160520" cy="11430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50"/>
              <a:buFont typeface="Calibri"/>
              <a:buNone/>
            </a:pPr>
            <a:r>
              <a:rPr b="0" i="0" lang="en-US" sz="1450" u="none" cap="none" strike="noStrike">
                <a:solidFill>
                  <a:srgbClr val="1B2B3A"/>
                </a:solidFill>
                <a:latin typeface="Calibri"/>
                <a:ea typeface="Calibri"/>
                <a:cs typeface="Calibri"/>
                <a:sym typeface="Calibri"/>
              </a:rPr>
              <a:t>Al subir la frecuencia, la conducta requiere niveles cada vez más alejados del umbral auditivo publicado → detectar no es responder</a:t>
            </a:r>
            <a:endParaRPr b="0" i="0" sz="1450" u="none" cap="none" strike="noStrike">
              <a:solidFill>
                <a:schemeClr val="dk1"/>
              </a:solidFill>
              <a:latin typeface="Calibri"/>
              <a:ea typeface="Calibri"/>
              <a:cs typeface="Calibri"/>
              <a:sym typeface="Calibri"/>
            </a:endParaRPr>
          </a:p>
        </p:txBody>
      </p:sp>
      <p:sp>
        <p:nvSpPr>
          <p:cNvPr id="469" name="Google Shape;469;p17"/>
          <p:cNvSpPr txBox="1"/>
          <p:nvPr/>
        </p:nvSpPr>
        <p:spPr>
          <a:xfrm>
            <a:off x="7315200" y="5349240"/>
            <a:ext cx="420624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Holgate et al., 2023</a:t>
            </a:r>
            <a:endParaRPr b="0" i="0" sz="1200" u="none" cap="none" strike="noStrike">
              <a:solidFill>
                <a:schemeClr val="dk1"/>
              </a:solidFill>
              <a:latin typeface="Calibri"/>
              <a:ea typeface="Calibri"/>
              <a:cs typeface="Calibri"/>
              <a:sym typeface="Calibri"/>
            </a:endParaRPr>
          </a:p>
        </p:txBody>
      </p:sp>
      <p:sp>
        <p:nvSpPr>
          <p:cNvPr id="470" name="Google Shape;470;p17"/>
          <p:cNvSpPr txBox="1"/>
          <p:nvPr/>
        </p:nvSpPr>
        <p:spPr>
          <a:xfrm>
            <a:off x="548640" y="6382512"/>
            <a:ext cx="10241280" cy="29260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Datos: Zielinski y Sorensen, 2017 (medianas publicadas)  ·  Holgate et al., 2023  ·  un sobresalto en tanque no equivale a una barrera eficaz en un río</a:t>
            </a:r>
            <a:endParaRPr b="0" i="0" sz="1200" u="none" cap="none" strike="noStrike">
              <a:solidFill>
                <a:schemeClr val="dk1"/>
              </a:solidFill>
              <a:latin typeface="Calibri"/>
              <a:ea typeface="Calibri"/>
              <a:cs typeface="Calibri"/>
              <a:sym typeface="Calibri"/>
            </a:endParaRPr>
          </a:p>
        </p:txBody>
      </p:sp>
      <p:sp>
        <p:nvSpPr>
          <p:cNvPr id="471" name="Google Shape;471;p17"/>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15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6" name="Shape 476"/>
        <p:cNvGrpSpPr/>
        <p:nvPr/>
      </p:nvGrpSpPr>
      <p:grpSpPr>
        <a:xfrm>
          <a:off x="0" y="0"/>
          <a:ext cx="0" cy="0"/>
          <a:chOff x="0" y="0"/>
          <a:chExt cx="0" cy="0"/>
        </a:xfrm>
      </p:grpSpPr>
      <p:sp>
        <p:nvSpPr>
          <p:cNvPr id="477" name="Google Shape;477;p18"/>
          <p:cNvSpPr/>
          <p:nvPr/>
        </p:nvSpPr>
        <p:spPr>
          <a:xfrm>
            <a:off x="558058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8"/>
          <p:cNvSpPr txBox="1"/>
          <p:nvPr/>
        </p:nvSpPr>
        <p:spPr>
          <a:xfrm>
            <a:off x="558058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CAMPO</a:t>
            </a:r>
            <a:endParaRPr b="0" i="0" sz="950" u="none" cap="none" strike="noStrike">
              <a:solidFill>
                <a:schemeClr val="dk1"/>
              </a:solidFill>
              <a:latin typeface="Calibri"/>
              <a:ea typeface="Calibri"/>
              <a:cs typeface="Calibri"/>
              <a:sym typeface="Calibri"/>
            </a:endParaRPr>
          </a:p>
        </p:txBody>
      </p:sp>
      <p:sp>
        <p:nvSpPr>
          <p:cNvPr id="479" name="Google Shape;479;p18"/>
          <p:cNvSpPr/>
          <p:nvPr/>
        </p:nvSpPr>
        <p:spPr>
          <a:xfrm>
            <a:off x="681502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8"/>
          <p:cNvSpPr txBox="1"/>
          <p:nvPr/>
        </p:nvSpPr>
        <p:spPr>
          <a:xfrm>
            <a:off x="681502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PERCEPCIÓN</a:t>
            </a:r>
            <a:endParaRPr b="0" i="0" sz="950" u="none" cap="none" strike="noStrike">
              <a:solidFill>
                <a:schemeClr val="dk1"/>
              </a:solidFill>
              <a:latin typeface="Calibri"/>
              <a:ea typeface="Calibri"/>
              <a:cs typeface="Calibri"/>
              <a:sym typeface="Calibri"/>
            </a:endParaRPr>
          </a:p>
        </p:txBody>
      </p:sp>
      <p:sp>
        <p:nvSpPr>
          <p:cNvPr id="481" name="Google Shape;481;p18"/>
          <p:cNvSpPr/>
          <p:nvPr/>
        </p:nvSpPr>
        <p:spPr>
          <a:xfrm>
            <a:off x="804946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8"/>
          <p:cNvSpPr txBox="1"/>
          <p:nvPr/>
        </p:nvSpPr>
        <p:spPr>
          <a:xfrm>
            <a:off x="804946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INFORMACIÓN</a:t>
            </a:r>
            <a:endParaRPr b="0" i="0" sz="950" u="none" cap="none" strike="noStrike">
              <a:solidFill>
                <a:schemeClr val="dk1"/>
              </a:solidFill>
              <a:latin typeface="Calibri"/>
              <a:ea typeface="Calibri"/>
              <a:cs typeface="Calibri"/>
              <a:sym typeface="Calibri"/>
            </a:endParaRPr>
          </a:p>
        </p:txBody>
      </p:sp>
      <p:sp>
        <p:nvSpPr>
          <p:cNvPr id="483" name="Google Shape;483;p18"/>
          <p:cNvSpPr/>
          <p:nvPr/>
        </p:nvSpPr>
        <p:spPr>
          <a:xfrm>
            <a:off x="9283903" y="182880"/>
            <a:ext cx="1170432" cy="274320"/>
          </a:xfrm>
          <a:prstGeom prst="roundRect">
            <a:avLst>
              <a:gd fmla="val 50000"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8"/>
          <p:cNvSpPr txBox="1"/>
          <p:nvPr/>
        </p:nvSpPr>
        <p:spPr>
          <a:xfrm>
            <a:off x="928390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RESPUESTA</a:t>
            </a:r>
            <a:endParaRPr b="0" i="0" sz="950" u="none" cap="none" strike="noStrike">
              <a:solidFill>
                <a:schemeClr val="dk1"/>
              </a:solidFill>
              <a:latin typeface="Calibri"/>
              <a:ea typeface="Calibri"/>
              <a:cs typeface="Calibri"/>
              <a:sym typeface="Calibri"/>
            </a:endParaRPr>
          </a:p>
        </p:txBody>
      </p:sp>
      <p:sp>
        <p:nvSpPr>
          <p:cNvPr id="485" name="Google Shape;485;p18"/>
          <p:cNvSpPr/>
          <p:nvPr/>
        </p:nvSpPr>
        <p:spPr>
          <a:xfrm>
            <a:off x="1051834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8"/>
          <p:cNvSpPr txBox="1"/>
          <p:nvPr/>
        </p:nvSpPr>
        <p:spPr>
          <a:xfrm>
            <a:off x="1051834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APLICACIÓN</a:t>
            </a:r>
            <a:endParaRPr b="0" i="0" sz="950" u="none" cap="none" strike="noStrike">
              <a:solidFill>
                <a:schemeClr val="dk1"/>
              </a:solidFill>
              <a:latin typeface="Calibri"/>
              <a:ea typeface="Calibri"/>
              <a:cs typeface="Calibri"/>
              <a:sym typeface="Calibri"/>
            </a:endParaRPr>
          </a:p>
        </p:txBody>
      </p:sp>
      <p:sp>
        <p:nvSpPr>
          <p:cNvPr id="487" name="Google Shape;487;p18"/>
          <p:cNvSpPr txBox="1"/>
          <p:nvPr/>
        </p:nvSpPr>
        <p:spPr>
          <a:xfrm>
            <a:off x="548640" y="54864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800"/>
              <a:buFont typeface="Calibri"/>
              <a:buNone/>
            </a:pPr>
            <a:r>
              <a:rPr b="1" i="0" lang="en-US" sz="2800" u="none" cap="none" strike="noStrike">
                <a:solidFill>
                  <a:srgbClr val="0B2A4A"/>
                </a:solidFill>
                <a:latin typeface="Calibri"/>
                <a:ea typeface="Calibri"/>
                <a:cs typeface="Calibri"/>
                <a:sym typeface="Calibri"/>
              </a:rPr>
              <a:t>El ruido cambia el escape… pero no igual en todas las especies</a:t>
            </a:r>
            <a:endParaRPr b="0" i="0" sz="2800" u="none" cap="none" strike="noStrike">
              <a:solidFill>
                <a:schemeClr val="dk1"/>
              </a:solidFill>
              <a:latin typeface="Calibri"/>
              <a:ea typeface="Calibri"/>
              <a:cs typeface="Calibri"/>
              <a:sym typeface="Calibri"/>
            </a:endParaRPr>
          </a:p>
        </p:txBody>
      </p:sp>
      <p:sp>
        <p:nvSpPr>
          <p:cNvPr id="488" name="Google Shape;488;p18"/>
          <p:cNvSpPr/>
          <p:nvPr/>
        </p:nvSpPr>
        <p:spPr>
          <a:xfrm>
            <a:off x="548640" y="1417320"/>
            <a:ext cx="11109960" cy="1143000"/>
          </a:xfrm>
          <a:prstGeom prst="roundRect">
            <a:avLst>
              <a:gd fmla="val 6400" name="adj"/>
            </a:avLst>
          </a:prstGeom>
          <a:solidFill>
            <a:srgbClr val="EEF4F8"/>
          </a:solidFill>
          <a:ln cap="flat" cmpd="sng" w="12700">
            <a:solidFill>
              <a:srgbClr val="D5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8"/>
          <p:cNvSpPr txBox="1"/>
          <p:nvPr/>
        </p:nvSpPr>
        <p:spPr>
          <a:xfrm>
            <a:off x="777240" y="1527048"/>
            <a:ext cx="2651760" cy="4572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000"/>
              <a:buFont typeface="Calibri"/>
              <a:buNone/>
            </a:pPr>
            <a:r>
              <a:rPr b="1" i="0" lang="en-US" sz="2000" u="none" cap="none" strike="noStrike">
                <a:solidFill>
                  <a:srgbClr val="0B2A4A"/>
                </a:solidFill>
                <a:latin typeface="Calibri"/>
                <a:ea typeface="Calibri"/>
                <a:cs typeface="Calibri"/>
                <a:sym typeface="Calibri"/>
              </a:rPr>
              <a:t>Damisela</a:t>
            </a:r>
            <a:endParaRPr b="0" i="0" sz="2000" u="none" cap="none" strike="noStrike">
              <a:solidFill>
                <a:schemeClr val="dk1"/>
              </a:solidFill>
              <a:latin typeface="Calibri"/>
              <a:ea typeface="Calibri"/>
              <a:cs typeface="Calibri"/>
              <a:sym typeface="Calibri"/>
            </a:endParaRPr>
          </a:p>
        </p:txBody>
      </p:sp>
      <p:sp>
        <p:nvSpPr>
          <p:cNvPr id="490" name="Google Shape;490;p18"/>
          <p:cNvSpPr txBox="1"/>
          <p:nvPr/>
        </p:nvSpPr>
        <p:spPr>
          <a:xfrm>
            <a:off x="777240" y="1984248"/>
            <a:ext cx="265176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400"/>
              <a:buFont typeface="Calibri"/>
              <a:buNone/>
            </a:pPr>
            <a:r>
              <a:rPr b="0" i="1" lang="en-US" sz="1400" u="none" cap="none" strike="noStrike">
                <a:solidFill>
                  <a:srgbClr val="5A6B7B"/>
                </a:solidFill>
                <a:latin typeface="Calibri"/>
                <a:ea typeface="Calibri"/>
                <a:cs typeface="Calibri"/>
                <a:sym typeface="Calibri"/>
              </a:rPr>
              <a:t>Pomacentrus chrysurus</a:t>
            </a:r>
            <a:endParaRPr b="0" i="0" sz="1400" u="none" cap="none" strike="noStrike">
              <a:solidFill>
                <a:schemeClr val="dk1"/>
              </a:solidFill>
              <a:latin typeface="Calibri"/>
              <a:ea typeface="Calibri"/>
              <a:cs typeface="Calibri"/>
              <a:sym typeface="Calibri"/>
            </a:endParaRPr>
          </a:p>
        </p:txBody>
      </p:sp>
      <p:pic>
        <p:nvPicPr>
          <p:cNvPr descr="preencoded.png" id="491" name="Google Shape;491;p18"/>
          <p:cNvPicPr preferRelativeResize="0"/>
          <p:nvPr/>
        </p:nvPicPr>
        <p:blipFill rotWithShape="1">
          <a:blip r:embed="rId3">
            <a:alphaModFix/>
          </a:blip>
          <a:srcRect b="0" l="0" r="0" t="0"/>
          <a:stretch/>
        </p:blipFill>
        <p:spPr>
          <a:xfrm>
            <a:off x="3566160" y="1737360"/>
            <a:ext cx="502920" cy="502920"/>
          </a:xfrm>
          <a:prstGeom prst="rect">
            <a:avLst/>
          </a:prstGeom>
          <a:noFill/>
          <a:ln>
            <a:noFill/>
          </a:ln>
        </p:spPr>
      </p:pic>
      <p:sp>
        <p:nvSpPr>
          <p:cNvPr id="492" name="Google Shape;492;p18"/>
          <p:cNvSpPr txBox="1"/>
          <p:nvPr/>
        </p:nvSpPr>
        <p:spPr>
          <a:xfrm>
            <a:off x="3337560" y="2240280"/>
            <a:ext cx="960120"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1050"/>
              <a:buFont typeface="Calibri"/>
              <a:buNone/>
            </a:pPr>
            <a:r>
              <a:rPr b="0" i="0" lang="en-US" sz="1050" u="none" cap="none" strike="noStrike">
                <a:solidFill>
                  <a:srgbClr val="5A6B7B"/>
                </a:solidFill>
                <a:latin typeface="Calibri"/>
                <a:ea typeface="Calibri"/>
                <a:cs typeface="Calibri"/>
                <a:sym typeface="Calibri"/>
              </a:rPr>
              <a:t>latencia</a:t>
            </a:r>
            <a:endParaRPr b="0" i="0" sz="1050" u="none" cap="none" strike="noStrike">
              <a:solidFill>
                <a:schemeClr val="dk1"/>
              </a:solidFill>
              <a:latin typeface="Calibri"/>
              <a:ea typeface="Calibri"/>
              <a:cs typeface="Calibri"/>
              <a:sym typeface="Calibri"/>
            </a:endParaRPr>
          </a:p>
        </p:txBody>
      </p:sp>
      <p:sp>
        <p:nvSpPr>
          <p:cNvPr id="493" name="Google Shape;493;p18"/>
          <p:cNvSpPr txBox="1"/>
          <p:nvPr/>
        </p:nvSpPr>
        <p:spPr>
          <a:xfrm>
            <a:off x="4389120" y="1527048"/>
            <a:ext cx="2926080" cy="9144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8432F"/>
              </a:buClr>
              <a:buSzPts val="1900"/>
              <a:buFont typeface="Calibri"/>
              <a:buNone/>
            </a:pPr>
            <a:r>
              <a:rPr b="1" i="0" lang="en-US" sz="1900" u="none" cap="none" strike="noStrike">
                <a:solidFill>
                  <a:srgbClr val="B8432F"/>
                </a:solidFill>
                <a:latin typeface="Calibri"/>
                <a:ea typeface="Calibri"/>
                <a:cs typeface="Calibri"/>
                <a:sym typeface="Calibri"/>
              </a:rPr>
              <a:t>Escape MÁS LENTO</a:t>
            </a:r>
            <a:endParaRPr b="0" i="0" sz="1900" u="none" cap="none" strike="noStrike">
              <a:solidFill>
                <a:schemeClr val="dk1"/>
              </a:solidFill>
              <a:latin typeface="Calibri"/>
              <a:ea typeface="Calibri"/>
              <a:cs typeface="Calibri"/>
              <a:sym typeface="Calibri"/>
            </a:endParaRPr>
          </a:p>
        </p:txBody>
      </p:sp>
      <p:sp>
        <p:nvSpPr>
          <p:cNvPr id="494" name="Google Shape;494;p18"/>
          <p:cNvSpPr txBox="1"/>
          <p:nvPr/>
        </p:nvSpPr>
        <p:spPr>
          <a:xfrm>
            <a:off x="7406640" y="1508760"/>
            <a:ext cx="4114800" cy="65836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00"/>
              <a:buFont typeface="Calibri"/>
              <a:buNone/>
            </a:pPr>
            <a:r>
              <a:rPr b="0" i="0" lang="en-US" sz="1400" u="none" cap="none" strike="noStrike">
                <a:solidFill>
                  <a:srgbClr val="1B2B3A"/>
                </a:solidFill>
                <a:latin typeface="Calibri"/>
                <a:ea typeface="Calibri"/>
                <a:cs typeface="Calibri"/>
                <a:sym typeface="Calibri"/>
              </a:rPr>
              <a:t>Con ruido de motor (4 tiempos &gt; 2 tiempos) y de buque (buque &gt; motor)</a:t>
            </a:r>
            <a:endParaRPr b="0" i="0" sz="1400" u="none" cap="none" strike="noStrike">
              <a:solidFill>
                <a:schemeClr val="dk1"/>
              </a:solidFill>
              <a:latin typeface="Calibri"/>
              <a:ea typeface="Calibri"/>
              <a:cs typeface="Calibri"/>
              <a:sym typeface="Calibri"/>
            </a:endParaRPr>
          </a:p>
        </p:txBody>
      </p:sp>
      <p:sp>
        <p:nvSpPr>
          <p:cNvPr id="495" name="Google Shape;495;p18"/>
          <p:cNvSpPr txBox="1"/>
          <p:nvPr/>
        </p:nvSpPr>
        <p:spPr>
          <a:xfrm>
            <a:off x="7406640" y="2167128"/>
            <a:ext cx="411480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150"/>
              <a:buFont typeface="Calibri"/>
              <a:buNone/>
            </a:pPr>
            <a:r>
              <a:rPr b="0" i="1" lang="en-US" sz="1150" u="none" cap="none" strike="noStrike">
                <a:solidFill>
                  <a:srgbClr val="5A6B7B"/>
                </a:solidFill>
                <a:latin typeface="Calibri"/>
                <a:ea typeface="Calibri"/>
                <a:cs typeface="Calibri"/>
                <a:sym typeface="Calibri"/>
              </a:rPr>
              <a:t>McCormick et al., 2019 · Velasquez Jimenez et al., 2020</a:t>
            </a:r>
            <a:endParaRPr b="0" i="0" sz="1150" u="none" cap="none" strike="noStrike">
              <a:solidFill>
                <a:schemeClr val="dk1"/>
              </a:solidFill>
              <a:latin typeface="Calibri"/>
              <a:ea typeface="Calibri"/>
              <a:cs typeface="Calibri"/>
              <a:sym typeface="Calibri"/>
            </a:endParaRPr>
          </a:p>
        </p:txBody>
      </p:sp>
      <p:sp>
        <p:nvSpPr>
          <p:cNvPr id="496" name="Google Shape;496;p18"/>
          <p:cNvSpPr/>
          <p:nvPr/>
        </p:nvSpPr>
        <p:spPr>
          <a:xfrm>
            <a:off x="548640" y="2697480"/>
            <a:ext cx="11109960" cy="1143000"/>
          </a:xfrm>
          <a:prstGeom prst="roundRect">
            <a:avLst>
              <a:gd fmla="val 6400" name="adj"/>
            </a:avLst>
          </a:prstGeom>
          <a:solidFill>
            <a:srgbClr val="FFFFFF"/>
          </a:solidFill>
          <a:ln cap="flat" cmpd="sng" w="12700">
            <a:solidFill>
              <a:srgbClr val="D5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8"/>
          <p:cNvSpPr txBox="1"/>
          <p:nvPr/>
        </p:nvSpPr>
        <p:spPr>
          <a:xfrm>
            <a:off x="777240" y="2807208"/>
            <a:ext cx="2651760" cy="4572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000"/>
              <a:buFont typeface="Calibri"/>
              <a:buNone/>
            </a:pPr>
            <a:r>
              <a:rPr b="1" i="0" lang="en-US" sz="2000" u="none" cap="none" strike="noStrike">
                <a:solidFill>
                  <a:srgbClr val="0B2A4A"/>
                </a:solidFill>
                <a:latin typeface="Calibri"/>
                <a:ea typeface="Calibri"/>
                <a:cs typeface="Calibri"/>
                <a:sym typeface="Calibri"/>
              </a:rPr>
              <a:t>Espinoso</a:t>
            </a:r>
            <a:endParaRPr b="0" i="0" sz="2000" u="none" cap="none" strike="noStrike">
              <a:solidFill>
                <a:schemeClr val="dk1"/>
              </a:solidFill>
              <a:latin typeface="Calibri"/>
              <a:ea typeface="Calibri"/>
              <a:cs typeface="Calibri"/>
              <a:sym typeface="Calibri"/>
            </a:endParaRPr>
          </a:p>
        </p:txBody>
      </p:sp>
      <p:sp>
        <p:nvSpPr>
          <p:cNvPr id="498" name="Google Shape;498;p18"/>
          <p:cNvSpPr txBox="1"/>
          <p:nvPr/>
        </p:nvSpPr>
        <p:spPr>
          <a:xfrm>
            <a:off x="777240" y="3264408"/>
            <a:ext cx="265176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400"/>
              <a:buFont typeface="Calibri"/>
              <a:buNone/>
            </a:pPr>
            <a:r>
              <a:rPr b="0" i="1" lang="en-US" sz="1400" u="none" cap="none" strike="noStrike">
                <a:solidFill>
                  <a:srgbClr val="5A6B7B"/>
                </a:solidFill>
                <a:latin typeface="Calibri"/>
                <a:ea typeface="Calibri"/>
                <a:cs typeface="Calibri"/>
                <a:sym typeface="Calibri"/>
              </a:rPr>
              <a:t>Gasterosteus aculeatus</a:t>
            </a:r>
            <a:endParaRPr b="0" i="0" sz="1400" u="none" cap="none" strike="noStrike">
              <a:solidFill>
                <a:schemeClr val="dk1"/>
              </a:solidFill>
              <a:latin typeface="Calibri"/>
              <a:ea typeface="Calibri"/>
              <a:cs typeface="Calibri"/>
              <a:sym typeface="Calibri"/>
            </a:endParaRPr>
          </a:p>
        </p:txBody>
      </p:sp>
      <p:pic>
        <p:nvPicPr>
          <p:cNvPr descr="preencoded.png" id="499" name="Google Shape;499;p18"/>
          <p:cNvPicPr preferRelativeResize="0"/>
          <p:nvPr/>
        </p:nvPicPr>
        <p:blipFill rotWithShape="1">
          <a:blip r:embed="rId4">
            <a:alphaModFix/>
          </a:blip>
          <a:srcRect b="0" l="0" r="0" t="0"/>
          <a:stretch/>
        </p:blipFill>
        <p:spPr>
          <a:xfrm>
            <a:off x="3566160" y="3017520"/>
            <a:ext cx="502920" cy="502920"/>
          </a:xfrm>
          <a:prstGeom prst="rect">
            <a:avLst/>
          </a:prstGeom>
          <a:noFill/>
          <a:ln>
            <a:noFill/>
          </a:ln>
        </p:spPr>
      </p:pic>
      <p:sp>
        <p:nvSpPr>
          <p:cNvPr id="500" name="Google Shape;500;p18"/>
          <p:cNvSpPr txBox="1"/>
          <p:nvPr/>
        </p:nvSpPr>
        <p:spPr>
          <a:xfrm>
            <a:off x="3337560" y="3520440"/>
            <a:ext cx="960120"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1050"/>
              <a:buFont typeface="Calibri"/>
              <a:buNone/>
            </a:pPr>
            <a:r>
              <a:rPr b="0" i="0" lang="en-US" sz="1050" u="none" cap="none" strike="noStrike">
                <a:solidFill>
                  <a:srgbClr val="5A6B7B"/>
                </a:solidFill>
                <a:latin typeface="Calibri"/>
                <a:ea typeface="Calibri"/>
                <a:cs typeface="Calibri"/>
                <a:sym typeface="Calibri"/>
              </a:rPr>
              <a:t>latencia</a:t>
            </a:r>
            <a:endParaRPr b="0" i="0" sz="1050" u="none" cap="none" strike="noStrike">
              <a:solidFill>
                <a:schemeClr val="dk1"/>
              </a:solidFill>
              <a:latin typeface="Calibri"/>
              <a:ea typeface="Calibri"/>
              <a:cs typeface="Calibri"/>
              <a:sym typeface="Calibri"/>
            </a:endParaRPr>
          </a:p>
        </p:txBody>
      </p:sp>
      <p:sp>
        <p:nvSpPr>
          <p:cNvPr id="501" name="Google Shape;501;p18"/>
          <p:cNvSpPr txBox="1"/>
          <p:nvPr/>
        </p:nvSpPr>
        <p:spPr>
          <a:xfrm>
            <a:off x="4389120" y="2807208"/>
            <a:ext cx="2926080" cy="9144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F6F9F"/>
              </a:buClr>
              <a:buSzPts val="1900"/>
              <a:buFont typeface="Calibri"/>
              <a:buNone/>
            </a:pPr>
            <a:r>
              <a:rPr b="1" i="0" lang="en-US" sz="1900" u="none" cap="none" strike="noStrike">
                <a:solidFill>
                  <a:srgbClr val="1F6F9F"/>
                </a:solidFill>
                <a:latin typeface="Calibri"/>
                <a:ea typeface="Calibri"/>
                <a:cs typeface="Calibri"/>
                <a:sym typeface="Calibri"/>
              </a:rPr>
              <a:t>Escape MÁS RÁPIDO</a:t>
            </a:r>
            <a:endParaRPr b="0" i="0" sz="1900" u="none" cap="none" strike="noStrike">
              <a:solidFill>
                <a:schemeClr val="dk1"/>
              </a:solidFill>
              <a:latin typeface="Calibri"/>
              <a:ea typeface="Calibri"/>
              <a:cs typeface="Calibri"/>
              <a:sym typeface="Calibri"/>
            </a:endParaRPr>
          </a:p>
        </p:txBody>
      </p:sp>
      <p:sp>
        <p:nvSpPr>
          <p:cNvPr id="502" name="Google Shape;502;p18"/>
          <p:cNvSpPr txBox="1"/>
          <p:nvPr/>
        </p:nvSpPr>
        <p:spPr>
          <a:xfrm>
            <a:off x="7406640" y="2788920"/>
            <a:ext cx="4114800" cy="65836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00"/>
              <a:buFont typeface="Calibri"/>
              <a:buNone/>
            </a:pPr>
            <a:r>
              <a:rPr b="0" i="0" lang="en-US" sz="1400" u="none" cap="none" strike="noStrike">
                <a:solidFill>
                  <a:srgbClr val="1B2B3A"/>
                </a:solidFill>
                <a:latin typeface="Calibri"/>
                <a:ea typeface="Calibri"/>
                <a:cs typeface="Calibri"/>
                <a:sym typeface="Calibri"/>
              </a:rPr>
              <a:t>Ante una amenaza visual, con ruido de barco</a:t>
            </a:r>
            <a:endParaRPr b="0" i="0" sz="1400" u="none" cap="none" strike="noStrike">
              <a:solidFill>
                <a:schemeClr val="dk1"/>
              </a:solidFill>
              <a:latin typeface="Calibri"/>
              <a:ea typeface="Calibri"/>
              <a:cs typeface="Calibri"/>
              <a:sym typeface="Calibri"/>
            </a:endParaRPr>
          </a:p>
        </p:txBody>
      </p:sp>
      <p:sp>
        <p:nvSpPr>
          <p:cNvPr id="503" name="Google Shape;503;p18"/>
          <p:cNvSpPr txBox="1"/>
          <p:nvPr/>
        </p:nvSpPr>
        <p:spPr>
          <a:xfrm>
            <a:off x="7406640" y="3447288"/>
            <a:ext cx="411480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150"/>
              <a:buFont typeface="Calibri"/>
              <a:buNone/>
            </a:pPr>
            <a:r>
              <a:rPr b="0" i="1" lang="en-US" sz="1150" u="none" cap="none" strike="noStrike">
                <a:solidFill>
                  <a:srgbClr val="5A6B7B"/>
                </a:solidFill>
                <a:latin typeface="Calibri"/>
                <a:ea typeface="Calibri"/>
                <a:cs typeface="Calibri"/>
                <a:sym typeface="Calibri"/>
              </a:rPr>
              <a:t>Voellmy et al., 2014</a:t>
            </a:r>
            <a:endParaRPr b="0" i="0" sz="1150" u="none" cap="none" strike="noStrike">
              <a:solidFill>
                <a:schemeClr val="dk1"/>
              </a:solidFill>
              <a:latin typeface="Calibri"/>
              <a:ea typeface="Calibri"/>
              <a:cs typeface="Calibri"/>
              <a:sym typeface="Calibri"/>
            </a:endParaRPr>
          </a:p>
        </p:txBody>
      </p:sp>
      <p:sp>
        <p:nvSpPr>
          <p:cNvPr id="504" name="Google Shape;504;p18"/>
          <p:cNvSpPr/>
          <p:nvPr/>
        </p:nvSpPr>
        <p:spPr>
          <a:xfrm>
            <a:off x="548640" y="3977640"/>
            <a:ext cx="11109960" cy="1143000"/>
          </a:xfrm>
          <a:prstGeom prst="roundRect">
            <a:avLst>
              <a:gd fmla="val 6400" name="adj"/>
            </a:avLst>
          </a:prstGeom>
          <a:solidFill>
            <a:srgbClr val="EEF4F8"/>
          </a:solidFill>
          <a:ln cap="flat" cmpd="sng" w="12700">
            <a:solidFill>
              <a:srgbClr val="D5E0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8"/>
          <p:cNvSpPr txBox="1"/>
          <p:nvPr/>
        </p:nvSpPr>
        <p:spPr>
          <a:xfrm>
            <a:off x="777240" y="4087368"/>
            <a:ext cx="2651760" cy="4572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000"/>
              <a:buFont typeface="Calibri"/>
              <a:buNone/>
            </a:pPr>
            <a:r>
              <a:rPr b="1" i="0" lang="en-US" sz="2000" u="none" cap="none" strike="noStrike">
                <a:solidFill>
                  <a:srgbClr val="0B2A4A"/>
                </a:solidFill>
                <a:latin typeface="Calibri"/>
                <a:ea typeface="Calibri"/>
                <a:cs typeface="Calibri"/>
                <a:sym typeface="Calibri"/>
              </a:rPr>
              <a:t>Piscardo</a:t>
            </a:r>
            <a:endParaRPr b="0" i="0" sz="2000" u="none" cap="none" strike="noStrike">
              <a:solidFill>
                <a:schemeClr val="dk1"/>
              </a:solidFill>
              <a:latin typeface="Calibri"/>
              <a:ea typeface="Calibri"/>
              <a:cs typeface="Calibri"/>
              <a:sym typeface="Calibri"/>
            </a:endParaRPr>
          </a:p>
        </p:txBody>
      </p:sp>
      <p:sp>
        <p:nvSpPr>
          <p:cNvPr id="506" name="Google Shape;506;p18"/>
          <p:cNvSpPr txBox="1"/>
          <p:nvPr/>
        </p:nvSpPr>
        <p:spPr>
          <a:xfrm>
            <a:off x="777240" y="4544568"/>
            <a:ext cx="265176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400"/>
              <a:buFont typeface="Calibri"/>
              <a:buNone/>
            </a:pPr>
            <a:r>
              <a:rPr b="0" i="1" lang="en-US" sz="1400" u="none" cap="none" strike="noStrike">
                <a:solidFill>
                  <a:srgbClr val="5A6B7B"/>
                </a:solidFill>
                <a:latin typeface="Calibri"/>
                <a:ea typeface="Calibri"/>
                <a:cs typeface="Calibri"/>
                <a:sym typeface="Calibri"/>
              </a:rPr>
              <a:t>Phoxinus phoxinus</a:t>
            </a:r>
            <a:endParaRPr b="0" i="0" sz="1400" u="none" cap="none" strike="noStrike">
              <a:solidFill>
                <a:schemeClr val="dk1"/>
              </a:solidFill>
              <a:latin typeface="Calibri"/>
              <a:ea typeface="Calibri"/>
              <a:cs typeface="Calibri"/>
              <a:sym typeface="Calibri"/>
            </a:endParaRPr>
          </a:p>
        </p:txBody>
      </p:sp>
      <p:pic>
        <p:nvPicPr>
          <p:cNvPr descr="preencoded.png" id="507" name="Google Shape;507;p18"/>
          <p:cNvPicPr preferRelativeResize="0"/>
          <p:nvPr/>
        </p:nvPicPr>
        <p:blipFill rotWithShape="1">
          <a:blip r:embed="rId5">
            <a:alphaModFix/>
          </a:blip>
          <a:srcRect b="0" l="0" r="0" t="0"/>
          <a:stretch/>
        </p:blipFill>
        <p:spPr>
          <a:xfrm>
            <a:off x="3566160" y="4297680"/>
            <a:ext cx="502920" cy="502920"/>
          </a:xfrm>
          <a:prstGeom prst="rect">
            <a:avLst/>
          </a:prstGeom>
          <a:noFill/>
          <a:ln>
            <a:noFill/>
          </a:ln>
        </p:spPr>
      </p:pic>
      <p:sp>
        <p:nvSpPr>
          <p:cNvPr id="508" name="Google Shape;508;p18"/>
          <p:cNvSpPr txBox="1"/>
          <p:nvPr/>
        </p:nvSpPr>
        <p:spPr>
          <a:xfrm>
            <a:off x="3337560" y="4800600"/>
            <a:ext cx="960120"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1050"/>
              <a:buFont typeface="Calibri"/>
              <a:buNone/>
            </a:pPr>
            <a:r>
              <a:rPr b="0" i="0" lang="en-US" sz="1050" u="none" cap="none" strike="noStrike">
                <a:solidFill>
                  <a:srgbClr val="5A6B7B"/>
                </a:solidFill>
                <a:latin typeface="Calibri"/>
                <a:ea typeface="Calibri"/>
                <a:cs typeface="Calibri"/>
                <a:sym typeface="Calibri"/>
              </a:rPr>
              <a:t>latencia</a:t>
            </a:r>
            <a:endParaRPr b="0" i="0" sz="1050" u="none" cap="none" strike="noStrike">
              <a:solidFill>
                <a:schemeClr val="dk1"/>
              </a:solidFill>
              <a:latin typeface="Calibri"/>
              <a:ea typeface="Calibri"/>
              <a:cs typeface="Calibri"/>
              <a:sym typeface="Calibri"/>
            </a:endParaRPr>
          </a:p>
        </p:txBody>
      </p:sp>
      <p:sp>
        <p:nvSpPr>
          <p:cNvPr id="509" name="Google Shape;509;p18"/>
          <p:cNvSpPr txBox="1"/>
          <p:nvPr/>
        </p:nvSpPr>
        <p:spPr>
          <a:xfrm>
            <a:off x="4389120" y="4087368"/>
            <a:ext cx="2926080" cy="9144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900"/>
              <a:buFont typeface="Calibri"/>
              <a:buNone/>
            </a:pPr>
            <a:r>
              <a:rPr b="1" i="0" lang="en-US" sz="1900" u="none" cap="none" strike="noStrike">
                <a:solidFill>
                  <a:srgbClr val="5A6B7B"/>
                </a:solidFill>
                <a:latin typeface="Calibri"/>
                <a:ea typeface="Calibri"/>
                <a:cs typeface="Calibri"/>
                <a:sym typeface="Calibri"/>
              </a:rPr>
              <a:t>SIN CAMBIO</a:t>
            </a:r>
            <a:endParaRPr b="0" i="0" sz="1900" u="none" cap="none" strike="noStrike">
              <a:solidFill>
                <a:schemeClr val="dk1"/>
              </a:solidFill>
              <a:latin typeface="Calibri"/>
              <a:ea typeface="Calibri"/>
              <a:cs typeface="Calibri"/>
              <a:sym typeface="Calibri"/>
            </a:endParaRPr>
          </a:p>
        </p:txBody>
      </p:sp>
      <p:sp>
        <p:nvSpPr>
          <p:cNvPr id="510" name="Google Shape;510;p18"/>
          <p:cNvSpPr txBox="1"/>
          <p:nvPr/>
        </p:nvSpPr>
        <p:spPr>
          <a:xfrm>
            <a:off x="7406640" y="4069080"/>
            <a:ext cx="4114800" cy="65836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00"/>
              <a:buFont typeface="Calibri"/>
              <a:buNone/>
            </a:pPr>
            <a:r>
              <a:rPr b="0" i="0" lang="en-US" sz="1400" u="none" cap="none" strike="noStrike">
                <a:solidFill>
                  <a:srgbClr val="1B2B3A"/>
                </a:solidFill>
                <a:latin typeface="Calibri"/>
                <a:ea typeface="Calibri"/>
                <a:cs typeface="Calibri"/>
                <a:sym typeface="Calibri"/>
              </a:rPr>
              <a:t>Mismo experimento; la probabilidad de responder tampoco cambió en ninguna especie</a:t>
            </a:r>
            <a:endParaRPr b="0" i="0" sz="1400" u="none" cap="none" strike="noStrike">
              <a:solidFill>
                <a:schemeClr val="dk1"/>
              </a:solidFill>
              <a:latin typeface="Calibri"/>
              <a:ea typeface="Calibri"/>
              <a:cs typeface="Calibri"/>
              <a:sym typeface="Calibri"/>
            </a:endParaRPr>
          </a:p>
        </p:txBody>
      </p:sp>
      <p:sp>
        <p:nvSpPr>
          <p:cNvPr id="511" name="Google Shape;511;p18"/>
          <p:cNvSpPr txBox="1"/>
          <p:nvPr/>
        </p:nvSpPr>
        <p:spPr>
          <a:xfrm>
            <a:off x="7406640" y="4727448"/>
            <a:ext cx="411480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150"/>
              <a:buFont typeface="Calibri"/>
              <a:buNone/>
            </a:pPr>
            <a:r>
              <a:rPr b="0" i="1" lang="en-US" sz="1150" u="none" cap="none" strike="noStrike">
                <a:solidFill>
                  <a:srgbClr val="5A6B7B"/>
                </a:solidFill>
                <a:latin typeface="Calibri"/>
                <a:ea typeface="Calibri"/>
                <a:cs typeface="Calibri"/>
                <a:sym typeface="Calibri"/>
              </a:rPr>
              <a:t>Voellmy et al., 2014</a:t>
            </a:r>
            <a:endParaRPr b="0" i="0" sz="1150" u="none" cap="none" strike="noStrike">
              <a:solidFill>
                <a:schemeClr val="dk1"/>
              </a:solidFill>
              <a:latin typeface="Calibri"/>
              <a:ea typeface="Calibri"/>
              <a:cs typeface="Calibri"/>
              <a:sym typeface="Calibri"/>
            </a:endParaRPr>
          </a:p>
        </p:txBody>
      </p:sp>
      <p:sp>
        <p:nvSpPr>
          <p:cNvPr id="512" name="Google Shape;512;p18"/>
          <p:cNvSpPr/>
          <p:nvPr/>
        </p:nvSpPr>
        <p:spPr>
          <a:xfrm>
            <a:off x="548640" y="5349240"/>
            <a:ext cx="11109960" cy="822960"/>
          </a:xfrm>
          <a:prstGeom prst="roundRect">
            <a:avLst>
              <a:gd fmla="val 8889" name="adj"/>
            </a:avLst>
          </a:prstGeom>
          <a:solidFill>
            <a:srgbClr val="E3F4F3"/>
          </a:solidFill>
          <a:ln cap="flat" cmpd="sng" w="12700">
            <a:solidFill>
              <a:srgbClr val="E3F4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8"/>
          <p:cNvSpPr txBox="1"/>
          <p:nvPr/>
        </p:nvSpPr>
        <p:spPr>
          <a:xfrm>
            <a:off x="777240" y="5349240"/>
            <a:ext cx="10698480" cy="8229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450"/>
              <a:buFont typeface="Calibri"/>
              <a:buNone/>
            </a:pPr>
            <a:r>
              <a:rPr b="0" i="0" lang="en-US" sz="1450" u="none" cap="none" strike="noStrike">
                <a:solidFill>
                  <a:srgbClr val="0B2A4A"/>
                </a:solidFill>
                <a:latin typeface="Calibri"/>
                <a:ea typeface="Calibri"/>
                <a:cs typeface="Calibri"/>
                <a:sym typeface="Calibri"/>
              </a:rPr>
              <a:t>Más rápido ≠ más seguro (puede ser hipervigilancia)  ·  Los dos estudios de damiselas comparten autores; su independencia no está verificada</a:t>
            </a:r>
            <a:endParaRPr b="0" i="0" sz="1450" u="none" cap="none" strike="noStrike">
              <a:solidFill>
                <a:schemeClr val="dk1"/>
              </a:solidFill>
              <a:latin typeface="Calibri"/>
              <a:ea typeface="Calibri"/>
              <a:cs typeface="Calibri"/>
              <a:sym typeface="Calibri"/>
            </a:endParaRPr>
          </a:p>
        </p:txBody>
      </p:sp>
      <p:sp>
        <p:nvSpPr>
          <p:cNvPr id="514" name="Google Shape;514;p18"/>
          <p:cNvSpPr txBox="1"/>
          <p:nvPr/>
        </p:nvSpPr>
        <p:spPr>
          <a:xfrm>
            <a:off x="548640" y="6382512"/>
            <a:ext cx="10241280" cy="29260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McCormick et al., 2019  ·  Velasquez Jimenez et al., 2020  ·  Voellmy et al., 2014</a:t>
            </a:r>
            <a:endParaRPr b="0" i="0" sz="1200" u="none" cap="none" strike="noStrike">
              <a:solidFill>
                <a:schemeClr val="dk1"/>
              </a:solidFill>
              <a:latin typeface="Calibri"/>
              <a:ea typeface="Calibri"/>
              <a:cs typeface="Calibri"/>
              <a:sym typeface="Calibri"/>
            </a:endParaRPr>
          </a:p>
        </p:txBody>
      </p:sp>
      <p:sp>
        <p:nvSpPr>
          <p:cNvPr id="515" name="Google Shape;515;p18"/>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16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0" name="Shape 520"/>
        <p:cNvGrpSpPr/>
        <p:nvPr/>
      </p:nvGrpSpPr>
      <p:grpSpPr>
        <a:xfrm>
          <a:off x="0" y="0"/>
          <a:ext cx="0" cy="0"/>
          <a:chOff x="0" y="0"/>
          <a:chExt cx="0" cy="0"/>
        </a:xfrm>
      </p:grpSpPr>
      <p:sp>
        <p:nvSpPr>
          <p:cNvPr id="521" name="Google Shape;521;p19"/>
          <p:cNvSpPr/>
          <p:nvPr/>
        </p:nvSpPr>
        <p:spPr>
          <a:xfrm>
            <a:off x="558058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9"/>
          <p:cNvSpPr txBox="1"/>
          <p:nvPr/>
        </p:nvSpPr>
        <p:spPr>
          <a:xfrm>
            <a:off x="558058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CAMPO</a:t>
            </a:r>
            <a:endParaRPr b="0" i="0" sz="950" u="none" cap="none" strike="noStrike">
              <a:solidFill>
                <a:schemeClr val="dk1"/>
              </a:solidFill>
              <a:latin typeface="Calibri"/>
              <a:ea typeface="Calibri"/>
              <a:cs typeface="Calibri"/>
              <a:sym typeface="Calibri"/>
            </a:endParaRPr>
          </a:p>
        </p:txBody>
      </p:sp>
      <p:sp>
        <p:nvSpPr>
          <p:cNvPr id="523" name="Google Shape;523;p19"/>
          <p:cNvSpPr/>
          <p:nvPr/>
        </p:nvSpPr>
        <p:spPr>
          <a:xfrm>
            <a:off x="681502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9"/>
          <p:cNvSpPr txBox="1"/>
          <p:nvPr/>
        </p:nvSpPr>
        <p:spPr>
          <a:xfrm>
            <a:off x="681502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PERCEPCIÓN</a:t>
            </a:r>
            <a:endParaRPr b="0" i="0" sz="950" u="none" cap="none" strike="noStrike">
              <a:solidFill>
                <a:schemeClr val="dk1"/>
              </a:solidFill>
              <a:latin typeface="Calibri"/>
              <a:ea typeface="Calibri"/>
              <a:cs typeface="Calibri"/>
              <a:sym typeface="Calibri"/>
            </a:endParaRPr>
          </a:p>
        </p:txBody>
      </p:sp>
      <p:sp>
        <p:nvSpPr>
          <p:cNvPr id="525" name="Google Shape;525;p19"/>
          <p:cNvSpPr/>
          <p:nvPr/>
        </p:nvSpPr>
        <p:spPr>
          <a:xfrm>
            <a:off x="804946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9"/>
          <p:cNvSpPr txBox="1"/>
          <p:nvPr/>
        </p:nvSpPr>
        <p:spPr>
          <a:xfrm>
            <a:off x="804946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INFORMACIÓN</a:t>
            </a:r>
            <a:endParaRPr b="0" i="0" sz="950" u="none" cap="none" strike="noStrike">
              <a:solidFill>
                <a:schemeClr val="dk1"/>
              </a:solidFill>
              <a:latin typeface="Calibri"/>
              <a:ea typeface="Calibri"/>
              <a:cs typeface="Calibri"/>
              <a:sym typeface="Calibri"/>
            </a:endParaRPr>
          </a:p>
        </p:txBody>
      </p:sp>
      <p:sp>
        <p:nvSpPr>
          <p:cNvPr id="527" name="Google Shape;527;p19"/>
          <p:cNvSpPr/>
          <p:nvPr/>
        </p:nvSpPr>
        <p:spPr>
          <a:xfrm>
            <a:off x="9283903" y="182880"/>
            <a:ext cx="1170432" cy="274320"/>
          </a:xfrm>
          <a:prstGeom prst="roundRect">
            <a:avLst>
              <a:gd fmla="val 50000"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19"/>
          <p:cNvSpPr txBox="1"/>
          <p:nvPr/>
        </p:nvSpPr>
        <p:spPr>
          <a:xfrm>
            <a:off x="928390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RESPUESTA</a:t>
            </a:r>
            <a:endParaRPr b="0" i="0" sz="950" u="none" cap="none" strike="noStrike">
              <a:solidFill>
                <a:schemeClr val="dk1"/>
              </a:solidFill>
              <a:latin typeface="Calibri"/>
              <a:ea typeface="Calibri"/>
              <a:cs typeface="Calibri"/>
              <a:sym typeface="Calibri"/>
            </a:endParaRPr>
          </a:p>
        </p:txBody>
      </p:sp>
      <p:sp>
        <p:nvSpPr>
          <p:cNvPr id="529" name="Google Shape;529;p19"/>
          <p:cNvSpPr/>
          <p:nvPr/>
        </p:nvSpPr>
        <p:spPr>
          <a:xfrm>
            <a:off x="10518343" y="182880"/>
            <a:ext cx="1170432" cy="274320"/>
          </a:xfrm>
          <a:prstGeom prst="roundRect">
            <a:avLst>
              <a:gd fmla="val 50000"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9"/>
          <p:cNvSpPr txBox="1"/>
          <p:nvPr/>
        </p:nvSpPr>
        <p:spPr>
          <a:xfrm>
            <a:off x="1051834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APLICACIÓN</a:t>
            </a:r>
            <a:endParaRPr b="0" i="0" sz="950" u="none" cap="none" strike="noStrike">
              <a:solidFill>
                <a:schemeClr val="dk1"/>
              </a:solidFill>
              <a:latin typeface="Calibri"/>
              <a:ea typeface="Calibri"/>
              <a:cs typeface="Calibri"/>
              <a:sym typeface="Calibri"/>
            </a:endParaRPr>
          </a:p>
        </p:txBody>
      </p:sp>
      <p:sp>
        <p:nvSpPr>
          <p:cNvPr id="531" name="Google Shape;531;p19"/>
          <p:cNvSpPr txBox="1"/>
          <p:nvPr/>
        </p:nvSpPr>
        <p:spPr>
          <a:xfrm>
            <a:off x="548640" y="54864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300"/>
              <a:buFont typeface="Calibri"/>
              <a:buNone/>
            </a:pPr>
            <a:r>
              <a:rPr b="1" i="0" lang="en-US" sz="2300" u="none" cap="none" strike="noStrike">
                <a:solidFill>
                  <a:srgbClr val="0B2A4A"/>
                </a:solidFill>
                <a:latin typeface="Calibri"/>
                <a:ea typeface="Calibri"/>
                <a:cs typeface="Calibri"/>
                <a:sym typeface="Calibri"/>
              </a:rPr>
              <a:t>Menor supervivencia en un arrecife; sin cambios detectables en una prospección sísmica</a:t>
            </a:r>
            <a:endParaRPr b="0" i="0" sz="2300" u="none" cap="none" strike="noStrike">
              <a:solidFill>
                <a:schemeClr val="dk1"/>
              </a:solidFill>
              <a:latin typeface="Calibri"/>
              <a:ea typeface="Calibri"/>
              <a:cs typeface="Calibri"/>
              <a:sym typeface="Calibri"/>
            </a:endParaRPr>
          </a:p>
        </p:txBody>
      </p:sp>
      <p:sp>
        <p:nvSpPr>
          <p:cNvPr id="532" name="Google Shape;532;p19"/>
          <p:cNvSpPr/>
          <p:nvPr/>
        </p:nvSpPr>
        <p:spPr>
          <a:xfrm>
            <a:off x="548640" y="1417320"/>
            <a:ext cx="5486400" cy="4754880"/>
          </a:xfrm>
          <a:prstGeom prst="roundRect">
            <a:avLst>
              <a:gd fmla="val 1538"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9"/>
          <p:cNvSpPr txBox="1"/>
          <p:nvPr/>
        </p:nvSpPr>
        <p:spPr>
          <a:xfrm>
            <a:off x="777240" y="1508760"/>
            <a:ext cx="502920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800"/>
              <a:buFont typeface="Calibri"/>
              <a:buNone/>
            </a:pPr>
            <a:r>
              <a:rPr b="1" i="0" lang="en-US" sz="1800" u="none" cap="none" strike="noStrike">
                <a:solidFill>
                  <a:srgbClr val="0B2A4A"/>
                </a:solidFill>
                <a:latin typeface="Calibri"/>
                <a:ea typeface="Calibri"/>
                <a:cs typeface="Calibri"/>
                <a:sym typeface="Calibri"/>
              </a:rPr>
              <a:t>Damiselas y ruido de lanchas</a:t>
            </a:r>
            <a:endParaRPr b="0" i="0" sz="1800" u="none" cap="none" strike="noStrike">
              <a:solidFill>
                <a:schemeClr val="dk1"/>
              </a:solidFill>
              <a:latin typeface="Calibri"/>
              <a:ea typeface="Calibri"/>
              <a:cs typeface="Calibri"/>
              <a:sym typeface="Calibri"/>
            </a:endParaRPr>
          </a:p>
        </p:txBody>
      </p:sp>
      <p:pic>
        <p:nvPicPr>
          <p:cNvPr id="534" name="Google Shape;534;p19"/>
          <p:cNvPicPr preferRelativeResize="0"/>
          <p:nvPr/>
        </p:nvPicPr>
        <p:blipFill rotWithShape="1">
          <a:blip r:embed="rId3">
            <a:alphaModFix/>
          </a:blip>
          <a:srcRect b="0" l="0" r="0" t="0"/>
          <a:stretch/>
        </p:blipFill>
        <p:spPr>
          <a:xfrm>
            <a:off x="731520" y="1920240"/>
            <a:ext cx="5120640" cy="3063240"/>
          </a:xfrm>
          <a:prstGeom prst="rect">
            <a:avLst/>
          </a:prstGeom>
          <a:noFill/>
          <a:ln>
            <a:noFill/>
          </a:ln>
        </p:spPr>
      </p:pic>
      <p:sp>
        <p:nvSpPr>
          <p:cNvPr id="535" name="Google Shape;535;p19"/>
          <p:cNvSpPr txBox="1"/>
          <p:nvPr/>
        </p:nvSpPr>
        <p:spPr>
          <a:xfrm>
            <a:off x="777240" y="5074920"/>
            <a:ext cx="502920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00"/>
              <a:buFont typeface="Calibri"/>
              <a:buNone/>
            </a:pPr>
            <a:r>
              <a:rPr b="1" i="0" lang="en-US" sz="1500" u="none" cap="none" strike="noStrike">
                <a:solidFill>
                  <a:srgbClr val="1B2B3A"/>
                </a:solidFill>
                <a:latin typeface="Calibri"/>
                <a:ea typeface="Calibri"/>
                <a:cs typeface="Calibri"/>
                <a:sym typeface="Calibri"/>
              </a:rPr>
              <a:t>Depredación ×2,9 en tanque y ×2,4 en campo</a:t>
            </a:r>
            <a:endParaRPr b="0" i="0" sz="1500" u="none" cap="none" strike="noStrike">
              <a:solidFill>
                <a:schemeClr val="dk1"/>
              </a:solidFill>
              <a:latin typeface="Calibri"/>
              <a:ea typeface="Calibri"/>
              <a:cs typeface="Calibri"/>
              <a:sym typeface="Calibri"/>
            </a:endParaRPr>
          </a:p>
        </p:txBody>
      </p:sp>
      <p:sp>
        <p:nvSpPr>
          <p:cNvPr id="536" name="Google Shape;536;p19"/>
          <p:cNvSpPr txBox="1"/>
          <p:nvPr/>
        </p:nvSpPr>
        <p:spPr>
          <a:xfrm>
            <a:off x="777240" y="5532120"/>
            <a:ext cx="502920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Simpson et al., 2016</a:t>
            </a:r>
            <a:endParaRPr b="0" i="0" sz="1200" u="none" cap="none" strike="noStrike">
              <a:solidFill>
                <a:schemeClr val="dk1"/>
              </a:solidFill>
              <a:latin typeface="Calibri"/>
              <a:ea typeface="Calibri"/>
              <a:cs typeface="Calibri"/>
              <a:sym typeface="Calibri"/>
            </a:endParaRPr>
          </a:p>
        </p:txBody>
      </p:sp>
      <p:sp>
        <p:nvSpPr>
          <p:cNvPr id="537" name="Google Shape;537;p19"/>
          <p:cNvSpPr/>
          <p:nvPr/>
        </p:nvSpPr>
        <p:spPr>
          <a:xfrm>
            <a:off x="6263640" y="1417320"/>
            <a:ext cx="5394960" cy="4754880"/>
          </a:xfrm>
          <a:prstGeom prst="roundRect">
            <a:avLst>
              <a:gd fmla="val 1538" name="adj"/>
            </a:avLst>
          </a:prstGeom>
          <a:solidFill>
            <a:srgbClr val="F3F5F7"/>
          </a:solidFill>
          <a:ln cap="flat" cmpd="sng" w="12700">
            <a:solidFill>
              <a:srgbClr val="F3F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9"/>
          <p:cNvSpPr txBox="1"/>
          <p:nvPr/>
        </p:nvSpPr>
        <p:spPr>
          <a:xfrm>
            <a:off x="6492240" y="1508760"/>
            <a:ext cx="493776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800"/>
              <a:buFont typeface="Calibri"/>
              <a:buNone/>
            </a:pPr>
            <a:r>
              <a:rPr b="1" i="0" lang="en-US" sz="1800" u="none" cap="none" strike="noStrike">
                <a:solidFill>
                  <a:srgbClr val="0B2A4A"/>
                </a:solidFill>
                <a:latin typeface="Calibri"/>
                <a:ea typeface="Calibri"/>
                <a:cs typeface="Calibri"/>
                <a:sym typeface="Calibri"/>
              </a:rPr>
              <a:t>Prospección sísmica real (diseño MBACI)</a:t>
            </a:r>
            <a:endParaRPr b="0" i="0" sz="1800" u="none" cap="none" strike="noStrike">
              <a:solidFill>
                <a:schemeClr val="dk1"/>
              </a:solidFill>
              <a:latin typeface="Calibri"/>
              <a:ea typeface="Calibri"/>
              <a:cs typeface="Calibri"/>
              <a:sym typeface="Calibri"/>
            </a:endParaRPr>
          </a:p>
        </p:txBody>
      </p:sp>
      <p:sp>
        <p:nvSpPr>
          <p:cNvPr id="539" name="Google Shape;539;p19"/>
          <p:cNvSpPr txBox="1"/>
          <p:nvPr/>
        </p:nvSpPr>
        <p:spPr>
          <a:xfrm>
            <a:off x="6492240" y="2057400"/>
            <a:ext cx="493776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F6F9F"/>
              </a:buClr>
              <a:buSzPts val="4800"/>
              <a:buFont typeface="Calibri"/>
              <a:buNone/>
            </a:pPr>
            <a:r>
              <a:rPr b="1" i="0" lang="en-US" sz="4800" u="none" cap="none" strike="noStrike">
                <a:solidFill>
                  <a:srgbClr val="1F6F9F"/>
                </a:solidFill>
                <a:latin typeface="Calibri"/>
                <a:ea typeface="Calibri"/>
                <a:cs typeface="Calibri"/>
                <a:sym typeface="Calibri"/>
              </a:rPr>
              <a:t>629</a:t>
            </a:r>
            <a:endParaRPr b="0" i="0" sz="4800" u="none" cap="none" strike="noStrike">
              <a:solidFill>
                <a:schemeClr val="dk1"/>
              </a:solidFill>
              <a:latin typeface="Calibri"/>
              <a:ea typeface="Calibri"/>
              <a:cs typeface="Calibri"/>
              <a:sym typeface="Calibri"/>
            </a:endParaRPr>
          </a:p>
        </p:txBody>
      </p:sp>
      <p:sp>
        <p:nvSpPr>
          <p:cNvPr id="540" name="Google Shape;540;p19"/>
          <p:cNvSpPr txBox="1"/>
          <p:nvPr/>
        </p:nvSpPr>
        <p:spPr>
          <a:xfrm>
            <a:off x="6492240" y="2926080"/>
            <a:ext cx="493776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00"/>
              <a:buFont typeface="Calibri"/>
              <a:buNone/>
            </a:pPr>
            <a:r>
              <a:rPr b="0" i="0" lang="en-US" sz="1500" u="none" cap="none" strike="noStrike">
                <a:solidFill>
                  <a:srgbClr val="1B2B3A"/>
                </a:solidFill>
                <a:latin typeface="Calibri"/>
                <a:ea typeface="Calibri"/>
                <a:cs typeface="Calibri"/>
                <a:sym typeface="Calibri"/>
              </a:rPr>
              <a:t>despliegues de vídeo en 144 sitios</a:t>
            </a:r>
            <a:endParaRPr b="0" i="0" sz="1500" u="none" cap="none" strike="noStrike">
              <a:solidFill>
                <a:schemeClr val="dk1"/>
              </a:solidFill>
              <a:latin typeface="Calibri"/>
              <a:ea typeface="Calibri"/>
              <a:cs typeface="Calibri"/>
              <a:sym typeface="Calibri"/>
            </a:endParaRPr>
          </a:p>
        </p:txBody>
      </p:sp>
      <p:sp>
        <p:nvSpPr>
          <p:cNvPr id="541" name="Google Shape;541;p19"/>
          <p:cNvSpPr txBox="1"/>
          <p:nvPr/>
        </p:nvSpPr>
        <p:spPr>
          <a:xfrm>
            <a:off x="6492240" y="3474720"/>
            <a:ext cx="493776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800"/>
              <a:buFont typeface="Calibri"/>
              <a:buNone/>
            </a:pPr>
            <a:r>
              <a:rPr b="1" i="0" lang="en-US" sz="1800" u="none" cap="none" strike="noStrike">
                <a:solidFill>
                  <a:srgbClr val="0B2A4A"/>
                </a:solidFill>
                <a:latin typeface="Calibri"/>
                <a:ea typeface="Calibri"/>
                <a:cs typeface="Calibri"/>
                <a:sym typeface="Calibri"/>
              </a:rPr>
              <a:t>Sin declive ni desplazamiento persistente detectable en la fauna demersal</a:t>
            </a:r>
            <a:endParaRPr b="0" i="0" sz="1800" u="none" cap="none" strike="noStrike">
              <a:solidFill>
                <a:schemeClr val="dk1"/>
              </a:solidFill>
              <a:latin typeface="Calibri"/>
              <a:ea typeface="Calibri"/>
              <a:cs typeface="Calibri"/>
              <a:sym typeface="Calibri"/>
            </a:endParaRPr>
          </a:p>
        </p:txBody>
      </p:sp>
      <p:sp>
        <p:nvSpPr>
          <p:cNvPr id="542" name="Google Shape;542;p19"/>
          <p:cNvSpPr txBox="1"/>
          <p:nvPr/>
        </p:nvSpPr>
        <p:spPr>
          <a:xfrm>
            <a:off x="6492240" y="4434840"/>
            <a:ext cx="4937760" cy="6400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8432F"/>
              </a:buClr>
              <a:buSzPts val="1400"/>
              <a:buFont typeface="Calibri"/>
              <a:buNone/>
            </a:pPr>
            <a:r>
              <a:rPr b="0" i="0" lang="en-US" sz="1400" u="none" cap="none" strike="noStrike">
                <a:solidFill>
                  <a:srgbClr val="B8432F"/>
                </a:solidFill>
                <a:latin typeface="Calibri"/>
                <a:ea typeface="Calibri"/>
                <a:cs typeface="Calibri"/>
                <a:sym typeface="Calibri"/>
              </a:rPr>
              <a:t>Censos a 1–2 meses: no descarta efectos agudos o pequeños</a:t>
            </a:r>
            <a:endParaRPr b="0" i="0" sz="1400" u="none" cap="none" strike="noStrike">
              <a:solidFill>
                <a:schemeClr val="dk1"/>
              </a:solidFill>
              <a:latin typeface="Calibri"/>
              <a:ea typeface="Calibri"/>
              <a:cs typeface="Calibri"/>
              <a:sym typeface="Calibri"/>
            </a:endParaRPr>
          </a:p>
        </p:txBody>
      </p:sp>
      <p:sp>
        <p:nvSpPr>
          <p:cNvPr id="543" name="Google Shape;543;p19"/>
          <p:cNvSpPr txBox="1"/>
          <p:nvPr/>
        </p:nvSpPr>
        <p:spPr>
          <a:xfrm>
            <a:off x="6492240" y="5532120"/>
            <a:ext cx="4937760"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Meekan et al., 2021</a:t>
            </a:r>
            <a:endParaRPr b="0" i="0" sz="1200" u="none" cap="none" strike="noStrike">
              <a:solidFill>
                <a:schemeClr val="dk1"/>
              </a:solidFill>
              <a:latin typeface="Calibri"/>
              <a:ea typeface="Calibri"/>
              <a:cs typeface="Calibri"/>
              <a:sym typeface="Calibri"/>
            </a:endParaRPr>
          </a:p>
        </p:txBody>
      </p:sp>
      <p:sp>
        <p:nvSpPr>
          <p:cNvPr id="544" name="Google Shape;544;p19"/>
          <p:cNvSpPr txBox="1"/>
          <p:nvPr/>
        </p:nvSpPr>
        <p:spPr>
          <a:xfrm>
            <a:off x="548640" y="6382512"/>
            <a:ext cx="10241280" cy="29260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Distintas fuentes, especies, escalas y tiempos: no responden a la misma pregunta</a:t>
            </a:r>
            <a:endParaRPr b="0" i="0" sz="1200" u="none" cap="none" strike="noStrike">
              <a:solidFill>
                <a:schemeClr val="dk1"/>
              </a:solidFill>
              <a:latin typeface="Calibri"/>
              <a:ea typeface="Calibri"/>
              <a:cs typeface="Calibri"/>
              <a:sym typeface="Calibri"/>
            </a:endParaRPr>
          </a:p>
        </p:txBody>
      </p:sp>
      <p:sp>
        <p:nvSpPr>
          <p:cNvPr id="545" name="Google Shape;545;p19"/>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17</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0" name="Shape 550"/>
        <p:cNvGrpSpPr/>
        <p:nvPr/>
      </p:nvGrpSpPr>
      <p:grpSpPr>
        <a:xfrm>
          <a:off x="0" y="0"/>
          <a:ext cx="0" cy="0"/>
          <a:chOff x="0" y="0"/>
          <a:chExt cx="0" cy="0"/>
        </a:xfrm>
      </p:grpSpPr>
      <p:sp>
        <p:nvSpPr>
          <p:cNvPr id="551" name="Google Shape;551;p20"/>
          <p:cNvSpPr/>
          <p:nvPr/>
        </p:nvSpPr>
        <p:spPr>
          <a:xfrm>
            <a:off x="5580583" y="182880"/>
            <a:ext cx="1170432" cy="274320"/>
          </a:xfrm>
          <a:prstGeom prst="roundRect">
            <a:avLst>
              <a:gd fmla="val 50000"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0"/>
          <p:cNvSpPr txBox="1"/>
          <p:nvPr/>
        </p:nvSpPr>
        <p:spPr>
          <a:xfrm>
            <a:off x="558058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CAMPO</a:t>
            </a:r>
            <a:endParaRPr b="0" i="0" sz="950" u="none" cap="none" strike="noStrike">
              <a:solidFill>
                <a:schemeClr val="dk1"/>
              </a:solidFill>
              <a:latin typeface="Calibri"/>
              <a:ea typeface="Calibri"/>
              <a:cs typeface="Calibri"/>
              <a:sym typeface="Calibri"/>
            </a:endParaRPr>
          </a:p>
        </p:txBody>
      </p:sp>
      <p:sp>
        <p:nvSpPr>
          <p:cNvPr id="553" name="Google Shape;553;p20"/>
          <p:cNvSpPr/>
          <p:nvPr/>
        </p:nvSpPr>
        <p:spPr>
          <a:xfrm>
            <a:off x="6815023" y="182880"/>
            <a:ext cx="1170432" cy="274320"/>
          </a:xfrm>
          <a:prstGeom prst="roundRect">
            <a:avLst>
              <a:gd fmla="val 50000"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0"/>
          <p:cNvSpPr txBox="1"/>
          <p:nvPr/>
        </p:nvSpPr>
        <p:spPr>
          <a:xfrm>
            <a:off x="681502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PERCEPCIÓN</a:t>
            </a:r>
            <a:endParaRPr b="0" i="0" sz="950" u="none" cap="none" strike="noStrike">
              <a:solidFill>
                <a:schemeClr val="dk1"/>
              </a:solidFill>
              <a:latin typeface="Calibri"/>
              <a:ea typeface="Calibri"/>
              <a:cs typeface="Calibri"/>
              <a:sym typeface="Calibri"/>
            </a:endParaRPr>
          </a:p>
        </p:txBody>
      </p:sp>
      <p:sp>
        <p:nvSpPr>
          <p:cNvPr id="555" name="Google Shape;555;p20"/>
          <p:cNvSpPr/>
          <p:nvPr/>
        </p:nvSpPr>
        <p:spPr>
          <a:xfrm>
            <a:off x="804946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20"/>
          <p:cNvSpPr txBox="1"/>
          <p:nvPr/>
        </p:nvSpPr>
        <p:spPr>
          <a:xfrm>
            <a:off x="804946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INFORMACIÓN</a:t>
            </a:r>
            <a:endParaRPr b="0" i="0" sz="950" u="none" cap="none" strike="noStrike">
              <a:solidFill>
                <a:schemeClr val="dk1"/>
              </a:solidFill>
              <a:latin typeface="Calibri"/>
              <a:ea typeface="Calibri"/>
              <a:cs typeface="Calibri"/>
              <a:sym typeface="Calibri"/>
            </a:endParaRPr>
          </a:p>
        </p:txBody>
      </p:sp>
      <p:sp>
        <p:nvSpPr>
          <p:cNvPr id="557" name="Google Shape;557;p20"/>
          <p:cNvSpPr/>
          <p:nvPr/>
        </p:nvSpPr>
        <p:spPr>
          <a:xfrm>
            <a:off x="9283903" y="182880"/>
            <a:ext cx="1170432" cy="274320"/>
          </a:xfrm>
          <a:prstGeom prst="roundRect">
            <a:avLst>
              <a:gd fmla="val 50000"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0"/>
          <p:cNvSpPr txBox="1"/>
          <p:nvPr/>
        </p:nvSpPr>
        <p:spPr>
          <a:xfrm>
            <a:off x="928390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RESPUESTA</a:t>
            </a:r>
            <a:endParaRPr b="0" i="0" sz="950" u="none" cap="none" strike="noStrike">
              <a:solidFill>
                <a:schemeClr val="dk1"/>
              </a:solidFill>
              <a:latin typeface="Calibri"/>
              <a:ea typeface="Calibri"/>
              <a:cs typeface="Calibri"/>
              <a:sym typeface="Calibri"/>
            </a:endParaRPr>
          </a:p>
        </p:txBody>
      </p:sp>
      <p:sp>
        <p:nvSpPr>
          <p:cNvPr id="559" name="Google Shape;559;p20"/>
          <p:cNvSpPr/>
          <p:nvPr/>
        </p:nvSpPr>
        <p:spPr>
          <a:xfrm>
            <a:off x="10518343" y="182880"/>
            <a:ext cx="1170432" cy="274320"/>
          </a:xfrm>
          <a:prstGeom prst="roundRect">
            <a:avLst>
              <a:gd fmla="val 50000" name="adj"/>
            </a:avLst>
          </a:prstGeom>
          <a:solidFill>
            <a:srgbClr val="E3EEF5"/>
          </a:solidFill>
          <a:ln cap="flat" cmpd="sng" w="12700">
            <a:solidFill>
              <a:srgbClr val="E3EEF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0"/>
          <p:cNvSpPr txBox="1"/>
          <p:nvPr/>
        </p:nvSpPr>
        <p:spPr>
          <a:xfrm>
            <a:off x="10518343" y="182880"/>
            <a:ext cx="1170432" cy="2743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950"/>
              <a:buFont typeface="Calibri"/>
              <a:buNone/>
            </a:pPr>
            <a:r>
              <a:rPr b="1" i="0" lang="en-US" sz="950" u="none" cap="none" strike="noStrike">
                <a:solidFill>
                  <a:srgbClr val="5A6B7B"/>
                </a:solidFill>
                <a:latin typeface="Calibri"/>
                <a:ea typeface="Calibri"/>
                <a:cs typeface="Calibri"/>
                <a:sym typeface="Calibri"/>
              </a:rPr>
              <a:t>APLICACIÓN</a:t>
            </a:r>
            <a:endParaRPr b="0" i="0" sz="950" u="none" cap="none" strike="noStrike">
              <a:solidFill>
                <a:schemeClr val="dk1"/>
              </a:solidFill>
              <a:latin typeface="Calibri"/>
              <a:ea typeface="Calibri"/>
              <a:cs typeface="Calibri"/>
              <a:sym typeface="Calibri"/>
            </a:endParaRPr>
          </a:p>
        </p:txBody>
      </p:sp>
      <p:sp>
        <p:nvSpPr>
          <p:cNvPr id="561" name="Google Shape;561;p20"/>
          <p:cNvSpPr txBox="1"/>
          <p:nvPr/>
        </p:nvSpPr>
        <p:spPr>
          <a:xfrm>
            <a:off x="548640" y="54864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800"/>
              <a:buFont typeface="Calibri"/>
              <a:buNone/>
            </a:pPr>
            <a:r>
              <a:rPr b="1" i="0" lang="en-US" sz="2800" u="none" cap="none" strike="noStrike">
                <a:solidFill>
                  <a:srgbClr val="0B2A4A"/>
                </a:solidFill>
                <a:latin typeface="Calibri"/>
                <a:ea typeface="Calibri"/>
                <a:cs typeface="Calibri"/>
                <a:sym typeface="Calibri"/>
              </a:rPr>
              <a:t>No es «más sonido = más respuesta»</a:t>
            </a:r>
            <a:endParaRPr b="0" i="0" sz="2800" u="none" cap="none" strike="noStrike">
              <a:solidFill>
                <a:schemeClr val="dk1"/>
              </a:solidFill>
              <a:latin typeface="Calibri"/>
              <a:ea typeface="Calibri"/>
              <a:cs typeface="Calibri"/>
              <a:sym typeface="Calibri"/>
            </a:endParaRPr>
          </a:p>
        </p:txBody>
      </p:sp>
      <p:sp>
        <p:nvSpPr>
          <p:cNvPr id="562" name="Google Shape;562;p20"/>
          <p:cNvSpPr/>
          <p:nvPr/>
        </p:nvSpPr>
        <p:spPr>
          <a:xfrm>
            <a:off x="548640" y="1371600"/>
            <a:ext cx="11109960" cy="914400"/>
          </a:xfrm>
          <a:prstGeom prst="roundRect">
            <a:avLst>
              <a:gd fmla="val 8000" name="adj"/>
            </a:avLst>
          </a:prstGeom>
          <a:solidFill>
            <a:srgbClr val="0B2A4A"/>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20"/>
          <p:cNvSpPr txBox="1"/>
          <p:nvPr/>
        </p:nvSpPr>
        <p:spPr>
          <a:xfrm>
            <a:off x="731520" y="1371600"/>
            <a:ext cx="10744200" cy="91440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3000"/>
              <a:buFont typeface="Calibri"/>
              <a:buNone/>
            </a:pPr>
            <a:r>
              <a:rPr b="1" i="0" lang="en-US" sz="3000" u="none" cap="none" strike="noStrike">
                <a:solidFill>
                  <a:srgbClr val="FFFFFF"/>
                </a:solidFill>
                <a:latin typeface="Calibri"/>
                <a:ea typeface="Calibri"/>
                <a:cs typeface="Calibri"/>
                <a:sym typeface="Calibri"/>
              </a:rPr>
              <a:t>respuesta  =  </a:t>
            </a:r>
            <a:r>
              <a:rPr b="1" i="0" lang="en-US" sz="3000" u="none" cap="none" strike="noStrike">
                <a:solidFill>
                  <a:srgbClr val="7FD3D1"/>
                </a:solidFill>
                <a:latin typeface="Calibri"/>
                <a:ea typeface="Calibri"/>
                <a:cs typeface="Calibri"/>
                <a:sym typeface="Calibri"/>
              </a:rPr>
              <a:t>campo acústico</a:t>
            </a:r>
            <a:r>
              <a:rPr b="1" i="0" lang="en-US" sz="3000" u="none" cap="none" strike="noStrike">
                <a:solidFill>
                  <a:srgbClr val="FFFFFF"/>
                </a:solidFill>
                <a:latin typeface="Calibri"/>
                <a:ea typeface="Calibri"/>
                <a:cs typeface="Calibri"/>
                <a:sym typeface="Calibri"/>
              </a:rPr>
              <a:t>  ×  </a:t>
            </a:r>
            <a:r>
              <a:rPr b="1" i="0" lang="en-US" sz="3000" u="none" cap="none" strike="noStrike">
                <a:solidFill>
                  <a:srgbClr val="9CC7E6"/>
                </a:solidFill>
                <a:latin typeface="Calibri"/>
                <a:ea typeface="Calibri"/>
                <a:cs typeface="Calibri"/>
                <a:sym typeface="Calibri"/>
              </a:rPr>
              <a:t>sistema sensorial</a:t>
            </a:r>
            <a:r>
              <a:rPr b="1" i="0" lang="en-US" sz="3000" u="none" cap="none" strike="noStrike">
                <a:solidFill>
                  <a:srgbClr val="FFFFFF"/>
                </a:solidFill>
                <a:latin typeface="Calibri"/>
                <a:ea typeface="Calibri"/>
                <a:cs typeface="Calibri"/>
                <a:sym typeface="Calibri"/>
              </a:rPr>
              <a:t>  ×  </a:t>
            </a:r>
            <a:r>
              <a:rPr b="1" i="0" lang="en-US" sz="3000" u="none" cap="none" strike="noStrike">
                <a:solidFill>
                  <a:srgbClr val="F4A594"/>
                </a:solidFill>
                <a:latin typeface="Calibri"/>
                <a:ea typeface="Calibri"/>
                <a:cs typeface="Calibri"/>
                <a:sym typeface="Calibri"/>
              </a:rPr>
              <a:t>contexto</a:t>
            </a:r>
            <a:endParaRPr b="0" i="0" sz="3000" u="none" cap="none" strike="noStrike">
              <a:solidFill>
                <a:schemeClr val="dk1"/>
              </a:solidFill>
              <a:latin typeface="Calibri"/>
              <a:ea typeface="Calibri"/>
              <a:cs typeface="Calibri"/>
              <a:sym typeface="Calibri"/>
            </a:endParaRPr>
          </a:p>
        </p:txBody>
      </p:sp>
      <p:sp>
        <p:nvSpPr>
          <p:cNvPr id="564" name="Google Shape;564;p20"/>
          <p:cNvSpPr/>
          <p:nvPr/>
        </p:nvSpPr>
        <p:spPr>
          <a:xfrm>
            <a:off x="548640" y="2514600"/>
            <a:ext cx="2075688" cy="3154680"/>
          </a:xfrm>
          <a:prstGeom prst="roundRect">
            <a:avLst>
              <a:gd fmla="val 3524"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20"/>
          <p:cNvSpPr txBox="1"/>
          <p:nvPr/>
        </p:nvSpPr>
        <p:spPr>
          <a:xfrm>
            <a:off x="658368" y="2606040"/>
            <a:ext cx="1856232"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4807E"/>
              </a:buClr>
              <a:buSzPts val="1050"/>
              <a:buFont typeface="Calibri"/>
              <a:buNone/>
            </a:pPr>
            <a:r>
              <a:rPr b="1" i="0" lang="en-US" sz="1050" u="none" cap="none" strike="noStrike">
                <a:solidFill>
                  <a:srgbClr val="14807E"/>
                </a:solidFill>
                <a:latin typeface="Calibri"/>
                <a:ea typeface="Calibri"/>
                <a:cs typeface="Calibri"/>
                <a:sym typeface="Calibri"/>
              </a:rPr>
              <a:t>SISTEMA SENSORIAL</a:t>
            </a:r>
            <a:endParaRPr b="0" i="0" sz="1050" u="none" cap="none" strike="noStrike">
              <a:solidFill>
                <a:schemeClr val="dk1"/>
              </a:solidFill>
              <a:latin typeface="Calibri"/>
              <a:ea typeface="Calibri"/>
              <a:cs typeface="Calibri"/>
              <a:sym typeface="Calibri"/>
            </a:endParaRPr>
          </a:p>
        </p:txBody>
      </p:sp>
      <p:sp>
        <p:nvSpPr>
          <p:cNvPr id="566" name="Google Shape;566;p20"/>
          <p:cNvSpPr txBox="1"/>
          <p:nvPr/>
        </p:nvSpPr>
        <p:spPr>
          <a:xfrm>
            <a:off x="658368" y="2926080"/>
            <a:ext cx="1856232" cy="3657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500"/>
              <a:buFont typeface="Calibri"/>
              <a:buNone/>
            </a:pPr>
            <a:r>
              <a:rPr b="1" i="0" lang="en-US" sz="1500" u="none" cap="none" strike="noStrike">
                <a:solidFill>
                  <a:srgbClr val="0B2A4A"/>
                </a:solidFill>
                <a:latin typeface="Calibri"/>
                <a:ea typeface="Calibri"/>
                <a:cs typeface="Calibri"/>
                <a:sym typeface="Calibri"/>
              </a:rPr>
              <a:t>Pez sapo</a:t>
            </a:r>
            <a:endParaRPr b="0" i="0" sz="1500" u="none" cap="none" strike="noStrike">
              <a:solidFill>
                <a:schemeClr val="dk1"/>
              </a:solidFill>
              <a:latin typeface="Calibri"/>
              <a:ea typeface="Calibri"/>
              <a:cs typeface="Calibri"/>
              <a:sym typeface="Calibri"/>
            </a:endParaRPr>
          </a:p>
        </p:txBody>
      </p:sp>
      <p:sp>
        <p:nvSpPr>
          <p:cNvPr id="567" name="Google Shape;567;p20"/>
          <p:cNvSpPr txBox="1"/>
          <p:nvPr/>
        </p:nvSpPr>
        <p:spPr>
          <a:xfrm>
            <a:off x="658368" y="3310128"/>
            <a:ext cx="1856232" cy="5486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F6F9F"/>
              </a:buClr>
              <a:buSzPts val="1900"/>
              <a:buFont typeface="Calibri"/>
              <a:buNone/>
            </a:pPr>
            <a:r>
              <a:rPr b="1" i="0" lang="en-US" sz="1900" u="none" cap="none" strike="noStrike">
                <a:solidFill>
                  <a:srgbClr val="1F6F9F"/>
                </a:solidFill>
                <a:latin typeface="Calibri"/>
                <a:ea typeface="Calibri"/>
                <a:cs typeface="Calibri"/>
                <a:sym typeface="Calibri"/>
              </a:rPr>
              <a:t>p = 0,21</a:t>
            </a:r>
            <a:endParaRPr b="0" i="0" sz="1900" u="none" cap="none" strike="noStrike">
              <a:solidFill>
                <a:schemeClr val="dk1"/>
              </a:solidFill>
              <a:latin typeface="Calibri"/>
              <a:ea typeface="Calibri"/>
              <a:cs typeface="Calibri"/>
              <a:sym typeface="Calibri"/>
            </a:endParaRPr>
          </a:p>
        </p:txBody>
      </p:sp>
      <p:sp>
        <p:nvSpPr>
          <p:cNvPr id="568" name="Google Shape;568;p20"/>
          <p:cNvSpPr txBox="1"/>
          <p:nvPr/>
        </p:nvSpPr>
        <p:spPr>
          <a:xfrm>
            <a:off x="658368" y="3886200"/>
            <a:ext cx="1856232" cy="1371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200"/>
              <a:buFont typeface="Calibri"/>
              <a:buNone/>
            </a:pPr>
            <a:r>
              <a:rPr b="0" i="0" lang="en-US" sz="1200" u="none" cap="none" strike="noStrike">
                <a:solidFill>
                  <a:srgbClr val="1B2B3A"/>
                </a:solidFill>
                <a:latin typeface="Calibri"/>
                <a:ea typeface="Calibri"/>
                <a:cs typeface="Calibri"/>
                <a:sym typeface="Calibri"/>
              </a:rPr>
              <a:t>Vejiga desinflada: sin cambio detectable en la audición</a:t>
            </a:r>
            <a:endParaRPr b="0" i="0" sz="1200" u="none" cap="none" strike="noStrike">
              <a:solidFill>
                <a:schemeClr val="dk1"/>
              </a:solidFill>
              <a:latin typeface="Calibri"/>
              <a:ea typeface="Calibri"/>
              <a:cs typeface="Calibri"/>
              <a:sym typeface="Calibri"/>
            </a:endParaRPr>
          </a:p>
        </p:txBody>
      </p:sp>
      <p:sp>
        <p:nvSpPr>
          <p:cNvPr id="569" name="Google Shape;569;p20"/>
          <p:cNvSpPr txBox="1"/>
          <p:nvPr/>
        </p:nvSpPr>
        <p:spPr>
          <a:xfrm>
            <a:off x="658368" y="5230368"/>
            <a:ext cx="1856232" cy="38404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000"/>
              <a:buFont typeface="Calibri"/>
              <a:buNone/>
            </a:pPr>
            <a:r>
              <a:rPr b="0" i="1" lang="en-US" sz="1000" u="none" cap="none" strike="noStrike">
                <a:solidFill>
                  <a:srgbClr val="5A6B7B"/>
                </a:solidFill>
                <a:latin typeface="Calibri"/>
                <a:ea typeface="Calibri"/>
                <a:cs typeface="Calibri"/>
                <a:sym typeface="Calibri"/>
              </a:rPr>
              <a:t>Alves et al., 2025</a:t>
            </a:r>
            <a:endParaRPr b="0" i="0" sz="1000" u="none" cap="none" strike="noStrike">
              <a:solidFill>
                <a:schemeClr val="dk1"/>
              </a:solidFill>
              <a:latin typeface="Calibri"/>
              <a:ea typeface="Calibri"/>
              <a:cs typeface="Calibri"/>
              <a:sym typeface="Calibri"/>
            </a:endParaRPr>
          </a:p>
        </p:txBody>
      </p:sp>
      <p:sp>
        <p:nvSpPr>
          <p:cNvPr id="570" name="Google Shape;570;p20"/>
          <p:cNvSpPr/>
          <p:nvPr/>
        </p:nvSpPr>
        <p:spPr>
          <a:xfrm>
            <a:off x="2807208" y="2514600"/>
            <a:ext cx="2075688" cy="3154680"/>
          </a:xfrm>
          <a:prstGeom prst="roundRect">
            <a:avLst>
              <a:gd fmla="val 3524"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20"/>
          <p:cNvSpPr txBox="1"/>
          <p:nvPr/>
        </p:nvSpPr>
        <p:spPr>
          <a:xfrm>
            <a:off x="2916936" y="2606040"/>
            <a:ext cx="1856232"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4807E"/>
              </a:buClr>
              <a:buSzPts val="1050"/>
              <a:buFont typeface="Calibri"/>
              <a:buNone/>
            </a:pPr>
            <a:r>
              <a:rPr b="1" i="0" lang="en-US" sz="1050" u="none" cap="none" strike="noStrike">
                <a:solidFill>
                  <a:srgbClr val="14807E"/>
                </a:solidFill>
                <a:latin typeface="Calibri"/>
                <a:ea typeface="Calibri"/>
                <a:cs typeface="Calibri"/>
                <a:sym typeface="Calibri"/>
              </a:rPr>
              <a:t>CONTEXTO: FONDO</a:t>
            </a:r>
            <a:endParaRPr b="0" i="0" sz="1050" u="none" cap="none" strike="noStrike">
              <a:solidFill>
                <a:schemeClr val="dk1"/>
              </a:solidFill>
              <a:latin typeface="Calibri"/>
              <a:ea typeface="Calibri"/>
              <a:cs typeface="Calibri"/>
              <a:sym typeface="Calibri"/>
            </a:endParaRPr>
          </a:p>
        </p:txBody>
      </p:sp>
      <p:sp>
        <p:nvSpPr>
          <p:cNvPr id="572" name="Google Shape;572;p20"/>
          <p:cNvSpPr txBox="1"/>
          <p:nvPr/>
        </p:nvSpPr>
        <p:spPr>
          <a:xfrm>
            <a:off x="2916936" y="2926080"/>
            <a:ext cx="1856232" cy="3657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500"/>
              <a:buFont typeface="Calibri"/>
              <a:buNone/>
            </a:pPr>
            <a:r>
              <a:rPr b="1" i="0" lang="en-US" sz="1500" u="none" cap="none" strike="noStrike">
                <a:solidFill>
                  <a:srgbClr val="0B2A4A"/>
                </a:solidFill>
                <a:latin typeface="Calibri"/>
                <a:ea typeface="Calibri"/>
                <a:cs typeface="Calibri"/>
                <a:sym typeface="Calibri"/>
              </a:rPr>
              <a:t>Carpa / pez dorado</a:t>
            </a:r>
            <a:endParaRPr b="0" i="0" sz="1500" u="none" cap="none" strike="noStrike">
              <a:solidFill>
                <a:schemeClr val="dk1"/>
              </a:solidFill>
              <a:latin typeface="Calibri"/>
              <a:ea typeface="Calibri"/>
              <a:cs typeface="Calibri"/>
              <a:sym typeface="Calibri"/>
            </a:endParaRPr>
          </a:p>
        </p:txBody>
      </p:sp>
      <p:sp>
        <p:nvSpPr>
          <p:cNvPr id="573" name="Google Shape;573;p20"/>
          <p:cNvSpPr txBox="1"/>
          <p:nvPr/>
        </p:nvSpPr>
        <p:spPr>
          <a:xfrm>
            <a:off x="2916936" y="3310128"/>
            <a:ext cx="1856232" cy="5486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F6F9F"/>
              </a:buClr>
              <a:buSzPts val="1900"/>
              <a:buFont typeface="Calibri"/>
              <a:buNone/>
            </a:pPr>
            <a:r>
              <a:rPr b="1" i="0" lang="en-US" sz="1900" u="none" cap="none" strike="noStrike">
                <a:solidFill>
                  <a:srgbClr val="1F6F9F"/>
                </a:solidFill>
                <a:latin typeface="Calibri"/>
                <a:ea typeface="Calibri"/>
                <a:cs typeface="Calibri"/>
                <a:sym typeface="Calibri"/>
              </a:rPr>
              <a:t>d′ → ≈ 0</a:t>
            </a:r>
            <a:endParaRPr b="0" i="0" sz="1900" u="none" cap="none" strike="noStrike">
              <a:solidFill>
                <a:schemeClr val="dk1"/>
              </a:solidFill>
              <a:latin typeface="Calibri"/>
              <a:ea typeface="Calibri"/>
              <a:cs typeface="Calibri"/>
              <a:sym typeface="Calibri"/>
            </a:endParaRPr>
          </a:p>
        </p:txBody>
      </p:sp>
      <p:sp>
        <p:nvSpPr>
          <p:cNvPr id="574" name="Google Shape;574;p20"/>
          <p:cNvSpPr txBox="1"/>
          <p:nvPr/>
        </p:nvSpPr>
        <p:spPr>
          <a:xfrm>
            <a:off x="2916936" y="3886200"/>
            <a:ext cx="1856232" cy="1371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200"/>
              <a:buFont typeface="Calibri"/>
              <a:buNone/>
            </a:pPr>
            <a:r>
              <a:rPr b="0" i="0" lang="en-US" sz="1200" u="none" cap="none" strike="noStrike">
                <a:solidFill>
                  <a:srgbClr val="1B2B3A"/>
                </a:solidFill>
                <a:latin typeface="Calibri"/>
                <a:ea typeface="Calibri"/>
                <a:cs typeface="Calibri"/>
                <a:sym typeface="Calibri"/>
              </a:rPr>
              <a:t>Con máscara, la carpa casi no distingue la señal (2,17–3,29 → 0–0,36); en pez dorado, sin efecto global (p = 0,319)</a:t>
            </a:r>
            <a:endParaRPr b="0" i="0" sz="1200" u="none" cap="none" strike="noStrike">
              <a:solidFill>
                <a:schemeClr val="dk1"/>
              </a:solidFill>
              <a:latin typeface="Calibri"/>
              <a:ea typeface="Calibri"/>
              <a:cs typeface="Calibri"/>
              <a:sym typeface="Calibri"/>
            </a:endParaRPr>
          </a:p>
        </p:txBody>
      </p:sp>
      <p:sp>
        <p:nvSpPr>
          <p:cNvPr id="575" name="Google Shape;575;p20"/>
          <p:cNvSpPr txBox="1"/>
          <p:nvPr/>
        </p:nvSpPr>
        <p:spPr>
          <a:xfrm>
            <a:off x="2916936" y="5230368"/>
            <a:ext cx="1856232" cy="38404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000"/>
              <a:buFont typeface="Calibri"/>
              <a:buNone/>
            </a:pPr>
            <a:r>
              <a:rPr b="0" i="1" lang="en-US" sz="1000" u="none" cap="none" strike="noStrike">
                <a:solidFill>
                  <a:srgbClr val="5A6B7B"/>
                </a:solidFill>
                <a:latin typeface="Calibri"/>
                <a:ea typeface="Calibri"/>
                <a:cs typeface="Calibri"/>
                <a:sym typeface="Calibri"/>
              </a:rPr>
              <a:t>Currie et al., 2025 · Holgate et al., 2024</a:t>
            </a:r>
            <a:endParaRPr b="0" i="0" sz="1000" u="none" cap="none" strike="noStrike">
              <a:solidFill>
                <a:schemeClr val="dk1"/>
              </a:solidFill>
              <a:latin typeface="Calibri"/>
              <a:ea typeface="Calibri"/>
              <a:cs typeface="Calibri"/>
              <a:sym typeface="Calibri"/>
            </a:endParaRPr>
          </a:p>
        </p:txBody>
      </p:sp>
      <p:sp>
        <p:nvSpPr>
          <p:cNvPr id="576" name="Google Shape;576;p20"/>
          <p:cNvSpPr/>
          <p:nvPr/>
        </p:nvSpPr>
        <p:spPr>
          <a:xfrm>
            <a:off x="5065776" y="2514600"/>
            <a:ext cx="2075688" cy="3154680"/>
          </a:xfrm>
          <a:prstGeom prst="roundRect">
            <a:avLst>
              <a:gd fmla="val 3524"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20"/>
          <p:cNvSpPr txBox="1"/>
          <p:nvPr/>
        </p:nvSpPr>
        <p:spPr>
          <a:xfrm>
            <a:off x="5175504" y="2606040"/>
            <a:ext cx="1856232"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4807E"/>
              </a:buClr>
              <a:buSzPts val="1050"/>
              <a:buFont typeface="Calibri"/>
              <a:buNone/>
            </a:pPr>
            <a:r>
              <a:rPr b="1" i="0" lang="en-US" sz="1050" u="none" cap="none" strike="noStrike">
                <a:solidFill>
                  <a:srgbClr val="14807E"/>
                </a:solidFill>
                <a:latin typeface="Calibri"/>
                <a:ea typeface="Calibri"/>
                <a:cs typeface="Calibri"/>
                <a:sym typeface="Calibri"/>
              </a:rPr>
              <a:t>CONTEXTO: GRUPO</a:t>
            </a:r>
            <a:endParaRPr b="0" i="0" sz="1050" u="none" cap="none" strike="noStrike">
              <a:solidFill>
                <a:schemeClr val="dk1"/>
              </a:solidFill>
              <a:latin typeface="Calibri"/>
              <a:ea typeface="Calibri"/>
              <a:cs typeface="Calibri"/>
              <a:sym typeface="Calibri"/>
            </a:endParaRPr>
          </a:p>
        </p:txBody>
      </p:sp>
      <p:sp>
        <p:nvSpPr>
          <p:cNvPr id="578" name="Google Shape;578;p20"/>
          <p:cNvSpPr txBox="1"/>
          <p:nvPr/>
        </p:nvSpPr>
        <p:spPr>
          <a:xfrm>
            <a:off x="5175504" y="2926080"/>
            <a:ext cx="1856232" cy="3657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500"/>
              <a:buFont typeface="Calibri"/>
              <a:buNone/>
            </a:pPr>
            <a:r>
              <a:rPr b="1" i="0" lang="en-US" sz="1500" u="none" cap="none" strike="noStrike">
                <a:solidFill>
                  <a:srgbClr val="0B2A4A"/>
                </a:solidFill>
                <a:latin typeface="Calibri"/>
                <a:ea typeface="Calibri"/>
                <a:cs typeface="Calibri"/>
                <a:sym typeface="Calibri"/>
              </a:rPr>
              <a:t>Guppies</a:t>
            </a:r>
            <a:endParaRPr b="0" i="0" sz="1500" u="none" cap="none" strike="noStrike">
              <a:solidFill>
                <a:schemeClr val="dk1"/>
              </a:solidFill>
              <a:latin typeface="Calibri"/>
              <a:ea typeface="Calibri"/>
              <a:cs typeface="Calibri"/>
              <a:sym typeface="Calibri"/>
            </a:endParaRPr>
          </a:p>
        </p:txBody>
      </p:sp>
      <p:sp>
        <p:nvSpPr>
          <p:cNvPr id="579" name="Google Shape;579;p20"/>
          <p:cNvSpPr txBox="1"/>
          <p:nvPr/>
        </p:nvSpPr>
        <p:spPr>
          <a:xfrm>
            <a:off x="5175504" y="3310128"/>
            <a:ext cx="1856232" cy="5486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F6F9F"/>
              </a:buClr>
              <a:buSzPts val="1900"/>
              <a:buFont typeface="Calibri"/>
              <a:buNone/>
            </a:pPr>
            <a:r>
              <a:rPr b="1" i="0" lang="en-US" sz="1900" u="none" cap="none" strike="noStrike">
                <a:solidFill>
                  <a:srgbClr val="1F6F9F"/>
                </a:solidFill>
                <a:latin typeface="Calibri"/>
                <a:ea typeface="Calibri"/>
                <a:cs typeface="Calibri"/>
                <a:sym typeface="Calibri"/>
              </a:rPr>
              <a:t>grupo &gt; ruido</a:t>
            </a:r>
            <a:endParaRPr b="0" i="0" sz="1900" u="none" cap="none" strike="noStrike">
              <a:solidFill>
                <a:schemeClr val="dk1"/>
              </a:solidFill>
              <a:latin typeface="Calibri"/>
              <a:ea typeface="Calibri"/>
              <a:cs typeface="Calibri"/>
              <a:sym typeface="Calibri"/>
            </a:endParaRPr>
          </a:p>
        </p:txBody>
      </p:sp>
      <p:sp>
        <p:nvSpPr>
          <p:cNvPr id="580" name="Google Shape;580;p20"/>
          <p:cNvSpPr txBox="1"/>
          <p:nvPr/>
        </p:nvSpPr>
        <p:spPr>
          <a:xfrm>
            <a:off x="5175504" y="3886200"/>
            <a:ext cx="1856232" cy="1371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200"/>
              <a:buFont typeface="Calibri"/>
              <a:buNone/>
            </a:pPr>
            <a:r>
              <a:rPr b="0" i="0" lang="en-US" sz="1200" u="none" cap="none" strike="noStrike">
                <a:solidFill>
                  <a:srgbClr val="1B2B3A"/>
                </a:solidFill>
                <a:latin typeface="Calibri"/>
                <a:ea typeface="Calibri"/>
                <a:cs typeface="Calibri"/>
                <a:sym typeface="Calibri"/>
              </a:rPr>
              <a:t>La identidad del grupo explicó más variación que el ruido</a:t>
            </a:r>
            <a:endParaRPr b="0" i="0" sz="1200" u="none" cap="none" strike="noStrike">
              <a:solidFill>
                <a:schemeClr val="dk1"/>
              </a:solidFill>
              <a:latin typeface="Calibri"/>
              <a:ea typeface="Calibri"/>
              <a:cs typeface="Calibri"/>
              <a:sym typeface="Calibri"/>
            </a:endParaRPr>
          </a:p>
        </p:txBody>
      </p:sp>
      <p:sp>
        <p:nvSpPr>
          <p:cNvPr id="581" name="Google Shape;581;p20"/>
          <p:cNvSpPr txBox="1"/>
          <p:nvPr/>
        </p:nvSpPr>
        <p:spPr>
          <a:xfrm>
            <a:off x="5175504" y="5230368"/>
            <a:ext cx="1856232" cy="38404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000"/>
              <a:buFont typeface="Calibri"/>
              <a:buNone/>
            </a:pPr>
            <a:r>
              <a:rPr b="0" i="1" lang="en-US" sz="1000" u="none" cap="none" strike="noStrike">
                <a:solidFill>
                  <a:srgbClr val="5A6B7B"/>
                </a:solidFill>
                <a:latin typeface="Calibri"/>
                <a:ea typeface="Calibri"/>
                <a:cs typeface="Calibri"/>
                <a:sym typeface="Calibri"/>
              </a:rPr>
              <a:t>Clark et al., 2025</a:t>
            </a:r>
            <a:endParaRPr b="0" i="0" sz="1000" u="none" cap="none" strike="noStrike">
              <a:solidFill>
                <a:schemeClr val="dk1"/>
              </a:solidFill>
              <a:latin typeface="Calibri"/>
              <a:ea typeface="Calibri"/>
              <a:cs typeface="Calibri"/>
              <a:sym typeface="Calibri"/>
            </a:endParaRPr>
          </a:p>
        </p:txBody>
      </p:sp>
      <p:sp>
        <p:nvSpPr>
          <p:cNvPr id="582" name="Google Shape;582;p20"/>
          <p:cNvSpPr/>
          <p:nvPr/>
        </p:nvSpPr>
        <p:spPr>
          <a:xfrm>
            <a:off x="7324344" y="2514600"/>
            <a:ext cx="2075688" cy="3154680"/>
          </a:xfrm>
          <a:prstGeom prst="roundRect">
            <a:avLst>
              <a:gd fmla="val 3524"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0"/>
          <p:cNvSpPr txBox="1"/>
          <p:nvPr/>
        </p:nvSpPr>
        <p:spPr>
          <a:xfrm>
            <a:off x="7434072" y="2606040"/>
            <a:ext cx="1856232"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4807E"/>
              </a:buClr>
              <a:buSzPts val="1050"/>
              <a:buFont typeface="Calibri"/>
              <a:buNone/>
            </a:pPr>
            <a:r>
              <a:rPr b="1" i="0" lang="en-US" sz="1050" u="none" cap="none" strike="noStrike">
                <a:solidFill>
                  <a:srgbClr val="14807E"/>
                </a:solidFill>
                <a:latin typeface="Calibri"/>
                <a:ea typeface="Calibri"/>
                <a:cs typeface="Calibri"/>
                <a:sym typeface="Calibri"/>
              </a:rPr>
              <a:t>ESPECIE Y HORARIO</a:t>
            </a:r>
            <a:endParaRPr b="0" i="0" sz="1050" u="none" cap="none" strike="noStrike">
              <a:solidFill>
                <a:schemeClr val="dk1"/>
              </a:solidFill>
              <a:latin typeface="Calibri"/>
              <a:ea typeface="Calibri"/>
              <a:cs typeface="Calibri"/>
              <a:sym typeface="Calibri"/>
            </a:endParaRPr>
          </a:p>
        </p:txBody>
      </p:sp>
      <p:sp>
        <p:nvSpPr>
          <p:cNvPr id="584" name="Google Shape;584;p20"/>
          <p:cNvSpPr txBox="1"/>
          <p:nvPr/>
        </p:nvSpPr>
        <p:spPr>
          <a:xfrm>
            <a:off x="7434072" y="2926080"/>
            <a:ext cx="1856232" cy="3657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500"/>
              <a:buFont typeface="Calibri"/>
              <a:buNone/>
            </a:pPr>
            <a:r>
              <a:rPr b="1" i="0" lang="en-US" sz="1500" u="none" cap="none" strike="noStrike">
                <a:solidFill>
                  <a:srgbClr val="0B2A4A"/>
                </a:solidFill>
                <a:latin typeface="Calibri"/>
                <a:ea typeface="Calibri"/>
                <a:cs typeface="Calibri"/>
                <a:sym typeface="Calibri"/>
              </a:rPr>
              <a:t>Pez león</a:t>
            </a:r>
            <a:endParaRPr b="0" i="0" sz="1500" u="none" cap="none" strike="noStrike">
              <a:solidFill>
                <a:schemeClr val="dk1"/>
              </a:solidFill>
              <a:latin typeface="Calibri"/>
              <a:ea typeface="Calibri"/>
              <a:cs typeface="Calibri"/>
              <a:sym typeface="Calibri"/>
            </a:endParaRPr>
          </a:p>
        </p:txBody>
      </p:sp>
      <p:sp>
        <p:nvSpPr>
          <p:cNvPr id="585" name="Google Shape;585;p20"/>
          <p:cNvSpPr txBox="1"/>
          <p:nvPr/>
        </p:nvSpPr>
        <p:spPr>
          <a:xfrm>
            <a:off x="7434072" y="3310128"/>
            <a:ext cx="1856232" cy="5486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F6F9F"/>
              </a:buClr>
              <a:buSzPts val="1900"/>
              <a:buFont typeface="Calibri"/>
              <a:buNone/>
            </a:pPr>
            <a:r>
              <a:rPr b="1" i="0" lang="en-US" sz="1900" u="none" cap="none" strike="noStrike">
                <a:solidFill>
                  <a:srgbClr val="1F6F9F"/>
                </a:solidFill>
                <a:latin typeface="Calibri"/>
                <a:ea typeface="Calibri"/>
                <a:cs typeface="Calibri"/>
                <a:sym typeface="Calibri"/>
              </a:rPr>
              <a:t>12 vs. 11</a:t>
            </a:r>
            <a:endParaRPr b="0" i="0" sz="1900" u="none" cap="none" strike="noStrike">
              <a:solidFill>
                <a:schemeClr val="dk1"/>
              </a:solidFill>
              <a:latin typeface="Calibri"/>
              <a:ea typeface="Calibri"/>
              <a:cs typeface="Calibri"/>
              <a:sym typeface="Calibri"/>
            </a:endParaRPr>
          </a:p>
        </p:txBody>
      </p:sp>
      <p:sp>
        <p:nvSpPr>
          <p:cNvPr id="586" name="Google Shape;586;p20"/>
          <p:cNvSpPr txBox="1"/>
          <p:nvPr/>
        </p:nvSpPr>
        <p:spPr>
          <a:xfrm>
            <a:off x="7434072" y="3886200"/>
            <a:ext cx="1856232" cy="1371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200"/>
              <a:buFont typeface="Calibri"/>
              <a:buNone/>
            </a:pPr>
            <a:r>
              <a:rPr b="0" i="0" lang="en-US" sz="1200" u="none" cap="none" strike="noStrike">
                <a:solidFill>
                  <a:srgbClr val="1B2B3A"/>
                </a:solidFill>
                <a:latin typeface="Calibri"/>
                <a:ea typeface="Calibri"/>
                <a:cs typeface="Calibri"/>
                <a:sym typeface="Calibri"/>
              </a:rPr>
              <a:t>Sin preferencia por el sonido de arrecife en ensayos diurnos</a:t>
            </a:r>
            <a:endParaRPr b="0" i="0" sz="1200" u="none" cap="none" strike="noStrike">
              <a:solidFill>
                <a:schemeClr val="dk1"/>
              </a:solidFill>
              <a:latin typeface="Calibri"/>
              <a:ea typeface="Calibri"/>
              <a:cs typeface="Calibri"/>
              <a:sym typeface="Calibri"/>
            </a:endParaRPr>
          </a:p>
        </p:txBody>
      </p:sp>
      <p:sp>
        <p:nvSpPr>
          <p:cNvPr id="587" name="Google Shape;587;p20"/>
          <p:cNvSpPr txBox="1"/>
          <p:nvPr/>
        </p:nvSpPr>
        <p:spPr>
          <a:xfrm>
            <a:off x="7434072" y="5230368"/>
            <a:ext cx="1856232" cy="38404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000"/>
              <a:buFont typeface="Calibri"/>
              <a:buNone/>
            </a:pPr>
            <a:r>
              <a:rPr b="0" i="1" lang="en-US" sz="1000" u="none" cap="none" strike="noStrike">
                <a:solidFill>
                  <a:srgbClr val="5A6B7B"/>
                </a:solidFill>
                <a:latin typeface="Calibri"/>
                <a:ea typeface="Calibri"/>
                <a:cs typeface="Calibri"/>
                <a:sym typeface="Calibri"/>
              </a:rPr>
              <a:t>Holmes et al., 2025</a:t>
            </a:r>
            <a:endParaRPr b="0" i="0" sz="1000" u="none" cap="none" strike="noStrike">
              <a:solidFill>
                <a:schemeClr val="dk1"/>
              </a:solidFill>
              <a:latin typeface="Calibri"/>
              <a:ea typeface="Calibri"/>
              <a:cs typeface="Calibri"/>
              <a:sym typeface="Calibri"/>
            </a:endParaRPr>
          </a:p>
        </p:txBody>
      </p:sp>
      <p:sp>
        <p:nvSpPr>
          <p:cNvPr id="588" name="Google Shape;588;p20"/>
          <p:cNvSpPr/>
          <p:nvPr/>
        </p:nvSpPr>
        <p:spPr>
          <a:xfrm>
            <a:off x="9582912" y="2514600"/>
            <a:ext cx="2075688" cy="3154680"/>
          </a:xfrm>
          <a:prstGeom prst="roundRect">
            <a:avLst>
              <a:gd fmla="val 3524"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0"/>
          <p:cNvSpPr txBox="1"/>
          <p:nvPr/>
        </p:nvSpPr>
        <p:spPr>
          <a:xfrm>
            <a:off x="9692640" y="2606040"/>
            <a:ext cx="1856232" cy="3200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4807E"/>
              </a:buClr>
              <a:buSzPts val="1050"/>
              <a:buFont typeface="Calibri"/>
              <a:buNone/>
            </a:pPr>
            <a:r>
              <a:rPr b="1" i="0" lang="en-US" sz="1050" u="none" cap="none" strike="noStrike">
                <a:solidFill>
                  <a:srgbClr val="14807E"/>
                </a:solidFill>
                <a:latin typeface="Calibri"/>
                <a:ea typeface="Calibri"/>
                <a:cs typeface="Calibri"/>
                <a:sym typeface="Calibri"/>
              </a:rPr>
              <a:t>REPETICIÓN</a:t>
            </a:r>
            <a:endParaRPr b="0" i="0" sz="1050" u="none" cap="none" strike="noStrike">
              <a:solidFill>
                <a:schemeClr val="dk1"/>
              </a:solidFill>
              <a:latin typeface="Calibri"/>
              <a:ea typeface="Calibri"/>
              <a:cs typeface="Calibri"/>
              <a:sym typeface="Calibri"/>
            </a:endParaRPr>
          </a:p>
        </p:txBody>
      </p:sp>
      <p:sp>
        <p:nvSpPr>
          <p:cNvPr id="590" name="Google Shape;590;p20"/>
          <p:cNvSpPr txBox="1"/>
          <p:nvPr/>
        </p:nvSpPr>
        <p:spPr>
          <a:xfrm>
            <a:off x="9692640" y="2926080"/>
            <a:ext cx="1856232" cy="3657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500"/>
              <a:buFont typeface="Calibri"/>
              <a:buNone/>
            </a:pPr>
            <a:r>
              <a:rPr b="1" i="0" lang="en-US" sz="1500" u="none" cap="none" strike="noStrike">
                <a:solidFill>
                  <a:srgbClr val="0B2A4A"/>
                </a:solidFill>
                <a:latin typeface="Calibri"/>
                <a:ea typeface="Calibri"/>
                <a:cs typeface="Calibri"/>
                <a:sym typeface="Calibri"/>
              </a:rPr>
              <a:t>Carpas</a:t>
            </a:r>
            <a:endParaRPr b="0" i="0" sz="1500" u="none" cap="none" strike="noStrike">
              <a:solidFill>
                <a:schemeClr val="dk1"/>
              </a:solidFill>
              <a:latin typeface="Calibri"/>
              <a:ea typeface="Calibri"/>
              <a:cs typeface="Calibri"/>
              <a:sym typeface="Calibri"/>
            </a:endParaRPr>
          </a:p>
        </p:txBody>
      </p:sp>
      <p:sp>
        <p:nvSpPr>
          <p:cNvPr id="591" name="Google Shape;591;p20"/>
          <p:cNvSpPr txBox="1"/>
          <p:nvPr/>
        </p:nvSpPr>
        <p:spPr>
          <a:xfrm>
            <a:off x="9692640" y="3310128"/>
            <a:ext cx="1856232" cy="5486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F6F9F"/>
              </a:buClr>
              <a:buSzPts val="1900"/>
              <a:buFont typeface="Calibri"/>
              <a:buNone/>
            </a:pPr>
            <a:r>
              <a:rPr b="1" i="0" lang="en-US" sz="1900" u="none" cap="none" strike="noStrike">
                <a:solidFill>
                  <a:srgbClr val="1F6F9F"/>
                </a:solidFill>
                <a:latin typeface="Calibri"/>
                <a:ea typeface="Calibri"/>
                <a:cs typeface="Calibri"/>
                <a:sym typeface="Calibri"/>
              </a:rPr>
              <a:t>sin cambio</a:t>
            </a:r>
            <a:endParaRPr b="0" i="0" sz="1900" u="none" cap="none" strike="noStrike">
              <a:solidFill>
                <a:schemeClr val="dk1"/>
              </a:solidFill>
              <a:latin typeface="Calibri"/>
              <a:ea typeface="Calibri"/>
              <a:cs typeface="Calibri"/>
              <a:sym typeface="Calibri"/>
            </a:endParaRPr>
          </a:p>
        </p:txBody>
      </p:sp>
      <p:sp>
        <p:nvSpPr>
          <p:cNvPr id="592" name="Google Shape;592;p20"/>
          <p:cNvSpPr txBox="1"/>
          <p:nvPr/>
        </p:nvSpPr>
        <p:spPr>
          <a:xfrm>
            <a:off x="9692640" y="3886200"/>
            <a:ext cx="1856232" cy="13716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200"/>
              <a:buFont typeface="Calibri"/>
              <a:buNone/>
            </a:pPr>
            <a:r>
              <a:rPr b="0" i="0" lang="en-US" sz="1200" u="none" cap="none" strike="noStrike">
                <a:solidFill>
                  <a:srgbClr val="1B2B3A"/>
                </a:solidFill>
                <a:latin typeface="Calibri"/>
                <a:ea typeface="Calibri"/>
                <a:cs typeface="Calibri"/>
                <a:sym typeface="Calibri"/>
              </a:rPr>
              <a:t>En la 3.ª y 4.ª exposición la evasión ya no se observa</a:t>
            </a:r>
            <a:endParaRPr b="0" i="0" sz="1200" u="none" cap="none" strike="noStrike">
              <a:solidFill>
                <a:schemeClr val="dk1"/>
              </a:solidFill>
              <a:latin typeface="Calibri"/>
              <a:ea typeface="Calibri"/>
              <a:cs typeface="Calibri"/>
              <a:sym typeface="Calibri"/>
            </a:endParaRPr>
          </a:p>
        </p:txBody>
      </p:sp>
      <p:sp>
        <p:nvSpPr>
          <p:cNvPr id="593" name="Google Shape;593;p20"/>
          <p:cNvSpPr txBox="1"/>
          <p:nvPr/>
        </p:nvSpPr>
        <p:spPr>
          <a:xfrm>
            <a:off x="9692640" y="5230368"/>
            <a:ext cx="1856232" cy="38404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000"/>
              <a:buFont typeface="Calibri"/>
              <a:buNone/>
            </a:pPr>
            <a:r>
              <a:rPr b="0" i="1" lang="en-US" sz="1000" u="none" cap="none" strike="noStrike">
                <a:solidFill>
                  <a:srgbClr val="5A6B7B"/>
                </a:solidFill>
                <a:latin typeface="Calibri"/>
                <a:ea typeface="Calibri"/>
                <a:cs typeface="Calibri"/>
                <a:sym typeface="Calibri"/>
              </a:rPr>
              <a:t>Zielinski y Sorensen, 2017</a:t>
            </a:r>
            <a:endParaRPr b="0" i="0" sz="1000" u="none" cap="none" strike="noStrike">
              <a:solidFill>
                <a:schemeClr val="dk1"/>
              </a:solidFill>
              <a:latin typeface="Calibri"/>
              <a:ea typeface="Calibri"/>
              <a:cs typeface="Calibri"/>
              <a:sym typeface="Calibri"/>
            </a:endParaRPr>
          </a:p>
        </p:txBody>
      </p:sp>
      <p:sp>
        <p:nvSpPr>
          <p:cNvPr id="594" name="Google Shape;594;p20"/>
          <p:cNvSpPr txBox="1"/>
          <p:nvPr/>
        </p:nvSpPr>
        <p:spPr>
          <a:xfrm>
            <a:off x="548640" y="5806440"/>
            <a:ext cx="1106424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500"/>
              <a:buFont typeface="Calibri"/>
              <a:buNone/>
            </a:pPr>
            <a:r>
              <a:rPr b="0" i="1" lang="en-US" sz="1500" u="none" cap="none" strike="noStrike">
                <a:solidFill>
                  <a:srgbClr val="0B2A4A"/>
                </a:solidFill>
                <a:latin typeface="Calibri"/>
                <a:ea typeface="Calibri"/>
                <a:cs typeface="Calibri"/>
                <a:sym typeface="Calibri"/>
              </a:rPr>
              <a:t>Los resultados nulos no invalidan los positivos: marcan su alcance  ·  «Sin significación» no equivale a «sin efecto»</a:t>
            </a:r>
            <a:endParaRPr b="0" i="0" sz="1500" u="none" cap="none" strike="noStrike">
              <a:solidFill>
                <a:schemeClr val="dk1"/>
              </a:solidFill>
              <a:latin typeface="Calibri"/>
              <a:ea typeface="Calibri"/>
              <a:cs typeface="Calibri"/>
              <a:sym typeface="Calibri"/>
            </a:endParaRPr>
          </a:p>
        </p:txBody>
      </p:sp>
      <p:sp>
        <p:nvSpPr>
          <p:cNvPr id="595" name="Google Shape;595;p20"/>
          <p:cNvSpPr txBox="1"/>
          <p:nvPr/>
        </p:nvSpPr>
        <p:spPr>
          <a:xfrm>
            <a:off x="548640" y="6382512"/>
            <a:ext cx="10241280" cy="29260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Alves et al., 2025 · Currie et al., 2025 · Holgate et al., 2024 · Clark et al., 2025 · Holmes et al., 2025 · Zielinski y Sorensen, 2017</a:t>
            </a:r>
            <a:endParaRPr b="0" i="0" sz="1200" u="none" cap="none" strike="noStrike">
              <a:solidFill>
                <a:schemeClr val="dk1"/>
              </a:solidFill>
              <a:latin typeface="Calibri"/>
              <a:ea typeface="Calibri"/>
              <a:cs typeface="Calibri"/>
              <a:sym typeface="Calibri"/>
            </a:endParaRPr>
          </a:p>
        </p:txBody>
      </p:sp>
      <p:sp>
        <p:nvSpPr>
          <p:cNvPr id="596" name="Google Shape;596;p20"/>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18</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1" name="Shape 601"/>
        <p:cNvGrpSpPr/>
        <p:nvPr/>
      </p:nvGrpSpPr>
      <p:grpSpPr>
        <a:xfrm>
          <a:off x="0" y="0"/>
          <a:ext cx="0" cy="0"/>
          <a:chOff x="0" y="0"/>
          <a:chExt cx="0" cy="0"/>
        </a:xfrm>
      </p:grpSpPr>
      <p:sp>
        <p:nvSpPr>
          <p:cNvPr id="602" name="Google Shape;602;p21"/>
          <p:cNvSpPr txBox="1"/>
          <p:nvPr/>
        </p:nvSpPr>
        <p:spPr>
          <a:xfrm>
            <a:off x="548640" y="41148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800"/>
              <a:buFont typeface="Calibri"/>
              <a:buNone/>
            </a:pPr>
            <a:r>
              <a:rPr b="1" i="0" lang="en-US" sz="2800" u="none" cap="none" strike="noStrike">
                <a:solidFill>
                  <a:srgbClr val="0B2A4A"/>
                </a:solidFill>
                <a:latin typeface="Calibri"/>
                <a:ea typeface="Calibri"/>
                <a:cs typeface="Calibri"/>
                <a:sym typeface="Calibri"/>
              </a:rPr>
              <a:t>Cada aplicación llega hasta un eslabón… y se detiene</a:t>
            </a:r>
            <a:endParaRPr b="0" i="0" sz="2800" u="none" cap="none" strike="noStrike">
              <a:solidFill>
                <a:schemeClr val="dk1"/>
              </a:solidFill>
              <a:latin typeface="Calibri"/>
              <a:ea typeface="Calibri"/>
              <a:cs typeface="Calibri"/>
              <a:sym typeface="Calibri"/>
            </a:endParaRPr>
          </a:p>
        </p:txBody>
      </p:sp>
      <p:sp>
        <p:nvSpPr>
          <p:cNvPr id="603" name="Google Shape;603;p21"/>
          <p:cNvSpPr/>
          <p:nvPr/>
        </p:nvSpPr>
        <p:spPr>
          <a:xfrm>
            <a:off x="3520440" y="1325880"/>
            <a:ext cx="1572768" cy="384048"/>
          </a:xfrm>
          <a:prstGeom prst="roundRect">
            <a:avLst>
              <a:gd fmla="val 14286" name="adj"/>
            </a:avLst>
          </a:prstGeom>
          <a:solidFill>
            <a:srgbClr val="0B2A4A"/>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1"/>
          <p:cNvSpPr txBox="1"/>
          <p:nvPr/>
        </p:nvSpPr>
        <p:spPr>
          <a:xfrm>
            <a:off x="3520440" y="1325880"/>
            <a:ext cx="1572768" cy="38404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CAMPO</a:t>
            </a:r>
            <a:endParaRPr b="0" i="0" sz="1150" u="none" cap="none" strike="noStrike">
              <a:solidFill>
                <a:schemeClr val="dk1"/>
              </a:solidFill>
              <a:latin typeface="Calibri"/>
              <a:ea typeface="Calibri"/>
              <a:cs typeface="Calibri"/>
              <a:sym typeface="Calibri"/>
            </a:endParaRPr>
          </a:p>
        </p:txBody>
      </p:sp>
      <p:sp>
        <p:nvSpPr>
          <p:cNvPr id="605" name="Google Shape;605;p21"/>
          <p:cNvSpPr/>
          <p:nvPr/>
        </p:nvSpPr>
        <p:spPr>
          <a:xfrm>
            <a:off x="5148072" y="1325880"/>
            <a:ext cx="1572768" cy="384048"/>
          </a:xfrm>
          <a:prstGeom prst="roundRect">
            <a:avLst>
              <a:gd fmla="val 14286" name="adj"/>
            </a:avLst>
          </a:prstGeom>
          <a:solidFill>
            <a:srgbClr val="0B2A4A"/>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1"/>
          <p:cNvSpPr txBox="1"/>
          <p:nvPr/>
        </p:nvSpPr>
        <p:spPr>
          <a:xfrm>
            <a:off x="5148072" y="1325880"/>
            <a:ext cx="1572768" cy="38404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PERCEPCIÓN</a:t>
            </a:r>
            <a:endParaRPr b="0" i="0" sz="1150" u="none" cap="none" strike="noStrike">
              <a:solidFill>
                <a:schemeClr val="dk1"/>
              </a:solidFill>
              <a:latin typeface="Calibri"/>
              <a:ea typeface="Calibri"/>
              <a:cs typeface="Calibri"/>
              <a:sym typeface="Calibri"/>
            </a:endParaRPr>
          </a:p>
        </p:txBody>
      </p:sp>
      <p:sp>
        <p:nvSpPr>
          <p:cNvPr id="607" name="Google Shape;607;p21"/>
          <p:cNvSpPr/>
          <p:nvPr/>
        </p:nvSpPr>
        <p:spPr>
          <a:xfrm>
            <a:off x="6775704" y="1325880"/>
            <a:ext cx="1572768" cy="384048"/>
          </a:xfrm>
          <a:prstGeom prst="roundRect">
            <a:avLst>
              <a:gd fmla="val 14286" name="adj"/>
            </a:avLst>
          </a:prstGeom>
          <a:solidFill>
            <a:srgbClr val="0B2A4A"/>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1"/>
          <p:cNvSpPr txBox="1"/>
          <p:nvPr/>
        </p:nvSpPr>
        <p:spPr>
          <a:xfrm>
            <a:off x="6775704" y="1325880"/>
            <a:ext cx="1572768" cy="38404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INFORMACIÓN</a:t>
            </a:r>
            <a:endParaRPr b="0" i="0" sz="1150" u="none" cap="none" strike="noStrike">
              <a:solidFill>
                <a:schemeClr val="dk1"/>
              </a:solidFill>
              <a:latin typeface="Calibri"/>
              <a:ea typeface="Calibri"/>
              <a:cs typeface="Calibri"/>
              <a:sym typeface="Calibri"/>
            </a:endParaRPr>
          </a:p>
        </p:txBody>
      </p:sp>
      <p:sp>
        <p:nvSpPr>
          <p:cNvPr id="609" name="Google Shape;609;p21"/>
          <p:cNvSpPr/>
          <p:nvPr/>
        </p:nvSpPr>
        <p:spPr>
          <a:xfrm>
            <a:off x="8403336" y="1325880"/>
            <a:ext cx="1572768" cy="384048"/>
          </a:xfrm>
          <a:prstGeom prst="roundRect">
            <a:avLst>
              <a:gd fmla="val 14286" name="adj"/>
            </a:avLst>
          </a:prstGeom>
          <a:solidFill>
            <a:srgbClr val="0B2A4A"/>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1"/>
          <p:cNvSpPr txBox="1"/>
          <p:nvPr/>
        </p:nvSpPr>
        <p:spPr>
          <a:xfrm>
            <a:off x="8403336" y="1325880"/>
            <a:ext cx="1572768" cy="38404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RESPUESTA</a:t>
            </a:r>
            <a:endParaRPr b="0" i="0" sz="1150" u="none" cap="none" strike="noStrike">
              <a:solidFill>
                <a:schemeClr val="dk1"/>
              </a:solidFill>
              <a:latin typeface="Calibri"/>
              <a:ea typeface="Calibri"/>
              <a:cs typeface="Calibri"/>
              <a:sym typeface="Calibri"/>
            </a:endParaRPr>
          </a:p>
        </p:txBody>
      </p:sp>
      <p:sp>
        <p:nvSpPr>
          <p:cNvPr id="611" name="Google Shape;611;p21"/>
          <p:cNvSpPr/>
          <p:nvPr/>
        </p:nvSpPr>
        <p:spPr>
          <a:xfrm>
            <a:off x="10030968" y="1325880"/>
            <a:ext cx="1572768" cy="384048"/>
          </a:xfrm>
          <a:prstGeom prst="roundRect">
            <a:avLst>
              <a:gd fmla="val 14286" name="adj"/>
            </a:avLst>
          </a:prstGeom>
          <a:solidFill>
            <a:srgbClr val="0B2A4A"/>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1"/>
          <p:cNvSpPr txBox="1"/>
          <p:nvPr/>
        </p:nvSpPr>
        <p:spPr>
          <a:xfrm>
            <a:off x="10030968" y="1325880"/>
            <a:ext cx="1572768" cy="384048"/>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50"/>
              <a:buFont typeface="Calibri"/>
              <a:buNone/>
            </a:pPr>
            <a:r>
              <a:rPr b="1" i="0" lang="en-US" sz="1150" u="none" cap="none" strike="noStrike">
                <a:solidFill>
                  <a:srgbClr val="FFFFFF"/>
                </a:solidFill>
                <a:latin typeface="Calibri"/>
                <a:ea typeface="Calibri"/>
                <a:cs typeface="Calibri"/>
                <a:sym typeface="Calibri"/>
              </a:rPr>
              <a:t>APLICACIÓN</a:t>
            </a:r>
            <a:endParaRPr b="0" i="0" sz="1150" u="none" cap="none" strike="noStrike">
              <a:solidFill>
                <a:schemeClr val="dk1"/>
              </a:solidFill>
              <a:latin typeface="Calibri"/>
              <a:ea typeface="Calibri"/>
              <a:cs typeface="Calibri"/>
              <a:sym typeface="Calibri"/>
            </a:endParaRPr>
          </a:p>
        </p:txBody>
      </p:sp>
      <p:sp>
        <p:nvSpPr>
          <p:cNvPr id="613" name="Google Shape;613;p21"/>
          <p:cNvSpPr txBox="1"/>
          <p:nvPr/>
        </p:nvSpPr>
        <p:spPr>
          <a:xfrm>
            <a:off x="548640" y="1847088"/>
            <a:ext cx="2880360" cy="62179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500"/>
              <a:buFont typeface="Calibri"/>
              <a:buNone/>
            </a:pPr>
            <a:r>
              <a:rPr b="1" i="0" lang="en-US" sz="1500" u="none" cap="none" strike="noStrike">
                <a:solidFill>
                  <a:srgbClr val="0B2A4A"/>
                </a:solidFill>
                <a:latin typeface="Calibri"/>
                <a:ea typeface="Calibri"/>
                <a:cs typeface="Calibri"/>
                <a:sym typeface="Calibri"/>
              </a:rPr>
              <a:t>Enriquecimiento de arrecifes</a:t>
            </a:r>
            <a:endParaRPr b="0" i="0" sz="1500" u="none" cap="none" strike="noStrike">
              <a:solidFill>
                <a:schemeClr val="dk1"/>
              </a:solidFill>
              <a:latin typeface="Calibri"/>
              <a:ea typeface="Calibri"/>
              <a:cs typeface="Calibri"/>
              <a:sym typeface="Calibri"/>
            </a:endParaRPr>
          </a:p>
        </p:txBody>
      </p:sp>
      <p:sp>
        <p:nvSpPr>
          <p:cNvPr id="614" name="Google Shape;614;p21"/>
          <p:cNvSpPr/>
          <p:nvPr/>
        </p:nvSpPr>
        <p:spPr>
          <a:xfrm>
            <a:off x="3520440" y="1847088"/>
            <a:ext cx="1572768" cy="621792"/>
          </a:xfrm>
          <a:prstGeom prst="roundRect">
            <a:avLst>
              <a:gd fmla="val 8824"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1"/>
          <p:cNvSpPr txBox="1"/>
          <p:nvPr/>
        </p:nvSpPr>
        <p:spPr>
          <a:xfrm>
            <a:off x="3566160" y="1847088"/>
            <a:ext cx="1481328" cy="6217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medido</a:t>
            </a:r>
            <a:endParaRPr b="0" i="0" sz="1100" u="none" cap="none" strike="noStrike">
              <a:solidFill>
                <a:schemeClr val="dk1"/>
              </a:solidFill>
              <a:latin typeface="Calibri"/>
              <a:ea typeface="Calibri"/>
              <a:cs typeface="Calibri"/>
              <a:sym typeface="Calibri"/>
            </a:endParaRPr>
          </a:p>
        </p:txBody>
      </p:sp>
      <p:sp>
        <p:nvSpPr>
          <p:cNvPr id="616" name="Google Shape;616;p21"/>
          <p:cNvSpPr/>
          <p:nvPr/>
        </p:nvSpPr>
        <p:spPr>
          <a:xfrm>
            <a:off x="5148072" y="1847088"/>
            <a:ext cx="1572768" cy="621792"/>
          </a:xfrm>
          <a:prstGeom prst="roundRect">
            <a:avLst>
              <a:gd fmla="val 8824" name="adj"/>
            </a:avLst>
          </a:prstGeom>
          <a:solidFill>
            <a:srgbClr val="F4F7F9"/>
          </a:solidFill>
          <a:ln cap="flat" cmpd="sng" w="12700">
            <a:solidFill>
              <a:srgbClr val="F4F7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1"/>
          <p:cNvSpPr/>
          <p:nvPr/>
        </p:nvSpPr>
        <p:spPr>
          <a:xfrm>
            <a:off x="6775704" y="1847088"/>
            <a:ext cx="1572768" cy="621792"/>
          </a:xfrm>
          <a:prstGeom prst="roundRect">
            <a:avLst>
              <a:gd fmla="val 8824" name="adj"/>
            </a:avLst>
          </a:prstGeom>
          <a:solidFill>
            <a:srgbClr val="FFFFFF"/>
          </a:solidFill>
          <a:ln cap="flat" cmpd="sng" w="19050">
            <a:solidFill>
              <a:srgbClr val="1F6F9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1"/>
          <p:cNvSpPr txBox="1"/>
          <p:nvPr/>
        </p:nvSpPr>
        <p:spPr>
          <a:xfrm>
            <a:off x="6821424" y="1847088"/>
            <a:ext cx="1481328" cy="6217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1F6F9F"/>
              </a:buClr>
              <a:buSzPts val="1100"/>
              <a:buFont typeface="Calibri"/>
              <a:buNone/>
            </a:pPr>
            <a:r>
              <a:rPr b="0" i="0" lang="en-US" sz="1100" u="none" cap="none" strike="noStrike">
                <a:solidFill>
                  <a:srgbClr val="1F6F9F"/>
                </a:solidFill>
                <a:latin typeface="Calibri"/>
                <a:ea typeface="Calibri"/>
                <a:cs typeface="Calibri"/>
                <a:sym typeface="Calibri"/>
              </a:rPr>
              <a:t>detectabilidad / preferencia</a:t>
            </a:r>
            <a:endParaRPr b="0" i="0" sz="1100" u="none" cap="none" strike="noStrike">
              <a:solidFill>
                <a:schemeClr val="dk1"/>
              </a:solidFill>
              <a:latin typeface="Calibri"/>
              <a:ea typeface="Calibri"/>
              <a:cs typeface="Calibri"/>
              <a:sym typeface="Calibri"/>
            </a:endParaRPr>
          </a:p>
        </p:txBody>
      </p:sp>
      <p:sp>
        <p:nvSpPr>
          <p:cNvPr id="619" name="Google Shape;619;p21"/>
          <p:cNvSpPr/>
          <p:nvPr/>
        </p:nvSpPr>
        <p:spPr>
          <a:xfrm>
            <a:off x="8403336" y="1847088"/>
            <a:ext cx="1572768" cy="621792"/>
          </a:xfrm>
          <a:prstGeom prst="roundRect">
            <a:avLst>
              <a:gd fmla="val 8824"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1"/>
          <p:cNvSpPr txBox="1"/>
          <p:nvPr/>
        </p:nvSpPr>
        <p:spPr>
          <a:xfrm>
            <a:off x="8449056" y="1847088"/>
            <a:ext cx="1481328" cy="6217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más juveniles (local)</a:t>
            </a:r>
            <a:endParaRPr b="0" i="0" sz="1100" u="none" cap="none" strike="noStrike">
              <a:solidFill>
                <a:schemeClr val="dk1"/>
              </a:solidFill>
              <a:latin typeface="Calibri"/>
              <a:ea typeface="Calibri"/>
              <a:cs typeface="Calibri"/>
              <a:sym typeface="Calibri"/>
            </a:endParaRPr>
          </a:p>
        </p:txBody>
      </p:sp>
      <p:sp>
        <p:nvSpPr>
          <p:cNvPr id="621" name="Google Shape;621;p21"/>
          <p:cNvSpPr/>
          <p:nvPr/>
        </p:nvSpPr>
        <p:spPr>
          <a:xfrm>
            <a:off x="10030968" y="1847088"/>
            <a:ext cx="1572768" cy="621792"/>
          </a:xfrm>
          <a:prstGeom prst="roundRect">
            <a:avLst>
              <a:gd fmla="val 8824" name="adj"/>
            </a:avLst>
          </a:prstGeom>
          <a:solidFill>
            <a:srgbClr val="FFFFFF"/>
          </a:solidFill>
          <a:ln cap="flat" cmpd="sng" w="22225">
            <a:solidFill>
              <a:srgbClr val="E36F5A"/>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1"/>
          <p:cNvSpPr txBox="1"/>
          <p:nvPr/>
        </p:nvSpPr>
        <p:spPr>
          <a:xfrm>
            <a:off x="10076688" y="1847088"/>
            <a:ext cx="1481328" cy="6217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B8432F"/>
              </a:buClr>
              <a:buSzPts val="1100"/>
              <a:buFont typeface="Calibri"/>
              <a:buNone/>
            </a:pPr>
            <a:r>
              <a:rPr b="0" i="0" lang="en-US" sz="1100" u="none" cap="none" strike="noStrike">
                <a:solidFill>
                  <a:srgbClr val="B8432F"/>
                </a:solidFill>
                <a:latin typeface="Calibri"/>
                <a:ea typeface="Calibri"/>
                <a:cs typeface="Calibri"/>
                <a:sym typeface="Calibri"/>
              </a:rPr>
              <a:t>restauración</a:t>
            </a:r>
            <a:endParaRPr b="0" i="0" sz="1100" u="none" cap="none" strike="noStrike">
              <a:solidFill>
                <a:schemeClr val="dk1"/>
              </a:solidFill>
              <a:latin typeface="Calibri"/>
              <a:ea typeface="Calibri"/>
              <a:cs typeface="Calibri"/>
              <a:sym typeface="Calibri"/>
            </a:endParaRPr>
          </a:p>
        </p:txBody>
      </p:sp>
      <p:sp>
        <p:nvSpPr>
          <p:cNvPr id="623" name="Google Shape;623;p21"/>
          <p:cNvSpPr txBox="1"/>
          <p:nvPr/>
        </p:nvSpPr>
        <p:spPr>
          <a:xfrm>
            <a:off x="548640" y="2578608"/>
            <a:ext cx="2880360" cy="62179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500"/>
              <a:buFont typeface="Calibri"/>
              <a:buNone/>
            </a:pPr>
            <a:r>
              <a:rPr b="1" i="0" lang="en-US" sz="1500" u="none" cap="none" strike="noStrike">
                <a:solidFill>
                  <a:srgbClr val="0B2A4A"/>
                </a:solidFill>
                <a:latin typeface="Calibri"/>
                <a:ea typeface="Calibri"/>
                <a:cs typeface="Calibri"/>
                <a:sym typeface="Calibri"/>
              </a:rPr>
              <a:t>Disuasores (carpas)</a:t>
            </a:r>
            <a:endParaRPr b="0" i="0" sz="1500" u="none" cap="none" strike="noStrike">
              <a:solidFill>
                <a:schemeClr val="dk1"/>
              </a:solidFill>
              <a:latin typeface="Calibri"/>
              <a:ea typeface="Calibri"/>
              <a:cs typeface="Calibri"/>
              <a:sym typeface="Calibri"/>
            </a:endParaRPr>
          </a:p>
        </p:txBody>
      </p:sp>
      <p:sp>
        <p:nvSpPr>
          <p:cNvPr id="624" name="Google Shape;624;p21"/>
          <p:cNvSpPr/>
          <p:nvPr/>
        </p:nvSpPr>
        <p:spPr>
          <a:xfrm>
            <a:off x="3520440" y="2578608"/>
            <a:ext cx="1572768" cy="621792"/>
          </a:xfrm>
          <a:prstGeom prst="roundRect">
            <a:avLst>
              <a:gd fmla="val 8824"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1"/>
          <p:cNvSpPr txBox="1"/>
          <p:nvPr/>
        </p:nvSpPr>
        <p:spPr>
          <a:xfrm>
            <a:off x="3566160" y="2578608"/>
            <a:ext cx="1481328" cy="6217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medido</a:t>
            </a:r>
            <a:endParaRPr b="0" i="0" sz="1100" u="none" cap="none" strike="noStrike">
              <a:solidFill>
                <a:schemeClr val="dk1"/>
              </a:solidFill>
              <a:latin typeface="Calibri"/>
              <a:ea typeface="Calibri"/>
              <a:cs typeface="Calibri"/>
              <a:sym typeface="Calibri"/>
            </a:endParaRPr>
          </a:p>
        </p:txBody>
      </p:sp>
      <p:sp>
        <p:nvSpPr>
          <p:cNvPr id="626" name="Google Shape;626;p21"/>
          <p:cNvSpPr/>
          <p:nvPr/>
        </p:nvSpPr>
        <p:spPr>
          <a:xfrm>
            <a:off x="5148072" y="2578608"/>
            <a:ext cx="1572768" cy="621792"/>
          </a:xfrm>
          <a:prstGeom prst="roundRect">
            <a:avLst>
              <a:gd fmla="val 8824"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21"/>
          <p:cNvSpPr txBox="1"/>
          <p:nvPr/>
        </p:nvSpPr>
        <p:spPr>
          <a:xfrm>
            <a:off x="5193792" y="2578608"/>
            <a:ext cx="1481328" cy="6217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umbrales AEP</a:t>
            </a:r>
            <a:endParaRPr b="0" i="0" sz="1100" u="none" cap="none" strike="noStrike">
              <a:solidFill>
                <a:schemeClr val="dk1"/>
              </a:solidFill>
              <a:latin typeface="Calibri"/>
              <a:ea typeface="Calibri"/>
              <a:cs typeface="Calibri"/>
              <a:sym typeface="Calibri"/>
            </a:endParaRPr>
          </a:p>
        </p:txBody>
      </p:sp>
      <p:sp>
        <p:nvSpPr>
          <p:cNvPr id="628" name="Google Shape;628;p21"/>
          <p:cNvSpPr/>
          <p:nvPr/>
        </p:nvSpPr>
        <p:spPr>
          <a:xfrm>
            <a:off x="6775704" y="2578608"/>
            <a:ext cx="1572768" cy="621792"/>
          </a:xfrm>
          <a:prstGeom prst="roundRect">
            <a:avLst>
              <a:gd fmla="val 8824" name="adj"/>
            </a:avLst>
          </a:prstGeom>
          <a:solidFill>
            <a:srgbClr val="F4F7F9"/>
          </a:solidFill>
          <a:ln cap="flat" cmpd="sng" w="12700">
            <a:solidFill>
              <a:srgbClr val="F4F7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1"/>
          <p:cNvSpPr/>
          <p:nvPr/>
        </p:nvSpPr>
        <p:spPr>
          <a:xfrm>
            <a:off x="8403336" y="2578608"/>
            <a:ext cx="1572768" cy="621792"/>
          </a:xfrm>
          <a:prstGeom prst="roundRect">
            <a:avLst>
              <a:gd fmla="val 8824"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21"/>
          <p:cNvSpPr txBox="1"/>
          <p:nvPr/>
        </p:nvSpPr>
        <p:spPr>
          <a:xfrm>
            <a:off x="8449056" y="2578608"/>
            <a:ext cx="1481328" cy="6217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evasión inicial (tanque)</a:t>
            </a:r>
            <a:endParaRPr b="0" i="0" sz="1100" u="none" cap="none" strike="noStrike">
              <a:solidFill>
                <a:schemeClr val="dk1"/>
              </a:solidFill>
              <a:latin typeface="Calibri"/>
              <a:ea typeface="Calibri"/>
              <a:cs typeface="Calibri"/>
              <a:sym typeface="Calibri"/>
            </a:endParaRPr>
          </a:p>
        </p:txBody>
      </p:sp>
      <p:sp>
        <p:nvSpPr>
          <p:cNvPr id="631" name="Google Shape;631;p21"/>
          <p:cNvSpPr/>
          <p:nvPr/>
        </p:nvSpPr>
        <p:spPr>
          <a:xfrm>
            <a:off x="10030968" y="2578608"/>
            <a:ext cx="1572768" cy="621792"/>
          </a:xfrm>
          <a:prstGeom prst="roundRect">
            <a:avLst>
              <a:gd fmla="val 8824" name="adj"/>
            </a:avLst>
          </a:prstGeom>
          <a:solidFill>
            <a:srgbClr val="FFFFFF"/>
          </a:solidFill>
          <a:ln cap="flat" cmpd="sng" w="22225">
            <a:solidFill>
              <a:srgbClr val="E36F5A"/>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21"/>
          <p:cNvSpPr txBox="1"/>
          <p:nvPr/>
        </p:nvSpPr>
        <p:spPr>
          <a:xfrm>
            <a:off x="10076688" y="2578608"/>
            <a:ext cx="1481328" cy="6217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B8432F"/>
              </a:buClr>
              <a:buSzPts val="1100"/>
              <a:buFont typeface="Calibri"/>
              <a:buNone/>
            </a:pPr>
            <a:r>
              <a:rPr b="0" i="0" lang="en-US" sz="1100" u="none" cap="none" strike="noStrike">
                <a:solidFill>
                  <a:srgbClr val="B8432F"/>
                </a:solidFill>
                <a:latin typeface="Calibri"/>
                <a:ea typeface="Calibri"/>
                <a:cs typeface="Calibri"/>
                <a:sym typeface="Calibri"/>
              </a:rPr>
              <a:t>barrera en río</a:t>
            </a:r>
            <a:endParaRPr b="0" i="0" sz="1100" u="none" cap="none" strike="noStrike">
              <a:solidFill>
                <a:schemeClr val="dk1"/>
              </a:solidFill>
              <a:latin typeface="Calibri"/>
              <a:ea typeface="Calibri"/>
              <a:cs typeface="Calibri"/>
              <a:sym typeface="Calibri"/>
            </a:endParaRPr>
          </a:p>
        </p:txBody>
      </p:sp>
      <p:sp>
        <p:nvSpPr>
          <p:cNvPr id="633" name="Google Shape;633;p21"/>
          <p:cNvSpPr txBox="1"/>
          <p:nvPr/>
        </p:nvSpPr>
        <p:spPr>
          <a:xfrm>
            <a:off x="548640" y="3310128"/>
            <a:ext cx="2880360" cy="62179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500"/>
              <a:buFont typeface="Calibri"/>
              <a:buNone/>
            </a:pPr>
            <a:r>
              <a:rPr b="1" i="0" lang="en-US" sz="1500" u="none" cap="none" strike="noStrike">
                <a:solidFill>
                  <a:srgbClr val="0B2A4A"/>
                </a:solidFill>
                <a:latin typeface="Calibri"/>
                <a:ea typeface="Calibri"/>
                <a:cs typeface="Calibri"/>
                <a:sym typeface="Calibri"/>
              </a:rPr>
              <a:t>Señuelos acústicos</a:t>
            </a:r>
            <a:endParaRPr b="0" i="0" sz="1500" u="none" cap="none" strike="noStrike">
              <a:solidFill>
                <a:schemeClr val="dk1"/>
              </a:solidFill>
              <a:latin typeface="Calibri"/>
              <a:ea typeface="Calibri"/>
              <a:cs typeface="Calibri"/>
              <a:sym typeface="Calibri"/>
            </a:endParaRPr>
          </a:p>
        </p:txBody>
      </p:sp>
      <p:sp>
        <p:nvSpPr>
          <p:cNvPr id="634" name="Google Shape;634;p21"/>
          <p:cNvSpPr/>
          <p:nvPr/>
        </p:nvSpPr>
        <p:spPr>
          <a:xfrm>
            <a:off x="3520440" y="3310128"/>
            <a:ext cx="1572768" cy="621792"/>
          </a:xfrm>
          <a:prstGeom prst="roundRect">
            <a:avLst>
              <a:gd fmla="val 8824"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1"/>
          <p:cNvSpPr txBox="1"/>
          <p:nvPr/>
        </p:nvSpPr>
        <p:spPr>
          <a:xfrm>
            <a:off x="3566160" y="3310128"/>
            <a:ext cx="1481328" cy="6217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medido</a:t>
            </a:r>
            <a:endParaRPr b="0" i="0" sz="1100" u="none" cap="none" strike="noStrike">
              <a:solidFill>
                <a:schemeClr val="dk1"/>
              </a:solidFill>
              <a:latin typeface="Calibri"/>
              <a:ea typeface="Calibri"/>
              <a:cs typeface="Calibri"/>
              <a:sym typeface="Calibri"/>
            </a:endParaRPr>
          </a:p>
        </p:txBody>
      </p:sp>
      <p:sp>
        <p:nvSpPr>
          <p:cNvPr id="636" name="Google Shape;636;p21"/>
          <p:cNvSpPr/>
          <p:nvPr/>
        </p:nvSpPr>
        <p:spPr>
          <a:xfrm>
            <a:off x="5148072" y="3310128"/>
            <a:ext cx="1572768" cy="621792"/>
          </a:xfrm>
          <a:prstGeom prst="roundRect">
            <a:avLst>
              <a:gd fmla="val 8824" name="adj"/>
            </a:avLst>
          </a:prstGeom>
          <a:solidFill>
            <a:srgbClr val="F4F7F9"/>
          </a:solidFill>
          <a:ln cap="flat" cmpd="sng" w="12700">
            <a:solidFill>
              <a:srgbClr val="F4F7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1"/>
          <p:cNvSpPr/>
          <p:nvPr/>
        </p:nvSpPr>
        <p:spPr>
          <a:xfrm>
            <a:off x="6775704" y="3310128"/>
            <a:ext cx="1572768" cy="621792"/>
          </a:xfrm>
          <a:prstGeom prst="roundRect">
            <a:avLst>
              <a:gd fmla="val 8824" name="adj"/>
            </a:avLst>
          </a:prstGeom>
          <a:solidFill>
            <a:srgbClr val="F4F7F9"/>
          </a:solidFill>
          <a:ln cap="flat" cmpd="sng" w="12700">
            <a:solidFill>
              <a:srgbClr val="F4F7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21"/>
          <p:cNvSpPr/>
          <p:nvPr/>
        </p:nvSpPr>
        <p:spPr>
          <a:xfrm>
            <a:off x="8403336" y="3310128"/>
            <a:ext cx="1572768" cy="621792"/>
          </a:xfrm>
          <a:prstGeom prst="roundRect">
            <a:avLst>
              <a:gd fmla="val 8824"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1"/>
          <p:cNvSpPr txBox="1"/>
          <p:nvPr/>
        </p:nvSpPr>
        <p:spPr>
          <a:xfrm>
            <a:off x="8449056" y="3310128"/>
            <a:ext cx="1481328" cy="6217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orientación (bacalao) · nula (pez león)</a:t>
            </a:r>
            <a:endParaRPr b="0" i="0" sz="1100" u="none" cap="none" strike="noStrike">
              <a:solidFill>
                <a:schemeClr val="dk1"/>
              </a:solidFill>
              <a:latin typeface="Calibri"/>
              <a:ea typeface="Calibri"/>
              <a:cs typeface="Calibri"/>
              <a:sym typeface="Calibri"/>
            </a:endParaRPr>
          </a:p>
        </p:txBody>
      </p:sp>
      <p:sp>
        <p:nvSpPr>
          <p:cNvPr id="640" name="Google Shape;640;p21"/>
          <p:cNvSpPr/>
          <p:nvPr/>
        </p:nvSpPr>
        <p:spPr>
          <a:xfrm>
            <a:off x="10030968" y="3310128"/>
            <a:ext cx="1572768" cy="621792"/>
          </a:xfrm>
          <a:prstGeom prst="roundRect">
            <a:avLst>
              <a:gd fmla="val 8824" name="adj"/>
            </a:avLst>
          </a:prstGeom>
          <a:solidFill>
            <a:srgbClr val="FFFFFF"/>
          </a:solidFill>
          <a:ln cap="flat" cmpd="sng" w="22225">
            <a:solidFill>
              <a:srgbClr val="E36F5A"/>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1"/>
          <p:cNvSpPr txBox="1"/>
          <p:nvPr/>
        </p:nvSpPr>
        <p:spPr>
          <a:xfrm>
            <a:off x="10076688" y="3310128"/>
            <a:ext cx="1481328" cy="6217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B8432F"/>
              </a:buClr>
              <a:buSzPts val="1100"/>
              <a:buFont typeface="Calibri"/>
              <a:buNone/>
            </a:pPr>
            <a:r>
              <a:rPr b="0" i="0" lang="en-US" sz="1100" u="none" cap="none" strike="noStrike">
                <a:solidFill>
                  <a:srgbClr val="B8432F"/>
                </a:solidFill>
                <a:latin typeface="Calibri"/>
                <a:ea typeface="Calibri"/>
                <a:cs typeface="Calibri"/>
                <a:sym typeface="Calibri"/>
              </a:rPr>
              <a:t>captura operativa</a:t>
            </a:r>
            <a:endParaRPr b="0" i="0" sz="1100" u="none" cap="none" strike="noStrike">
              <a:solidFill>
                <a:schemeClr val="dk1"/>
              </a:solidFill>
              <a:latin typeface="Calibri"/>
              <a:ea typeface="Calibri"/>
              <a:cs typeface="Calibri"/>
              <a:sym typeface="Calibri"/>
            </a:endParaRPr>
          </a:p>
        </p:txBody>
      </p:sp>
      <p:sp>
        <p:nvSpPr>
          <p:cNvPr id="642" name="Google Shape;642;p21"/>
          <p:cNvSpPr txBox="1"/>
          <p:nvPr/>
        </p:nvSpPr>
        <p:spPr>
          <a:xfrm>
            <a:off x="548640" y="4041648"/>
            <a:ext cx="2880360" cy="62179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500"/>
              <a:buFont typeface="Calibri"/>
              <a:buNone/>
            </a:pPr>
            <a:r>
              <a:rPr b="1" i="0" lang="en-US" sz="1500" u="none" cap="none" strike="noStrike">
                <a:solidFill>
                  <a:srgbClr val="0B2A4A"/>
                </a:solidFill>
                <a:latin typeface="Calibri"/>
                <a:ea typeface="Calibri"/>
                <a:cs typeface="Calibri"/>
                <a:sym typeface="Calibri"/>
              </a:rPr>
              <a:t>Mitigación del ruido</a:t>
            </a:r>
            <a:endParaRPr b="0" i="0" sz="1500" u="none" cap="none" strike="noStrike">
              <a:solidFill>
                <a:schemeClr val="dk1"/>
              </a:solidFill>
              <a:latin typeface="Calibri"/>
              <a:ea typeface="Calibri"/>
              <a:cs typeface="Calibri"/>
              <a:sym typeface="Calibri"/>
            </a:endParaRPr>
          </a:p>
        </p:txBody>
      </p:sp>
      <p:sp>
        <p:nvSpPr>
          <p:cNvPr id="643" name="Google Shape;643;p21"/>
          <p:cNvSpPr/>
          <p:nvPr/>
        </p:nvSpPr>
        <p:spPr>
          <a:xfrm>
            <a:off x="3520440" y="4041648"/>
            <a:ext cx="1572768" cy="621792"/>
          </a:xfrm>
          <a:prstGeom prst="roundRect">
            <a:avLst>
              <a:gd fmla="val 8824"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21"/>
          <p:cNvSpPr txBox="1"/>
          <p:nvPr/>
        </p:nvSpPr>
        <p:spPr>
          <a:xfrm>
            <a:off x="3566160" y="4041648"/>
            <a:ext cx="1481328" cy="6217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medido</a:t>
            </a:r>
            <a:endParaRPr b="0" i="0" sz="1100" u="none" cap="none" strike="noStrike">
              <a:solidFill>
                <a:schemeClr val="dk1"/>
              </a:solidFill>
              <a:latin typeface="Calibri"/>
              <a:ea typeface="Calibri"/>
              <a:cs typeface="Calibri"/>
              <a:sym typeface="Calibri"/>
            </a:endParaRPr>
          </a:p>
        </p:txBody>
      </p:sp>
      <p:sp>
        <p:nvSpPr>
          <p:cNvPr id="645" name="Google Shape;645;p21"/>
          <p:cNvSpPr/>
          <p:nvPr/>
        </p:nvSpPr>
        <p:spPr>
          <a:xfrm>
            <a:off x="5148072" y="4041648"/>
            <a:ext cx="1572768" cy="621792"/>
          </a:xfrm>
          <a:prstGeom prst="roundRect">
            <a:avLst>
              <a:gd fmla="val 8824" name="adj"/>
            </a:avLst>
          </a:prstGeom>
          <a:solidFill>
            <a:srgbClr val="F4F7F9"/>
          </a:solidFill>
          <a:ln cap="flat" cmpd="sng" w="12700">
            <a:solidFill>
              <a:srgbClr val="F4F7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21"/>
          <p:cNvSpPr/>
          <p:nvPr/>
        </p:nvSpPr>
        <p:spPr>
          <a:xfrm>
            <a:off x="6775704" y="4041648"/>
            <a:ext cx="1572768" cy="621792"/>
          </a:xfrm>
          <a:prstGeom prst="roundRect">
            <a:avLst>
              <a:gd fmla="val 8824" name="adj"/>
            </a:avLst>
          </a:prstGeom>
          <a:solidFill>
            <a:srgbClr val="FFFFFF"/>
          </a:solidFill>
          <a:ln cap="flat" cmpd="sng" w="19050">
            <a:solidFill>
              <a:srgbClr val="1F6F9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1"/>
          <p:cNvSpPr txBox="1"/>
          <p:nvPr/>
        </p:nvSpPr>
        <p:spPr>
          <a:xfrm>
            <a:off x="6821424" y="4041648"/>
            <a:ext cx="1481328" cy="6217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1F6F9F"/>
              </a:buClr>
              <a:buSzPts val="1100"/>
              <a:buFont typeface="Calibri"/>
              <a:buNone/>
            </a:pPr>
            <a:r>
              <a:rPr b="0" i="0" lang="en-US" sz="1100" u="none" cap="none" strike="noStrike">
                <a:solidFill>
                  <a:srgbClr val="1F6F9F"/>
                </a:solidFill>
                <a:latin typeface="Calibri"/>
                <a:ea typeface="Calibri"/>
                <a:cs typeface="Calibri"/>
                <a:sym typeface="Calibri"/>
              </a:rPr>
              <a:t>estrés / distracción</a:t>
            </a:r>
            <a:endParaRPr b="0" i="0" sz="1100" u="none" cap="none" strike="noStrike">
              <a:solidFill>
                <a:schemeClr val="dk1"/>
              </a:solidFill>
              <a:latin typeface="Calibri"/>
              <a:ea typeface="Calibri"/>
              <a:cs typeface="Calibri"/>
              <a:sym typeface="Calibri"/>
            </a:endParaRPr>
          </a:p>
        </p:txBody>
      </p:sp>
      <p:sp>
        <p:nvSpPr>
          <p:cNvPr id="648" name="Google Shape;648;p21"/>
          <p:cNvSpPr/>
          <p:nvPr/>
        </p:nvSpPr>
        <p:spPr>
          <a:xfrm>
            <a:off x="8403336" y="4041648"/>
            <a:ext cx="1572768" cy="621792"/>
          </a:xfrm>
          <a:prstGeom prst="roundRect">
            <a:avLst>
              <a:gd fmla="val 8824"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1"/>
          <p:cNvSpPr txBox="1"/>
          <p:nvPr/>
        </p:nvSpPr>
        <p:spPr>
          <a:xfrm>
            <a:off x="8449056" y="4041648"/>
            <a:ext cx="1481328" cy="6217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escape y supervivencia</a:t>
            </a:r>
            <a:endParaRPr b="0" i="0" sz="1100" u="none" cap="none" strike="noStrike">
              <a:solidFill>
                <a:schemeClr val="dk1"/>
              </a:solidFill>
              <a:latin typeface="Calibri"/>
              <a:ea typeface="Calibri"/>
              <a:cs typeface="Calibri"/>
              <a:sym typeface="Calibri"/>
            </a:endParaRPr>
          </a:p>
        </p:txBody>
      </p:sp>
      <p:sp>
        <p:nvSpPr>
          <p:cNvPr id="650" name="Google Shape;650;p21"/>
          <p:cNvSpPr/>
          <p:nvPr/>
        </p:nvSpPr>
        <p:spPr>
          <a:xfrm>
            <a:off x="10030968" y="4041648"/>
            <a:ext cx="1572768" cy="621792"/>
          </a:xfrm>
          <a:prstGeom prst="roundRect">
            <a:avLst>
              <a:gd fmla="val 8824" name="adj"/>
            </a:avLst>
          </a:prstGeom>
          <a:solidFill>
            <a:srgbClr val="FFFFFF"/>
          </a:solidFill>
          <a:ln cap="flat" cmpd="sng" w="22225">
            <a:solidFill>
              <a:srgbClr val="E36F5A"/>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1"/>
          <p:cNvSpPr txBox="1"/>
          <p:nvPr/>
        </p:nvSpPr>
        <p:spPr>
          <a:xfrm>
            <a:off x="10076688" y="4041648"/>
            <a:ext cx="1481328" cy="6217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B8432F"/>
              </a:buClr>
              <a:buSzPts val="1100"/>
              <a:buFont typeface="Calibri"/>
              <a:buNone/>
            </a:pPr>
            <a:r>
              <a:rPr b="0" i="0" lang="en-US" sz="1100" u="none" cap="none" strike="noStrike">
                <a:solidFill>
                  <a:srgbClr val="B8432F"/>
                </a:solidFill>
                <a:latin typeface="Calibri"/>
                <a:ea typeface="Calibri"/>
                <a:cs typeface="Calibri"/>
                <a:sym typeface="Calibri"/>
              </a:rPr>
              <a:t>medidas concretas</a:t>
            </a:r>
            <a:endParaRPr b="0" i="0" sz="1100" u="none" cap="none" strike="noStrike">
              <a:solidFill>
                <a:schemeClr val="dk1"/>
              </a:solidFill>
              <a:latin typeface="Calibri"/>
              <a:ea typeface="Calibri"/>
              <a:cs typeface="Calibri"/>
              <a:sym typeface="Calibri"/>
            </a:endParaRPr>
          </a:p>
        </p:txBody>
      </p:sp>
      <p:sp>
        <p:nvSpPr>
          <p:cNvPr id="652" name="Google Shape;652;p21"/>
          <p:cNvSpPr txBox="1"/>
          <p:nvPr/>
        </p:nvSpPr>
        <p:spPr>
          <a:xfrm>
            <a:off x="548640" y="4773168"/>
            <a:ext cx="2880360" cy="62179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500"/>
              <a:buFont typeface="Calibri"/>
              <a:buNone/>
            </a:pPr>
            <a:r>
              <a:rPr b="1" i="0" lang="en-US" sz="1500" u="none" cap="none" strike="noStrike">
                <a:solidFill>
                  <a:srgbClr val="0B2A4A"/>
                </a:solidFill>
                <a:latin typeface="Calibri"/>
                <a:ea typeface="Calibri"/>
                <a:cs typeface="Calibri"/>
                <a:sym typeface="Calibri"/>
              </a:rPr>
              <a:t>Herramientas de investigación</a:t>
            </a:r>
            <a:endParaRPr b="0" i="0" sz="1500" u="none" cap="none" strike="noStrike">
              <a:solidFill>
                <a:schemeClr val="dk1"/>
              </a:solidFill>
              <a:latin typeface="Calibri"/>
              <a:ea typeface="Calibri"/>
              <a:cs typeface="Calibri"/>
              <a:sym typeface="Calibri"/>
            </a:endParaRPr>
          </a:p>
        </p:txBody>
      </p:sp>
      <p:sp>
        <p:nvSpPr>
          <p:cNvPr id="653" name="Google Shape;653;p21"/>
          <p:cNvSpPr/>
          <p:nvPr/>
        </p:nvSpPr>
        <p:spPr>
          <a:xfrm>
            <a:off x="3520440" y="4773168"/>
            <a:ext cx="1572768" cy="621792"/>
          </a:xfrm>
          <a:prstGeom prst="roundRect">
            <a:avLst>
              <a:gd fmla="val 8824"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21"/>
          <p:cNvSpPr txBox="1"/>
          <p:nvPr/>
        </p:nvSpPr>
        <p:spPr>
          <a:xfrm>
            <a:off x="3566160" y="4773168"/>
            <a:ext cx="1481328" cy="6217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manipulación de fase</a:t>
            </a:r>
            <a:endParaRPr b="0" i="0" sz="1100" u="none" cap="none" strike="noStrike">
              <a:solidFill>
                <a:schemeClr val="dk1"/>
              </a:solidFill>
              <a:latin typeface="Calibri"/>
              <a:ea typeface="Calibri"/>
              <a:cs typeface="Calibri"/>
              <a:sym typeface="Calibri"/>
            </a:endParaRPr>
          </a:p>
        </p:txBody>
      </p:sp>
      <p:sp>
        <p:nvSpPr>
          <p:cNvPr id="655" name="Google Shape;655;p21"/>
          <p:cNvSpPr/>
          <p:nvPr/>
        </p:nvSpPr>
        <p:spPr>
          <a:xfrm>
            <a:off x="5148072" y="4773168"/>
            <a:ext cx="1572768" cy="621792"/>
          </a:xfrm>
          <a:prstGeom prst="roundRect">
            <a:avLst>
              <a:gd fmla="val 8824" name="adj"/>
            </a:avLst>
          </a:prstGeom>
          <a:solidFill>
            <a:srgbClr val="F4F7F9"/>
          </a:solidFill>
          <a:ln cap="flat" cmpd="sng" w="12700">
            <a:solidFill>
              <a:srgbClr val="F4F7F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21"/>
          <p:cNvSpPr/>
          <p:nvPr/>
        </p:nvSpPr>
        <p:spPr>
          <a:xfrm>
            <a:off x="6775704" y="4773168"/>
            <a:ext cx="1572768" cy="621792"/>
          </a:xfrm>
          <a:prstGeom prst="roundRect">
            <a:avLst>
              <a:gd fmla="val 8824"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21"/>
          <p:cNvSpPr txBox="1"/>
          <p:nvPr/>
        </p:nvSpPr>
        <p:spPr>
          <a:xfrm>
            <a:off x="6821424" y="4773168"/>
            <a:ext cx="1481328" cy="6217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dirección (fase)</a:t>
            </a:r>
            <a:endParaRPr b="0" i="0" sz="1100" u="none" cap="none" strike="noStrike">
              <a:solidFill>
                <a:schemeClr val="dk1"/>
              </a:solidFill>
              <a:latin typeface="Calibri"/>
              <a:ea typeface="Calibri"/>
              <a:cs typeface="Calibri"/>
              <a:sym typeface="Calibri"/>
            </a:endParaRPr>
          </a:p>
        </p:txBody>
      </p:sp>
      <p:sp>
        <p:nvSpPr>
          <p:cNvPr id="658" name="Google Shape;658;p21"/>
          <p:cNvSpPr/>
          <p:nvPr/>
        </p:nvSpPr>
        <p:spPr>
          <a:xfrm>
            <a:off x="8403336" y="4773168"/>
            <a:ext cx="1572768" cy="621792"/>
          </a:xfrm>
          <a:prstGeom prst="roundRect">
            <a:avLst>
              <a:gd fmla="val 8824"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21"/>
          <p:cNvSpPr txBox="1"/>
          <p:nvPr/>
        </p:nvSpPr>
        <p:spPr>
          <a:xfrm>
            <a:off x="8449056" y="4773168"/>
            <a:ext cx="1481328" cy="6217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cámaras · MBACI</a:t>
            </a:r>
            <a:endParaRPr b="0" i="0" sz="1100" u="none" cap="none" strike="noStrike">
              <a:solidFill>
                <a:schemeClr val="dk1"/>
              </a:solidFill>
              <a:latin typeface="Calibri"/>
              <a:ea typeface="Calibri"/>
              <a:cs typeface="Calibri"/>
              <a:sym typeface="Calibri"/>
            </a:endParaRPr>
          </a:p>
        </p:txBody>
      </p:sp>
      <p:sp>
        <p:nvSpPr>
          <p:cNvPr id="660" name="Google Shape;660;p21"/>
          <p:cNvSpPr/>
          <p:nvPr/>
        </p:nvSpPr>
        <p:spPr>
          <a:xfrm>
            <a:off x="10030968" y="4773168"/>
            <a:ext cx="1572768" cy="621792"/>
          </a:xfrm>
          <a:prstGeom prst="roundRect">
            <a:avLst>
              <a:gd fmla="val 8824"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1"/>
          <p:cNvSpPr txBox="1"/>
          <p:nvPr/>
        </p:nvSpPr>
        <p:spPr>
          <a:xfrm>
            <a:off x="10076688" y="4773168"/>
            <a:ext cx="1481328" cy="621792"/>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ya en uso; transferencia pendiente</a:t>
            </a:r>
            <a:endParaRPr b="0" i="0" sz="1100" u="none" cap="none" strike="noStrike">
              <a:solidFill>
                <a:schemeClr val="dk1"/>
              </a:solidFill>
              <a:latin typeface="Calibri"/>
              <a:ea typeface="Calibri"/>
              <a:cs typeface="Calibri"/>
              <a:sym typeface="Calibri"/>
            </a:endParaRPr>
          </a:p>
        </p:txBody>
      </p:sp>
      <p:sp>
        <p:nvSpPr>
          <p:cNvPr id="662" name="Google Shape;662;p21"/>
          <p:cNvSpPr/>
          <p:nvPr/>
        </p:nvSpPr>
        <p:spPr>
          <a:xfrm>
            <a:off x="548640" y="5715000"/>
            <a:ext cx="411480" cy="256032"/>
          </a:xfrm>
          <a:prstGeom prst="roundRect">
            <a:avLst>
              <a:gd fmla="val 14286" name="adj"/>
            </a:avLst>
          </a:prstGeom>
          <a:solidFill>
            <a:srgbClr val="2BB3B1"/>
          </a:solidFill>
          <a:ln cap="flat" cmpd="sng" w="12700">
            <a:solidFill>
              <a:srgbClr val="2BB3B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21"/>
          <p:cNvSpPr txBox="1"/>
          <p:nvPr/>
        </p:nvSpPr>
        <p:spPr>
          <a:xfrm>
            <a:off x="1051560" y="5669280"/>
            <a:ext cx="2240280" cy="34747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250"/>
              <a:buFont typeface="Calibri"/>
              <a:buNone/>
            </a:pPr>
            <a:r>
              <a:rPr b="0" i="0" lang="en-US" sz="1250" u="none" cap="none" strike="noStrike">
                <a:solidFill>
                  <a:srgbClr val="1B2B3A"/>
                </a:solidFill>
                <a:latin typeface="Calibri"/>
                <a:ea typeface="Calibri"/>
                <a:cs typeface="Calibri"/>
                <a:sym typeface="Calibri"/>
              </a:rPr>
              <a:t>demostrado en condiciones ensayadas</a:t>
            </a:r>
            <a:endParaRPr b="0" i="0" sz="1250" u="none" cap="none" strike="noStrike">
              <a:solidFill>
                <a:schemeClr val="dk1"/>
              </a:solidFill>
              <a:latin typeface="Calibri"/>
              <a:ea typeface="Calibri"/>
              <a:cs typeface="Calibri"/>
              <a:sym typeface="Calibri"/>
            </a:endParaRPr>
          </a:p>
        </p:txBody>
      </p:sp>
      <p:sp>
        <p:nvSpPr>
          <p:cNvPr id="664" name="Google Shape;664;p21"/>
          <p:cNvSpPr/>
          <p:nvPr/>
        </p:nvSpPr>
        <p:spPr>
          <a:xfrm>
            <a:off x="3337560" y="5715000"/>
            <a:ext cx="411480" cy="256032"/>
          </a:xfrm>
          <a:prstGeom prst="roundRect">
            <a:avLst>
              <a:gd fmla="val 14286" name="adj"/>
            </a:avLst>
          </a:prstGeom>
          <a:solidFill>
            <a:srgbClr val="FFFFFF"/>
          </a:solidFill>
          <a:ln cap="flat" cmpd="sng" w="19050">
            <a:solidFill>
              <a:srgbClr val="1F6F9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1"/>
          <p:cNvSpPr txBox="1"/>
          <p:nvPr/>
        </p:nvSpPr>
        <p:spPr>
          <a:xfrm>
            <a:off x="3840480" y="5669280"/>
            <a:ext cx="2240280" cy="34747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250"/>
              <a:buFont typeface="Calibri"/>
              <a:buNone/>
            </a:pPr>
            <a:r>
              <a:rPr b="0" i="0" lang="en-US" sz="1250" u="none" cap="none" strike="noStrike">
                <a:solidFill>
                  <a:srgbClr val="1B2B3A"/>
                </a:solidFill>
                <a:latin typeface="Calibri"/>
                <a:ea typeface="Calibri"/>
                <a:cs typeface="Calibri"/>
                <a:sym typeface="Calibri"/>
              </a:rPr>
              <a:t>interpretación de los autores</a:t>
            </a:r>
            <a:endParaRPr b="0" i="0" sz="1250" u="none" cap="none" strike="noStrike">
              <a:solidFill>
                <a:schemeClr val="dk1"/>
              </a:solidFill>
              <a:latin typeface="Calibri"/>
              <a:ea typeface="Calibri"/>
              <a:cs typeface="Calibri"/>
              <a:sym typeface="Calibri"/>
            </a:endParaRPr>
          </a:p>
        </p:txBody>
      </p:sp>
      <p:sp>
        <p:nvSpPr>
          <p:cNvPr id="666" name="Google Shape;666;p21"/>
          <p:cNvSpPr/>
          <p:nvPr/>
        </p:nvSpPr>
        <p:spPr>
          <a:xfrm>
            <a:off x="6126480" y="5715000"/>
            <a:ext cx="411480" cy="256032"/>
          </a:xfrm>
          <a:prstGeom prst="roundRect">
            <a:avLst>
              <a:gd fmla="val 14286" name="adj"/>
            </a:avLst>
          </a:prstGeom>
          <a:solidFill>
            <a:srgbClr val="FFFFFF"/>
          </a:solidFill>
          <a:ln cap="flat" cmpd="sng" w="22225">
            <a:solidFill>
              <a:srgbClr val="E36F5A"/>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21"/>
          <p:cNvSpPr txBox="1"/>
          <p:nvPr/>
        </p:nvSpPr>
        <p:spPr>
          <a:xfrm>
            <a:off x="6629400" y="5669280"/>
            <a:ext cx="2240280" cy="34747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250"/>
              <a:buFont typeface="Calibri"/>
              <a:buNone/>
            </a:pPr>
            <a:r>
              <a:rPr b="0" i="0" lang="en-US" sz="1250" u="none" cap="none" strike="noStrike">
                <a:solidFill>
                  <a:srgbClr val="1B2B3A"/>
                </a:solidFill>
                <a:latin typeface="Calibri"/>
                <a:ea typeface="Calibri"/>
                <a:cs typeface="Calibri"/>
                <a:sym typeface="Calibri"/>
              </a:rPr>
              <a:t>propuesto, sin ensayar</a:t>
            </a:r>
            <a:endParaRPr b="0" i="0" sz="1250" u="none" cap="none" strike="noStrike">
              <a:solidFill>
                <a:schemeClr val="dk1"/>
              </a:solidFill>
              <a:latin typeface="Calibri"/>
              <a:ea typeface="Calibri"/>
              <a:cs typeface="Calibri"/>
              <a:sym typeface="Calibri"/>
            </a:endParaRPr>
          </a:p>
        </p:txBody>
      </p:sp>
      <p:sp>
        <p:nvSpPr>
          <p:cNvPr id="668" name="Google Shape;668;p21"/>
          <p:cNvSpPr/>
          <p:nvPr/>
        </p:nvSpPr>
        <p:spPr>
          <a:xfrm>
            <a:off x="8915400" y="5715000"/>
            <a:ext cx="411480" cy="256032"/>
          </a:xfrm>
          <a:prstGeom prst="roundRect">
            <a:avLst>
              <a:gd fmla="val 14286" name="adj"/>
            </a:avLst>
          </a:prstGeom>
          <a:solidFill>
            <a:srgbClr val="F4F7F9"/>
          </a:solidFill>
          <a:ln cap="flat" cmpd="sng" w="12700">
            <a:solidFill>
              <a:srgbClr val="C9D6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1"/>
          <p:cNvSpPr txBox="1"/>
          <p:nvPr/>
        </p:nvSpPr>
        <p:spPr>
          <a:xfrm>
            <a:off x="9418320" y="5669280"/>
            <a:ext cx="2240280" cy="347472"/>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250"/>
              <a:buFont typeface="Calibri"/>
              <a:buNone/>
            </a:pPr>
            <a:r>
              <a:rPr b="0" i="0" lang="en-US" sz="1250" u="none" cap="none" strike="noStrike">
                <a:solidFill>
                  <a:srgbClr val="1B2B3A"/>
                </a:solidFill>
                <a:latin typeface="Calibri"/>
                <a:ea typeface="Calibri"/>
                <a:cs typeface="Calibri"/>
                <a:sym typeface="Calibri"/>
              </a:rPr>
              <a:t>no evaluado</a:t>
            </a:r>
            <a:endParaRPr b="0" i="0" sz="1250" u="none" cap="none" strike="noStrike">
              <a:solidFill>
                <a:schemeClr val="dk1"/>
              </a:solidFill>
              <a:latin typeface="Calibri"/>
              <a:ea typeface="Calibri"/>
              <a:cs typeface="Calibri"/>
              <a:sym typeface="Calibri"/>
            </a:endParaRPr>
          </a:p>
        </p:txBody>
      </p:sp>
      <p:sp>
        <p:nvSpPr>
          <p:cNvPr id="670" name="Google Shape;670;p21"/>
          <p:cNvSpPr txBox="1"/>
          <p:nvPr/>
        </p:nvSpPr>
        <p:spPr>
          <a:xfrm>
            <a:off x="548640" y="6382512"/>
            <a:ext cx="10241280" cy="29260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Gordon 2019 · Boulais 2026 · Vetter 2018 · Zielinski y Sorensen 2017 · Cresci 2023 · Holmes 2025 · McCormick 2019 · Simpson 2016 · Veith 2024 · Meekan 2021</a:t>
            </a:r>
            <a:endParaRPr b="0" i="0" sz="1200" u="none" cap="none" strike="noStrike">
              <a:solidFill>
                <a:schemeClr val="dk1"/>
              </a:solidFill>
              <a:latin typeface="Calibri"/>
              <a:ea typeface="Calibri"/>
              <a:cs typeface="Calibri"/>
              <a:sym typeface="Calibri"/>
            </a:endParaRPr>
          </a:p>
        </p:txBody>
      </p:sp>
      <p:sp>
        <p:nvSpPr>
          <p:cNvPr id="671" name="Google Shape;671;p21"/>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19</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6" name="Shape 676"/>
        <p:cNvGrpSpPr/>
        <p:nvPr/>
      </p:nvGrpSpPr>
      <p:grpSpPr>
        <a:xfrm>
          <a:off x="0" y="0"/>
          <a:ext cx="0" cy="0"/>
          <a:chOff x="0" y="0"/>
          <a:chExt cx="0" cy="0"/>
        </a:xfrm>
      </p:grpSpPr>
      <p:sp>
        <p:nvSpPr>
          <p:cNvPr id="677" name="Google Shape;677;p22"/>
          <p:cNvSpPr txBox="1"/>
          <p:nvPr/>
        </p:nvSpPr>
        <p:spPr>
          <a:xfrm>
            <a:off x="548640" y="41148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800"/>
              <a:buFont typeface="Calibri"/>
              <a:buNone/>
            </a:pPr>
            <a:r>
              <a:rPr b="1" i="0" lang="en-US" sz="2800" u="none" cap="none" strike="noStrike">
                <a:solidFill>
                  <a:srgbClr val="0B2A4A"/>
                </a:solidFill>
                <a:latin typeface="Calibri"/>
                <a:ea typeface="Calibri"/>
                <a:cs typeface="Calibri"/>
                <a:sym typeface="Calibri"/>
              </a:rPr>
              <a:t>Lo que sabemos y lo que todavía no</a:t>
            </a:r>
            <a:endParaRPr b="0" i="0" sz="2800" u="none" cap="none" strike="noStrike">
              <a:solidFill>
                <a:schemeClr val="dk1"/>
              </a:solidFill>
              <a:latin typeface="Calibri"/>
              <a:ea typeface="Calibri"/>
              <a:cs typeface="Calibri"/>
              <a:sym typeface="Calibri"/>
            </a:endParaRPr>
          </a:p>
        </p:txBody>
      </p:sp>
      <p:sp>
        <p:nvSpPr>
          <p:cNvPr id="678" name="Google Shape;678;p22"/>
          <p:cNvSpPr/>
          <p:nvPr/>
        </p:nvSpPr>
        <p:spPr>
          <a:xfrm>
            <a:off x="548640" y="1371600"/>
            <a:ext cx="5440680" cy="4480560"/>
          </a:xfrm>
          <a:prstGeom prst="roundRect">
            <a:avLst>
              <a:gd fmla="val 1633" name="adj"/>
            </a:avLst>
          </a:prstGeom>
          <a:solidFill>
            <a:srgbClr val="E3F4F3"/>
          </a:solidFill>
          <a:ln cap="flat" cmpd="sng" w="12700">
            <a:solidFill>
              <a:srgbClr val="E3F4F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22"/>
          <p:cNvSpPr/>
          <p:nvPr/>
        </p:nvSpPr>
        <p:spPr>
          <a:xfrm>
            <a:off x="6217920" y="1371600"/>
            <a:ext cx="5440680" cy="4480560"/>
          </a:xfrm>
          <a:prstGeom prst="roundRect">
            <a:avLst>
              <a:gd fmla="val 1633" name="adj"/>
            </a:avLst>
          </a:prstGeom>
          <a:solidFill>
            <a:srgbClr val="FFFFFF"/>
          </a:solidFill>
          <a:ln cap="flat" cmpd="sng" w="25400">
            <a:solidFill>
              <a:srgbClr val="E36F5A"/>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2"/>
          <p:cNvSpPr txBox="1"/>
          <p:nvPr/>
        </p:nvSpPr>
        <p:spPr>
          <a:xfrm>
            <a:off x="777240" y="1481328"/>
            <a:ext cx="5029200" cy="4572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4807E"/>
              </a:buClr>
              <a:buSzPts val="1700"/>
              <a:buFont typeface="Calibri"/>
              <a:buNone/>
            </a:pPr>
            <a:r>
              <a:rPr b="1" i="0" lang="en-US" sz="1700" u="none" cap="none" strike="noStrike">
                <a:solidFill>
                  <a:srgbClr val="14807E"/>
                </a:solidFill>
                <a:latin typeface="Calibri"/>
                <a:ea typeface="Calibri"/>
                <a:cs typeface="Calibri"/>
                <a:sym typeface="Calibri"/>
              </a:rPr>
              <a:t>DEMOSTRADO (en condiciones ensayadas)</a:t>
            </a:r>
            <a:endParaRPr b="0" i="0" sz="1700" u="none" cap="none" strike="noStrike">
              <a:solidFill>
                <a:schemeClr val="dk1"/>
              </a:solidFill>
              <a:latin typeface="Calibri"/>
              <a:ea typeface="Calibri"/>
              <a:cs typeface="Calibri"/>
              <a:sym typeface="Calibri"/>
            </a:endParaRPr>
          </a:p>
        </p:txBody>
      </p:sp>
      <p:sp>
        <p:nvSpPr>
          <p:cNvPr id="681" name="Google Shape;681;p22"/>
          <p:cNvSpPr txBox="1"/>
          <p:nvPr/>
        </p:nvSpPr>
        <p:spPr>
          <a:xfrm>
            <a:off x="6446520" y="1481328"/>
            <a:ext cx="5029200" cy="4572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8432F"/>
              </a:buClr>
              <a:buSzPts val="1700"/>
              <a:buFont typeface="Calibri"/>
              <a:buNone/>
            </a:pPr>
            <a:r>
              <a:rPr b="1" i="0" lang="en-US" sz="1700" u="none" cap="none" strike="noStrike">
                <a:solidFill>
                  <a:srgbClr val="B8432F"/>
                </a:solidFill>
                <a:latin typeface="Calibri"/>
                <a:ea typeface="Calibri"/>
                <a:cs typeface="Calibri"/>
                <a:sym typeface="Calibri"/>
              </a:rPr>
              <a:t>PROPUESTO / SIN DEMOSTRAR</a:t>
            </a:r>
            <a:endParaRPr b="0" i="0" sz="1700" u="none" cap="none" strike="noStrike">
              <a:solidFill>
                <a:schemeClr val="dk1"/>
              </a:solidFill>
              <a:latin typeface="Calibri"/>
              <a:ea typeface="Calibri"/>
              <a:cs typeface="Calibri"/>
              <a:sym typeface="Calibri"/>
            </a:endParaRPr>
          </a:p>
        </p:txBody>
      </p:sp>
      <p:pic>
        <p:nvPicPr>
          <p:cNvPr descr="preencoded.png" id="682" name="Google Shape;682;p22"/>
          <p:cNvPicPr preferRelativeResize="0"/>
          <p:nvPr/>
        </p:nvPicPr>
        <p:blipFill rotWithShape="1">
          <a:blip r:embed="rId3">
            <a:alphaModFix/>
          </a:blip>
          <a:srcRect b="0" l="0" r="0" t="0"/>
          <a:stretch/>
        </p:blipFill>
        <p:spPr>
          <a:xfrm>
            <a:off x="822960" y="2167128"/>
            <a:ext cx="274320" cy="274320"/>
          </a:xfrm>
          <a:prstGeom prst="rect">
            <a:avLst/>
          </a:prstGeom>
          <a:noFill/>
          <a:ln>
            <a:noFill/>
          </a:ln>
        </p:spPr>
      </p:pic>
      <p:sp>
        <p:nvSpPr>
          <p:cNvPr id="683" name="Google Shape;683;p22"/>
          <p:cNvSpPr txBox="1"/>
          <p:nvPr/>
        </p:nvSpPr>
        <p:spPr>
          <a:xfrm>
            <a:off x="1234440" y="2057400"/>
            <a:ext cx="4617720" cy="65836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50"/>
              <a:buFont typeface="Calibri"/>
              <a:buNone/>
            </a:pPr>
            <a:r>
              <a:rPr b="0" i="0" lang="en-US" sz="1450" u="none" cap="none" strike="noStrike">
                <a:solidFill>
                  <a:srgbClr val="1B2B3A"/>
                </a:solidFill>
                <a:latin typeface="Calibri"/>
                <a:ea typeface="Calibri"/>
                <a:cs typeface="Calibri"/>
                <a:sym typeface="Calibri"/>
              </a:rPr>
              <a:t>La fase presión–movimiento determina la dirección del escape (D. cerebrum)</a:t>
            </a:r>
            <a:endParaRPr b="0" i="0" sz="1450" u="none" cap="none" strike="noStrike">
              <a:solidFill>
                <a:schemeClr val="dk1"/>
              </a:solidFill>
              <a:latin typeface="Calibri"/>
              <a:ea typeface="Calibri"/>
              <a:cs typeface="Calibri"/>
              <a:sym typeface="Calibri"/>
            </a:endParaRPr>
          </a:p>
        </p:txBody>
      </p:sp>
      <p:pic>
        <p:nvPicPr>
          <p:cNvPr descr="preencoded.png" id="684" name="Google Shape;684;p22"/>
          <p:cNvPicPr preferRelativeResize="0"/>
          <p:nvPr/>
        </p:nvPicPr>
        <p:blipFill rotWithShape="1">
          <a:blip r:embed="rId3">
            <a:alphaModFix/>
          </a:blip>
          <a:srcRect b="0" l="0" r="0" t="0"/>
          <a:stretch/>
        </p:blipFill>
        <p:spPr>
          <a:xfrm>
            <a:off x="822960" y="2898648"/>
            <a:ext cx="274320" cy="274320"/>
          </a:xfrm>
          <a:prstGeom prst="rect">
            <a:avLst/>
          </a:prstGeom>
          <a:noFill/>
          <a:ln>
            <a:noFill/>
          </a:ln>
        </p:spPr>
      </p:pic>
      <p:sp>
        <p:nvSpPr>
          <p:cNvPr id="685" name="Google Shape;685;p22"/>
          <p:cNvSpPr txBox="1"/>
          <p:nvPr/>
        </p:nvSpPr>
        <p:spPr>
          <a:xfrm>
            <a:off x="1234440" y="2788920"/>
            <a:ext cx="4617720" cy="65836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50"/>
              <a:buFont typeface="Calibri"/>
              <a:buNone/>
            </a:pPr>
            <a:r>
              <a:rPr b="0" i="0" lang="en-US" sz="1450" u="none" cap="none" strike="noStrike">
                <a:solidFill>
                  <a:srgbClr val="1B2B3A"/>
                </a:solidFill>
                <a:latin typeface="Calibri"/>
                <a:ea typeface="Calibri"/>
                <a:cs typeface="Calibri"/>
                <a:sym typeface="Calibri"/>
              </a:rPr>
              <a:t>Más juveniles con enriquecimiento (local, 40 días)</a:t>
            </a:r>
            <a:endParaRPr b="0" i="0" sz="1450" u="none" cap="none" strike="noStrike">
              <a:solidFill>
                <a:schemeClr val="dk1"/>
              </a:solidFill>
              <a:latin typeface="Calibri"/>
              <a:ea typeface="Calibri"/>
              <a:cs typeface="Calibri"/>
              <a:sym typeface="Calibri"/>
            </a:endParaRPr>
          </a:p>
        </p:txBody>
      </p:sp>
      <p:pic>
        <p:nvPicPr>
          <p:cNvPr descr="preencoded.png" id="686" name="Google Shape;686;p22"/>
          <p:cNvPicPr preferRelativeResize="0"/>
          <p:nvPr/>
        </p:nvPicPr>
        <p:blipFill rotWithShape="1">
          <a:blip r:embed="rId3">
            <a:alphaModFix/>
          </a:blip>
          <a:srcRect b="0" l="0" r="0" t="0"/>
          <a:stretch/>
        </p:blipFill>
        <p:spPr>
          <a:xfrm>
            <a:off x="822960" y="3630168"/>
            <a:ext cx="274320" cy="274320"/>
          </a:xfrm>
          <a:prstGeom prst="rect">
            <a:avLst/>
          </a:prstGeom>
          <a:noFill/>
          <a:ln>
            <a:noFill/>
          </a:ln>
        </p:spPr>
      </p:pic>
      <p:sp>
        <p:nvSpPr>
          <p:cNvPr id="687" name="Google Shape;687;p22"/>
          <p:cNvSpPr txBox="1"/>
          <p:nvPr/>
        </p:nvSpPr>
        <p:spPr>
          <a:xfrm>
            <a:off x="1234440" y="3520440"/>
            <a:ext cx="4617720" cy="65836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50"/>
              <a:buFont typeface="Calibri"/>
              <a:buNone/>
            </a:pPr>
            <a:r>
              <a:rPr b="0" i="0" lang="en-US" sz="1450" u="none" cap="none" strike="noStrike">
                <a:solidFill>
                  <a:srgbClr val="1B2B3A"/>
                </a:solidFill>
                <a:latin typeface="Calibri"/>
                <a:ea typeface="Calibri"/>
                <a:cs typeface="Calibri"/>
                <a:sym typeface="Calibri"/>
              </a:rPr>
              <a:t>Evasión inicial en tanque, que se atenúa</a:t>
            </a:r>
            <a:endParaRPr b="0" i="0" sz="1450" u="none" cap="none" strike="noStrike">
              <a:solidFill>
                <a:schemeClr val="dk1"/>
              </a:solidFill>
              <a:latin typeface="Calibri"/>
              <a:ea typeface="Calibri"/>
              <a:cs typeface="Calibri"/>
              <a:sym typeface="Calibri"/>
            </a:endParaRPr>
          </a:p>
        </p:txBody>
      </p:sp>
      <p:pic>
        <p:nvPicPr>
          <p:cNvPr descr="preencoded.png" id="688" name="Google Shape;688;p22"/>
          <p:cNvPicPr preferRelativeResize="0"/>
          <p:nvPr/>
        </p:nvPicPr>
        <p:blipFill rotWithShape="1">
          <a:blip r:embed="rId3">
            <a:alphaModFix/>
          </a:blip>
          <a:srcRect b="0" l="0" r="0" t="0"/>
          <a:stretch/>
        </p:blipFill>
        <p:spPr>
          <a:xfrm>
            <a:off x="822960" y="4361688"/>
            <a:ext cx="274320" cy="274320"/>
          </a:xfrm>
          <a:prstGeom prst="rect">
            <a:avLst/>
          </a:prstGeom>
          <a:noFill/>
          <a:ln>
            <a:noFill/>
          </a:ln>
        </p:spPr>
      </p:pic>
      <p:sp>
        <p:nvSpPr>
          <p:cNvPr id="689" name="Google Shape;689;p22"/>
          <p:cNvSpPr txBox="1"/>
          <p:nvPr/>
        </p:nvSpPr>
        <p:spPr>
          <a:xfrm>
            <a:off x="1234440" y="4251960"/>
            <a:ext cx="4617720" cy="65836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50"/>
              <a:buFont typeface="Calibri"/>
              <a:buNone/>
            </a:pPr>
            <a:r>
              <a:rPr b="0" i="0" lang="en-US" sz="1450" u="none" cap="none" strike="noStrike">
                <a:solidFill>
                  <a:srgbClr val="1B2B3A"/>
                </a:solidFill>
                <a:latin typeface="Calibri"/>
                <a:ea typeface="Calibri"/>
                <a:cs typeface="Calibri"/>
                <a:sym typeface="Calibri"/>
              </a:rPr>
              <a:t>Orientación de larvas de bacalao hacia un tono</a:t>
            </a:r>
            <a:endParaRPr b="0" i="0" sz="1450" u="none" cap="none" strike="noStrike">
              <a:solidFill>
                <a:schemeClr val="dk1"/>
              </a:solidFill>
              <a:latin typeface="Calibri"/>
              <a:ea typeface="Calibri"/>
              <a:cs typeface="Calibri"/>
              <a:sym typeface="Calibri"/>
            </a:endParaRPr>
          </a:p>
        </p:txBody>
      </p:sp>
      <p:pic>
        <p:nvPicPr>
          <p:cNvPr descr="preencoded.png" id="690" name="Google Shape;690;p22"/>
          <p:cNvPicPr preferRelativeResize="0"/>
          <p:nvPr/>
        </p:nvPicPr>
        <p:blipFill rotWithShape="1">
          <a:blip r:embed="rId3">
            <a:alphaModFix/>
          </a:blip>
          <a:srcRect b="0" l="0" r="0" t="0"/>
          <a:stretch/>
        </p:blipFill>
        <p:spPr>
          <a:xfrm>
            <a:off x="822960" y="5093208"/>
            <a:ext cx="274320" cy="274320"/>
          </a:xfrm>
          <a:prstGeom prst="rect">
            <a:avLst/>
          </a:prstGeom>
          <a:noFill/>
          <a:ln>
            <a:noFill/>
          </a:ln>
        </p:spPr>
      </p:pic>
      <p:sp>
        <p:nvSpPr>
          <p:cNvPr id="691" name="Google Shape;691;p22"/>
          <p:cNvSpPr txBox="1"/>
          <p:nvPr/>
        </p:nvSpPr>
        <p:spPr>
          <a:xfrm>
            <a:off x="1234440" y="4983480"/>
            <a:ext cx="4617720" cy="65836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50"/>
              <a:buFont typeface="Calibri"/>
              <a:buNone/>
            </a:pPr>
            <a:r>
              <a:rPr b="0" i="0" lang="en-US" sz="1450" u="none" cap="none" strike="noStrike">
                <a:solidFill>
                  <a:srgbClr val="1B2B3A"/>
                </a:solidFill>
                <a:latin typeface="Calibri"/>
                <a:ea typeface="Calibri"/>
                <a:cs typeface="Calibri"/>
                <a:sym typeface="Calibri"/>
              </a:rPr>
              <a:t>El ruido altera el escape y redujo la supervivencia en experimentos concretos</a:t>
            </a:r>
            <a:endParaRPr b="0" i="0" sz="1450" u="none" cap="none" strike="noStrike">
              <a:solidFill>
                <a:schemeClr val="dk1"/>
              </a:solidFill>
              <a:latin typeface="Calibri"/>
              <a:ea typeface="Calibri"/>
              <a:cs typeface="Calibri"/>
              <a:sym typeface="Calibri"/>
            </a:endParaRPr>
          </a:p>
        </p:txBody>
      </p:sp>
      <p:pic>
        <p:nvPicPr>
          <p:cNvPr descr="preencoded.png" id="692" name="Google Shape;692;p22"/>
          <p:cNvPicPr preferRelativeResize="0"/>
          <p:nvPr/>
        </p:nvPicPr>
        <p:blipFill rotWithShape="1">
          <a:blip r:embed="rId4">
            <a:alphaModFix/>
          </a:blip>
          <a:srcRect b="0" l="0" r="0" t="0"/>
          <a:stretch/>
        </p:blipFill>
        <p:spPr>
          <a:xfrm>
            <a:off x="6492240" y="2167128"/>
            <a:ext cx="274320" cy="274320"/>
          </a:xfrm>
          <a:prstGeom prst="rect">
            <a:avLst/>
          </a:prstGeom>
          <a:noFill/>
          <a:ln>
            <a:noFill/>
          </a:ln>
        </p:spPr>
      </p:pic>
      <p:sp>
        <p:nvSpPr>
          <p:cNvPr id="693" name="Google Shape;693;p22"/>
          <p:cNvSpPr txBox="1"/>
          <p:nvPr/>
        </p:nvSpPr>
        <p:spPr>
          <a:xfrm>
            <a:off x="6903720" y="2057400"/>
            <a:ext cx="4617720" cy="65836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50"/>
              <a:buFont typeface="Calibri"/>
              <a:buNone/>
            </a:pPr>
            <a:r>
              <a:rPr b="0" i="0" lang="en-US" sz="1550" u="none" cap="none" strike="noStrike">
                <a:solidFill>
                  <a:srgbClr val="1B2B3A"/>
                </a:solidFill>
                <a:latin typeface="Calibri"/>
                <a:ea typeface="Calibri"/>
                <a:cs typeface="Calibri"/>
                <a:sym typeface="Calibri"/>
              </a:rPr>
              <a:t>Restauración de arrecifes</a:t>
            </a:r>
            <a:endParaRPr b="0" i="0" sz="1550" u="none" cap="none" strike="noStrike">
              <a:solidFill>
                <a:schemeClr val="dk1"/>
              </a:solidFill>
              <a:latin typeface="Calibri"/>
              <a:ea typeface="Calibri"/>
              <a:cs typeface="Calibri"/>
              <a:sym typeface="Calibri"/>
            </a:endParaRPr>
          </a:p>
        </p:txBody>
      </p:sp>
      <p:pic>
        <p:nvPicPr>
          <p:cNvPr descr="preencoded.png" id="694" name="Google Shape;694;p22"/>
          <p:cNvPicPr preferRelativeResize="0"/>
          <p:nvPr/>
        </p:nvPicPr>
        <p:blipFill rotWithShape="1">
          <a:blip r:embed="rId4">
            <a:alphaModFix/>
          </a:blip>
          <a:srcRect b="0" l="0" r="0" t="0"/>
          <a:stretch/>
        </p:blipFill>
        <p:spPr>
          <a:xfrm>
            <a:off x="6492240" y="2898648"/>
            <a:ext cx="274320" cy="274320"/>
          </a:xfrm>
          <a:prstGeom prst="rect">
            <a:avLst/>
          </a:prstGeom>
          <a:noFill/>
          <a:ln>
            <a:noFill/>
          </a:ln>
        </p:spPr>
      </p:pic>
      <p:sp>
        <p:nvSpPr>
          <p:cNvPr id="695" name="Google Shape;695;p22"/>
          <p:cNvSpPr txBox="1"/>
          <p:nvPr/>
        </p:nvSpPr>
        <p:spPr>
          <a:xfrm>
            <a:off x="6903720" y="2788920"/>
            <a:ext cx="4617720" cy="65836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50"/>
              <a:buFont typeface="Calibri"/>
              <a:buNone/>
            </a:pPr>
            <a:r>
              <a:rPr b="0" i="0" lang="en-US" sz="1550" u="none" cap="none" strike="noStrike">
                <a:solidFill>
                  <a:srgbClr val="1B2B3A"/>
                </a:solidFill>
                <a:latin typeface="Calibri"/>
                <a:ea typeface="Calibri"/>
                <a:cs typeface="Calibri"/>
                <a:sym typeface="Calibri"/>
              </a:rPr>
              <a:t>Barreras acústicas operativas</a:t>
            </a:r>
            <a:endParaRPr b="0" i="0" sz="1550" u="none" cap="none" strike="noStrike">
              <a:solidFill>
                <a:schemeClr val="dk1"/>
              </a:solidFill>
              <a:latin typeface="Calibri"/>
              <a:ea typeface="Calibri"/>
              <a:cs typeface="Calibri"/>
              <a:sym typeface="Calibri"/>
            </a:endParaRPr>
          </a:p>
        </p:txBody>
      </p:sp>
      <p:pic>
        <p:nvPicPr>
          <p:cNvPr descr="preencoded.png" id="696" name="Google Shape;696;p22"/>
          <p:cNvPicPr preferRelativeResize="0"/>
          <p:nvPr/>
        </p:nvPicPr>
        <p:blipFill rotWithShape="1">
          <a:blip r:embed="rId4">
            <a:alphaModFix/>
          </a:blip>
          <a:srcRect b="0" l="0" r="0" t="0"/>
          <a:stretch/>
        </p:blipFill>
        <p:spPr>
          <a:xfrm>
            <a:off x="6492240" y="3630168"/>
            <a:ext cx="274320" cy="274320"/>
          </a:xfrm>
          <a:prstGeom prst="rect">
            <a:avLst/>
          </a:prstGeom>
          <a:noFill/>
          <a:ln>
            <a:noFill/>
          </a:ln>
        </p:spPr>
      </p:pic>
      <p:sp>
        <p:nvSpPr>
          <p:cNvPr id="697" name="Google Shape;697;p22"/>
          <p:cNvSpPr txBox="1"/>
          <p:nvPr/>
        </p:nvSpPr>
        <p:spPr>
          <a:xfrm>
            <a:off x="6903720" y="3520440"/>
            <a:ext cx="4617720" cy="65836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50"/>
              <a:buFont typeface="Calibri"/>
              <a:buNone/>
            </a:pPr>
            <a:r>
              <a:rPr b="0" i="0" lang="en-US" sz="1550" u="none" cap="none" strike="noStrike">
                <a:solidFill>
                  <a:srgbClr val="1B2B3A"/>
                </a:solidFill>
                <a:latin typeface="Calibri"/>
                <a:ea typeface="Calibri"/>
                <a:cs typeface="Calibri"/>
                <a:sym typeface="Calibri"/>
              </a:rPr>
              <a:t>Señuelos de captura</a:t>
            </a:r>
            <a:endParaRPr b="0" i="0" sz="1550" u="none" cap="none" strike="noStrike">
              <a:solidFill>
                <a:schemeClr val="dk1"/>
              </a:solidFill>
              <a:latin typeface="Calibri"/>
              <a:ea typeface="Calibri"/>
              <a:cs typeface="Calibri"/>
              <a:sym typeface="Calibri"/>
            </a:endParaRPr>
          </a:p>
        </p:txBody>
      </p:sp>
      <p:pic>
        <p:nvPicPr>
          <p:cNvPr descr="preencoded.png" id="698" name="Google Shape;698;p22"/>
          <p:cNvPicPr preferRelativeResize="0"/>
          <p:nvPr/>
        </p:nvPicPr>
        <p:blipFill rotWithShape="1">
          <a:blip r:embed="rId4">
            <a:alphaModFix/>
          </a:blip>
          <a:srcRect b="0" l="0" r="0" t="0"/>
          <a:stretch/>
        </p:blipFill>
        <p:spPr>
          <a:xfrm>
            <a:off x="6492240" y="4361688"/>
            <a:ext cx="274320" cy="274320"/>
          </a:xfrm>
          <a:prstGeom prst="rect">
            <a:avLst/>
          </a:prstGeom>
          <a:noFill/>
          <a:ln>
            <a:noFill/>
          </a:ln>
        </p:spPr>
      </p:pic>
      <p:sp>
        <p:nvSpPr>
          <p:cNvPr id="699" name="Google Shape;699;p22"/>
          <p:cNvSpPr txBox="1"/>
          <p:nvPr/>
        </p:nvSpPr>
        <p:spPr>
          <a:xfrm>
            <a:off x="6903720" y="4251960"/>
            <a:ext cx="4617720" cy="65836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50"/>
              <a:buFont typeface="Calibri"/>
              <a:buNone/>
            </a:pPr>
            <a:r>
              <a:rPr b="0" i="0" lang="en-US" sz="1550" u="none" cap="none" strike="noStrike">
                <a:solidFill>
                  <a:srgbClr val="1B2B3A"/>
                </a:solidFill>
                <a:latin typeface="Calibri"/>
                <a:ea typeface="Calibri"/>
                <a:cs typeface="Calibri"/>
                <a:sym typeface="Calibri"/>
              </a:rPr>
              <a:t>Beneficio de medidas concretas contra el ruido</a:t>
            </a:r>
            <a:endParaRPr b="0" i="0" sz="1550" u="none" cap="none" strike="noStrike">
              <a:solidFill>
                <a:schemeClr val="dk1"/>
              </a:solidFill>
              <a:latin typeface="Calibri"/>
              <a:ea typeface="Calibri"/>
              <a:cs typeface="Calibri"/>
              <a:sym typeface="Calibri"/>
            </a:endParaRPr>
          </a:p>
        </p:txBody>
      </p:sp>
      <p:pic>
        <p:nvPicPr>
          <p:cNvPr descr="preencoded.png" id="700" name="Google Shape;700;p22"/>
          <p:cNvPicPr preferRelativeResize="0"/>
          <p:nvPr/>
        </p:nvPicPr>
        <p:blipFill rotWithShape="1">
          <a:blip r:embed="rId4">
            <a:alphaModFix/>
          </a:blip>
          <a:srcRect b="0" l="0" r="0" t="0"/>
          <a:stretch/>
        </p:blipFill>
        <p:spPr>
          <a:xfrm>
            <a:off x="6492240" y="5093208"/>
            <a:ext cx="274320" cy="274320"/>
          </a:xfrm>
          <a:prstGeom prst="rect">
            <a:avLst/>
          </a:prstGeom>
          <a:noFill/>
          <a:ln>
            <a:noFill/>
          </a:ln>
        </p:spPr>
      </p:pic>
      <p:sp>
        <p:nvSpPr>
          <p:cNvPr id="701" name="Google Shape;701;p22"/>
          <p:cNvSpPr txBox="1"/>
          <p:nvPr/>
        </p:nvSpPr>
        <p:spPr>
          <a:xfrm>
            <a:off x="6903720" y="4983480"/>
            <a:ext cx="4617720" cy="65836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50"/>
              <a:buFont typeface="Calibri"/>
              <a:buNone/>
            </a:pPr>
            <a:r>
              <a:rPr b="0" i="0" lang="en-US" sz="1550" u="none" cap="none" strike="noStrike">
                <a:solidFill>
                  <a:srgbClr val="1B2B3A"/>
                </a:solidFill>
                <a:latin typeface="Calibri"/>
                <a:ea typeface="Calibri"/>
                <a:cs typeface="Calibri"/>
                <a:sym typeface="Calibri"/>
              </a:rPr>
              <a:t>Generalización a todas las especies</a:t>
            </a:r>
            <a:endParaRPr b="0" i="0" sz="1550" u="none" cap="none" strike="noStrike">
              <a:solidFill>
                <a:schemeClr val="dk1"/>
              </a:solidFill>
              <a:latin typeface="Calibri"/>
              <a:ea typeface="Calibri"/>
              <a:cs typeface="Calibri"/>
              <a:sym typeface="Calibri"/>
            </a:endParaRPr>
          </a:p>
        </p:txBody>
      </p:sp>
      <p:sp>
        <p:nvSpPr>
          <p:cNvPr id="702" name="Google Shape;702;p22"/>
          <p:cNvSpPr txBox="1"/>
          <p:nvPr/>
        </p:nvSpPr>
        <p:spPr>
          <a:xfrm>
            <a:off x="548640" y="5943600"/>
            <a:ext cx="11064240" cy="38404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600"/>
              <a:buFont typeface="Calibri"/>
              <a:buNone/>
            </a:pPr>
            <a:r>
              <a:rPr b="1" i="1" lang="en-US" sz="1600" u="none" cap="none" strike="noStrike">
                <a:solidFill>
                  <a:srgbClr val="0B2A4A"/>
                </a:solidFill>
                <a:latin typeface="Calibri"/>
                <a:ea typeface="Calibri"/>
                <a:cs typeface="Calibri"/>
                <a:sym typeface="Calibri"/>
              </a:rPr>
              <a:t>«No demostrado» no significa «falso»: indica qué eslabón falta medir.</a:t>
            </a:r>
            <a:endParaRPr b="0" i="0" sz="1600" u="none" cap="none" strike="noStrike">
              <a:solidFill>
                <a:schemeClr val="dk1"/>
              </a:solidFill>
              <a:latin typeface="Calibri"/>
              <a:ea typeface="Calibri"/>
              <a:cs typeface="Calibri"/>
              <a:sym typeface="Calibri"/>
            </a:endParaRPr>
          </a:p>
        </p:txBody>
      </p:sp>
      <p:sp>
        <p:nvSpPr>
          <p:cNvPr id="703" name="Google Shape;703;p22"/>
          <p:cNvSpPr txBox="1"/>
          <p:nvPr/>
        </p:nvSpPr>
        <p:spPr>
          <a:xfrm>
            <a:off x="548640" y="6382512"/>
            <a:ext cx="10241280" cy="29260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Síntesis de esta revisión (Tabla 4 del artículo)</a:t>
            </a:r>
            <a:endParaRPr b="0" i="0" sz="1200" u="none" cap="none" strike="noStrike">
              <a:solidFill>
                <a:schemeClr val="dk1"/>
              </a:solidFill>
              <a:latin typeface="Calibri"/>
              <a:ea typeface="Calibri"/>
              <a:cs typeface="Calibri"/>
              <a:sym typeface="Calibri"/>
            </a:endParaRPr>
          </a:p>
        </p:txBody>
      </p:sp>
      <p:sp>
        <p:nvSpPr>
          <p:cNvPr id="704" name="Google Shape;704;p22"/>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20</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9" name="Shape 709"/>
        <p:cNvGrpSpPr/>
        <p:nvPr/>
      </p:nvGrpSpPr>
      <p:grpSpPr>
        <a:xfrm>
          <a:off x="0" y="0"/>
          <a:ext cx="0" cy="0"/>
          <a:chOff x="0" y="0"/>
          <a:chExt cx="0" cy="0"/>
        </a:xfrm>
      </p:grpSpPr>
      <p:sp>
        <p:nvSpPr>
          <p:cNvPr id="710" name="Google Shape;710;p23"/>
          <p:cNvSpPr txBox="1"/>
          <p:nvPr/>
        </p:nvSpPr>
        <p:spPr>
          <a:xfrm>
            <a:off x="548640" y="41148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800"/>
              <a:buFont typeface="Calibri"/>
              <a:buNone/>
            </a:pPr>
            <a:r>
              <a:rPr b="1" i="0" lang="en-US" sz="2800" u="none" cap="none" strike="noStrike">
                <a:solidFill>
                  <a:srgbClr val="0B2A4A"/>
                </a:solidFill>
                <a:latin typeface="Calibri"/>
                <a:ea typeface="Calibri"/>
                <a:cs typeface="Calibri"/>
                <a:sym typeface="Calibri"/>
              </a:rPr>
              <a:t>Límites de esta revisión y por qué no hubo metaanálisis</a:t>
            </a:r>
            <a:endParaRPr b="0" i="0" sz="2800" u="none" cap="none" strike="noStrike">
              <a:solidFill>
                <a:schemeClr val="dk1"/>
              </a:solidFill>
              <a:latin typeface="Calibri"/>
              <a:ea typeface="Calibri"/>
              <a:cs typeface="Calibri"/>
              <a:sym typeface="Calibri"/>
            </a:endParaRPr>
          </a:p>
        </p:txBody>
      </p:sp>
      <p:sp>
        <p:nvSpPr>
          <p:cNvPr id="711" name="Google Shape;711;p23"/>
          <p:cNvSpPr txBox="1"/>
          <p:nvPr/>
        </p:nvSpPr>
        <p:spPr>
          <a:xfrm>
            <a:off x="548640" y="1325880"/>
            <a:ext cx="2011680" cy="9144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B8432F"/>
              </a:buClr>
              <a:buSzPts val="5400"/>
              <a:buFont typeface="Calibri"/>
              <a:buNone/>
            </a:pPr>
            <a:r>
              <a:rPr b="1" i="0" lang="en-US" sz="5400" u="none" cap="none" strike="noStrike">
                <a:solidFill>
                  <a:srgbClr val="B8432F"/>
                </a:solidFill>
                <a:latin typeface="Calibri"/>
                <a:ea typeface="Calibri"/>
                <a:cs typeface="Calibri"/>
                <a:sym typeface="Calibri"/>
              </a:rPr>
              <a:t>493</a:t>
            </a:r>
            <a:endParaRPr b="0" i="0" sz="5400" u="none" cap="none" strike="noStrike">
              <a:solidFill>
                <a:schemeClr val="dk1"/>
              </a:solidFill>
              <a:latin typeface="Calibri"/>
              <a:ea typeface="Calibri"/>
              <a:cs typeface="Calibri"/>
              <a:sym typeface="Calibri"/>
            </a:endParaRPr>
          </a:p>
        </p:txBody>
      </p:sp>
      <p:sp>
        <p:nvSpPr>
          <p:cNvPr id="712" name="Google Shape;712;p23"/>
          <p:cNvSpPr txBox="1"/>
          <p:nvPr/>
        </p:nvSpPr>
        <p:spPr>
          <a:xfrm>
            <a:off x="2560320" y="1417320"/>
            <a:ext cx="3520440" cy="7772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00"/>
              <a:buFont typeface="Calibri"/>
              <a:buNone/>
            </a:pPr>
            <a:r>
              <a:rPr b="1" i="0" lang="en-US" sz="1500" u="none" cap="none" strike="noStrike">
                <a:solidFill>
                  <a:srgbClr val="1B2B3A"/>
                </a:solidFill>
                <a:latin typeface="Calibri"/>
                <a:ea typeface="Calibri"/>
                <a:cs typeface="Calibri"/>
                <a:sym typeface="Calibri"/>
              </a:rPr>
              <a:t>informes no recuperados (73 %): potencialmente elegibles, no evaluados</a:t>
            </a:r>
            <a:endParaRPr b="0" i="0" sz="1500" u="none" cap="none" strike="noStrike">
              <a:solidFill>
                <a:schemeClr val="dk1"/>
              </a:solidFill>
              <a:latin typeface="Calibri"/>
              <a:ea typeface="Calibri"/>
              <a:cs typeface="Calibri"/>
              <a:sym typeface="Calibri"/>
            </a:endParaRPr>
          </a:p>
        </p:txBody>
      </p:sp>
      <p:sp>
        <p:nvSpPr>
          <p:cNvPr id="713" name="Google Shape;713;p23"/>
          <p:cNvSpPr/>
          <p:nvPr/>
        </p:nvSpPr>
        <p:spPr>
          <a:xfrm>
            <a:off x="594360" y="2423160"/>
            <a:ext cx="502920" cy="502920"/>
          </a:xfrm>
          <a:prstGeom prst="ellipse">
            <a:avLst/>
          </a:prstGeom>
          <a:solidFill>
            <a:srgbClr val="FBEAE6"/>
          </a:solidFill>
          <a:ln cap="flat" cmpd="sng" w="12700">
            <a:solidFill>
              <a:srgbClr val="FBEA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14" name="Google Shape;714;p23"/>
          <p:cNvPicPr preferRelativeResize="0"/>
          <p:nvPr/>
        </p:nvPicPr>
        <p:blipFill rotWithShape="1">
          <a:blip r:embed="rId3">
            <a:alphaModFix/>
          </a:blip>
          <a:srcRect b="0" l="0" r="0" t="0"/>
          <a:stretch/>
        </p:blipFill>
        <p:spPr>
          <a:xfrm>
            <a:off x="713232" y="2542032"/>
            <a:ext cx="265176" cy="265176"/>
          </a:xfrm>
          <a:prstGeom prst="rect">
            <a:avLst/>
          </a:prstGeom>
          <a:noFill/>
          <a:ln>
            <a:noFill/>
          </a:ln>
        </p:spPr>
      </p:pic>
      <p:sp>
        <p:nvSpPr>
          <p:cNvPr id="715" name="Google Shape;715;p23"/>
          <p:cNvSpPr txBox="1"/>
          <p:nvPr/>
        </p:nvSpPr>
        <p:spPr>
          <a:xfrm>
            <a:off x="1280160" y="2423160"/>
            <a:ext cx="4754880" cy="5029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50"/>
              <a:buFont typeface="Calibri"/>
              <a:buNone/>
            </a:pPr>
            <a:r>
              <a:rPr b="0" i="0" lang="en-US" sz="1550" u="none" cap="none" strike="noStrike">
                <a:solidFill>
                  <a:srgbClr val="1B2B3A"/>
                </a:solidFill>
                <a:latin typeface="Calibri"/>
                <a:ea typeface="Calibri"/>
                <a:cs typeface="Calibri"/>
                <a:sym typeface="Calibri"/>
              </a:rPr>
              <a:t>Posible sesgo hacia el acceso abierto</a:t>
            </a:r>
            <a:endParaRPr b="0" i="0" sz="1550" u="none" cap="none" strike="noStrike">
              <a:solidFill>
                <a:schemeClr val="dk1"/>
              </a:solidFill>
              <a:latin typeface="Calibri"/>
              <a:ea typeface="Calibri"/>
              <a:cs typeface="Calibri"/>
              <a:sym typeface="Calibri"/>
            </a:endParaRPr>
          </a:p>
        </p:txBody>
      </p:sp>
      <p:sp>
        <p:nvSpPr>
          <p:cNvPr id="716" name="Google Shape;716;p23"/>
          <p:cNvSpPr/>
          <p:nvPr/>
        </p:nvSpPr>
        <p:spPr>
          <a:xfrm>
            <a:off x="594360" y="3136392"/>
            <a:ext cx="502920" cy="502920"/>
          </a:xfrm>
          <a:prstGeom prst="ellipse">
            <a:avLst/>
          </a:prstGeom>
          <a:solidFill>
            <a:srgbClr val="FBEAE6"/>
          </a:solidFill>
          <a:ln cap="flat" cmpd="sng" w="12700">
            <a:solidFill>
              <a:srgbClr val="FBEA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17" name="Google Shape;717;p23"/>
          <p:cNvPicPr preferRelativeResize="0"/>
          <p:nvPr/>
        </p:nvPicPr>
        <p:blipFill rotWithShape="1">
          <a:blip r:embed="rId4">
            <a:alphaModFix/>
          </a:blip>
          <a:srcRect b="0" l="0" r="0" t="0"/>
          <a:stretch/>
        </p:blipFill>
        <p:spPr>
          <a:xfrm>
            <a:off x="713232" y="3255264"/>
            <a:ext cx="265176" cy="265176"/>
          </a:xfrm>
          <a:prstGeom prst="rect">
            <a:avLst/>
          </a:prstGeom>
          <a:noFill/>
          <a:ln>
            <a:noFill/>
          </a:ln>
        </p:spPr>
      </p:pic>
      <p:sp>
        <p:nvSpPr>
          <p:cNvPr id="718" name="Google Shape;718;p23"/>
          <p:cNvSpPr txBox="1"/>
          <p:nvPr/>
        </p:nvSpPr>
        <p:spPr>
          <a:xfrm>
            <a:off x="1280160" y="3136392"/>
            <a:ext cx="4754880" cy="5029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50"/>
              <a:buFont typeface="Calibri"/>
              <a:buNone/>
            </a:pPr>
            <a:r>
              <a:rPr b="0" i="0" lang="en-US" sz="1550" u="none" cap="none" strike="noStrike">
                <a:solidFill>
                  <a:srgbClr val="1B2B3A"/>
                </a:solidFill>
                <a:latin typeface="Calibri"/>
                <a:ea typeface="Calibri"/>
                <a:cs typeface="Calibri"/>
                <a:sym typeface="Calibri"/>
              </a:rPr>
              <a:t>Un solo revis</a:t>
            </a:r>
            <a:r>
              <a:rPr b="0" i="0" lang="en-US" sz="1550" u="none" cap="none" strike="noStrike">
                <a:solidFill>
                  <a:srgbClr val="1B2B3A"/>
                </a:solidFill>
                <a:latin typeface="Calibri"/>
                <a:ea typeface="Calibri"/>
                <a:cs typeface="Calibri"/>
                <a:sym typeface="Calibri"/>
              </a:rPr>
              <a:t>or</a:t>
            </a:r>
            <a:endParaRPr b="0" i="0" sz="1550" u="none" cap="none" strike="noStrike">
              <a:solidFill>
                <a:schemeClr val="dk1"/>
              </a:solidFill>
              <a:latin typeface="Calibri"/>
              <a:ea typeface="Calibri"/>
              <a:cs typeface="Calibri"/>
              <a:sym typeface="Calibri"/>
            </a:endParaRPr>
          </a:p>
        </p:txBody>
      </p:sp>
      <p:sp>
        <p:nvSpPr>
          <p:cNvPr id="719" name="Google Shape;719;p23"/>
          <p:cNvSpPr/>
          <p:nvPr/>
        </p:nvSpPr>
        <p:spPr>
          <a:xfrm>
            <a:off x="594360" y="3849624"/>
            <a:ext cx="502920" cy="502920"/>
          </a:xfrm>
          <a:prstGeom prst="ellipse">
            <a:avLst/>
          </a:prstGeom>
          <a:solidFill>
            <a:srgbClr val="FBEAE6"/>
          </a:solidFill>
          <a:ln cap="flat" cmpd="sng" w="12700">
            <a:solidFill>
              <a:srgbClr val="FBEA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20" name="Google Shape;720;p23"/>
          <p:cNvPicPr preferRelativeResize="0"/>
          <p:nvPr/>
        </p:nvPicPr>
        <p:blipFill rotWithShape="1">
          <a:blip r:embed="rId5">
            <a:alphaModFix/>
          </a:blip>
          <a:srcRect b="0" l="0" r="0" t="0"/>
          <a:stretch/>
        </p:blipFill>
        <p:spPr>
          <a:xfrm>
            <a:off x="713232" y="3968496"/>
            <a:ext cx="265176" cy="265176"/>
          </a:xfrm>
          <a:prstGeom prst="rect">
            <a:avLst/>
          </a:prstGeom>
          <a:noFill/>
          <a:ln>
            <a:noFill/>
          </a:ln>
        </p:spPr>
      </p:pic>
      <p:sp>
        <p:nvSpPr>
          <p:cNvPr id="721" name="Google Shape;721;p23"/>
          <p:cNvSpPr txBox="1"/>
          <p:nvPr/>
        </p:nvSpPr>
        <p:spPr>
          <a:xfrm>
            <a:off x="1280160" y="3849624"/>
            <a:ext cx="4754880" cy="5029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50"/>
              <a:buFont typeface="Calibri"/>
              <a:buNone/>
            </a:pPr>
            <a:r>
              <a:rPr b="0" i="0" lang="en-US" sz="1550" u="none" cap="none" strike="noStrike">
                <a:solidFill>
                  <a:srgbClr val="1B2B3A"/>
                </a:solidFill>
                <a:latin typeface="Calibri"/>
                <a:ea typeface="Calibri"/>
                <a:cs typeface="Calibri"/>
                <a:sym typeface="Calibri"/>
              </a:rPr>
              <a:t>Extracción profunda en 20 de 74 informes</a:t>
            </a:r>
            <a:endParaRPr b="0" i="0" sz="1550" u="none" cap="none" strike="noStrike">
              <a:solidFill>
                <a:schemeClr val="dk1"/>
              </a:solidFill>
              <a:latin typeface="Calibri"/>
              <a:ea typeface="Calibri"/>
              <a:cs typeface="Calibri"/>
              <a:sym typeface="Calibri"/>
            </a:endParaRPr>
          </a:p>
        </p:txBody>
      </p:sp>
      <p:sp>
        <p:nvSpPr>
          <p:cNvPr id="722" name="Google Shape;722;p23"/>
          <p:cNvSpPr/>
          <p:nvPr/>
        </p:nvSpPr>
        <p:spPr>
          <a:xfrm>
            <a:off x="594360" y="4562856"/>
            <a:ext cx="502920" cy="502920"/>
          </a:xfrm>
          <a:prstGeom prst="ellipse">
            <a:avLst/>
          </a:prstGeom>
          <a:solidFill>
            <a:srgbClr val="FBEAE6"/>
          </a:solidFill>
          <a:ln cap="flat" cmpd="sng" w="12700">
            <a:solidFill>
              <a:srgbClr val="FBEA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23" name="Google Shape;723;p23"/>
          <p:cNvPicPr preferRelativeResize="0"/>
          <p:nvPr/>
        </p:nvPicPr>
        <p:blipFill rotWithShape="1">
          <a:blip r:embed="rId6">
            <a:alphaModFix/>
          </a:blip>
          <a:srcRect b="0" l="0" r="0" t="0"/>
          <a:stretch/>
        </p:blipFill>
        <p:spPr>
          <a:xfrm>
            <a:off x="713232" y="4681728"/>
            <a:ext cx="265176" cy="265176"/>
          </a:xfrm>
          <a:prstGeom prst="rect">
            <a:avLst/>
          </a:prstGeom>
          <a:noFill/>
          <a:ln>
            <a:noFill/>
          </a:ln>
        </p:spPr>
      </p:pic>
      <p:sp>
        <p:nvSpPr>
          <p:cNvPr id="724" name="Google Shape;724;p23"/>
          <p:cNvSpPr txBox="1"/>
          <p:nvPr/>
        </p:nvSpPr>
        <p:spPr>
          <a:xfrm>
            <a:off x="1280160" y="4562856"/>
            <a:ext cx="4754880" cy="5029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550"/>
              <a:buFont typeface="Calibri"/>
              <a:buNone/>
            </a:pPr>
            <a:r>
              <a:rPr b="0" i="0" lang="en-US" sz="1550" u="none" cap="none" strike="noStrike">
                <a:solidFill>
                  <a:srgbClr val="1B2B3A"/>
                </a:solidFill>
                <a:latin typeface="Calibri"/>
                <a:ea typeface="Calibri"/>
                <a:cs typeface="Calibri"/>
                <a:sym typeface="Calibri"/>
              </a:rPr>
              <a:t>Caracterización acústica incompleta</a:t>
            </a:r>
            <a:endParaRPr b="0" i="0" sz="1550" u="none" cap="none" strike="noStrike">
              <a:solidFill>
                <a:schemeClr val="dk1"/>
              </a:solidFill>
              <a:latin typeface="Calibri"/>
              <a:ea typeface="Calibri"/>
              <a:cs typeface="Calibri"/>
              <a:sym typeface="Calibri"/>
            </a:endParaRPr>
          </a:p>
        </p:txBody>
      </p:sp>
      <p:sp>
        <p:nvSpPr>
          <p:cNvPr id="725" name="Google Shape;725;p23"/>
          <p:cNvSpPr/>
          <p:nvPr/>
        </p:nvSpPr>
        <p:spPr>
          <a:xfrm>
            <a:off x="6400800" y="1371600"/>
            <a:ext cx="5257800" cy="4343400"/>
          </a:xfrm>
          <a:prstGeom prst="roundRect">
            <a:avLst>
              <a:gd fmla="val 1684" name="adj"/>
            </a:avLst>
          </a:prstGeom>
          <a:solidFill>
            <a:srgbClr val="EEF4F8"/>
          </a:solidFill>
          <a:ln cap="flat" cmpd="sng" w="12700">
            <a:solidFill>
              <a:srgbClr val="EEF4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23"/>
          <p:cNvSpPr txBox="1"/>
          <p:nvPr/>
        </p:nvSpPr>
        <p:spPr>
          <a:xfrm>
            <a:off x="6629400" y="1463040"/>
            <a:ext cx="4846320" cy="4572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000"/>
              <a:buFont typeface="Calibri"/>
              <a:buNone/>
            </a:pPr>
            <a:r>
              <a:rPr b="1" i="0" lang="en-US" sz="2000" u="none" cap="none" strike="noStrike">
                <a:solidFill>
                  <a:srgbClr val="0B2A4A"/>
                </a:solidFill>
                <a:latin typeface="Calibri"/>
                <a:ea typeface="Calibri"/>
                <a:cs typeface="Calibri"/>
                <a:sym typeface="Calibri"/>
              </a:rPr>
              <a:t>¿Metaanálisis?</a:t>
            </a:r>
            <a:endParaRPr b="0" i="0" sz="2000" u="none" cap="none" strike="noStrike">
              <a:solidFill>
                <a:schemeClr val="dk1"/>
              </a:solidFill>
              <a:latin typeface="Calibri"/>
              <a:ea typeface="Calibri"/>
              <a:cs typeface="Calibri"/>
              <a:sym typeface="Calibri"/>
            </a:endParaRPr>
          </a:p>
        </p:txBody>
      </p:sp>
      <p:sp>
        <p:nvSpPr>
          <p:cNvPr id="727" name="Google Shape;727;p23"/>
          <p:cNvSpPr txBox="1"/>
          <p:nvPr/>
        </p:nvSpPr>
        <p:spPr>
          <a:xfrm>
            <a:off x="6629400" y="1920240"/>
            <a:ext cx="4846320" cy="3657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450"/>
              <a:buFont typeface="Calibri"/>
              <a:buNone/>
            </a:pPr>
            <a:r>
              <a:rPr b="0" i="0" lang="en-US" sz="1450" u="none" cap="none" strike="noStrike">
                <a:solidFill>
                  <a:srgbClr val="1B2B3A"/>
                </a:solidFill>
                <a:latin typeface="Calibri"/>
                <a:ea typeface="Calibri"/>
                <a:cs typeface="Calibri"/>
                <a:sym typeface="Calibri"/>
              </a:rPr>
              <a:t>7 agrupaciones evaluadas → ninguna combinable</a:t>
            </a:r>
            <a:endParaRPr b="0" i="0" sz="1450" u="none" cap="none" strike="noStrike">
              <a:solidFill>
                <a:schemeClr val="dk1"/>
              </a:solidFill>
              <a:latin typeface="Calibri"/>
              <a:ea typeface="Calibri"/>
              <a:cs typeface="Calibri"/>
              <a:sym typeface="Calibri"/>
            </a:endParaRPr>
          </a:p>
        </p:txBody>
      </p:sp>
      <p:sp>
        <p:nvSpPr>
          <p:cNvPr id="728" name="Google Shape;728;p23"/>
          <p:cNvSpPr/>
          <p:nvPr/>
        </p:nvSpPr>
        <p:spPr>
          <a:xfrm>
            <a:off x="6629400" y="2423160"/>
            <a:ext cx="1115568" cy="960120"/>
          </a:xfrm>
          <a:prstGeom prst="roundRect">
            <a:avLst>
              <a:gd fmla="val 5714" name="adj"/>
            </a:avLst>
          </a:prstGeom>
          <a:solidFill>
            <a:srgbClr val="FFF4DC"/>
          </a:solidFill>
          <a:ln cap="flat" cmpd="sng" w="25400">
            <a:solidFill>
              <a:srgbClr val="D9A3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23"/>
          <p:cNvSpPr txBox="1"/>
          <p:nvPr/>
        </p:nvSpPr>
        <p:spPr>
          <a:xfrm>
            <a:off x="6629400" y="2468880"/>
            <a:ext cx="1115568" cy="36576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0B2A4A"/>
              </a:buClr>
              <a:buSzPts val="1500"/>
              <a:buFont typeface="Calibri"/>
              <a:buNone/>
            </a:pPr>
            <a:r>
              <a:rPr b="1" i="0" lang="en-US" sz="1500" u="none" cap="none" strike="noStrike">
                <a:solidFill>
                  <a:srgbClr val="0B2A4A"/>
                </a:solidFill>
                <a:latin typeface="Calibri"/>
                <a:ea typeface="Calibri"/>
                <a:cs typeface="Calibri"/>
                <a:sym typeface="Calibri"/>
              </a:rPr>
              <a:t>G01</a:t>
            </a:r>
            <a:endParaRPr b="0" i="0" sz="1500" u="none" cap="none" strike="noStrike">
              <a:solidFill>
                <a:schemeClr val="dk1"/>
              </a:solidFill>
              <a:latin typeface="Calibri"/>
              <a:ea typeface="Calibri"/>
              <a:cs typeface="Calibri"/>
              <a:sym typeface="Calibri"/>
            </a:endParaRPr>
          </a:p>
        </p:txBody>
      </p:sp>
      <p:sp>
        <p:nvSpPr>
          <p:cNvPr id="730" name="Google Shape;730;p23"/>
          <p:cNvSpPr txBox="1"/>
          <p:nvPr/>
        </p:nvSpPr>
        <p:spPr>
          <a:xfrm>
            <a:off x="6665976" y="2834640"/>
            <a:ext cx="1042416" cy="5029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1000"/>
              <a:buFont typeface="Calibri"/>
              <a:buNone/>
            </a:pPr>
            <a:r>
              <a:rPr b="0" i="0" lang="en-US" sz="1000" u="none" cap="none" strike="noStrike">
                <a:solidFill>
                  <a:srgbClr val="5A6B7B"/>
                </a:solidFill>
                <a:latin typeface="Calibri"/>
                <a:ea typeface="Calibri"/>
                <a:cs typeface="Calibri"/>
                <a:sym typeface="Calibri"/>
              </a:rPr>
              <a:t>damiselas: escape</a:t>
            </a:r>
            <a:endParaRPr b="0" i="0" sz="1000" u="none" cap="none" strike="noStrike">
              <a:solidFill>
                <a:schemeClr val="dk1"/>
              </a:solidFill>
              <a:latin typeface="Calibri"/>
              <a:ea typeface="Calibri"/>
              <a:cs typeface="Calibri"/>
              <a:sym typeface="Calibri"/>
            </a:endParaRPr>
          </a:p>
        </p:txBody>
      </p:sp>
      <p:sp>
        <p:nvSpPr>
          <p:cNvPr id="731" name="Google Shape;731;p23"/>
          <p:cNvSpPr/>
          <p:nvPr/>
        </p:nvSpPr>
        <p:spPr>
          <a:xfrm>
            <a:off x="7845552" y="2423160"/>
            <a:ext cx="1115568" cy="960120"/>
          </a:xfrm>
          <a:prstGeom prst="roundRect">
            <a:avLst>
              <a:gd fmla="val 5714" name="adj"/>
            </a:avLst>
          </a:prstGeom>
          <a:solidFill>
            <a:srgbClr val="FFFFFF"/>
          </a:solidFill>
          <a:ln cap="flat" cmpd="sng" w="12700">
            <a:solidFill>
              <a:srgbClr val="C9D6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23"/>
          <p:cNvSpPr txBox="1"/>
          <p:nvPr/>
        </p:nvSpPr>
        <p:spPr>
          <a:xfrm>
            <a:off x="7845552" y="2468880"/>
            <a:ext cx="1115568" cy="36576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0B2A4A"/>
              </a:buClr>
              <a:buSzPts val="1500"/>
              <a:buFont typeface="Calibri"/>
              <a:buNone/>
            </a:pPr>
            <a:r>
              <a:rPr b="1" i="0" lang="en-US" sz="1500" u="none" cap="none" strike="noStrike">
                <a:solidFill>
                  <a:srgbClr val="0B2A4A"/>
                </a:solidFill>
                <a:latin typeface="Calibri"/>
                <a:ea typeface="Calibri"/>
                <a:cs typeface="Calibri"/>
                <a:sym typeface="Calibri"/>
              </a:rPr>
              <a:t>G02</a:t>
            </a:r>
            <a:endParaRPr b="0" i="0" sz="1500" u="none" cap="none" strike="noStrike">
              <a:solidFill>
                <a:schemeClr val="dk1"/>
              </a:solidFill>
              <a:latin typeface="Calibri"/>
              <a:ea typeface="Calibri"/>
              <a:cs typeface="Calibri"/>
              <a:sym typeface="Calibri"/>
            </a:endParaRPr>
          </a:p>
        </p:txBody>
      </p:sp>
      <p:sp>
        <p:nvSpPr>
          <p:cNvPr id="733" name="Google Shape;733;p23"/>
          <p:cNvSpPr txBox="1"/>
          <p:nvPr/>
        </p:nvSpPr>
        <p:spPr>
          <a:xfrm>
            <a:off x="7882128" y="2834640"/>
            <a:ext cx="1042416" cy="5029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1000"/>
              <a:buFont typeface="Calibri"/>
              <a:buNone/>
            </a:pPr>
            <a:r>
              <a:rPr b="0" i="0" lang="en-US" sz="1000" u="none" cap="none" strike="noStrike">
                <a:solidFill>
                  <a:srgbClr val="5A6B7B"/>
                </a:solidFill>
                <a:latin typeface="Calibri"/>
                <a:ea typeface="Calibri"/>
                <a:cs typeface="Calibri"/>
                <a:sym typeface="Calibri"/>
              </a:rPr>
              <a:t>pez dorado: dosis</a:t>
            </a:r>
            <a:endParaRPr b="0" i="0" sz="1000" u="none" cap="none" strike="noStrike">
              <a:solidFill>
                <a:schemeClr val="dk1"/>
              </a:solidFill>
              <a:latin typeface="Calibri"/>
              <a:ea typeface="Calibri"/>
              <a:cs typeface="Calibri"/>
              <a:sym typeface="Calibri"/>
            </a:endParaRPr>
          </a:p>
        </p:txBody>
      </p:sp>
      <p:sp>
        <p:nvSpPr>
          <p:cNvPr id="734" name="Google Shape;734;p23"/>
          <p:cNvSpPr/>
          <p:nvPr/>
        </p:nvSpPr>
        <p:spPr>
          <a:xfrm>
            <a:off x="9061704" y="2423160"/>
            <a:ext cx="1115568" cy="960120"/>
          </a:xfrm>
          <a:prstGeom prst="roundRect">
            <a:avLst>
              <a:gd fmla="val 5714" name="adj"/>
            </a:avLst>
          </a:prstGeom>
          <a:solidFill>
            <a:srgbClr val="FFFFFF"/>
          </a:solidFill>
          <a:ln cap="flat" cmpd="sng" w="12700">
            <a:solidFill>
              <a:srgbClr val="C9D6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23"/>
          <p:cNvSpPr txBox="1"/>
          <p:nvPr/>
        </p:nvSpPr>
        <p:spPr>
          <a:xfrm>
            <a:off x="9061704" y="2468880"/>
            <a:ext cx="1115568" cy="36576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0B2A4A"/>
              </a:buClr>
              <a:buSzPts val="1500"/>
              <a:buFont typeface="Calibri"/>
              <a:buNone/>
            </a:pPr>
            <a:r>
              <a:rPr b="1" i="0" lang="en-US" sz="1500" u="none" cap="none" strike="noStrike">
                <a:solidFill>
                  <a:srgbClr val="0B2A4A"/>
                </a:solidFill>
                <a:latin typeface="Calibri"/>
                <a:ea typeface="Calibri"/>
                <a:cs typeface="Calibri"/>
                <a:sym typeface="Calibri"/>
              </a:rPr>
              <a:t>G03</a:t>
            </a:r>
            <a:endParaRPr b="0" i="0" sz="1500" u="none" cap="none" strike="noStrike">
              <a:solidFill>
                <a:schemeClr val="dk1"/>
              </a:solidFill>
              <a:latin typeface="Calibri"/>
              <a:ea typeface="Calibri"/>
              <a:cs typeface="Calibri"/>
              <a:sym typeface="Calibri"/>
            </a:endParaRPr>
          </a:p>
        </p:txBody>
      </p:sp>
      <p:sp>
        <p:nvSpPr>
          <p:cNvPr id="736" name="Google Shape;736;p23"/>
          <p:cNvSpPr txBox="1"/>
          <p:nvPr/>
        </p:nvSpPr>
        <p:spPr>
          <a:xfrm>
            <a:off x="9098280" y="2834640"/>
            <a:ext cx="1042416" cy="5029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1000"/>
              <a:buFont typeface="Calibri"/>
              <a:buNone/>
            </a:pPr>
            <a:r>
              <a:rPr b="0" i="0" lang="en-US" sz="1000" u="none" cap="none" strike="noStrike">
                <a:solidFill>
                  <a:srgbClr val="5A6B7B"/>
                </a:solidFill>
                <a:latin typeface="Calibri"/>
                <a:ea typeface="Calibri"/>
                <a:cs typeface="Calibri"/>
                <a:sym typeface="Calibri"/>
              </a:rPr>
              <a:t>enmascaramiento</a:t>
            </a:r>
            <a:endParaRPr b="0" i="0" sz="1000" u="none" cap="none" strike="noStrike">
              <a:solidFill>
                <a:schemeClr val="dk1"/>
              </a:solidFill>
              <a:latin typeface="Calibri"/>
              <a:ea typeface="Calibri"/>
              <a:cs typeface="Calibri"/>
              <a:sym typeface="Calibri"/>
            </a:endParaRPr>
          </a:p>
        </p:txBody>
      </p:sp>
      <p:sp>
        <p:nvSpPr>
          <p:cNvPr id="737" name="Google Shape;737;p23"/>
          <p:cNvSpPr/>
          <p:nvPr/>
        </p:nvSpPr>
        <p:spPr>
          <a:xfrm>
            <a:off x="10277856" y="2423160"/>
            <a:ext cx="1115568" cy="960120"/>
          </a:xfrm>
          <a:prstGeom prst="roundRect">
            <a:avLst>
              <a:gd fmla="val 5714" name="adj"/>
            </a:avLst>
          </a:prstGeom>
          <a:solidFill>
            <a:srgbClr val="FFFFFF"/>
          </a:solidFill>
          <a:ln cap="flat" cmpd="sng" w="12700">
            <a:solidFill>
              <a:srgbClr val="C9D6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23"/>
          <p:cNvSpPr txBox="1"/>
          <p:nvPr/>
        </p:nvSpPr>
        <p:spPr>
          <a:xfrm>
            <a:off x="10277856" y="2468880"/>
            <a:ext cx="1115568" cy="36576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0B2A4A"/>
              </a:buClr>
              <a:buSzPts val="1500"/>
              <a:buFont typeface="Calibri"/>
              <a:buNone/>
            </a:pPr>
            <a:r>
              <a:rPr b="1" i="0" lang="en-US" sz="1500" u="none" cap="none" strike="noStrike">
                <a:solidFill>
                  <a:srgbClr val="0B2A4A"/>
                </a:solidFill>
                <a:latin typeface="Calibri"/>
                <a:ea typeface="Calibri"/>
                <a:cs typeface="Calibri"/>
                <a:sym typeface="Calibri"/>
              </a:rPr>
              <a:t>G04</a:t>
            </a:r>
            <a:endParaRPr b="0" i="0" sz="1500" u="none" cap="none" strike="noStrike">
              <a:solidFill>
                <a:schemeClr val="dk1"/>
              </a:solidFill>
              <a:latin typeface="Calibri"/>
              <a:ea typeface="Calibri"/>
              <a:cs typeface="Calibri"/>
              <a:sym typeface="Calibri"/>
            </a:endParaRPr>
          </a:p>
        </p:txBody>
      </p:sp>
      <p:sp>
        <p:nvSpPr>
          <p:cNvPr id="739" name="Google Shape;739;p23"/>
          <p:cNvSpPr txBox="1"/>
          <p:nvPr/>
        </p:nvSpPr>
        <p:spPr>
          <a:xfrm>
            <a:off x="10314432" y="2834640"/>
            <a:ext cx="1042416" cy="5029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1000"/>
              <a:buFont typeface="Calibri"/>
              <a:buNone/>
            </a:pPr>
            <a:r>
              <a:rPr b="0" i="0" lang="en-US" sz="1000" u="none" cap="none" strike="noStrike">
                <a:solidFill>
                  <a:srgbClr val="5A6B7B"/>
                </a:solidFill>
                <a:latin typeface="Calibri"/>
                <a:ea typeface="Calibri"/>
                <a:cs typeface="Calibri"/>
                <a:sym typeface="Calibri"/>
              </a:rPr>
              <a:t>asentamiento</a:t>
            </a:r>
            <a:endParaRPr b="0" i="0" sz="1000" u="none" cap="none" strike="noStrike">
              <a:solidFill>
                <a:schemeClr val="dk1"/>
              </a:solidFill>
              <a:latin typeface="Calibri"/>
              <a:ea typeface="Calibri"/>
              <a:cs typeface="Calibri"/>
              <a:sym typeface="Calibri"/>
            </a:endParaRPr>
          </a:p>
        </p:txBody>
      </p:sp>
      <p:sp>
        <p:nvSpPr>
          <p:cNvPr id="740" name="Google Shape;740;p23"/>
          <p:cNvSpPr/>
          <p:nvPr/>
        </p:nvSpPr>
        <p:spPr>
          <a:xfrm>
            <a:off x="6629400" y="3520440"/>
            <a:ext cx="1115568" cy="960120"/>
          </a:xfrm>
          <a:prstGeom prst="roundRect">
            <a:avLst>
              <a:gd fmla="val 5714" name="adj"/>
            </a:avLst>
          </a:prstGeom>
          <a:solidFill>
            <a:srgbClr val="FFFFFF"/>
          </a:solidFill>
          <a:ln cap="flat" cmpd="sng" w="12700">
            <a:solidFill>
              <a:srgbClr val="C9D6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23"/>
          <p:cNvSpPr txBox="1"/>
          <p:nvPr/>
        </p:nvSpPr>
        <p:spPr>
          <a:xfrm>
            <a:off x="6629400" y="3566160"/>
            <a:ext cx="1115568" cy="36576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0B2A4A"/>
              </a:buClr>
              <a:buSzPts val="1500"/>
              <a:buFont typeface="Calibri"/>
              <a:buNone/>
            </a:pPr>
            <a:r>
              <a:rPr b="1" i="0" lang="en-US" sz="1500" u="none" cap="none" strike="noStrike">
                <a:solidFill>
                  <a:srgbClr val="0B2A4A"/>
                </a:solidFill>
                <a:latin typeface="Calibri"/>
                <a:ea typeface="Calibri"/>
                <a:cs typeface="Calibri"/>
                <a:sym typeface="Calibri"/>
              </a:rPr>
              <a:t>G05</a:t>
            </a:r>
            <a:endParaRPr b="0" i="0" sz="1500" u="none" cap="none" strike="noStrike">
              <a:solidFill>
                <a:schemeClr val="dk1"/>
              </a:solidFill>
              <a:latin typeface="Calibri"/>
              <a:ea typeface="Calibri"/>
              <a:cs typeface="Calibri"/>
              <a:sym typeface="Calibri"/>
            </a:endParaRPr>
          </a:p>
        </p:txBody>
      </p:sp>
      <p:sp>
        <p:nvSpPr>
          <p:cNvPr id="742" name="Google Shape;742;p23"/>
          <p:cNvSpPr txBox="1"/>
          <p:nvPr/>
        </p:nvSpPr>
        <p:spPr>
          <a:xfrm>
            <a:off x="6665976" y="3931920"/>
            <a:ext cx="1042416" cy="5029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1000"/>
              <a:buFont typeface="Calibri"/>
              <a:buNone/>
            </a:pPr>
            <a:r>
              <a:rPr b="0" i="0" lang="en-US" sz="1000" u="none" cap="none" strike="noStrike">
                <a:solidFill>
                  <a:srgbClr val="5A6B7B"/>
                </a:solidFill>
                <a:latin typeface="Calibri"/>
                <a:ea typeface="Calibri"/>
                <a:cs typeface="Calibri"/>
                <a:sym typeface="Calibri"/>
              </a:rPr>
              <a:t>audiometría</a:t>
            </a:r>
            <a:endParaRPr b="0" i="0" sz="1000" u="none" cap="none" strike="noStrike">
              <a:solidFill>
                <a:schemeClr val="dk1"/>
              </a:solidFill>
              <a:latin typeface="Calibri"/>
              <a:ea typeface="Calibri"/>
              <a:cs typeface="Calibri"/>
              <a:sym typeface="Calibri"/>
            </a:endParaRPr>
          </a:p>
        </p:txBody>
      </p:sp>
      <p:sp>
        <p:nvSpPr>
          <p:cNvPr id="743" name="Google Shape;743;p23"/>
          <p:cNvSpPr/>
          <p:nvPr/>
        </p:nvSpPr>
        <p:spPr>
          <a:xfrm>
            <a:off x="7845552" y="3520440"/>
            <a:ext cx="1115568" cy="960120"/>
          </a:xfrm>
          <a:prstGeom prst="roundRect">
            <a:avLst>
              <a:gd fmla="val 5714" name="adj"/>
            </a:avLst>
          </a:prstGeom>
          <a:solidFill>
            <a:srgbClr val="FFFFFF"/>
          </a:solidFill>
          <a:ln cap="flat" cmpd="sng" w="12700">
            <a:solidFill>
              <a:srgbClr val="C9D6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23"/>
          <p:cNvSpPr txBox="1"/>
          <p:nvPr/>
        </p:nvSpPr>
        <p:spPr>
          <a:xfrm>
            <a:off x="7845552" y="3566160"/>
            <a:ext cx="1115568" cy="36576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0B2A4A"/>
              </a:buClr>
              <a:buSzPts val="1500"/>
              <a:buFont typeface="Calibri"/>
              <a:buNone/>
            </a:pPr>
            <a:r>
              <a:rPr b="1" i="0" lang="en-US" sz="1500" u="none" cap="none" strike="noStrike">
                <a:solidFill>
                  <a:srgbClr val="0B2A4A"/>
                </a:solidFill>
                <a:latin typeface="Calibri"/>
                <a:ea typeface="Calibri"/>
                <a:cs typeface="Calibri"/>
                <a:sym typeface="Calibri"/>
              </a:rPr>
              <a:t>G06</a:t>
            </a:r>
            <a:endParaRPr b="0" i="0" sz="1500" u="none" cap="none" strike="noStrike">
              <a:solidFill>
                <a:schemeClr val="dk1"/>
              </a:solidFill>
              <a:latin typeface="Calibri"/>
              <a:ea typeface="Calibri"/>
              <a:cs typeface="Calibri"/>
              <a:sym typeface="Calibri"/>
            </a:endParaRPr>
          </a:p>
        </p:txBody>
      </p:sp>
      <p:sp>
        <p:nvSpPr>
          <p:cNvPr id="745" name="Google Shape;745;p23"/>
          <p:cNvSpPr txBox="1"/>
          <p:nvPr/>
        </p:nvSpPr>
        <p:spPr>
          <a:xfrm>
            <a:off x="7882128" y="3931920"/>
            <a:ext cx="1042416" cy="5029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1000"/>
              <a:buFont typeface="Calibri"/>
              <a:buNone/>
            </a:pPr>
            <a:r>
              <a:rPr b="0" i="0" lang="en-US" sz="1000" u="none" cap="none" strike="noStrike">
                <a:solidFill>
                  <a:srgbClr val="5A6B7B"/>
                </a:solidFill>
                <a:latin typeface="Calibri"/>
                <a:ea typeface="Calibri"/>
                <a:cs typeface="Calibri"/>
                <a:sym typeface="Calibri"/>
              </a:rPr>
              <a:t>antipredatoria</a:t>
            </a:r>
            <a:endParaRPr b="0" i="0" sz="1000" u="none" cap="none" strike="noStrike">
              <a:solidFill>
                <a:schemeClr val="dk1"/>
              </a:solidFill>
              <a:latin typeface="Calibri"/>
              <a:ea typeface="Calibri"/>
              <a:cs typeface="Calibri"/>
              <a:sym typeface="Calibri"/>
            </a:endParaRPr>
          </a:p>
        </p:txBody>
      </p:sp>
      <p:sp>
        <p:nvSpPr>
          <p:cNvPr id="746" name="Google Shape;746;p23"/>
          <p:cNvSpPr/>
          <p:nvPr/>
        </p:nvSpPr>
        <p:spPr>
          <a:xfrm>
            <a:off x="9061704" y="3520440"/>
            <a:ext cx="1115568" cy="960120"/>
          </a:xfrm>
          <a:prstGeom prst="roundRect">
            <a:avLst>
              <a:gd fmla="val 5714" name="adj"/>
            </a:avLst>
          </a:prstGeom>
          <a:solidFill>
            <a:srgbClr val="FFFFFF"/>
          </a:solidFill>
          <a:ln cap="flat" cmpd="sng" w="12700">
            <a:solidFill>
              <a:srgbClr val="C9D6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23"/>
          <p:cNvSpPr txBox="1"/>
          <p:nvPr/>
        </p:nvSpPr>
        <p:spPr>
          <a:xfrm>
            <a:off x="9061704" y="3566160"/>
            <a:ext cx="1115568" cy="36576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0B2A4A"/>
              </a:buClr>
              <a:buSzPts val="1500"/>
              <a:buFont typeface="Calibri"/>
              <a:buNone/>
            </a:pPr>
            <a:r>
              <a:rPr b="1" i="0" lang="en-US" sz="1500" u="none" cap="none" strike="noStrike">
                <a:solidFill>
                  <a:srgbClr val="0B2A4A"/>
                </a:solidFill>
                <a:latin typeface="Calibri"/>
                <a:ea typeface="Calibri"/>
                <a:cs typeface="Calibri"/>
                <a:sym typeface="Calibri"/>
              </a:rPr>
              <a:t>G07</a:t>
            </a:r>
            <a:endParaRPr b="0" i="0" sz="1500" u="none" cap="none" strike="noStrike">
              <a:solidFill>
                <a:schemeClr val="dk1"/>
              </a:solidFill>
              <a:latin typeface="Calibri"/>
              <a:ea typeface="Calibri"/>
              <a:cs typeface="Calibri"/>
              <a:sym typeface="Calibri"/>
            </a:endParaRPr>
          </a:p>
        </p:txBody>
      </p:sp>
      <p:sp>
        <p:nvSpPr>
          <p:cNvPr id="748" name="Google Shape;748;p23"/>
          <p:cNvSpPr txBox="1"/>
          <p:nvPr/>
        </p:nvSpPr>
        <p:spPr>
          <a:xfrm>
            <a:off x="9098280" y="3931920"/>
            <a:ext cx="1042416" cy="5029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5A6B7B"/>
              </a:buClr>
              <a:buSzPts val="1000"/>
              <a:buFont typeface="Calibri"/>
              <a:buNone/>
            </a:pPr>
            <a:r>
              <a:rPr b="0" i="0" lang="en-US" sz="1000" u="none" cap="none" strike="noStrike">
                <a:solidFill>
                  <a:srgbClr val="5A6B7B"/>
                </a:solidFill>
                <a:latin typeface="Calibri"/>
                <a:ea typeface="Calibri"/>
                <a:cs typeface="Calibri"/>
                <a:sym typeface="Calibri"/>
              </a:rPr>
              <a:t>sísmica</a:t>
            </a:r>
            <a:endParaRPr b="0" i="0" sz="1000" u="none" cap="none" strike="noStrike">
              <a:solidFill>
                <a:schemeClr val="dk1"/>
              </a:solidFill>
              <a:latin typeface="Calibri"/>
              <a:ea typeface="Calibri"/>
              <a:cs typeface="Calibri"/>
              <a:sym typeface="Calibri"/>
            </a:endParaRPr>
          </a:p>
        </p:txBody>
      </p:sp>
      <p:sp>
        <p:nvSpPr>
          <p:cNvPr id="749" name="Google Shape;749;p23"/>
          <p:cNvSpPr txBox="1"/>
          <p:nvPr/>
        </p:nvSpPr>
        <p:spPr>
          <a:xfrm>
            <a:off x="6629400" y="4572000"/>
            <a:ext cx="4846320" cy="3657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8A6A00"/>
              </a:buClr>
              <a:buSzPts val="1150"/>
              <a:buFont typeface="Calibri"/>
              <a:buNone/>
            </a:pPr>
            <a:r>
              <a:rPr b="0" i="1" lang="en-US" sz="1150" u="none" cap="none" strike="noStrike">
                <a:solidFill>
                  <a:srgbClr val="8A6A00"/>
                </a:solidFill>
                <a:latin typeface="Calibri"/>
                <a:ea typeface="Calibri"/>
                <a:cs typeface="Calibri"/>
                <a:sym typeface="Calibri"/>
              </a:rPr>
              <a:t>G01 = candidato condicional (McCormick 2019 + Velasquez Jimenez 2020)</a:t>
            </a:r>
            <a:endParaRPr b="0" i="0" sz="1150" u="none" cap="none" strike="noStrike">
              <a:solidFill>
                <a:schemeClr val="dk1"/>
              </a:solidFill>
              <a:latin typeface="Calibri"/>
              <a:ea typeface="Calibri"/>
              <a:cs typeface="Calibri"/>
              <a:sym typeface="Calibri"/>
            </a:endParaRPr>
          </a:p>
        </p:txBody>
      </p:sp>
      <p:sp>
        <p:nvSpPr>
          <p:cNvPr id="750" name="Google Shape;750;p23"/>
          <p:cNvSpPr txBox="1"/>
          <p:nvPr/>
        </p:nvSpPr>
        <p:spPr>
          <a:xfrm>
            <a:off x="6629400" y="4937760"/>
            <a:ext cx="4846320" cy="73152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1B2B3A"/>
              </a:buClr>
              <a:buSzPts val="1350"/>
              <a:buFont typeface="Calibri"/>
              <a:buNone/>
            </a:pPr>
            <a:r>
              <a:rPr b="0" i="0" lang="en-US" sz="1350" u="none" cap="none" strike="noStrike">
                <a:solidFill>
                  <a:srgbClr val="1B2B3A"/>
                </a:solidFill>
                <a:latin typeface="Calibri"/>
                <a:ea typeface="Calibri"/>
                <a:cs typeface="Calibri"/>
                <a:sym typeface="Calibri"/>
              </a:rPr>
              <a:t>Cambian especie, estímulo, unidad y métrica; faltan datos por grupo; posible dependencia entre estudios</a:t>
            </a:r>
            <a:endParaRPr b="0" i="0" sz="1350" u="none" cap="none" strike="noStrike">
              <a:solidFill>
                <a:schemeClr val="dk1"/>
              </a:solidFill>
              <a:latin typeface="Calibri"/>
              <a:ea typeface="Calibri"/>
              <a:cs typeface="Calibri"/>
              <a:sym typeface="Calibri"/>
            </a:endParaRPr>
          </a:p>
        </p:txBody>
      </p:sp>
      <p:sp>
        <p:nvSpPr>
          <p:cNvPr id="751" name="Google Shape;751;p23"/>
          <p:cNvSpPr txBox="1"/>
          <p:nvPr/>
        </p:nvSpPr>
        <p:spPr>
          <a:xfrm>
            <a:off x="548640" y="5852160"/>
            <a:ext cx="1106424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1600"/>
              <a:buFont typeface="Calibri"/>
              <a:buNone/>
            </a:pPr>
            <a:r>
              <a:rPr b="1" i="1" lang="en-US" sz="1600" u="none" cap="none" strike="noStrike">
                <a:solidFill>
                  <a:srgbClr val="0B2A4A"/>
                </a:solidFill>
                <a:latin typeface="Calibri"/>
                <a:ea typeface="Calibri"/>
                <a:cs typeface="Calibri"/>
                <a:sym typeface="Calibri"/>
              </a:rPr>
              <a:t>No es ausencia de evidencia: es un diagnóstico de qué falta medir.</a:t>
            </a:r>
            <a:endParaRPr b="0" i="0" sz="1600" u="none" cap="none" strike="noStrike">
              <a:solidFill>
                <a:schemeClr val="dk1"/>
              </a:solidFill>
              <a:latin typeface="Calibri"/>
              <a:ea typeface="Calibri"/>
              <a:cs typeface="Calibri"/>
              <a:sym typeface="Calibri"/>
            </a:endParaRPr>
          </a:p>
        </p:txBody>
      </p:sp>
      <p:sp>
        <p:nvSpPr>
          <p:cNvPr id="752" name="Google Shape;752;p23"/>
          <p:cNvSpPr txBox="1"/>
          <p:nvPr/>
        </p:nvSpPr>
        <p:spPr>
          <a:xfrm>
            <a:off x="548640" y="6382512"/>
            <a:ext cx="10241280" cy="29260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Datos: esta revisión  ·  McCormick et al., 2019  ·  Velasquez Jimenez et al., 2020</a:t>
            </a:r>
            <a:endParaRPr b="0" i="0" sz="1200" u="none" cap="none" strike="noStrike">
              <a:solidFill>
                <a:schemeClr val="dk1"/>
              </a:solidFill>
              <a:latin typeface="Calibri"/>
              <a:ea typeface="Calibri"/>
              <a:cs typeface="Calibri"/>
              <a:sym typeface="Calibri"/>
            </a:endParaRPr>
          </a:p>
        </p:txBody>
      </p:sp>
      <p:sp>
        <p:nvSpPr>
          <p:cNvPr id="753" name="Google Shape;753;p23"/>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21</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8" name="Shape 758"/>
        <p:cNvGrpSpPr/>
        <p:nvPr/>
      </p:nvGrpSpPr>
      <p:grpSpPr>
        <a:xfrm>
          <a:off x="0" y="0"/>
          <a:ext cx="0" cy="0"/>
          <a:chOff x="0" y="0"/>
          <a:chExt cx="0" cy="0"/>
        </a:xfrm>
      </p:grpSpPr>
      <p:sp>
        <p:nvSpPr>
          <p:cNvPr id="759" name="Google Shape;759;p24"/>
          <p:cNvSpPr txBox="1"/>
          <p:nvPr/>
        </p:nvSpPr>
        <p:spPr>
          <a:xfrm>
            <a:off x="548640" y="411480"/>
            <a:ext cx="11064240" cy="8686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¿Qué oye un pez? Presión, movimiento… y contexto</a:t>
            </a:r>
            <a:endParaRPr b="0" i="0" sz="3200" u="none" cap="none" strike="noStrike">
              <a:solidFill>
                <a:schemeClr val="dk1"/>
              </a:solidFill>
              <a:latin typeface="Calibri"/>
              <a:ea typeface="Calibri"/>
              <a:cs typeface="Calibri"/>
              <a:sym typeface="Calibri"/>
            </a:endParaRPr>
          </a:p>
        </p:txBody>
      </p:sp>
      <p:sp>
        <p:nvSpPr>
          <p:cNvPr id="760" name="Google Shape;760;p24"/>
          <p:cNvSpPr/>
          <p:nvPr/>
        </p:nvSpPr>
        <p:spPr>
          <a:xfrm>
            <a:off x="548640" y="1691640"/>
            <a:ext cx="2148840" cy="731520"/>
          </a:xfrm>
          <a:prstGeom prst="chevron">
            <a:avLst>
              <a:gd fmla="val 50000" name="adj"/>
            </a:avLst>
          </a:prstGeom>
          <a:solidFill>
            <a:srgbClr val="1F6F9F"/>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24"/>
          <p:cNvSpPr txBox="1"/>
          <p:nvPr/>
        </p:nvSpPr>
        <p:spPr>
          <a:xfrm>
            <a:off x="804672" y="1691640"/>
            <a:ext cx="1636776" cy="7315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CAMPO</a:t>
            </a:r>
            <a:endParaRPr b="0" i="0" sz="1350" u="none" cap="none" strike="noStrike">
              <a:solidFill>
                <a:schemeClr val="dk1"/>
              </a:solidFill>
              <a:latin typeface="Calibri"/>
              <a:ea typeface="Calibri"/>
              <a:cs typeface="Calibri"/>
              <a:sym typeface="Calibri"/>
            </a:endParaRPr>
          </a:p>
        </p:txBody>
      </p:sp>
      <p:sp>
        <p:nvSpPr>
          <p:cNvPr id="762" name="Google Shape;762;p24"/>
          <p:cNvSpPr txBox="1"/>
          <p:nvPr/>
        </p:nvSpPr>
        <p:spPr>
          <a:xfrm>
            <a:off x="594360" y="2606040"/>
            <a:ext cx="2057400" cy="12344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E6F0F7"/>
              </a:buClr>
              <a:buSzPts val="1500"/>
              <a:buFont typeface="Calibri"/>
              <a:buNone/>
            </a:pPr>
            <a:r>
              <a:rPr b="0" i="0" lang="en-US" sz="1500" u="none" cap="none" strike="noStrike">
                <a:solidFill>
                  <a:srgbClr val="E6F0F7"/>
                </a:solidFill>
                <a:latin typeface="Calibri"/>
                <a:ea typeface="Calibri"/>
                <a:cs typeface="Calibri"/>
                <a:sym typeface="Calibri"/>
              </a:rPr>
              <a:t>Presión y movimiento; el SPL no basta</a:t>
            </a:r>
            <a:endParaRPr b="0" i="0" sz="1500" u="none" cap="none" strike="noStrike">
              <a:solidFill>
                <a:schemeClr val="dk1"/>
              </a:solidFill>
              <a:latin typeface="Calibri"/>
              <a:ea typeface="Calibri"/>
              <a:cs typeface="Calibri"/>
              <a:sym typeface="Calibri"/>
            </a:endParaRPr>
          </a:p>
        </p:txBody>
      </p:sp>
      <p:sp>
        <p:nvSpPr>
          <p:cNvPr id="763" name="Google Shape;763;p24"/>
          <p:cNvSpPr/>
          <p:nvPr/>
        </p:nvSpPr>
        <p:spPr>
          <a:xfrm>
            <a:off x="2788920" y="1691640"/>
            <a:ext cx="2148840" cy="731520"/>
          </a:xfrm>
          <a:prstGeom prst="chevron">
            <a:avLst>
              <a:gd fmla="val 50000" name="adj"/>
            </a:avLst>
          </a:prstGeom>
          <a:solidFill>
            <a:srgbClr val="1A7FA6"/>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24"/>
          <p:cNvSpPr txBox="1"/>
          <p:nvPr/>
        </p:nvSpPr>
        <p:spPr>
          <a:xfrm>
            <a:off x="3044952" y="1691640"/>
            <a:ext cx="1636776" cy="7315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PERCEPCIÓN</a:t>
            </a:r>
            <a:endParaRPr b="0" i="0" sz="1350" u="none" cap="none" strike="noStrike">
              <a:solidFill>
                <a:schemeClr val="dk1"/>
              </a:solidFill>
              <a:latin typeface="Calibri"/>
              <a:ea typeface="Calibri"/>
              <a:cs typeface="Calibri"/>
              <a:sym typeface="Calibri"/>
            </a:endParaRPr>
          </a:p>
        </p:txBody>
      </p:sp>
      <p:sp>
        <p:nvSpPr>
          <p:cNvPr id="765" name="Google Shape;765;p24"/>
          <p:cNvSpPr txBox="1"/>
          <p:nvPr/>
        </p:nvSpPr>
        <p:spPr>
          <a:xfrm>
            <a:off x="2834640" y="2606040"/>
            <a:ext cx="2057400" cy="12344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E6F0F7"/>
              </a:buClr>
              <a:buSzPts val="1500"/>
              <a:buFont typeface="Calibri"/>
              <a:buNone/>
            </a:pPr>
            <a:r>
              <a:rPr b="0" i="0" lang="en-US" sz="1500" u="none" cap="none" strike="noStrike">
                <a:solidFill>
                  <a:srgbClr val="E6F0F7"/>
                </a:solidFill>
                <a:latin typeface="Calibri"/>
                <a:ea typeface="Calibri"/>
                <a:cs typeface="Calibri"/>
                <a:sym typeface="Calibri"/>
              </a:rPr>
              <a:t>Depende de la especie (otolitos, vejiga)</a:t>
            </a:r>
            <a:endParaRPr b="0" i="0" sz="1500" u="none" cap="none" strike="noStrike">
              <a:solidFill>
                <a:schemeClr val="dk1"/>
              </a:solidFill>
              <a:latin typeface="Calibri"/>
              <a:ea typeface="Calibri"/>
              <a:cs typeface="Calibri"/>
              <a:sym typeface="Calibri"/>
            </a:endParaRPr>
          </a:p>
        </p:txBody>
      </p:sp>
      <p:sp>
        <p:nvSpPr>
          <p:cNvPr id="766" name="Google Shape;766;p24"/>
          <p:cNvSpPr/>
          <p:nvPr/>
        </p:nvSpPr>
        <p:spPr>
          <a:xfrm>
            <a:off x="5029200" y="1691640"/>
            <a:ext cx="2148840" cy="731520"/>
          </a:xfrm>
          <a:prstGeom prst="chevron">
            <a:avLst>
              <a:gd fmla="val 50000" name="adj"/>
            </a:avLst>
          </a:prstGeom>
          <a:solidFill>
            <a:srgbClr val="14807E"/>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24"/>
          <p:cNvSpPr txBox="1"/>
          <p:nvPr/>
        </p:nvSpPr>
        <p:spPr>
          <a:xfrm>
            <a:off x="5285232" y="1691640"/>
            <a:ext cx="1636776" cy="7315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INFORMACIÓN</a:t>
            </a:r>
            <a:endParaRPr b="0" i="0" sz="1350" u="none" cap="none" strike="noStrike">
              <a:solidFill>
                <a:schemeClr val="dk1"/>
              </a:solidFill>
              <a:latin typeface="Calibri"/>
              <a:ea typeface="Calibri"/>
              <a:cs typeface="Calibri"/>
              <a:sym typeface="Calibri"/>
            </a:endParaRPr>
          </a:p>
        </p:txBody>
      </p:sp>
      <p:sp>
        <p:nvSpPr>
          <p:cNvPr id="768" name="Google Shape;768;p24"/>
          <p:cNvSpPr txBox="1"/>
          <p:nvPr/>
        </p:nvSpPr>
        <p:spPr>
          <a:xfrm>
            <a:off x="5074920" y="2606040"/>
            <a:ext cx="2057400" cy="12344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E6F0F7"/>
              </a:buClr>
              <a:buSzPts val="1500"/>
              <a:buFont typeface="Calibri"/>
              <a:buNone/>
            </a:pPr>
            <a:r>
              <a:rPr b="0" i="0" lang="en-US" sz="1500" u="none" cap="none" strike="noStrike">
                <a:solidFill>
                  <a:srgbClr val="E6F0F7"/>
                </a:solidFill>
                <a:latin typeface="Calibri"/>
                <a:ea typeface="Calibri"/>
                <a:cs typeface="Calibri"/>
                <a:sym typeface="Calibri"/>
              </a:rPr>
              <a:t>La dirección está en la relación entre ambos componentes</a:t>
            </a:r>
            <a:endParaRPr b="0" i="0" sz="1500" u="none" cap="none" strike="noStrike">
              <a:solidFill>
                <a:schemeClr val="dk1"/>
              </a:solidFill>
              <a:latin typeface="Calibri"/>
              <a:ea typeface="Calibri"/>
              <a:cs typeface="Calibri"/>
              <a:sym typeface="Calibri"/>
            </a:endParaRPr>
          </a:p>
        </p:txBody>
      </p:sp>
      <p:sp>
        <p:nvSpPr>
          <p:cNvPr id="769" name="Google Shape;769;p24"/>
          <p:cNvSpPr/>
          <p:nvPr/>
        </p:nvSpPr>
        <p:spPr>
          <a:xfrm>
            <a:off x="7269480" y="1691640"/>
            <a:ext cx="2148840" cy="731520"/>
          </a:xfrm>
          <a:prstGeom prst="chevron">
            <a:avLst>
              <a:gd fmla="val 50000" name="adj"/>
            </a:avLst>
          </a:prstGeom>
          <a:solidFill>
            <a:srgbClr val="2BB3B1"/>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24"/>
          <p:cNvSpPr txBox="1"/>
          <p:nvPr/>
        </p:nvSpPr>
        <p:spPr>
          <a:xfrm>
            <a:off x="7525512" y="1691640"/>
            <a:ext cx="1636776" cy="7315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RESPUESTA</a:t>
            </a:r>
            <a:endParaRPr b="0" i="0" sz="1350" u="none" cap="none" strike="noStrike">
              <a:solidFill>
                <a:schemeClr val="dk1"/>
              </a:solidFill>
              <a:latin typeface="Calibri"/>
              <a:ea typeface="Calibri"/>
              <a:cs typeface="Calibri"/>
              <a:sym typeface="Calibri"/>
            </a:endParaRPr>
          </a:p>
        </p:txBody>
      </p:sp>
      <p:sp>
        <p:nvSpPr>
          <p:cNvPr id="771" name="Google Shape;771;p24"/>
          <p:cNvSpPr txBox="1"/>
          <p:nvPr/>
        </p:nvSpPr>
        <p:spPr>
          <a:xfrm>
            <a:off x="7315200" y="2606040"/>
            <a:ext cx="2057400" cy="12344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E6F0F7"/>
              </a:buClr>
              <a:buSzPts val="1500"/>
              <a:buFont typeface="Calibri"/>
              <a:buNone/>
            </a:pPr>
            <a:r>
              <a:rPr b="0" i="0" lang="en-US" sz="1500" u="none" cap="none" strike="noStrike">
                <a:solidFill>
                  <a:srgbClr val="E6F0F7"/>
                </a:solidFill>
                <a:latin typeface="Calibri"/>
                <a:ea typeface="Calibri"/>
                <a:cs typeface="Calibri"/>
                <a:sym typeface="Calibri"/>
              </a:rPr>
              <a:t>Varía con la especie, el contexto y la repetición</a:t>
            </a:r>
            <a:endParaRPr b="0" i="0" sz="1500" u="none" cap="none" strike="noStrike">
              <a:solidFill>
                <a:schemeClr val="dk1"/>
              </a:solidFill>
              <a:latin typeface="Calibri"/>
              <a:ea typeface="Calibri"/>
              <a:cs typeface="Calibri"/>
              <a:sym typeface="Calibri"/>
            </a:endParaRPr>
          </a:p>
        </p:txBody>
      </p:sp>
      <p:sp>
        <p:nvSpPr>
          <p:cNvPr id="772" name="Google Shape;772;p24"/>
          <p:cNvSpPr/>
          <p:nvPr/>
        </p:nvSpPr>
        <p:spPr>
          <a:xfrm>
            <a:off x="9509760" y="1691640"/>
            <a:ext cx="2148840" cy="731520"/>
          </a:xfrm>
          <a:prstGeom prst="chevron">
            <a:avLst>
              <a:gd fmla="val 50000" name="adj"/>
            </a:avLst>
          </a:prstGeom>
          <a:solidFill>
            <a:srgbClr val="3A5F80"/>
          </a:solidFill>
          <a:ln cap="flat" cmpd="sng" w="12700">
            <a:solidFill>
              <a:srgbClr val="0B2A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24"/>
          <p:cNvSpPr txBox="1"/>
          <p:nvPr/>
        </p:nvSpPr>
        <p:spPr>
          <a:xfrm>
            <a:off x="9765792" y="1691640"/>
            <a:ext cx="1636776" cy="7315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FFFFFF"/>
              </a:buClr>
              <a:buSzPts val="1350"/>
              <a:buFont typeface="Calibri"/>
              <a:buNone/>
            </a:pPr>
            <a:r>
              <a:rPr b="1" i="0" lang="en-US" sz="1350" u="none" cap="none" strike="noStrike">
                <a:solidFill>
                  <a:srgbClr val="FFFFFF"/>
                </a:solidFill>
                <a:latin typeface="Calibri"/>
                <a:ea typeface="Calibri"/>
                <a:cs typeface="Calibri"/>
                <a:sym typeface="Calibri"/>
              </a:rPr>
              <a:t>APLICACIÓN</a:t>
            </a:r>
            <a:endParaRPr b="0" i="0" sz="1350" u="none" cap="none" strike="noStrike">
              <a:solidFill>
                <a:schemeClr val="dk1"/>
              </a:solidFill>
              <a:latin typeface="Calibri"/>
              <a:ea typeface="Calibri"/>
              <a:cs typeface="Calibri"/>
              <a:sym typeface="Calibri"/>
            </a:endParaRPr>
          </a:p>
        </p:txBody>
      </p:sp>
      <p:sp>
        <p:nvSpPr>
          <p:cNvPr id="774" name="Google Shape;774;p24"/>
          <p:cNvSpPr txBox="1"/>
          <p:nvPr/>
        </p:nvSpPr>
        <p:spPr>
          <a:xfrm>
            <a:off x="9555480" y="2606040"/>
            <a:ext cx="2057400" cy="12344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E6F0F7"/>
              </a:buClr>
              <a:buSzPts val="1500"/>
              <a:buFont typeface="Calibri"/>
              <a:buNone/>
            </a:pPr>
            <a:r>
              <a:rPr b="0" i="0" lang="en-US" sz="1500" u="none" cap="none" strike="noStrike">
                <a:solidFill>
                  <a:srgbClr val="E6F0F7"/>
                </a:solidFill>
                <a:latin typeface="Calibri"/>
                <a:ea typeface="Calibri"/>
                <a:cs typeface="Calibri"/>
                <a:sym typeface="Calibri"/>
              </a:rPr>
              <a:t>Prometedora, demostrada solo en condiciones concretas</a:t>
            </a:r>
            <a:endParaRPr b="0" i="0" sz="1500" u="none" cap="none" strike="noStrike">
              <a:solidFill>
                <a:schemeClr val="dk1"/>
              </a:solidFill>
              <a:latin typeface="Calibri"/>
              <a:ea typeface="Calibri"/>
              <a:cs typeface="Calibri"/>
              <a:sym typeface="Calibri"/>
            </a:endParaRPr>
          </a:p>
        </p:txBody>
      </p:sp>
      <p:sp>
        <p:nvSpPr>
          <p:cNvPr id="775" name="Google Shape;775;p24"/>
          <p:cNvSpPr txBox="1"/>
          <p:nvPr/>
        </p:nvSpPr>
        <p:spPr>
          <a:xfrm>
            <a:off x="548640" y="4114800"/>
            <a:ext cx="11064240" cy="73152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7FD3D1"/>
              </a:buClr>
              <a:buSzPts val="2800"/>
              <a:buFont typeface="Calibri"/>
              <a:buNone/>
            </a:pPr>
            <a:r>
              <a:rPr b="1" i="1" lang="en-US" sz="2800" u="none" cap="none" strike="noStrike">
                <a:solidFill>
                  <a:srgbClr val="7FD3D1"/>
                </a:solidFill>
                <a:latin typeface="Calibri"/>
                <a:ea typeface="Calibri"/>
                <a:cs typeface="Calibri"/>
                <a:sym typeface="Calibri"/>
              </a:rPr>
              <a:t>No existe una «frecuencia universal» que controle a los peces.</a:t>
            </a:r>
            <a:endParaRPr b="0" i="0" sz="2800" u="none" cap="none" strike="noStrike">
              <a:solidFill>
                <a:schemeClr val="dk1"/>
              </a:solidFill>
              <a:latin typeface="Calibri"/>
              <a:ea typeface="Calibri"/>
              <a:cs typeface="Calibri"/>
              <a:sym typeface="Calibri"/>
            </a:endParaRPr>
          </a:p>
        </p:txBody>
      </p:sp>
      <p:sp>
        <p:nvSpPr>
          <p:cNvPr id="776" name="Google Shape;776;p24"/>
          <p:cNvSpPr txBox="1"/>
          <p:nvPr/>
        </p:nvSpPr>
        <p:spPr>
          <a:xfrm>
            <a:off x="548640" y="4983480"/>
            <a:ext cx="11064240" cy="548640"/>
          </a:xfrm>
          <a:prstGeom prst="rect">
            <a:avLst/>
          </a:prstGeom>
          <a:noFill/>
          <a:ln>
            <a:noFill/>
          </a:ln>
        </p:spPr>
        <p:txBody>
          <a:bodyPr anchorCtr="0" anchor="ctr" bIns="625" lIns="625" spcFirstLastPara="1" rIns="625" wrap="square" tIns="625">
            <a:noAutofit/>
          </a:bodyPr>
          <a:lstStyle/>
          <a:p>
            <a:pPr indent="0" lvl="0" marL="0" marR="0" rtl="0" algn="ctr">
              <a:spcBef>
                <a:spcPts val="0"/>
              </a:spcBef>
              <a:spcAft>
                <a:spcPts val="0"/>
              </a:spcAft>
              <a:buClr>
                <a:srgbClr val="DCEBF2"/>
              </a:buClr>
              <a:buSzPts val="1700"/>
              <a:buFont typeface="Calibri"/>
              <a:buNone/>
            </a:pPr>
            <a:r>
              <a:rPr b="0" i="0" lang="en-US" sz="1700" u="none" cap="none" strike="noStrike">
                <a:solidFill>
                  <a:srgbClr val="DCEBF2"/>
                </a:solidFill>
                <a:latin typeface="Calibri"/>
                <a:ea typeface="Calibri"/>
                <a:cs typeface="Calibri"/>
                <a:sym typeface="Calibri"/>
              </a:rPr>
              <a:t>Medir presión y movimiento donde está el pez  ·  informar la métrica  ·  comprobar si la respuesta persiste</a:t>
            </a:r>
            <a:endParaRPr b="0" i="0" sz="1700" u="none" cap="none" strike="noStrike">
              <a:solidFill>
                <a:schemeClr val="dk1"/>
              </a:solidFill>
              <a:latin typeface="Calibri"/>
              <a:ea typeface="Calibri"/>
              <a:cs typeface="Calibri"/>
              <a:sym typeface="Calibri"/>
            </a:endParaRPr>
          </a:p>
        </p:txBody>
      </p:sp>
      <p:sp>
        <p:nvSpPr>
          <p:cNvPr id="777" name="Google Shape;777;p24"/>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A9C1D3"/>
              </a:buClr>
              <a:buSzPts val="1100"/>
              <a:buFont typeface="Calibri"/>
              <a:buNone/>
            </a:pPr>
            <a:r>
              <a:rPr b="0" i="0" lang="en-US" sz="1100" u="none" cap="none" strike="noStrike">
                <a:solidFill>
                  <a:srgbClr val="A9C1D3"/>
                </a:solidFill>
                <a:latin typeface="Calibri"/>
                <a:ea typeface="Calibri"/>
                <a:cs typeface="Calibri"/>
                <a:sym typeface="Calibri"/>
              </a:rPr>
              <a:t>22</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2" name="Shape 782"/>
        <p:cNvGrpSpPr/>
        <p:nvPr/>
      </p:nvGrpSpPr>
      <p:grpSpPr>
        <a:xfrm>
          <a:off x="0" y="0"/>
          <a:ext cx="0" cy="0"/>
          <a:chOff x="0" y="0"/>
          <a:chExt cx="0" cy="0"/>
        </a:xfrm>
      </p:grpSpPr>
      <p:sp>
        <p:nvSpPr>
          <p:cNvPr id="783" name="Google Shape;783;p25"/>
          <p:cNvSpPr txBox="1"/>
          <p:nvPr/>
        </p:nvSpPr>
        <p:spPr>
          <a:xfrm>
            <a:off x="731520" y="1920240"/>
            <a:ext cx="10058400" cy="100584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Gracias</a:t>
            </a:r>
            <a:endParaRPr b="0" i="0" sz="5400" u="none" cap="none" strike="noStrike">
              <a:solidFill>
                <a:schemeClr val="dk1"/>
              </a:solidFill>
              <a:latin typeface="Calibri"/>
              <a:ea typeface="Calibri"/>
              <a:cs typeface="Calibri"/>
              <a:sym typeface="Calibri"/>
            </a:endParaRPr>
          </a:p>
        </p:txBody>
      </p:sp>
      <p:sp>
        <p:nvSpPr>
          <p:cNvPr id="784" name="Google Shape;784;p25"/>
          <p:cNvSpPr txBox="1"/>
          <p:nvPr/>
        </p:nvSpPr>
        <p:spPr>
          <a:xfrm>
            <a:off x="731520" y="2926080"/>
            <a:ext cx="10058400" cy="8229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7FD3D1"/>
              </a:buClr>
              <a:buSzPts val="3600"/>
              <a:buFont typeface="Calibri"/>
              <a:buNone/>
            </a:pPr>
            <a:r>
              <a:rPr b="0" i="0" lang="en-US" sz="3600" u="none" cap="none" strike="noStrike">
                <a:solidFill>
                  <a:srgbClr val="7FD3D1"/>
                </a:solidFill>
                <a:latin typeface="Calibri"/>
                <a:ea typeface="Calibri"/>
                <a:cs typeface="Calibri"/>
                <a:sym typeface="Calibri"/>
              </a:rPr>
              <a:t>¿Preguntas?</a:t>
            </a:r>
            <a:endParaRPr b="0" i="0" sz="3600" u="none" cap="none" strike="noStrike">
              <a:solidFill>
                <a:schemeClr val="dk1"/>
              </a:solidFill>
              <a:latin typeface="Calibri"/>
              <a:ea typeface="Calibri"/>
              <a:cs typeface="Calibri"/>
              <a:sym typeface="Calibri"/>
            </a:endParaRPr>
          </a:p>
        </p:txBody>
      </p:sp>
      <p:sp>
        <p:nvSpPr>
          <p:cNvPr id="785" name="Google Shape;785;p25"/>
          <p:cNvSpPr txBox="1"/>
          <p:nvPr/>
        </p:nvSpPr>
        <p:spPr>
          <a:xfrm>
            <a:off x="731520" y="4114800"/>
            <a:ext cx="10515600" cy="4572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A9C1D3"/>
              </a:buClr>
              <a:buSzPts val="1600"/>
              <a:buFont typeface="Calibri"/>
              <a:buNone/>
            </a:pPr>
            <a:r>
              <a:rPr b="1" i="0" lang="en-US" sz="1600" u="none" cap="none" strike="noStrike">
                <a:solidFill>
                  <a:srgbClr val="A9C1D3"/>
                </a:solidFill>
                <a:latin typeface="Calibri"/>
                <a:ea typeface="Calibri"/>
                <a:cs typeface="Calibri"/>
                <a:sym typeface="Calibri"/>
              </a:rPr>
              <a:t>CAMPO → PERCEPCIÓN → INFORMACIÓN → RESPUESTA → APLICACIÓN</a:t>
            </a:r>
            <a:endParaRPr b="0" i="0" sz="1600" u="none" cap="none" strike="noStrike">
              <a:solidFill>
                <a:schemeClr val="dk1"/>
              </a:solidFill>
              <a:latin typeface="Calibri"/>
              <a:ea typeface="Calibri"/>
              <a:cs typeface="Calibri"/>
              <a:sym typeface="Calibri"/>
            </a:endParaRPr>
          </a:p>
        </p:txBody>
      </p:sp>
      <p:sp>
        <p:nvSpPr>
          <p:cNvPr id="786" name="Google Shape;786;p25"/>
          <p:cNvSpPr txBox="1"/>
          <p:nvPr/>
        </p:nvSpPr>
        <p:spPr>
          <a:xfrm>
            <a:off x="731520" y="5669280"/>
            <a:ext cx="10058400" cy="4114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DCEBF2"/>
              </a:buClr>
              <a:buSzPts val="1500"/>
              <a:buFont typeface="Calibri"/>
              <a:buNone/>
            </a:pPr>
            <a:r>
              <a:rPr b="0" i="0" lang="en-US" sz="1500" u="none" cap="none" strike="noStrike">
                <a:solidFill>
                  <a:srgbClr val="DCEBF2"/>
                </a:solidFill>
                <a:latin typeface="Calibri"/>
                <a:ea typeface="Calibri"/>
                <a:cs typeface="Calibri"/>
                <a:sym typeface="Calibri"/>
              </a:rPr>
              <a:t>Artículo completo disponible a solicitud</a:t>
            </a:r>
            <a:endParaRPr b="0" i="0" sz="1500" u="none" cap="none" strike="noStrike">
              <a:solidFill>
                <a:schemeClr val="dk1"/>
              </a:solidFill>
              <a:latin typeface="Calibri"/>
              <a:ea typeface="Calibri"/>
              <a:cs typeface="Calibri"/>
              <a:sym typeface="Calibri"/>
            </a:endParaRPr>
          </a:p>
        </p:txBody>
      </p:sp>
      <p:sp>
        <p:nvSpPr>
          <p:cNvPr id="787" name="Google Shape;787;p25"/>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A9C1D3"/>
              </a:buClr>
              <a:buSzPts val="1100"/>
              <a:buFont typeface="Calibri"/>
              <a:buNone/>
            </a:pPr>
            <a:r>
              <a:rPr b="0" i="0" lang="en-US" sz="1100" u="none" cap="none" strike="noStrike">
                <a:solidFill>
                  <a:srgbClr val="A9C1D3"/>
                </a:solidFill>
                <a:latin typeface="Calibri"/>
                <a:ea typeface="Calibri"/>
                <a:cs typeface="Calibri"/>
                <a:sym typeface="Calibri"/>
              </a:rPr>
              <a:t>23</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2" name="Shape 792"/>
        <p:cNvGrpSpPr/>
        <p:nvPr/>
      </p:nvGrpSpPr>
      <p:grpSpPr>
        <a:xfrm>
          <a:off x="0" y="0"/>
          <a:ext cx="0" cy="0"/>
          <a:chOff x="0" y="0"/>
          <a:chExt cx="0" cy="0"/>
        </a:xfrm>
      </p:grpSpPr>
      <p:sp>
        <p:nvSpPr>
          <p:cNvPr id="793" name="Google Shape;793;p26"/>
          <p:cNvSpPr txBox="1"/>
          <p:nvPr/>
        </p:nvSpPr>
        <p:spPr>
          <a:xfrm>
            <a:off x="548640" y="320040"/>
            <a:ext cx="11064300" cy="6402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600"/>
              <a:buFont typeface="Calibri"/>
              <a:buNone/>
            </a:pPr>
            <a:r>
              <a:rPr b="1" i="0" lang="en-US" sz="2600" u="none" cap="none" strike="noStrike">
                <a:solidFill>
                  <a:srgbClr val="0B2A4A"/>
                </a:solidFill>
                <a:latin typeface="Calibri"/>
                <a:ea typeface="Calibri"/>
                <a:cs typeface="Calibri"/>
                <a:sym typeface="Calibri"/>
              </a:rPr>
              <a:t>Referencias (1/2)</a:t>
            </a:r>
            <a:endParaRPr b="0" i="0" sz="2600" u="none" cap="none" strike="noStrike">
              <a:solidFill>
                <a:schemeClr val="dk1"/>
              </a:solidFill>
              <a:latin typeface="Calibri"/>
              <a:ea typeface="Calibri"/>
              <a:cs typeface="Calibri"/>
              <a:sym typeface="Calibri"/>
            </a:endParaRPr>
          </a:p>
        </p:txBody>
      </p:sp>
      <p:sp>
        <p:nvSpPr>
          <p:cNvPr id="794" name="Google Shape;794;p26"/>
          <p:cNvSpPr txBox="1"/>
          <p:nvPr/>
        </p:nvSpPr>
        <p:spPr>
          <a:xfrm>
            <a:off x="548640" y="1051560"/>
            <a:ext cx="11064300" cy="5257800"/>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Alves, D., Amorim, M. C. P., &amp; Fonseca, P. J. (2025). The swimbladder does not enhance hearing in the Lusitanian toadfish. Marine Biology, 172(8), Artículo 131. https://doi.org/10.1007/s00227-025-04693-6</a:t>
            </a:r>
            <a:endParaRPr b="0" i="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Boulais, O., Thode, A., Pickering, C., Levy, N., Schar, D., Reichert, J., Maldonado, T., Madin, J., Levy, J., &amp; R3D Consortium. (2026). Autonomous cameras reveal larval reef fish responses to acoustic enrichment and lunar phase. Scientific Reports, 16(1), Artículo 21200. https://doi.org/10.1038/s41598-026-57857-9</a:t>
            </a:r>
            <a:endParaRPr b="0" i="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Clark, M. A., Waples, E., Radford, A. N., Simpson, S. D., &amp; Ioannou, C. C. (2025). Group personality, rather than acoustic noise, causes variation in group decision-making in guppy shoals. Scientific Reports, 15(1), Artículo 18801. https://doi.org/10.1038/s41598-025-03225-y</a:t>
            </a:r>
            <a:endParaRPr b="0" i="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Cresci, A., Zhang, G., Durif, C. M. F., Larsen, T., Shema, S., Skiftesvik, A. B., &amp; Browman, H. I. (2023). Atlantic cod (Gadus morhua) larvae are attracted by low-frequency noise simulating that of operating offshore wind farms. Communications Biology, 6(1), Artículo 353. https://doi.org/10.1038/s42003-023-04728-y</a:t>
            </a:r>
            <a:endParaRPr b="0" i="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Currie, H. A. L., White, P. R., Leighton, T. G., &amp; Kemp, P. S. (2025). Masking noise reduces the anti-predator-like response to an acoustic stimulus: Application of signal detection theory to fish behaviour. PLOS ONE, 20(7), Artículo e0327092. https://doi.org/10.1371/journal.pone.0327092</a:t>
            </a:r>
            <a:endParaRPr b="0" i="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Gordon, T. A. C., Harding, H. R., Wong, K. E., Merchant, N. D., Meekan, M. G., McCormick, M. I., Radford, A. N., &amp; Simpson, S. D. (2018). Habitat degradation negatively affects auditory settlement behavior of coral reef fishes. Proceedings of the National Academy of Sciences, 115(20), 5193–5198. https://doi.org/10.1073/pnas.1719291115</a:t>
            </a:r>
            <a:endParaRPr b="0" i="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Gordon, T. A. C., Radford, A. N., Davidson, I. K., Barnes, K., McCloskey, K., Nedelec, S. L., Meekan, M. G., McCormick, M. I., &amp; Simpson, S. D. (2019). Acoustic enrichment can enhance fish community development on degraded coral reef habitat. Nature Communications, 10(1), Artículo 5414. https://doi.org/10.1038/s41467-019-13186-2</a:t>
            </a:r>
            <a:endParaRPr b="0" i="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Holgate, A., White, P. R., Leighton, T. G., &amp; Kemp, P. (2024). Adopting a reductionist approach to advance acoustic deterrents in fish conservation. Frontiers in Freshwater Science, 2, Artículo 1320582. https://doi.org/10.3389/ffwsc.2024.1320582</a:t>
            </a:r>
            <a:endParaRPr b="0" i="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Holgate, A., White, P. R., Leighton, T. G., &amp; Kemp, P. S. (2023). Applying appropriate frequency criteria to advance acoustic behavioural guidance systems for fish. Scientific Reports, 13(1), Artículo 8075. https://doi.org/10.1038/s41598-023-33423-5</a:t>
            </a:r>
            <a:endParaRPr b="0" i="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Holmes, R. B., Hamilton, N. M., Simpson, S. D., &amp; Herbert-Read, J. E. (2025). Lionfish (Pterois volitans) do not show directional preferences for ambient underwater soundscapes during diurnal hours. Marine Biology, 172(1), Artículo 9. https://doi.org/10.1007/s00227-024-04554-8</a:t>
            </a:r>
            <a:endParaRPr b="0" i="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McCormick, M. I., Fakan, E. P., Nedelec, S. L., &amp; Allan, B. J. M. (2019). Effects of boat noise on fish fast-start escape response depend on engine type. Scientific Reports, 9(1), Artículo 6554. https://doi.org/10.1038/s41598-019-43099-5</a:t>
            </a:r>
            <a:endParaRPr b="0" i="0" sz="1050" u="none" cap="none" strike="noStrike">
              <a:solidFill>
                <a:schemeClr val="dk1"/>
              </a:solidFill>
              <a:latin typeface="Calibri"/>
              <a:ea typeface="Calibri"/>
              <a:cs typeface="Calibri"/>
              <a:sym typeface="Calibri"/>
            </a:endParaRPr>
          </a:p>
        </p:txBody>
      </p:sp>
      <p:sp>
        <p:nvSpPr>
          <p:cNvPr id="795" name="Google Shape;795;p26"/>
          <p:cNvSpPr txBox="1"/>
          <p:nvPr/>
        </p:nvSpPr>
        <p:spPr>
          <a:xfrm>
            <a:off x="548640" y="6382512"/>
            <a:ext cx="10241400" cy="29250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Formato APA 7 · referencias verificadas del artículo</a:t>
            </a:r>
            <a:endParaRPr b="0" i="0" sz="1200" u="none" cap="none" strike="noStrike">
              <a:solidFill>
                <a:schemeClr val="dk1"/>
              </a:solidFill>
              <a:latin typeface="Calibri"/>
              <a:ea typeface="Calibri"/>
              <a:cs typeface="Calibri"/>
              <a:sym typeface="Calibri"/>
            </a:endParaRPr>
          </a:p>
        </p:txBody>
      </p:sp>
      <p:sp>
        <p:nvSpPr>
          <p:cNvPr id="796" name="Google Shape;796;p26"/>
          <p:cNvSpPr txBox="1"/>
          <p:nvPr/>
        </p:nvSpPr>
        <p:spPr>
          <a:xfrm>
            <a:off x="11201400" y="6382512"/>
            <a:ext cx="457200" cy="292500"/>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29</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1" name="Shape 801"/>
        <p:cNvGrpSpPr/>
        <p:nvPr/>
      </p:nvGrpSpPr>
      <p:grpSpPr>
        <a:xfrm>
          <a:off x="0" y="0"/>
          <a:ext cx="0" cy="0"/>
          <a:chOff x="0" y="0"/>
          <a:chExt cx="0" cy="0"/>
        </a:xfrm>
      </p:grpSpPr>
      <p:sp>
        <p:nvSpPr>
          <p:cNvPr id="802" name="Google Shape;802;p27"/>
          <p:cNvSpPr txBox="1"/>
          <p:nvPr/>
        </p:nvSpPr>
        <p:spPr>
          <a:xfrm>
            <a:off x="548640" y="320040"/>
            <a:ext cx="11064240" cy="64008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0B2A4A"/>
              </a:buClr>
              <a:buSzPts val="2600"/>
              <a:buFont typeface="Calibri"/>
              <a:buNone/>
            </a:pPr>
            <a:r>
              <a:rPr b="1" i="0" lang="en-US" sz="2600" u="none" cap="none" strike="noStrike">
                <a:solidFill>
                  <a:srgbClr val="0B2A4A"/>
                </a:solidFill>
                <a:latin typeface="Calibri"/>
                <a:ea typeface="Calibri"/>
                <a:cs typeface="Calibri"/>
                <a:sym typeface="Calibri"/>
              </a:rPr>
              <a:t>Referencias (2/2)</a:t>
            </a:r>
            <a:endParaRPr b="0" i="0" sz="2600" u="none" cap="none" strike="noStrike">
              <a:solidFill>
                <a:schemeClr val="dk1"/>
              </a:solidFill>
              <a:latin typeface="Calibri"/>
              <a:ea typeface="Calibri"/>
              <a:cs typeface="Calibri"/>
              <a:sym typeface="Calibri"/>
            </a:endParaRPr>
          </a:p>
        </p:txBody>
      </p:sp>
      <p:sp>
        <p:nvSpPr>
          <p:cNvPr id="803" name="Google Shape;803;p27"/>
          <p:cNvSpPr txBox="1"/>
          <p:nvPr/>
        </p:nvSpPr>
        <p:spPr>
          <a:xfrm>
            <a:off x="548640" y="1051560"/>
            <a:ext cx="11064240" cy="5257800"/>
          </a:xfrm>
          <a:prstGeom prst="rect">
            <a:avLst/>
          </a:prstGeom>
          <a:noFill/>
          <a:ln>
            <a:noFill/>
          </a:ln>
        </p:spPr>
        <p:txBody>
          <a:bodyPr anchorCtr="0" anchor="t" bIns="625" lIns="625" spcFirstLastPara="1" rIns="625" wrap="square" tIns="625">
            <a:noAutofit/>
          </a:bodyPr>
          <a:lstStyle/>
          <a:p>
            <a:pPr indent="0" lvl="0" marL="0" marR="0" rtl="0" algn="l">
              <a:spcBef>
                <a:spcPts val="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Meekan, M. G., Speed, C. W., McCauley, R. D., Fisher, R., Birt, M. J., Currey-Randall, L. M., Semmens, J. M., Newman, S. J., Cure, K., Stowar, M., Vaughan, B., &amp; Parsons, M. J. G. (2021). A large-scale experiment finds no evidence that a seismic survey impacts a demersal fish fauna. Proceedings of the National Academy of Sciences, 118(30), Artículo e2100869118. https://doi.org/10.1073/pnas.2100869118</a:t>
            </a:r>
            <a:endParaRPr b="0" i="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Nedelec, S. L., Campbell, J., Radford, A. N., Simpson, S. D., &amp; Merchant, N. D. (2016). Particle motion: The missing link in underwater acoustic ecology. Methods in Ecology and Evolution, 7(7), 836–842. https://doi.org/10.1111/2041-210X.12544</a:t>
            </a:r>
            <a:endParaRPr b="0" i="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Page, M. J., McKenzie, J. E., Bossuyt, P. M., Boutron, I., Hoffmann, T. C., Mulrow, C. D., Shamseer, L., Tetzlaff, J. M., Akl, E. A., Brennan, S. E., Chou, R., Glanville, J., Grimshaw, J. M., Hróbjartsson, A., Lalu, M. M., Li, T., Loder, E. W., Mayo-Wilson, E., McDonald, S., . . . Moher, D. (2021). The PRISMA 2020 statement: An updated guideline for reporting systematic reviews. BMJ, 372, Artículo n71. https://doi.org/10.1136/bmj.n71</a:t>
            </a:r>
            <a:endParaRPr b="0" i="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Schulz-Mirbach, T., Metscher, B., &amp; Ladich, F. (2012). Relationship between swim bladder morphology and hearing abilities—A case study on Asian and African cichlids. PLoS ONE, 7(8), Artículo e42292. https://doi.org/10.1371/journal.pone.0042292</a:t>
            </a:r>
            <a:endParaRPr b="0" i="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Simpson, S. D., Radford, A. N., Nedelec, S. L., Ferrari, M. C. O., Chivers, D. P., McCormick, M. I., &amp; Meekan, M. G. (2016). Anthropogenic noise increases fish mortality by predation. Nature Communications, 7(1), Artículo 10544. https://doi.org/10.1038/ncomms10544</a:t>
            </a:r>
            <a:endParaRPr b="0" i="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Veith, J., Chaigne, T., Svanidze, A., Dressler, L. E., Hoffmann, M., Gerhardt, B., &amp; Judkewitz, B. (2024). The mechanism for directional hearing in fish. Nature, 631(8019), 118–124. https://doi.org/10.1038/s41586-024-07507-9</a:t>
            </a:r>
            <a:endParaRPr b="0" i="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Velasquez Jimenez, L., Fakan, E. P., &amp; McCormick, M. I. (2020). Vessel noise affects routine swimming and escape response of a coral reef fish. PLOS ONE, 15(7), Artículo e0235742. https://doi.org/10.1371/journal.pone.0235742</a:t>
            </a:r>
            <a:endParaRPr b="0" i="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Vetter, B. J., Brey, M. K., &amp; Mensinger, A. F. (2018). Reexamining the frequency range of hearing in silver (Hypophthalmichthys molitrix) and bighead (H. nobilis) carp. PLOS ONE, 13(3), Artículo e0192561. https://doi.org/10.1371/journal.pone.0192561</a:t>
            </a:r>
            <a:endParaRPr b="0" i="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Voellmy, I. K., Purser, J., Simpson, S. D., &amp; Radford, A. N. (2014). Increased noise levels have different impacts on the anti-predator behaviour of two sympatric fish species. PLoS ONE, 9(7), Artículo e102946. https://doi.org/10.1371/journal.pone.0102946</a:t>
            </a:r>
            <a:endParaRPr b="0" i="0" sz="10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B2B3A"/>
              </a:buClr>
              <a:buSzPts val="1050"/>
              <a:buFont typeface="Calibri"/>
              <a:buNone/>
            </a:pPr>
            <a:r>
              <a:rPr b="0" i="0" lang="en-US" sz="1050" u="none" cap="none" strike="noStrike">
                <a:solidFill>
                  <a:srgbClr val="1B2B3A"/>
                </a:solidFill>
                <a:latin typeface="Calibri"/>
                <a:ea typeface="Calibri"/>
                <a:cs typeface="Calibri"/>
                <a:sym typeface="Calibri"/>
              </a:rPr>
              <a:t>Zielinski, D. P., &amp; Sorensen, P. W. (2017). Silver, bighead, and common carp orient to acoustic particle motion when avoiding a complex sound. PLOS ONE, 12(6), Artículo e0180110. https://doi.org/10.1371/journal.pone.0180110</a:t>
            </a:r>
            <a:endParaRPr b="0" i="0" sz="1050" u="none" cap="none" strike="noStrike">
              <a:solidFill>
                <a:schemeClr val="dk1"/>
              </a:solidFill>
              <a:latin typeface="Calibri"/>
              <a:ea typeface="Calibri"/>
              <a:cs typeface="Calibri"/>
              <a:sym typeface="Calibri"/>
            </a:endParaRPr>
          </a:p>
        </p:txBody>
      </p:sp>
      <p:sp>
        <p:nvSpPr>
          <p:cNvPr id="804" name="Google Shape;804;p27"/>
          <p:cNvSpPr txBox="1"/>
          <p:nvPr/>
        </p:nvSpPr>
        <p:spPr>
          <a:xfrm>
            <a:off x="548640" y="6382512"/>
            <a:ext cx="10241280" cy="29260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5A6B7B"/>
              </a:buClr>
              <a:buSzPts val="1200"/>
              <a:buFont typeface="Calibri"/>
              <a:buNone/>
            </a:pPr>
            <a:r>
              <a:rPr b="0" i="1" lang="en-US" sz="1200" u="none" cap="none" strike="noStrike">
                <a:solidFill>
                  <a:srgbClr val="5A6B7B"/>
                </a:solidFill>
                <a:latin typeface="Calibri"/>
                <a:ea typeface="Calibri"/>
                <a:cs typeface="Calibri"/>
                <a:sym typeface="Calibri"/>
              </a:rPr>
              <a:t>Formato APA 7 · referencias verificadas del artículo</a:t>
            </a:r>
            <a:endParaRPr b="0" i="0" sz="1200" u="none" cap="none" strike="noStrike">
              <a:solidFill>
                <a:schemeClr val="dk1"/>
              </a:solidFill>
              <a:latin typeface="Calibri"/>
              <a:ea typeface="Calibri"/>
              <a:cs typeface="Calibri"/>
              <a:sym typeface="Calibri"/>
            </a:endParaRPr>
          </a:p>
        </p:txBody>
      </p:sp>
      <p:sp>
        <p:nvSpPr>
          <p:cNvPr id="805" name="Google Shape;805;p27"/>
          <p:cNvSpPr txBox="1"/>
          <p:nvPr/>
        </p:nvSpPr>
        <p:spPr>
          <a:xfrm>
            <a:off x="11201400" y="6382512"/>
            <a:ext cx="457200" cy="292608"/>
          </a:xfrm>
          <a:prstGeom prst="rect">
            <a:avLst/>
          </a:prstGeom>
          <a:noFill/>
          <a:ln>
            <a:noFill/>
          </a:ln>
        </p:spPr>
        <p:txBody>
          <a:bodyPr anchorCtr="0" anchor="ctr" bIns="625" lIns="625" spcFirstLastPara="1" rIns="625" wrap="square" tIns="625">
            <a:noAutofit/>
          </a:bodyPr>
          <a:lstStyle/>
          <a:p>
            <a:pPr indent="0" lvl="0" marL="0" marR="0" rtl="0" algn="r">
              <a:spcBef>
                <a:spcPts val="0"/>
              </a:spcBef>
              <a:spcAft>
                <a:spcPts val="0"/>
              </a:spcAft>
              <a:buClr>
                <a:srgbClr val="5A6B7B"/>
              </a:buClr>
              <a:buSzPts val="1100"/>
              <a:buFont typeface="Calibri"/>
              <a:buNone/>
            </a:pPr>
            <a:r>
              <a:rPr b="0" i="0" lang="en-US" sz="1100" u="none" cap="none" strike="noStrike">
                <a:solidFill>
                  <a:srgbClr val="5A6B7B"/>
                </a:solidFill>
                <a:latin typeface="Calibri"/>
                <a:ea typeface="Calibri"/>
                <a:cs typeface="Calibri"/>
                <a:sym typeface="Calibri"/>
              </a:rPr>
              <a:t>30</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