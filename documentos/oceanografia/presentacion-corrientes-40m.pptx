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A92881A-C2CB-4D3E-B84A-95C91AE57FA1}">
  <a:tblStyle styleId="{AA92881A-C2CB-4D3E-B84A-95C91AE57FA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0:30</a:t>
            </a:r>
            <a:br>
              <a:rPr lang="en-US"/>
            </a:br>
            <a:br>
              <a:rPr lang="en-US"/>
            </a:br>
            <a:r>
              <a:rPr lang="en-US"/>
              <a:t>QUÉ EXPLICAR: Presenta el título completo y a los integrantes. Anuncia en una frase de qué trata: cómo se relacionó el viento con la diferencia entre la corriente de superficie y la de 40 m frente al Perú, durante dos semanas de agosto de 2026.</a:t>
            </a:r>
            <a:br>
              <a:rPr lang="en-US"/>
            </a:br>
            <a:br>
              <a:rPr lang="en-US"/>
            </a:br>
            <a:r>
              <a:rPr lang="en-US"/>
              <a:t>CONEXIÓN CON LA DIAPOSITIVA ANTERIOR: Es la apertura. Adelanta que la exposición seguirá una lógica de investigación: problema, datos, patrón, pruebas, interpretación, límites y conclusión.</a:t>
            </a:r>
            <a:br>
              <a:rPr lang="en-US"/>
            </a:br>
            <a:br>
              <a:rPr lang="en-US"/>
            </a:br>
            <a:r>
              <a:rPr lang="en-US"/>
              <a:t>SIGNIFICADO FÍSICO: Todavía no hay resultados. Solo deja claro que estudiamos la estructura vertical de la corriente en los primeros 40 m del océano.</a:t>
            </a:r>
            <a:br>
              <a:rPr lang="en-US"/>
            </a:br>
            <a:br>
              <a:rPr lang="en-US"/>
            </a:br>
            <a:r>
              <a:rPr lang="en-US"/>
              <a:t>CIFRA PARA RECORDAR: Ninguna. Menciona solo el periodo (17–30 de agosto de 2026) y el área (ZEE del Perú).</a:t>
            </a:r>
            <a:br>
              <a:rPr lang="en-US"/>
            </a:br>
            <a:br>
              <a:rPr lang="en-US"/>
            </a:br>
            <a:r>
              <a:rPr lang="en-US"/>
              <a:t>NO AFIRMAR: No anticipes que 'el viento causa' nada. El mapa de la derecha es la ZEE reconstruida geométricamente, no el polígono oficial; si alguien lo pregunta, lo explicas en la diapositiva 4.</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0:50 (acumulado 1:20)</a:t>
            </a:r>
            <a:br>
              <a:rPr lang="en-US"/>
            </a:br>
            <a:br>
              <a:rPr lang="en-US"/>
            </a:br>
            <a:r>
              <a:rPr lang="en-US"/>
              <a:t>QUÉ EXPLICAR: Plantea el problema sin estadística. Señala los dos mapas: a la izquierda la superficie, a la derecha 40.34 m, el mismo día. Pide al público que compare: en superficie hay un chorro intenso hacia el oeste en el norte (≈ 6–7°S) que a 40 m casi no existe; a 40 m se ven remolinos.</a:t>
            </a:r>
            <a:br>
              <a:rPr lang="en-US"/>
            </a:br>
            <a:br>
              <a:rPr lang="en-US"/>
            </a:br>
            <a:r>
              <a:rPr lang="en-US"/>
              <a:t>CONEXIÓN CON LA DIAPOSITIVA ANTERIOR: Viene de la portada: aquí aparece por primera vez la idea de 'dos profundidades'.</a:t>
            </a:r>
            <a:br>
              <a:rPr lang="en-US"/>
            </a:br>
            <a:br>
              <a:rPr lang="en-US"/>
            </a:br>
            <a:r>
              <a:rPr lang="en-US"/>
              <a:t>SIGNIFICADO FÍSICO: La corriente a 40 m no es una versión debilitada de la superficial. En el Sistema de Humboldt hay flujo superficial hacia el ecuador y, bajo él, la Subcorriente Perú-Chile hacia el polo (Brink et al., 1983; Chaigneau et al., 2013). Por eso ambas profundidades pueden responder a procesos distintos. El viento actúa directamente en la superficie; la pregunta es cuánto de su efecto llega a 40 m.</a:t>
            </a:r>
            <a:br>
              <a:rPr lang="en-US"/>
            </a:br>
            <a:br>
              <a:rPr lang="en-US"/>
            </a:br>
            <a:r>
              <a:rPr lang="en-US"/>
              <a:t>CIFRA PARA RECORDAR: Los dos niveles: 0.49 m y 40.34 m (el '40 m' es el nivel del modelo a 40.344 m).</a:t>
            </a:r>
            <a:br>
              <a:rPr lang="en-US"/>
            </a:br>
            <a:br>
              <a:rPr lang="en-US"/>
            </a:br>
            <a:r>
              <a:rPr lang="en-US"/>
              <a:t>NO AFIRMAR: No digas que El Niño Costero explica el patrón: solo es contexto. No digas que el viento 'produce' la diferencia; eso es lo que vamos a evaluar.</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0:50 (acumulado 2:10)</a:t>
            </a:r>
            <a:br>
              <a:rPr lang="en-US"/>
            </a:br>
            <a:br>
              <a:rPr lang="en-US"/>
            </a:br>
            <a:r>
              <a:rPr lang="en-US"/>
              <a:t>QUÉ EXPLICAR: Lee la pregunta completa una sola vez. Resume el objetivo en una frase. Presenta H1–H3 muy brevemente: cada una es una predicción que después podremos contrastar.</a:t>
            </a:r>
            <a:br>
              <a:rPr lang="en-US"/>
            </a:br>
            <a:br>
              <a:rPr lang="en-US"/>
            </a:br>
            <a:r>
              <a:rPr lang="en-US"/>
              <a:t>CONEXIÓN CON LA DIAPOSITIVA ANTERIOR: La diapositiva anterior dejó una intuición (las dos profundidades difieren). Aquí la convertimos en una pregunta formal y en predicciones verificables.</a:t>
            </a:r>
            <a:br>
              <a:rPr lang="en-US"/>
            </a:br>
            <a:br>
              <a:rPr lang="en-US"/>
            </a:br>
            <a:r>
              <a:rPr lang="en-US"/>
              <a:t>SIGNIFICADO FÍSICO: H1 viene de la idea de que el viento entrega cantidad de movimiento a una capa superficial. H2 viene de que la estratificación limita hasta dónde llega esa cantidad de movimiento. H3 reconoce que la corriente también la mueven gradientes de presión (geostrofía) y ondas que viajan a lo largo de la costa.</a:t>
            </a:r>
            <a:br>
              <a:rPr lang="en-US"/>
            </a:br>
            <a:br>
              <a:rPr lang="en-US"/>
            </a:br>
            <a:r>
              <a:rPr lang="en-US"/>
              <a:t>CIFRA PARA RECORDAR: Tres hipótesis; se evalúan en la diapositiva 17.</a:t>
            </a:r>
            <a:br>
              <a:rPr lang="en-US"/>
            </a:br>
            <a:br>
              <a:rPr lang="en-US"/>
            </a:br>
            <a:r>
              <a:rPr lang="en-US"/>
              <a:t>NO AFIRMAR: No presentes las hipótesis como resultados. Recalca que no se reescribieron después de ver los datos: eso evita el sesgo de ajustar la hipótesis al resultado (HARKing).</a:t>
            </a:r>
            <a:endParaRPr/>
          </a:p>
        </p:txBody>
      </p:sp>
      <p:sp>
        <p:nvSpPr>
          <p:cNvPr id="38" name="Google Shape;3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0:50 (acumulado 3:00)</a:t>
            </a:r>
            <a:br>
              <a:rPr lang="en-US"/>
            </a:br>
            <a:br>
              <a:rPr lang="en-US"/>
            </a:br>
            <a:r>
              <a:rPr lang="en-US"/>
              <a:t>QUÉ EXPLICAR: Muestra el dominio: la ZEE del Perú y los tres sectores (norte 3.39–7°S, centro 7–12°S, sur 12–20.21°S). Explica que todas las series son promedios diarios sobre estas celdas, ponderados por el coseno de la latitud.</a:t>
            </a:r>
            <a:br>
              <a:rPr lang="en-US"/>
            </a:br>
            <a:br>
              <a:rPr lang="en-US"/>
            </a:br>
            <a:r>
              <a:rPr lang="en-US"/>
              <a:t>CONEXIÓN CON LA DIAPOSITIVA ANTERIOR: Ya sabemos qué preguntamos; ahora dónde y cuándo.</a:t>
            </a:r>
            <a:br>
              <a:rPr lang="en-US"/>
            </a:br>
            <a:br>
              <a:rPr lang="en-US"/>
            </a:br>
            <a:r>
              <a:rPr lang="en-US"/>
              <a:t>SIGNIFICADO FÍSICO: La latitud importa porque la geometría de la costa, la plataforma, la mesoescala y la intensidad del viento cambian de norte a sur. Dividir en sectores permite ver si la relación viento–corriente es igual en todo el Perú. En el sur, al sur de 18.35°S, la ZEE incluye una franja puramente oceánica por el límite marítimo con Chile.</a:t>
            </a:r>
            <a:br>
              <a:rPr lang="en-US"/>
            </a:br>
            <a:br>
              <a:rPr lang="en-US"/>
            </a:br>
            <a:r>
              <a:rPr lang="en-US"/>
              <a:t>CIFRA PARA RECORDAR: 14 días; 10 194 celdas oceánicas (≈ 853 mil km²).</a:t>
            </a:r>
            <a:br>
              <a:rPr lang="en-US"/>
            </a:br>
            <a:br>
              <a:rPr lang="en-US"/>
            </a:br>
            <a:r>
              <a:rPr lang="en-US"/>
              <a:t>NO AFIRMAR: No digas que usaste la máscara oficial de Marine Regions: no se pudo descargar y se reconstruyó con reglas geométricas; su extensión coincide con la oficial dentro de una celda, pero puede diferir en bordes, y la franja 20.0–20.21°S quedó fuera del área descargada. Tampoco digas que la división en sectores prueba diferencias entre ellos.</a:t>
            </a:r>
            <a:endParaRPr/>
          </a:p>
        </p:txBody>
      </p:sp>
      <p:sp>
        <p:nvSpPr>
          <p:cNvPr id="64" name="Google Shape;6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0:50 (acumulado 3:50)</a:t>
            </a:r>
            <a:br>
              <a:rPr lang="en-US"/>
            </a:br>
            <a:br>
              <a:rPr lang="en-US"/>
            </a:br>
            <a:r>
              <a:rPr lang="en-US"/>
              <a:t>QUÉ EXPLICAR: Recorre las cuatro tarjetas de izquierda a derecha diciendo para qué sirvió cada variable, no solo qué es. Corrientes → D; T y S → capa de mezcla; nivel del mar → geostrofía y señal costera; viento → forzamiento.</a:t>
            </a:r>
            <a:br>
              <a:rPr lang="en-US"/>
            </a:br>
            <a:br>
              <a:rPr lang="en-US"/>
            </a:br>
            <a:r>
              <a:rPr lang="en-US"/>
              <a:t>CONEXIÓN CON LA DIAPOSITIVA ANTERIOR: Después de dónde y cuándo, ahora con qué.</a:t>
            </a:r>
            <a:br>
              <a:rPr lang="en-US"/>
            </a:br>
            <a:br>
              <a:rPr lang="en-US"/>
            </a:br>
            <a:r>
              <a:rPr lang="en-US"/>
              <a:t>SIGNIFICADO FÍSICO: Las corrientes, T, S y nivel del mar vienen de un modelo numérico que incorpora observaciones (asimilación): es la mejor reconstrucción disponible del océano, pero no una medición. El esfuerzo del viento (τ) es la fuerza por unidad de área que el viento ejerce sobre el mar; es lo que entra en las ecuaciones del océano, por eso se usa en lugar de la rapidez del viento. El recuadro naranja es el punto metodológico más importante: ambos productos derivan de ECMWF, así que una correlación viento–corriente es en parte interna al sistema modelado.</a:t>
            </a:r>
            <a:br>
              <a:rPr lang="en-US"/>
            </a:br>
            <a:br>
              <a:rPr lang="en-US"/>
            </a:br>
            <a:r>
              <a:rPr lang="en-US"/>
              <a:t>CIFRA PARA RECORDAR: Resolución 1/12° para el océano y 0.125° para el viento; 17 niveles entre 0.49 y 40.34 m.</a:t>
            </a:r>
            <a:br>
              <a:rPr lang="en-US"/>
            </a:br>
            <a:br>
              <a:rPr lang="en-US"/>
            </a:br>
            <a:r>
              <a:rPr lang="en-US"/>
              <a:t>NO AFIRMAR: No llames 'observaciones' a las corrientes. No digas que la correlación viento–corriente es una confirmación independiente del océano real. Detalle técnico si preguntan: el viento horario se promedió por día y se interpoló a la grilla de 1/12°; el nivel del mar usado (sea_surface_height) no contiene marea.</a:t>
            </a:r>
            <a:endParaRPr/>
          </a:p>
        </p:txBody>
      </p:sp>
      <p:sp>
        <p:nvSpPr>
          <p:cNvPr id="90" name="Google Shape;9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1:00 (acumulado 4:50)</a:t>
            </a:r>
            <a:br>
              <a:rPr lang="en-US"/>
            </a:br>
            <a:br>
              <a:rPr lang="en-US"/>
            </a:br>
            <a:r>
              <a:rPr lang="en-US"/>
              <a:t>QUÉ EXPLICAR: Presenta la ecuación y tradúcela de inmediato con el esquema: dibuja con el dedo el vector de superficie (azul), el de 40 m (naranja) y la flecha discontinua que une sus puntas: esa longitud es D. Insiste en que D es una magnitud (m s⁻¹) y en que se calcula celda por celda antes de promediar.</a:t>
            </a:r>
            <a:br>
              <a:rPr lang="en-US"/>
            </a:br>
            <a:br>
              <a:rPr lang="en-US"/>
            </a:br>
            <a:r>
              <a:rPr lang="en-US"/>
              <a:t>CONEXIÓN CON LA DIAPOSITIVA ANTERIOR: Ya tenemos los datos; ahora la variable que resume la pregunta 'se mueven igual o no'.</a:t>
            </a:r>
            <a:br>
              <a:rPr lang="en-US"/>
            </a:br>
            <a:br>
              <a:rPr lang="en-US"/>
            </a:br>
            <a:r>
              <a:rPr lang="en-US"/>
              <a:t>SIGNIFICADO FÍSICO: D es una cizalla vertical 'bulk' entre superficie y 40 m: no dice en qué parte de la columna ocurre el cambio, solo cuánto difieren los extremos. El orden importa: si promediáramos primero los vectores en el espacio, corrientes de distinta dirección se cancelarían y D saldría artificialmente pequeño. La ponderación por cos(latitud) corrige que en una grilla en grados las celdas cubren menos área hacia el polo. Recuerda también la definición de τ al pie: es la variable dinámica que entra en las ecuaciones, a diferencia de la rapidez del viento.</a:t>
            </a:r>
            <a:br>
              <a:rPr lang="en-US"/>
            </a:br>
            <a:br>
              <a:rPr lang="en-US"/>
            </a:br>
            <a:r>
              <a:rPr lang="en-US"/>
              <a:t>CIFRA PARA RECORDAR: D media de la ZEE en el periodo: 0.142 m s⁻¹ (entre 0.108 y 0.205 m s⁻¹).</a:t>
            </a:r>
            <a:br>
              <a:rPr lang="en-US"/>
            </a:br>
            <a:br>
              <a:rPr lang="en-US"/>
            </a:br>
            <a:r>
              <a:rPr lang="en-US"/>
              <a:t>NO AFIRMAR: No llames a D 'cizalla de Ekman' ni 'cizalla causada por el viento'. Tampoco digas que D mide la respuesta a 40 m: depende sobre todo de lo que ocurre en superficie.</a:t>
            </a:r>
            <a:endParaRP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0:50 (acumulado 5:40)</a:t>
            </a:r>
            <a:br>
              <a:rPr lang="en-US"/>
            </a:br>
            <a:br>
              <a:rPr lang="en-US"/>
            </a:br>
            <a:r>
              <a:rPr lang="en-US"/>
              <a:t>QUÉ EXPLICAR: Compara los dos perfiles de la izquierda: el 19 de agosto (azul) la rapidez cae mucho con la profundidad; el 22 (naranja) casi no cambia. Luego señala la serie de arriba a la derecha: la línea azul (superficie) tiene un pico el 19 y la naranja (40.34 m) es casi plana.</a:t>
            </a:r>
            <a:br>
              <a:rPr lang="en-US"/>
            </a:br>
            <a:br>
              <a:rPr lang="en-US"/>
            </a:br>
            <a:r>
              <a:rPr lang="en-US"/>
              <a:t>CONEXIÓN CON LA DIAPOSITIVA ANTERIOR: Acabamos de definir D; aquí vemos en los datos crudos qué la hace grande o pequeña.</a:t>
            </a:r>
            <a:br>
              <a:rPr lang="en-US"/>
            </a:br>
            <a:br>
              <a:rPr lang="en-US"/>
            </a:br>
            <a:r>
              <a:rPr lang="en-US"/>
              <a:t>SIGNIFICADO FÍSICO: La diferencia entre profundidades no es fija: aparece con fuerza en unos días y casi desaparece en otros. Lo que cambia es sobre todo la superficie; la corriente a 40.34 m es comparativamente estable. Eso ya sugiere que D refleja principalmente lo que pasa arriba.</a:t>
            </a:r>
            <a:br>
              <a:rPr lang="en-US"/>
            </a:br>
            <a:br>
              <a:rPr lang="en-US"/>
            </a:br>
            <a:r>
              <a:rPr lang="en-US"/>
              <a:t>CIFRA PARA RECORDAR: 19 ago: 0.265 m s⁻¹ en superficie frente a 0.175 m s⁻¹ a 40.34 m. 22 ago: 0.191 frente a 0.178 m s⁻¹.</a:t>
            </a:r>
            <a:br>
              <a:rPr lang="en-US"/>
            </a:br>
            <a:br>
              <a:rPr lang="en-US"/>
            </a:br>
            <a:r>
              <a:rPr lang="en-US"/>
              <a:t>NO AFIRMAR: No digas todavía que el viento causó el pico del 19: aquí solo describimos. No generalices a 'la corriente a 40 m no responde nunca': solo en esta ventana y en promedio espacial.</a:t>
            </a:r>
            <a:endParaRPr/>
          </a:p>
        </p:txBody>
      </p:sp>
      <p:sp>
        <p:nvSpPr>
          <p:cNvPr id="146" name="Google Shape;14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1:40 (acumulado 7:20)</a:t>
            </a:r>
            <a:br>
              <a:rPr lang="en-US"/>
            </a:br>
            <a:br>
              <a:rPr lang="en-US"/>
            </a:br>
            <a:r>
              <a:rPr lang="en-US"/>
              <a:t>QUÉ EXPLICAR: Es la diapositiva central. Explica el gráfico: eje x, esfuerzo del viento medio del día; eje y, D media del día. Los puntos suben juntos: días de más viento (18, 19, 20) arriba a la derecha; días calmos (22, 23) abajo a la izquierda. Da la cifra r = 0.917 y tradúcela: una relación lineal estrecha. Luego el contraste: la rapidez a 40.34 m no se relacionó con τ el mismo día (r = 0.12).</a:t>
            </a:r>
            <a:br>
              <a:rPr lang="en-US"/>
            </a:br>
            <a:br>
              <a:rPr lang="en-US"/>
            </a:br>
            <a:r>
              <a:rPr lang="en-US"/>
              <a:t>CONEXIÓN CON LA DIAPOSITIVA ANTERIOR: En la diapositiva anterior vimos que el 19 (mucho viento) la superficie y 40 m diferían mucho y el 22 (poco viento) casi nada. Aquí lo comprobamos con los 14 días.</a:t>
            </a:r>
            <a:br>
              <a:rPr lang="en-US"/>
            </a:br>
            <a:br>
              <a:rPr lang="en-US"/>
            </a:br>
            <a:r>
              <a:rPr lang="en-US"/>
              <a:t>SIGNIFICADO FÍSICO: Si D sube con τ pero la corriente a 40 m no cambia con τ, la diferencia viene de la parte de arriba. Es lo esperable si el viento entrega cantidad de movimiento a una capa superficial. Pero el mismo gráfico sería compatible con otras cosas que covarían con el viento (por ejemplo, ambos productos comparten ECMWF). r = 0.917 significa que D y τ varían de forma muy parecida día a día; r² ≈ 0.84 sería la fracción de la varianza de D que acompaña linealmente a τ en esta muestra, no la fracción 'causada' por el viento.</a:t>
            </a:r>
            <a:br>
              <a:rPr lang="en-US"/>
            </a:br>
            <a:br>
              <a:rPr lang="en-US"/>
            </a:br>
            <a:r>
              <a:rPr lang="en-US"/>
              <a:t>CIFRA PARA RECORDAR: r = 0.917 (Spearman 0.86); τ–rapidez a 40.34 m: r = 0.12. Pico de τ: 0.157 N m⁻² el 19 de agosto.</a:t>
            </a:r>
            <a:br>
              <a:rPr lang="en-US"/>
            </a:br>
            <a:br>
              <a:rPr lang="en-US"/>
            </a:br>
            <a:r>
              <a:rPr lang="en-US"/>
              <a:t>NO AFIRMAR: No digas 'el viento causó' ni 'el viento explica el 84 %'. No digas que la corriente superficial total explica la relación: τ–rapidez superficial (r = 0.87) resultó no robusta (diapositiva siguiente). Si preguntan por los desfases: con τ adelantado 1–2 días la relación con 40 m sube a ~0.5, pero con n = 12–13 es exploratorio, no concluyente.</a:t>
            </a:r>
            <a:endParaRPr/>
          </a:p>
        </p:txBody>
      </p:sp>
      <p:sp>
        <p:nvSpPr>
          <p:cNvPr id="162" name="Google Shape;16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1:30 (acumulado 8:50)</a:t>
            </a:r>
            <a:br>
              <a:rPr lang="en-US"/>
            </a:br>
            <a:br>
              <a:rPr lang="en-US"/>
            </a:br>
            <a:r>
              <a:rPr lang="en-US"/>
              <a:t>QUÉ EXPLICAR: Explica por qué un r alto no basta con 14 días, y presenta cada control en una frase: (1) n_eff: cuántos datos independientes hay en realidad; (2) Ebisuzaki: ¿qué tan fácil es obtener r = 0.917 por azar con series igual de 'suaves'?; (3) bootstrap por bloques: rango plausible de r remuestreando trozos de días consecutivos; (4) quitar el evento de viento y usar cambios diarios. Termina con el gráfico: τ–D tiene un intervalo estrecho y positivo; τ–rapidez superficial no.</a:t>
            </a:r>
            <a:br>
              <a:rPr lang="en-US"/>
            </a:br>
            <a:br>
              <a:rPr lang="en-US"/>
            </a:br>
            <a:r>
              <a:rPr lang="en-US"/>
              <a:t>CONEXIÓN CON LA DIAPOSITIVA ANTERIOR: Acabamos de ver r = 0.917. Aquí intentamos romper ese número.</a:t>
            </a:r>
            <a:br>
              <a:rPr lang="en-US"/>
            </a:br>
            <a:br>
              <a:rPr lang="en-US"/>
            </a:br>
            <a:r>
              <a:rPr lang="en-US"/>
              <a:t>SIGNIFICADO FÍSICO: La autocorrelación hace que días vecinos cuenten casi como un solo dato; con n_eff ≈ 7.3 el test de Pearson es menos generoso, y aun así p = 0.003. Ebisuzaki genera 10 000 series sintéticas con el mismo espectro de potencia (misma 'memoria') pero fases aleatorias; solo una fracción de 4×10⁻⁴ alcanzó una correlación tan alta. El bootstrap por bloques conserva la dependencia entre días consecutivos. Que la relación siga en 0.75 sin el 18–20 de agosto y en 0.87 con primeras diferencias indica que no depende solo del gran evento de viento ni de una tendencia común. En cambio, τ–rapidez superficial cae a 0.40 sin ese evento: depende de pocos días extremos.</a:t>
            </a:r>
            <a:br>
              <a:rPr lang="en-US"/>
            </a:br>
            <a:br>
              <a:rPr lang="en-US"/>
            </a:br>
            <a:r>
              <a:rPr lang="en-US"/>
              <a:t>CIFRA PARA RECORDAR: n_eff ≈ 7.3; p Ebisuzaki = 4.0×10⁻⁴; IC bootstrap 0.66–0.98; sin 18–20 ago r = 0.75; leave-one-out 0.82–0.94.</a:t>
            </a:r>
            <a:br>
              <a:rPr lang="en-US"/>
            </a:br>
            <a:br>
              <a:rPr lang="en-US"/>
            </a:br>
            <a:r>
              <a:rPr lang="en-US"/>
              <a:t>NO AFIRMAR: No digas que la robustez prueba causalidad: solo dice que la covariación no es un artefacto de la autocorrelación. No digas que el intervalo bootstrap es exacto: con 14 días solo hay 11–13 bloques posibles. No digas que τ–rapidez superficial es robusta.</a:t>
            </a:r>
            <a:endParaRPr/>
          </a:p>
        </p:txBody>
      </p:sp>
      <p:sp>
        <p:nvSpPr>
          <p:cNvPr id="185" name="Google Shape;18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0:50 (acumulado 9:40)</a:t>
            </a:r>
            <a:br>
              <a:rPr lang="en-US"/>
            </a:br>
            <a:br>
              <a:rPr lang="en-US"/>
            </a:br>
            <a:r>
              <a:rPr lang="en-US"/>
              <a:t>QUÉ EXPLICAR: Muestra los tres paneles: en el norte y el sur los puntos siguen una recta; en el centro están dispersos. Da los tres coeficientes. Aclara que los intervalos bootstrap se superponen, así que hablamos de heterogeneidad, no de diferencias demostradas.</a:t>
            </a:r>
            <a:br>
              <a:rPr lang="en-US"/>
            </a:br>
            <a:br>
              <a:rPr lang="en-US"/>
            </a:br>
            <a:r>
              <a:rPr lang="en-US"/>
              <a:t>CONEXIÓN CON LA DIAPOSITIVA ANTERIOR: La relación era robusta para la ZEE en conjunto. ¿Es igual en todas las latitudes?</a:t>
            </a:r>
            <a:br>
              <a:rPr lang="en-US"/>
            </a:br>
            <a:br>
              <a:rPr lang="en-US"/>
            </a:br>
            <a:r>
              <a:rPr lang="en-US"/>
              <a:t>SIGNIFICADO FÍSICO: El norte tuvo la mayor D media (0.225 m s⁻¹) y el sur la menor (0.101 m s⁻¹). En los tres sectores τ se relacionó con la rapidez superficial (0.82–0.90 en Tabla 3 del artículo) y apenas con la de 40.34 m (0.05–0.20). Lo que falla en el centro es la conexión τ–D. Adelanta que las próximas diapositivas (capa de mezcla y geostrofía) ofrecen dos rasgos del centro que podrían explicarlo.</a:t>
            </a:r>
            <a:br>
              <a:rPr lang="en-US"/>
            </a:br>
            <a:br>
              <a:rPr lang="en-US"/>
            </a:br>
            <a:r>
              <a:rPr lang="en-US"/>
              <a:t>CIFRA PARA RECORDAR: Norte 0.92, centro 0.40, sur 0.79. En el norte n_eff ≈ 3.7, muy pequeño.</a:t>
            </a:r>
            <a:br>
              <a:rPr lang="en-US"/>
            </a:br>
            <a:br>
              <a:rPr lang="en-US"/>
            </a:br>
            <a:r>
              <a:rPr lang="en-US"/>
              <a:t>NO AFIRMAR: No digas que el centro es 'significativamente diferente' de los otros sectores: no se hizo una prueba formal de igualdad de coeficientes y los intervalos se superponen. No sobreinterpretes el norte: su n_eff es ≈ 3.7.</a:t>
            </a:r>
            <a:endParaRPr/>
          </a:p>
        </p:txBody>
      </p:sp>
      <p:sp>
        <p:nvSpPr>
          <p:cNvPr id="212" name="Google Shape;21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1:00 (acumulado 10:40)</a:t>
            </a:r>
            <a:br>
              <a:rPr lang="en-US"/>
            </a:br>
            <a:br>
              <a:rPr lang="en-US"/>
            </a:br>
            <a:r>
              <a:rPr lang="en-US"/>
              <a:t>QUÉ EXPLICAR: Introduce la MLD con el esquema. Columna izquierda: capa de mezcla somera; la línea naranja de 40 m queda debajo, en agua estratificada. Columna derecha: la mezcla llega más abajo de 40 m, así que ambos niveles están en la misma capa. Explica en una frase cómo se calculó (umbral de densidad) y que las celdas donde la mezcla supera 40.34 m no reciben un valor numérico, solo la etiqueta 'MLD ≥ 40.34 m'.</a:t>
            </a:r>
            <a:br>
              <a:rPr lang="en-US"/>
            </a:br>
            <a:br>
              <a:rPr lang="en-US"/>
            </a:br>
            <a:r>
              <a:rPr lang="en-US"/>
              <a:t>CONEXIÓN CON LA DIAPOSITIVA ANTERIOR: Vimos que la relación τ–D cambia entre sectores. Una razón física posible es dónde queda el nivel de 40 m respecto de la capa que el viento puede mezclar.</a:t>
            </a:r>
            <a:br>
              <a:rPr lang="en-US"/>
            </a:br>
            <a:br>
              <a:rPr lang="en-US"/>
            </a:br>
            <a:r>
              <a:rPr lang="en-US"/>
              <a:t>SIGNIFICADO FÍSICO: La estratificación funciona como un freno para transmitir cantidad de movimiento hacia abajo. Si la capa de mezcla es somera, la respuesta al viento se concentra arriba y la superficie se 'desacopla' de 40 m: D crece. Si la capa es profunda, el movimiento se reparte en toda la capa y ambos niveles se parecen (Price y Sundermeyer, 1999). El criterio Δσ₀ = 0.03 kg m⁻³ respecto de 10 m es el de de Boyer Montégut et al. (2004); se probó también 0.01 y 0.125 kg m⁻³.</a:t>
            </a:r>
            <a:br>
              <a:rPr lang="en-US"/>
            </a:br>
            <a:br>
              <a:rPr lang="en-US"/>
            </a:br>
            <a:r>
              <a:rPr lang="en-US"/>
              <a:t>CIFRA PARA RECORDAR: 78 % del área con MLD &lt; 40.34 m (61–87 % según el día); mediana ≈ 24 m donde pudo determinarse.</a:t>
            </a:r>
            <a:br>
              <a:rPr lang="en-US"/>
            </a:br>
            <a:br>
              <a:rPr lang="en-US"/>
            </a:br>
            <a:r>
              <a:rPr lang="en-US"/>
              <a:t>NO AFIRMAR: No digas que 40 m es una frontera física: es un nivel del modelo. No digas que la MLD es 'la profundidad hasta donde llega el viento' de forma exacta: es un indicador. Si preguntan por la literatura: Xue et al. (2022) describen capas de mezcla profundas en invierno austral frente al Perú; aquí el modelo dio mayormente capas someras, y no podemos decidir si es escala, región o sesgo del modelo.</a:t>
            </a:r>
            <a:endParaRPr/>
          </a:p>
        </p:txBody>
      </p:sp>
      <p:sp>
        <p:nvSpPr>
          <p:cNvPr id="238" name="Google Shape;23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1:50 (acumulado 12:30)</a:t>
            </a:r>
            <a:br>
              <a:rPr lang="en-US"/>
            </a:br>
            <a:br>
              <a:rPr lang="en-US"/>
            </a:br>
            <a:r>
              <a:rPr lang="en-US"/>
              <a:t>QUÉ EXPLICAR: Primero el gráfico: en norte y centro la línea azul (capa somera) está siempre muy por encima de la naranja (capa profunda) y es la que tiene el pico del 19 de agosto; la naranja es casi plana. En el sur la diferencia es menor. Luego las dos cifras grandes: dentro de las celdas someras τ y D se correlacionan 0.97; en las profundas, 0.15. Finalmente, la tabla por sector y los límites.</a:t>
            </a:r>
            <a:br>
              <a:rPr lang="en-US"/>
            </a:br>
            <a:br>
              <a:rPr lang="en-US"/>
            </a:br>
            <a:r>
              <a:rPr lang="en-US"/>
              <a:t>CONEXIÓN CON LA DIAPOSITIVA ANTERIOR: La diapositiva anterior planteó la idea; esta la contrasta con los datos. Es la evidencia principal para H2.</a:t>
            </a:r>
            <a:br>
              <a:rPr lang="en-US"/>
            </a:br>
            <a:br>
              <a:rPr lang="en-US"/>
            </a:br>
            <a:r>
              <a:rPr lang="en-US"/>
              <a:t>SIGNIFICADO FÍSICO: Donde 40.34 m queda bajo la capa de mezcla, D es aproximadamente el doble y sube y baja con el viento; donde la mezcla alcanza 40.34 m, D es baja y casi no cambia. Es coherente con la idea de que la estratificación decide hasta dónde llega la respuesta al viento. Por eso la interpretamos como un 'modulador estructural': importa dónde está la capa de mezcla más que cuánto cambia de un día a otro. Dato de apoyo para el centro: dentro de sus celdas someras la relación τ–D es 0.93, tan alta como en otros sectores; su r regional bajo se debe en parte a que mezcla celdas que responden con celdas que no.</a:t>
            </a:r>
            <a:br>
              <a:rPr lang="en-US"/>
            </a:br>
            <a:br>
              <a:rPr lang="en-US"/>
            </a:br>
            <a:r>
              <a:rPr lang="en-US"/>
              <a:t>CIFRA PARA RECORDAR: r(τ, D) = 0.97 (somera) frente a 0.15 (profunda). D: 0.16 frente a 0.09 m s⁻¹ en la ZEE; norte 0.24 vs 0.12; centro 0.20 vs 0.09; sur 0.11 vs 0.08. Contraste en 14/14, 14/14 y 13/14 días; se mantiene con umbrales 0.01 y 0.125 kg m⁻³.</a:t>
            </a:r>
            <a:br>
              <a:rPr lang="en-US"/>
            </a:br>
            <a:br>
              <a:rPr lang="en-US"/>
            </a:br>
            <a:r>
              <a:rPr lang="en-US"/>
              <a:t>NO AFIRMAR: No digas que la MLD 'controla' o 'causa' D. Hay tres confusiones: las celdas someras están más cerca de la costa y tienen corrientes más rápidas (si D se divide por la rapidez superficial, el contraste se mantiene solo en 8–11 de 14 días); qué celdas forman cada clase cambia cada día; y el viento intenso redujo el área somera (r = −0.51 en la ZEE, −0.77 en el centro), así que viento, MLD y D no son independientes.</a:t>
            </a:r>
            <a:endParaRPr/>
          </a:p>
        </p:txBody>
      </p:sp>
      <p:sp>
        <p:nvSpPr>
          <p:cNvPr id="272" name="Google Shape;27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1:50 (acumulado 14:20)</a:t>
            </a:r>
            <a:br>
              <a:rPr lang="en-US"/>
            </a:br>
            <a:br>
              <a:rPr lang="en-US"/>
            </a:br>
            <a:r>
              <a:rPr lang="en-US"/>
              <a:t>QUÉ EXPLICAR: Explica el razonamiento en tres pasos. (1) Una parte de la corriente superficial no la mueve el viento directamente sino la pendiente del nivel del mar: es la corriente geostrófica, que sale del equilibrio entre Coriolis y el gradiente de presión. (2) La estimamos con el nivel del mar diario y se la restamos a la corriente superficial: lo que queda es el residuo. (3) Comparamos ambas partes con el viento. Mapa (b): las flechas negras del residuo apuntan a la izquierda de las naranjas (viento).</a:t>
            </a:r>
            <a:br>
              <a:rPr lang="en-US"/>
            </a:br>
            <a:br>
              <a:rPr lang="en-US"/>
            </a:br>
            <a:r>
              <a:rPr lang="en-US"/>
              <a:t>CONEXIÓN CON LA DIAPOSITIVA ANTERIOR: La MLD nos dijo dónde aparece la diferenciación; ahora buscamos qué parte de la corriente la produce.</a:t>
            </a:r>
            <a:br>
              <a:rPr lang="en-US"/>
            </a:br>
            <a:br>
              <a:rPr lang="en-US"/>
            </a:br>
            <a:r>
              <a:rPr lang="en-US"/>
              <a:t>SIGNIFICADO FÍSICO: La corriente geostrófica tuvo una rapidez media (0.17 m s⁻¹) comparable a la total (0.20 m s⁻¹), pero casi no siguió al viento (r = 0.41). El residuo sí (r = 0.94), y esa correlación vino casi toda de su componente perpendicular a la izquierda del viento (r = 0.95); la paralela apenas se relacionó (0.14). D siguió al residuo (0.97) mucho más que a la rapidez superficial total (0.83; Spearman 0.49). En el hemisferio sur, Coriolis desvía el movimiento a la izquierda: una capa de Ekman clásica da 45° en superficie y 90° para el transporte integrado; 60–70° es intermedio, compatible con una capa de Ekman de profundidad finita o estratificada (Price y Sundermeyer, 1999). Excepción: en el centro la geostrofía sí covarió con τ (r = 0.78) y la relación τ–residuo fue menor (0.71).</a:t>
            </a:r>
            <a:br>
              <a:rPr lang="en-US"/>
            </a:br>
            <a:br>
              <a:rPr lang="en-US"/>
            </a:br>
            <a:r>
              <a:rPr lang="en-US"/>
              <a:t>CIFRA PARA RECORDAR: τ vs residuo r = 0.94; D vs residuo r = 0.97; ángulo mediano 62° (cuartiles 42–81°), norte 70°, centro 58°, sur 62°; a la izquierda en el 96 % de los casos ponderados por |τ|.</a:t>
            </a:r>
            <a:br>
              <a:rPr lang="en-US"/>
            </a:br>
            <a:br>
              <a:rPr lang="en-US"/>
            </a:br>
            <a:r>
              <a:rPr lang="en-US"/>
              <a:t>NO AFIRMAR: No digas 'demostramos Ekman' ni llames al residuo 'corriente de Ekman': incluye oscilaciones inerciales (con medias diarias no se eliminan, porque a estas latitudes su periodo supera 2 días), errores de suavizado y de gradiente (mayores cerca del ecuador, donde f es pequeño) y la respuesta interna del modelo a su forzamiento ECMWF. Los ángulos no cambiaron con el suavizado, el borde excluido ni al quitar 3.39–5°S.</a:t>
            </a:r>
            <a:endParaRPr/>
          </a:p>
        </p:txBody>
      </p:sp>
      <p:sp>
        <p:nvSpPr>
          <p:cNvPr id="298" name="Google Shape;29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0:50 (acumulado 15:10)</a:t>
            </a:r>
            <a:br>
              <a:rPr lang="en-US"/>
            </a:br>
            <a:br>
              <a:rPr lang="en-US"/>
            </a:br>
            <a:r>
              <a:rPr lang="en-US"/>
              <a:t>QUÉ EXPLICAR: Presenta la tabla como un diagnóstico diferencial médico: para cada mecanismo, qué evidencia hay y en qué estado queda. No leas todas las celdas: destaca la columna 'Estado' y los colores (verde = compatible, naranja = ambiguo, gris = sin evidencia suficiente).</a:t>
            </a:r>
            <a:br>
              <a:rPr lang="en-US"/>
            </a:br>
            <a:br>
              <a:rPr lang="en-US"/>
            </a:br>
            <a:r>
              <a:rPr lang="en-US"/>
              <a:t>CONEXIÓN CON LA DIAPOSITIVA ANTERIOR: Hasta ahora la historia 'viento → respuesta superficial → D' parece coherente. Antes de aceptarla, buscamos qué otras explicaciones podrían producir el mismo patrón.</a:t>
            </a:r>
            <a:br>
              <a:rPr lang="en-US"/>
            </a:br>
            <a:br>
              <a:rPr lang="en-US"/>
            </a:br>
            <a:r>
              <a:rPr lang="en-US"/>
              <a:t>SIGNIFICADO FÍSICO: La geostrofía importa sobre todo en el centro, donde además la relación τ–D fue débil (Huyer et al., 1987 documentaron frente al Perú un caso en que un gradiente de presión dominó sobre la respuesta al viento). La mesoescala es frecuente frente a Chimbote (~9°S) y al sur de 15°S (Chaigneau et al., 2008) y puede generar diferencias superficie–40 m sin relación con el viento del día; aquí no se cuantificó. El peso relativo del viento local y de las CTW cambia con la latitud y la escala temporal (Echevin et al., 2014). La CTW se analiza en la siguiente diapositiva.</a:t>
            </a:r>
            <a:br>
              <a:rPr lang="en-US"/>
            </a:br>
            <a:br>
              <a:rPr lang="en-US"/>
            </a:br>
            <a:r>
              <a:rPr lang="en-US"/>
              <a:t>CIFRA PARA RECORDAR: Seis mecanismos evaluados; solo el primero queda 'respaldado como asociación'.</a:t>
            </a:r>
            <a:br>
              <a:rPr lang="en-US"/>
            </a:br>
            <a:br>
              <a:rPr lang="en-US"/>
            </a:br>
            <a:r>
              <a:rPr lang="en-US"/>
              <a:t>NO AFIRMAR: No digas que descartamos la geostrofía, la mesoescala ni las CTW: ninguno quedó descartado, solo evaluado con distinto nivel de evidencia. No digas que la tabla demuestra Ekman.</a:t>
            </a:r>
            <a:endParaRPr/>
          </a:p>
        </p:txBody>
      </p:sp>
      <p:sp>
        <p:nvSpPr>
          <p:cNvPr id="322" name="Google Shape;32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1:10 (acumulado 16:20)</a:t>
            </a:r>
            <a:br>
              <a:rPr lang="en-US"/>
            </a:br>
            <a:br>
              <a:rPr lang="en-US"/>
            </a:br>
            <a:r>
              <a:rPr lang="en-US"/>
              <a:t>QUÉ EXPLICAR: Define una CTW en una frase. En el diagrama (a): el eje vertical es la latitud a lo largo de la costa y el horizontal el tiempo; el nivel del mar pasa de negativo (azul, 18–21 ago) a positivo (rojo, desde el 23). Si hubiera una onda limpia veríamos una franja inclinada con pendiente constante. Aquí el cambio es casi vertical (simultáneo), y la línea discontinua de la regresión implica ≈ 23 m s⁻¹, muy por encima de lo documentado. Luego lee los criterios a favor y en contra y da el veredicto.</a:t>
            </a:r>
            <a:br>
              <a:rPr lang="en-US"/>
            </a:br>
            <a:br>
              <a:rPr lang="en-US"/>
            </a:br>
            <a:r>
              <a:rPr lang="en-US"/>
              <a:t>CONEXIÓN CON LA DIAPOSITIVA ANTERIOR: En la tabla anterior la CTW era la alternativa más seria documentada frente al Perú; aquí mostramos cómo la pusimos a prueba.</a:t>
            </a:r>
            <a:br>
              <a:rPr lang="en-US"/>
            </a:br>
            <a:br>
              <a:rPr lang="en-US"/>
            </a:br>
            <a:r>
              <a:rPr lang="en-US"/>
              <a:t>SIGNIFICADO FÍSICO: Las CTW están bien documentadas frente al Perú (Romea y Smith, 1983; Pietri et al., 2014; Lüdke et al., 2020) con velocidades del orden de 1–4 m s⁻¹ (Illig et al., 2018: 3.6 ± 0.8 m s⁻¹ el primer modo y 1.5 ± 0.2 el segundo). Exigimos tres cosas: desfase positivo consistente, velocidad coherente entre pares y configuraciones, y que la señal no se explique por el viento local. Solo se cumplió la primera. La subida del nivel costero 1–2 días después del debilitamiento del viento es lo esperable si, al disminuir el viento favorable a la surgencia, se reduce el transporte hacia afuera de la costa y el agua se acumula junto a ella. Con 14 días no se puede separar esa respuesta local de una CTW remota, ni de una CTW generada por el propio viento.</a:t>
            </a:r>
            <a:br>
              <a:rPr lang="en-US"/>
            </a:br>
            <a:br>
              <a:rPr lang="en-US"/>
            </a:br>
            <a:r>
              <a:rPr lang="en-US"/>
              <a:t>CIFRA PARA RECORDAR: Desfases positivos en ≥ 12/13 pares (A y B); desfase mediano 16–23 h según configuración; velocidades por pares 4.0–5.9 m s⁻¹ (A, B) y 2.5–3.1 m s⁻¹ solo con la anomalía C; regresión con r² de 0.08 a 0.42.</a:t>
            </a:r>
            <a:br>
              <a:rPr lang="en-US"/>
            </a:br>
            <a:br>
              <a:rPr lang="en-US"/>
            </a:br>
            <a:r>
              <a:rPr lang="en-US"/>
              <a:t>NO AFIRMAR: No des una velocidad de onda ni un modo como resultado; no uses la velocidad del análisis exploratorio anterior, que no se reprodujo. No digas que no hay CTW: decimos que la evidencia es ambigua. No digas que las CTW afectaron la corriente a 40 m: ese efecto no se evaluó.</a:t>
            </a:r>
            <a:endParaRPr/>
          </a:p>
        </p:txBody>
      </p:sp>
      <p:sp>
        <p:nvSpPr>
          <p:cNvPr id="335" name="Google Shape;33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1:40 (acumulado 18:00)</a:t>
            </a:r>
            <a:br>
              <a:rPr lang="en-US"/>
            </a:br>
            <a:br>
              <a:rPr lang="en-US"/>
            </a:br>
            <a:r>
              <a:rPr lang="en-US"/>
              <a:t>QUÉ EXPLICAR: Recorre el esquema de arriba abajo por el eje central: viento → respuesta superficial no geostrófica → D. Luego la caja izquierda: la capa de mezcla modula cuánto de esa respuesta se convierte en diferencia con 40 m. Finalmente la caja derecha: todo eso ocurre sobre un fondo de geostrofía, diferencias regionales, variabilidad costera y remolinos que no pudimos separar. Cierra con el mensaje.</a:t>
            </a:r>
            <a:br>
              <a:rPr lang="en-US"/>
            </a:br>
            <a:br>
              <a:rPr lang="en-US"/>
            </a:br>
            <a:r>
              <a:rPr lang="en-US"/>
              <a:t>CONEXIÓN CON LA DIAPOSITIVA ANTERIOR: Es la síntesis de las diapositivas 8 a 15: cada caja lleva la cifra que la sostiene.</a:t>
            </a:r>
            <a:br>
              <a:rPr lang="en-US"/>
            </a:br>
            <a:br>
              <a:rPr lang="en-US"/>
            </a:br>
            <a:r>
              <a:rPr lang="en-US"/>
              <a:t>SIGNIFICADO FÍSICO: La lectura más coherente es: en esta ventana, la diferenciación superficie–40 m se asoció con una parte de la corriente superficial que no está en equilibrio geostrófico, que se orienta a la izquierda del viento y que se hace visible donde 40 m queda por debajo de la capa de mezcla. Eso es compatible con una dinámica tipo Ekman en una capa estratificada. Pero la corriente también tiene una parte geostrófica de magnitud comparable, el centro se comporta distinto, y la variabilidad costera del nivel del mar no se pudo atribuir ni al viento local ni a una onda remota.</a:t>
            </a:r>
            <a:br>
              <a:rPr lang="en-US"/>
            </a:br>
            <a:br>
              <a:rPr lang="en-US"/>
            </a:br>
            <a:r>
              <a:rPr lang="en-US"/>
              <a:t>CIFRA PARA RECORDAR: Las tres del eje: 0.94 (τ–residuo), 0.917 (τ–D), 0.97 (D–residuo); y el contraste 0.97 frente a 0.15 por MLD.</a:t>
            </a:r>
            <a:br>
              <a:rPr lang="en-US"/>
            </a:br>
            <a:br>
              <a:rPr lang="en-US"/>
            </a:br>
            <a:r>
              <a:rPr lang="en-US"/>
              <a:t>NO AFIRMAR: No leas las flechas como causalidad; son el orden físico plausible de una interpretación. No digas que el viento es la explicación exclusiva, ni que El Niño Costero es la causa del patrón.</a:t>
            </a:r>
            <a:endParaRPr/>
          </a:p>
        </p:txBody>
      </p:sp>
      <p:sp>
        <p:nvSpPr>
          <p:cNvPr id="354" name="Google Shape;35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0:50 (acumulado 18:50)</a:t>
            </a:r>
            <a:br>
              <a:rPr lang="en-US"/>
            </a:br>
            <a:br>
              <a:rPr lang="en-US"/>
            </a:br>
            <a:r>
              <a:rPr lang="en-US"/>
              <a:t>QUÉ EXPLICAR: Para cada hipótesis: di el veredicto y la razón en una frase. Dedica más tiempo a H1, porque su matiz es el hallazgo más interesante.</a:t>
            </a:r>
            <a:br>
              <a:rPr lang="en-US"/>
            </a:br>
            <a:br>
              <a:rPr lang="en-US"/>
            </a:br>
            <a:r>
              <a:rPr lang="en-US"/>
              <a:t>CONEXIÓN CON LA DIAPOSITIVA ANTERIOR: Después del esquema integrado, volvemos a las predicciones que hicimos al inicio (diapositiva 3).</a:t>
            </a:r>
            <a:br>
              <a:rPr lang="en-US"/>
            </a:br>
            <a:br>
              <a:rPr lang="en-US"/>
            </a:br>
            <a:r>
              <a:rPr lang="en-US"/>
              <a:t>SIGNIFICADO FÍSICO: H1 se cumple a medias: τ y D sí se asociaron fuerte y robustamente, pero no por la 'circulación superficial en su conjunto' (la rapidez superficial total dependió del evento del 17–20 de agosto) sino por su parte no geostrófica. H2 se cumple como contraste espacial (dónde es somera la capa), no como relación en el tiempo (cuándo se hace somera). H3 se cumple en parte: la geostrofía y la heterogeneidad regional muestran que el viento no explica todo, pero no pudimos demostrar el papel de las CTW.</a:t>
            </a:r>
            <a:br>
              <a:rPr lang="en-US"/>
            </a:br>
            <a:br>
              <a:rPr lang="en-US"/>
            </a:br>
            <a:r>
              <a:rPr lang="en-US"/>
              <a:t>CIFRA PARA RECORDAR: H1 parcialmente respaldada; H2 respaldada como contraste espacial; H3 respaldada en parte.</a:t>
            </a:r>
            <a:br>
              <a:rPr lang="en-US"/>
            </a:br>
            <a:br>
              <a:rPr lang="en-US"/>
            </a:br>
            <a:r>
              <a:rPr lang="en-US"/>
              <a:t>NO AFIRMAR: No digas 'se confirmaron las tres hipótesis'. No cambies la redacción de las hipótesis originales para que encajen.</a:t>
            </a:r>
            <a:endParaRPr/>
          </a:p>
        </p:txBody>
      </p:sp>
      <p:sp>
        <p:nvSpPr>
          <p:cNvPr id="380" name="Google Shape;380;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2" name="Google Shape;41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0:40 (acumulado 19:30)</a:t>
            </a:r>
            <a:br>
              <a:rPr lang="en-US"/>
            </a:br>
            <a:br>
              <a:rPr lang="en-US"/>
            </a:br>
            <a:r>
              <a:rPr lang="en-US"/>
              <a:t>QUÉ EXPLICAR: No leas las ocho tarjetas. Agrúpalas en voz alta: (a) muestra: 1; (b) datos: 2, 3 y 4; (c) interpretación: 5, 6 y 7; (d) contexto: 8. Menciona también que la ZEE es una reconstrucción geométrica y que la mesoescala no se cuantificó.</a:t>
            </a:r>
            <a:br>
              <a:rPr lang="en-US"/>
            </a:br>
            <a:br>
              <a:rPr lang="en-US"/>
            </a:br>
            <a:r>
              <a:rPr lang="en-US"/>
              <a:t>CONEXIÓN CON LA DIAPOSITIVA ANTERIOR: Acabamos de evaluar las hipótesis; aquí decimos qué tan lejos se puede llevar esa evaluación.</a:t>
            </a:r>
            <a:br>
              <a:rPr lang="en-US"/>
            </a:br>
            <a:br>
              <a:rPr lang="en-US"/>
            </a:br>
            <a:r>
              <a:rPr lang="en-US"/>
              <a:t>SIGNIFICADO FÍSICO: La limitación más profunda es la 3: si el modelo oceánico y el viento comparten ECMWF, parte de la asociación es la respuesta interna del modelo a su propio forzamiento. Además, el documento de calidad del producto indica que el modelo subestima las corrientes superficiales débiles y que su termoclina en zonas de surgencia es demasiado profunda (Copernicus Marine Service, 2025). La 8 recuerda que el periodo estuvo bajo Alerta de El Niño Costero (ENFEN, 2026a, 2026b), pero sin un año neutral no hay comparación posible.</a:t>
            </a:r>
            <a:br>
              <a:rPr lang="en-US"/>
            </a:br>
            <a:br>
              <a:rPr lang="en-US"/>
            </a:br>
            <a:r>
              <a:rPr lang="en-US"/>
              <a:t>CIFRA PARA RECORDAR: n_eff ≈ 7.3 en la ZEE y ≈ 3.7 en el norte.</a:t>
            </a:r>
            <a:br>
              <a:rPr lang="en-US"/>
            </a:br>
            <a:br>
              <a:rPr lang="en-US"/>
            </a:br>
            <a:r>
              <a:rPr lang="en-US"/>
              <a:t>NO AFIRMAR: No minimices las limitaciones ni las presentes como detalles menores. No digas que con más días el resultado 'seguro se confirma'.</a:t>
            </a:r>
            <a:endParaRPr/>
          </a:p>
        </p:txBody>
      </p:sp>
      <p:sp>
        <p:nvSpPr>
          <p:cNvPr id="413" name="Google Shape;41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6" name="Google Shape;45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1:00 (acumulado 20:30)</a:t>
            </a:r>
            <a:br>
              <a:rPr lang="en-US"/>
            </a:br>
            <a:br>
              <a:rPr lang="en-US"/>
            </a:br>
            <a:r>
              <a:rPr lang="en-US"/>
              <a:t>QUÉ EXPLICAR: Responde directamente la pregunta de investigación con los cuatro mensajes, sin volver a mostrar figuras. Luego la frase final, despacio.</a:t>
            </a:r>
            <a:br>
              <a:rPr lang="en-US"/>
            </a:br>
            <a:br>
              <a:rPr lang="en-US"/>
            </a:br>
            <a:r>
              <a:rPr lang="en-US"/>
              <a:t>CONEXIÓN CON LA DIAPOSITIVA ANTERIOR: Cierra el arco: problema (diap. 2) → pregunta (3) → patrón (7–10) → pruebas (9, 12–15) → interpretación (16) → límites (18).</a:t>
            </a:r>
            <a:br>
              <a:rPr lang="en-US"/>
            </a:br>
            <a:br>
              <a:rPr lang="en-US"/>
            </a:br>
            <a:r>
              <a:rPr lang="en-US"/>
              <a:t>SIGNIFICADO FÍSICO: Respuesta a la pregunta: entre el 17 y el 30 de agosto de 2026, la diferencia entre la corriente de superficie y la de 40.34 m en la ZEE aumentó y disminuyó junto con el esfuerzo del viento. Esa asociación se concentró en la parte no geostrófica de la corriente superficial, orientada a la izquierda del viento, y en las zonas donde 40.34 m quedaba por debajo de la capa de mezcla. Coexistió con una componente geostrófica de peso variable entre sectores y con una variabilidad costera cuya naturaleza (local o remota) no pudo determinarse.</a:t>
            </a:r>
            <a:br>
              <a:rPr lang="en-US"/>
            </a:br>
            <a:br>
              <a:rPr lang="en-US"/>
            </a:br>
            <a:r>
              <a:rPr lang="en-US"/>
              <a:t>CIFRA PARA RECORDAR: 0.917 (τ–D); 0.97 vs 0.15 (por MLD); 0.94 (τ–residuo).</a:t>
            </a:r>
            <a:br>
              <a:rPr lang="en-US"/>
            </a:br>
            <a:br>
              <a:rPr lang="en-US"/>
            </a:br>
            <a:r>
              <a:rPr lang="en-US"/>
              <a:t>NO AFIRMAR: No digas 'el viento controla la estructura vertical del océano peruano'. No presentes al viento local como explicación exclusiva ni a El Niño Costero como causa. Si preguntan 'entonces, ¿qué harían?': comparar con años neutrales, usar observaciones independientes (ADCP, gliders, derivadores) y un experimento de modelo con y sin forzamiento de viento.</a:t>
            </a:r>
            <a:endParaRPr/>
          </a:p>
        </p:txBody>
      </p:sp>
      <p:sp>
        <p:nvSpPr>
          <p:cNvPr id="457" name="Google Shape;45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0:05 (solo mostrar)</a:t>
            </a:r>
            <a:br>
              <a:rPr lang="en-US"/>
            </a:br>
            <a:br>
              <a:rPr lang="en-US"/>
            </a:br>
            <a:r>
              <a:rPr lang="en-US"/>
              <a:t>QUÉ EXPLICAR: No las leas. Indica que están en formato APA 7 y que incluyen solo las fuentes citadas en la presentación; la lista completa está en el artículo.</a:t>
            </a:r>
            <a:br>
              <a:rPr lang="en-US"/>
            </a:br>
            <a:br>
              <a:rPr lang="en-US"/>
            </a:br>
            <a:r>
              <a:rPr lang="en-US"/>
              <a:t>CONEXIÓN CON LA DIAPOSITIVA ANTERIOR: Cierre formal tras las conclusiones.</a:t>
            </a:r>
            <a:br>
              <a:rPr lang="en-US"/>
            </a:br>
            <a:br>
              <a:rPr lang="en-US"/>
            </a:br>
            <a:r>
              <a:rPr lang="en-US"/>
              <a:t>SIGNIFICADO FÍSICO: No aplica.</a:t>
            </a:r>
            <a:br>
              <a:rPr lang="en-US"/>
            </a:br>
            <a:br>
              <a:rPr lang="en-US"/>
            </a:br>
            <a:r>
              <a:rPr lang="en-US"/>
              <a:t>CIFRA PARA RECORDAR: No aplica.</a:t>
            </a:r>
            <a:br>
              <a:rPr lang="en-US"/>
            </a:br>
            <a:br>
              <a:rPr lang="en-US"/>
            </a:br>
            <a:r>
              <a:rPr lang="en-US"/>
              <a:t>NO AFIRMAR: No añadas referencias que no aparezcan en el artículo.</a:t>
            </a:r>
            <a:endParaRPr/>
          </a:p>
        </p:txBody>
      </p:sp>
      <p:sp>
        <p:nvSpPr>
          <p:cNvPr id="479" name="Google Shape;47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TIEMPO: 0:05 (solo mostrar)</a:t>
            </a:r>
            <a:br>
              <a:rPr lang="en-US"/>
            </a:br>
            <a:br>
              <a:rPr lang="en-US"/>
            </a:br>
            <a:r>
              <a:rPr lang="en-US"/>
              <a:t>QUÉ EXPLICAR: No las leas. Indica que están en formato APA 7 y que incluyen solo las fuentes citadas en la presentación; la lista completa está en el artículo.</a:t>
            </a:r>
            <a:br>
              <a:rPr lang="en-US"/>
            </a:br>
            <a:br>
              <a:rPr lang="en-US"/>
            </a:br>
            <a:r>
              <a:rPr lang="en-US"/>
              <a:t>CONEXIÓN CON LA DIAPOSITIVA ANTERIOR: Cierre formal tras las conclusiones.</a:t>
            </a:r>
            <a:br>
              <a:rPr lang="en-US"/>
            </a:br>
            <a:br>
              <a:rPr lang="en-US"/>
            </a:br>
            <a:r>
              <a:rPr lang="en-US"/>
              <a:t>SIGNIFICADO FÍSICO: No aplica.</a:t>
            </a:r>
            <a:br>
              <a:rPr lang="en-US"/>
            </a:br>
            <a:br>
              <a:rPr lang="en-US"/>
            </a:br>
            <a:r>
              <a:rPr lang="en-US"/>
              <a:t>CIFRA PARA RECORDAR: No aplica.</a:t>
            </a:r>
            <a:br>
              <a:rPr lang="en-US"/>
            </a:br>
            <a:br>
              <a:rPr lang="en-US"/>
            </a:br>
            <a:r>
              <a:rPr lang="en-US"/>
              <a:t>NO AFIRMAR: No añadas referencias que no aparezcan en el artículo.</a:t>
            </a:r>
            <a:endParaRPr/>
          </a:p>
        </p:txBody>
      </p:sp>
      <p:sp>
        <p:nvSpPr>
          <p:cNvPr id="487" name="Google Shape;48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Diapositiva de apoyo para ensayar; no se proyecta durante la exposición. Total 20:40.</a:t>
            </a:r>
            <a:endParaRPr/>
          </a:p>
        </p:txBody>
      </p:sp>
      <p:sp>
        <p:nvSpPr>
          <p:cNvPr id="495" name="Google Shape;49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63A"/>
        </a:solidFill>
      </p:bgPr>
    </p:bg>
    <p:spTree>
      <p:nvGrpSpPr>
        <p:cNvPr id="15" name="Shape 15"/>
        <p:cNvGrpSpPr/>
        <p:nvPr/>
      </p:nvGrpSpPr>
      <p:grpSpPr>
        <a:xfrm>
          <a:off x="0" y="0"/>
          <a:ext cx="0" cy="0"/>
          <a:chOff x="0" y="0"/>
          <a:chExt cx="0" cy="0"/>
        </a:xfrm>
      </p:grpSpPr>
      <p:sp>
        <p:nvSpPr>
          <p:cNvPr id="16" name="Google Shape;16;p3"/>
          <p:cNvSpPr txBox="1"/>
          <p:nvPr/>
        </p:nvSpPr>
        <p:spPr>
          <a:xfrm>
            <a:off x="640080" y="548640"/>
            <a:ext cx="69494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8FD3DB"/>
              </a:buClr>
              <a:buSzPts val="1300"/>
              <a:buFont typeface="Calibri"/>
              <a:buNone/>
            </a:pPr>
            <a:r>
              <a:rPr b="1" i="0" lang="en-US" sz="1300" u="none" cap="none" strike="noStrike">
                <a:solidFill>
                  <a:srgbClr val="8FD3DB"/>
                </a:solidFill>
                <a:latin typeface="Calibri"/>
                <a:ea typeface="Calibri"/>
                <a:cs typeface="Calibri"/>
                <a:sym typeface="Calibri"/>
              </a:rPr>
              <a:t>OCEANOGRAFÍA FÍSICA · TRABAJO DE INVESTIGACIÓN</a:t>
            </a:r>
            <a:endParaRPr b="0" i="0" sz="1300" u="none" cap="none" strike="noStrike">
              <a:solidFill>
                <a:schemeClr val="dk1"/>
              </a:solidFill>
              <a:latin typeface="Calibri"/>
              <a:ea typeface="Calibri"/>
              <a:cs typeface="Calibri"/>
              <a:sym typeface="Calibri"/>
            </a:endParaRPr>
          </a:p>
        </p:txBody>
      </p:sp>
      <p:sp>
        <p:nvSpPr>
          <p:cNvPr id="17" name="Google Shape;17;p3"/>
          <p:cNvSpPr txBox="1"/>
          <p:nvPr/>
        </p:nvSpPr>
        <p:spPr>
          <a:xfrm>
            <a:off x="640080" y="1051560"/>
            <a:ext cx="6949440" cy="3017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900"/>
              <a:buFont typeface="Cambria"/>
              <a:buNone/>
            </a:pPr>
            <a:r>
              <a:rPr b="1" i="0" lang="en-US" sz="2900" u="none" cap="none" strike="noStrike">
                <a:solidFill>
                  <a:srgbClr val="FFFFFF"/>
                </a:solidFill>
                <a:latin typeface="Cambria"/>
                <a:ea typeface="Cambria"/>
                <a:cs typeface="Cambria"/>
                <a:sym typeface="Cambria"/>
              </a:rPr>
              <a:t>Relación entre el esfuerzo del viento y la diferenciación vertical de las corrientes entre la superficie y 40 m en la ZEE peruana durante el 17–30 de agosto de 2026</a:t>
            </a:r>
            <a:endParaRPr b="0" i="0" sz="2900" u="none" cap="none" strike="noStrike">
              <a:solidFill>
                <a:schemeClr val="dk1"/>
              </a:solidFill>
              <a:latin typeface="Calibri"/>
              <a:ea typeface="Calibri"/>
              <a:cs typeface="Calibri"/>
              <a:sym typeface="Calibri"/>
            </a:endParaRPr>
          </a:p>
        </p:txBody>
      </p:sp>
      <p:sp>
        <p:nvSpPr>
          <p:cNvPr id="18" name="Google Shape;18;p3"/>
          <p:cNvSpPr txBox="1"/>
          <p:nvPr/>
        </p:nvSpPr>
        <p:spPr>
          <a:xfrm>
            <a:off x="640080" y="4343400"/>
            <a:ext cx="694944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5E3EA"/>
              </a:buClr>
              <a:buSzPts val="1600"/>
              <a:buFont typeface="Calibri"/>
              <a:buNone/>
            </a:pPr>
            <a:r>
              <a:rPr b="1" i="0" lang="en-US" sz="1600" u="none" cap="none" strike="noStrike">
                <a:solidFill>
                  <a:srgbClr val="D5E3EA"/>
                </a:solidFill>
                <a:latin typeface="Calibri"/>
                <a:ea typeface="Calibri"/>
                <a:cs typeface="Calibri"/>
                <a:sym typeface="Calibri"/>
              </a:rPr>
              <a:t>Curso: </a:t>
            </a:r>
            <a:r>
              <a:rPr b="0" i="0" lang="en-US" sz="1600" u="none" cap="none" strike="noStrike">
                <a:solidFill>
                  <a:srgbClr val="D5E3EA"/>
                </a:solidFill>
                <a:latin typeface="Calibri"/>
                <a:ea typeface="Calibri"/>
                <a:cs typeface="Calibri"/>
                <a:sym typeface="Calibri"/>
              </a:rPr>
              <a:t>Oceanografía Física</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D5E3EA"/>
              </a:buClr>
              <a:buSzPts val="1600"/>
              <a:buFont typeface="Calibri"/>
              <a:buNone/>
            </a:pPr>
            <a:r>
              <a:rPr b="1" i="0" lang="en-US" sz="1600" u="none" cap="none" strike="noStrike">
                <a:solidFill>
                  <a:srgbClr val="D5E3EA"/>
                </a:solidFill>
                <a:latin typeface="Calibri"/>
                <a:ea typeface="Calibri"/>
                <a:cs typeface="Calibri"/>
                <a:sym typeface="Calibri"/>
              </a:rPr>
              <a:t>Integrante: </a:t>
            </a:r>
            <a:r>
              <a:rPr i="0" lang="en-US" sz="1600" u="none" cap="none" strike="noStrike">
                <a:solidFill>
                  <a:srgbClr val="D5E3EA"/>
                </a:solidFill>
                <a:latin typeface="Calibri"/>
                <a:ea typeface="Calibri"/>
                <a:cs typeface="Calibri"/>
                <a:sym typeface="Calibri"/>
              </a:rPr>
              <a:t>Huamani </a:t>
            </a:r>
            <a:r>
              <a:rPr lang="en-US" sz="1600">
                <a:solidFill>
                  <a:srgbClr val="D5E3EA"/>
                </a:solidFill>
                <a:latin typeface="Calibri"/>
                <a:ea typeface="Calibri"/>
                <a:cs typeface="Calibri"/>
                <a:sym typeface="Calibri"/>
              </a:rPr>
              <a:t>Arroyo, Cristian</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D5E3EA"/>
              </a:buClr>
              <a:buSzPts val="1600"/>
              <a:buFont typeface="Calibri"/>
              <a:buNone/>
            </a:pPr>
            <a:r>
              <a:rPr b="1" i="0" lang="en-US" sz="1600" u="none" cap="none" strike="noStrike">
                <a:solidFill>
                  <a:srgbClr val="D5E3EA"/>
                </a:solidFill>
                <a:latin typeface="Calibri"/>
                <a:ea typeface="Calibri"/>
                <a:cs typeface="Calibri"/>
                <a:sym typeface="Calibri"/>
              </a:rPr>
              <a:t>Docente: </a:t>
            </a:r>
            <a:r>
              <a:rPr lang="en-US" sz="1600">
                <a:solidFill>
                  <a:srgbClr val="D5E3EA"/>
                </a:solidFill>
                <a:latin typeface="Calibri"/>
                <a:ea typeface="Calibri"/>
                <a:cs typeface="Calibri"/>
                <a:sym typeface="Calibri"/>
              </a:rPr>
              <a:t>Dr. Federico Iriarte Ahon</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D5E3EA"/>
              </a:buClr>
              <a:buSzPts val="1600"/>
              <a:buFont typeface="Calibri"/>
              <a:buNone/>
            </a:pPr>
            <a:r>
              <a:rPr lang="en-US" sz="1600">
                <a:solidFill>
                  <a:srgbClr val="D5E3EA"/>
                </a:solidFill>
                <a:latin typeface="Calibri"/>
                <a:ea typeface="Calibri"/>
                <a:cs typeface="Calibri"/>
                <a:sym typeface="Calibri"/>
              </a:rPr>
              <a:t>Facultad de Oceanografía, Pesquería, Ciencias Alimentarias y Acuicultura</a:t>
            </a:r>
            <a:endParaRPr b="0" i="0" sz="160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D5E3EA"/>
              </a:buClr>
              <a:buSzPts val="1600"/>
              <a:buFont typeface="Calibri"/>
              <a:buNone/>
            </a:pPr>
            <a:r>
              <a:rPr lang="en-US" sz="1600">
                <a:solidFill>
                  <a:srgbClr val="D5E3EA"/>
                </a:solidFill>
                <a:latin typeface="Calibri"/>
                <a:ea typeface="Calibri"/>
                <a:cs typeface="Calibri"/>
                <a:sym typeface="Calibri"/>
              </a:rPr>
              <a:t>29 de septiembre de 2026</a:t>
            </a:r>
            <a:endParaRPr b="0" i="0" sz="1600" u="none" cap="none" strike="noStrike">
              <a:solidFill>
                <a:schemeClr val="dk1"/>
              </a:solidFill>
              <a:latin typeface="Calibri"/>
              <a:ea typeface="Calibri"/>
              <a:cs typeface="Calibri"/>
              <a:sym typeface="Calibri"/>
            </a:endParaRPr>
          </a:p>
        </p:txBody>
      </p:sp>
      <p:sp>
        <p:nvSpPr>
          <p:cNvPr id="19" name="Google Shape;19;p3"/>
          <p:cNvSpPr/>
          <p:nvPr/>
        </p:nvSpPr>
        <p:spPr>
          <a:xfrm>
            <a:off x="8092440" y="502920"/>
            <a:ext cx="3566160" cy="5852160"/>
          </a:xfrm>
          <a:prstGeom prst="roundRect">
            <a:avLst>
              <a:gd fmla="val 3077" name="adj"/>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mp/claude-0/-home-claude/39892b0b-c3c5-5855-9657-93e4cc1da44f/scratchpad/img/F00_mascara_ZEE.png" id="20" name="Google Shape;20;p3"/>
          <p:cNvPicPr preferRelativeResize="0"/>
          <p:nvPr/>
        </p:nvPicPr>
        <p:blipFill rotWithShape="1">
          <a:blip r:embed="rId3">
            <a:alphaModFix/>
          </a:blip>
          <a:srcRect b="0" l="0" r="0" t="0"/>
          <a:stretch/>
        </p:blipFill>
        <p:spPr>
          <a:xfrm>
            <a:off x="8183880" y="1607234"/>
            <a:ext cx="3383280" cy="364353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4"/>
          <p:cNvSpPr/>
          <p:nvPr/>
        </p:nvSpPr>
        <p:spPr>
          <a:xfrm>
            <a:off x="548640" y="347472"/>
            <a:ext cx="1289304"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nvSpPr>
        <p:spPr>
          <a:xfrm>
            <a:off x="548640" y="347472"/>
            <a:ext cx="1289304"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PROBLEMA</a:t>
            </a:r>
            <a:endParaRPr b="0" i="0" sz="1100" u="none" cap="none" strike="noStrike">
              <a:solidFill>
                <a:schemeClr val="dk1"/>
              </a:solidFill>
              <a:latin typeface="Calibri"/>
              <a:ea typeface="Calibri"/>
              <a:cs typeface="Calibri"/>
              <a:sym typeface="Calibri"/>
            </a:endParaRPr>
          </a:p>
        </p:txBody>
      </p:sp>
      <p:sp>
        <p:nvSpPr>
          <p:cNvPr id="28" name="Google Shape;28;p4"/>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¿Se mueve igual el océano en superficie y a 40 m?</a:t>
            </a:r>
            <a:endParaRPr b="0" i="0" sz="3200" u="none" cap="none" strike="noStrike">
              <a:solidFill>
                <a:schemeClr val="dk1"/>
              </a:solidFill>
              <a:latin typeface="Calibri"/>
              <a:ea typeface="Calibri"/>
              <a:cs typeface="Calibri"/>
              <a:sym typeface="Calibri"/>
            </a:endParaRPr>
          </a:p>
        </p:txBody>
      </p:sp>
      <p:sp>
        <p:nvSpPr>
          <p:cNvPr id="29" name="Google Shape;29;p4"/>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30" name="Google Shape;30;p4"/>
          <p:cNvSpPr txBox="1"/>
          <p:nvPr/>
        </p:nvSpPr>
        <p:spPr>
          <a:xfrm>
            <a:off x="548640" y="1691640"/>
            <a:ext cx="4480560" cy="3291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700"/>
              <a:buFont typeface="Calibri"/>
              <a:buNone/>
            </a:pPr>
            <a:r>
              <a:rPr b="0" i="0" lang="en-US" sz="1700" u="none" cap="none" strike="noStrike">
                <a:solidFill>
                  <a:srgbClr val="12263A"/>
                </a:solidFill>
                <a:latin typeface="Calibri"/>
                <a:ea typeface="Calibri"/>
                <a:cs typeface="Calibri"/>
                <a:sym typeface="Calibri"/>
              </a:rPr>
              <a:t>Tenemos corrientes a dos niveles del modelo: </a:t>
            </a:r>
            <a:r>
              <a:rPr b="1" i="0" lang="en-US" sz="1700" u="none" cap="none" strike="noStrike">
                <a:solidFill>
                  <a:srgbClr val="2A77D4"/>
                </a:solidFill>
                <a:latin typeface="Calibri"/>
                <a:ea typeface="Calibri"/>
                <a:cs typeface="Calibri"/>
                <a:sym typeface="Calibri"/>
              </a:rPr>
              <a:t>superficie (0.49 m)</a:t>
            </a:r>
            <a:r>
              <a:rPr b="0" i="0" lang="en-US" sz="1700" u="none" cap="none" strike="noStrike">
                <a:solidFill>
                  <a:srgbClr val="12263A"/>
                </a:solidFill>
                <a:latin typeface="Calibri"/>
                <a:ea typeface="Calibri"/>
                <a:cs typeface="Calibri"/>
                <a:sym typeface="Calibri"/>
              </a:rPr>
              <a:t> y </a:t>
            </a:r>
            <a:r>
              <a:rPr b="1" i="0" lang="en-US" sz="1700" u="none" cap="none" strike="noStrike">
                <a:solidFill>
                  <a:srgbClr val="D9531E"/>
                </a:solidFill>
                <a:latin typeface="Calibri"/>
                <a:ea typeface="Calibri"/>
                <a:cs typeface="Calibri"/>
                <a:sym typeface="Calibri"/>
              </a:rPr>
              <a:t>40.34 m</a:t>
            </a:r>
            <a:r>
              <a:rPr b="0" i="0" lang="en-US" sz="1700" u="none" cap="none" strike="noStrike">
                <a:solidFill>
                  <a:srgbClr val="12263A"/>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a:p>
            <a:pPr indent="-228600" lvl="0" marL="228600" marR="0" rtl="0" algn="l">
              <a:spcBef>
                <a:spcPts val="800"/>
              </a:spcBef>
              <a:spcAft>
                <a:spcPts val="0"/>
              </a:spcAft>
              <a:buClr>
                <a:srgbClr val="12263A"/>
              </a:buClr>
              <a:buSzPts val="1700"/>
              <a:buFont typeface="Calibri"/>
              <a:buChar char="•"/>
            </a:pPr>
            <a:r>
              <a:rPr b="0" i="0" lang="en-US" sz="1700" u="none" cap="none" strike="noStrike">
                <a:solidFill>
                  <a:srgbClr val="12263A"/>
                </a:solidFill>
                <a:latin typeface="Calibri"/>
                <a:ea typeface="Calibri"/>
                <a:cs typeface="Calibri"/>
                <a:sym typeface="Calibri"/>
              </a:rPr>
              <a:t>Frente al Perú la columna tiene capas: flujo superficial hacia el ecuador y, más abajo, la Subcorriente Perú-Chile hacia el polo.</a:t>
            </a:r>
            <a:endParaRPr b="0" i="0" sz="17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12263A"/>
              </a:buClr>
              <a:buSzPts val="1700"/>
              <a:buFont typeface="Calibri"/>
              <a:buNone/>
            </a:pPr>
            <a:r>
              <a:rPr b="1" i="0" lang="en-US" sz="1700" u="none" cap="none" strike="noStrike">
                <a:solidFill>
                  <a:srgbClr val="12263A"/>
                </a:solidFill>
                <a:latin typeface="Calibri"/>
                <a:ea typeface="Calibri"/>
                <a:cs typeface="Calibri"/>
                <a:sym typeface="Calibri"/>
              </a:rPr>
              <a:t>Pregunta intuitiva: </a:t>
            </a:r>
            <a:r>
              <a:rPr b="0" i="0" lang="en-US" sz="1700" u="none" cap="none" strike="noStrike">
                <a:solidFill>
                  <a:srgbClr val="12263A"/>
                </a:solidFill>
                <a:latin typeface="Calibri"/>
                <a:ea typeface="Calibri"/>
                <a:cs typeface="Calibri"/>
                <a:sym typeface="Calibri"/>
              </a:rPr>
              <a:t>¿se comportan igual ambas profundidades?, ¿qué tiene que ver el viento con su diferencia?</a:t>
            </a:r>
            <a:endParaRPr b="0" i="0" sz="1700" u="none" cap="none" strike="noStrike">
              <a:solidFill>
                <a:schemeClr val="dk1"/>
              </a:solidFill>
              <a:latin typeface="Calibri"/>
              <a:ea typeface="Calibri"/>
              <a:cs typeface="Calibri"/>
              <a:sym typeface="Calibri"/>
            </a:endParaRPr>
          </a:p>
        </p:txBody>
      </p:sp>
      <p:sp>
        <p:nvSpPr>
          <p:cNvPr id="31" name="Google Shape;31;p4"/>
          <p:cNvSpPr txBox="1"/>
          <p:nvPr/>
        </p:nvSpPr>
        <p:spPr>
          <a:xfrm>
            <a:off x="548640" y="5166360"/>
            <a:ext cx="44805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200"/>
              <a:buFont typeface="Calibri"/>
              <a:buNone/>
            </a:pPr>
            <a:r>
              <a:rPr b="0" i="1" lang="en-US" sz="1200" u="none" cap="none" strike="noStrike">
                <a:solidFill>
                  <a:srgbClr val="56636C"/>
                </a:solidFill>
                <a:latin typeface="Calibri"/>
                <a:ea typeface="Calibri"/>
                <a:cs typeface="Calibri"/>
                <a:sym typeface="Calibri"/>
              </a:rPr>
              <a:t>Contexto: agosto de 2026 estuvo bajo «Alerta de El Niño Costero» (ENFEN, 2026a, 2026b). No evaluamos su efecto: no hay año neutral de comparación.</a:t>
            </a:r>
            <a:endParaRPr b="0" i="0" sz="1200" u="none" cap="none" strike="noStrike">
              <a:solidFill>
                <a:schemeClr val="dk1"/>
              </a:solidFill>
              <a:latin typeface="Calibri"/>
              <a:ea typeface="Calibri"/>
              <a:cs typeface="Calibri"/>
              <a:sym typeface="Calibri"/>
            </a:endParaRPr>
          </a:p>
        </p:txBody>
      </p:sp>
      <p:pic>
        <p:nvPicPr>
          <p:cNvPr descr="/tmp/claude-0/-home-claude/39892b0b-c3c5-5855-9657-93e4cc1da44f/scratchpad/img/s02_mapas19.png" id="32" name="Google Shape;32;p4"/>
          <p:cNvPicPr preferRelativeResize="0"/>
          <p:nvPr/>
        </p:nvPicPr>
        <p:blipFill rotWithShape="1">
          <a:blip r:embed="rId3">
            <a:alphaModFix/>
          </a:blip>
          <a:srcRect b="0" l="0" r="0" t="0"/>
          <a:stretch/>
        </p:blipFill>
        <p:spPr>
          <a:xfrm>
            <a:off x="5303520" y="2206609"/>
            <a:ext cx="6355080" cy="3130581"/>
          </a:xfrm>
          <a:prstGeom prst="rect">
            <a:avLst/>
          </a:prstGeom>
          <a:noFill/>
          <a:ln>
            <a:noFill/>
          </a:ln>
        </p:spPr>
      </p:pic>
      <p:sp>
        <p:nvSpPr>
          <p:cNvPr id="33" name="Google Shape;33;p4"/>
          <p:cNvSpPr txBox="1"/>
          <p:nvPr/>
        </p:nvSpPr>
        <p:spPr>
          <a:xfrm>
            <a:off x="5303520" y="5410343"/>
            <a:ext cx="635508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200"/>
              <a:buFont typeface="Calibri"/>
              <a:buNone/>
            </a:pPr>
            <a:r>
              <a:rPr b="0" i="0" lang="en-US" sz="1200" u="none" cap="none" strike="noStrike">
                <a:solidFill>
                  <a:srgbClr val="56636C"/>
                </a:solidFill>
                <a:latin typeface="Calibri"/>
                <a:ea typeface="Calibri"/>
                <a:cs typeface="Calibri"/>
                <a:sym typeface="Calibri"/>
              </a:rPr>
              <a:t>Rapidez (colores) y dirección (flechas) el 19 de agosto de 2026. Mismo día, mismo lugar, dos profundidades.</a:t>
            </a:r>
            <a:endParaRPr b="0" i="0" sz="1200" u="none" cap="none" strike="noStrike">
              <a:solidFill>
                <a:schemeClr val="dk1"/>
              </a:solidFill>
              <a:latin typeface="Calibri"/>
              <a:ea typeface="Calibri"/>
              <a:cs typeface="Calibri"/>
              <a:sym typeface="Calibri"/>
            </a:endParaRPr>
          </a:p>
        </p:txBody>
      </p:sp>
      <p:sp>
        <p:nvSpPr>
          <p:cNvPr id="34" name="Google Shape;34;p4"/>
          <p:cNvSpPr txBox="1"/>
          <p:nvPr/>
        </p:nvSpPr>
        <p:spPr>
          <a:xfrm>
            <a:off x="548640" y="6400800"/>
            <a:ext cx="10332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000"/>
              <a:buFont typeface="Calibri"/>
              <a:buNone/>
            </a:pPr>
            <a:r>
              <a:rPr b="0" i="1" lang="en-US" sz="1000" u="none" cap="none" strike="noStrike">
                <a:solidFill>
                  <a:srgbClr val="56636C"/>
                </a:solidFill>
                <a:latin typeface="Calibri"/>
                <a:ea typeface="Calibri"/>
                <a:cs typeface="Calibri"/>
                <a:sym typeface="Calibri"/>
              </a:rPr>
              <a:t>Brink et al. (1983); Chaigneau et al. (2013). Datos: Copernicus Marine (GLOBAL_ANALYSISFORECAST_PHY_001_024; WIND_GLO_PHY_L4_NRT_012_004). Figura: elaboración propia, scripts reproducibles.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 name="Shape 39"/>
        <p:cNvGrpSpPr/>
        <p:nvPr/>
      </p:nvGrpSpPr>
      <p:grpSpPr>
        <a:xfrm>
          <a:off x="0" y="0"/>
          <a:ext cx="0" cy="0"/>
          <a:chOff x="0" y="0"/>
          <a:chExt cx="0" cy="0"/>
        </a:xfrm>
      </p:grpSpPr>
      <p:sp>
        <p:nvSpPr>
          <p:cNvPr id="40" name="Google Shape;40;p5"/>
          <p:cNvSpPr/>
          <p:nvPr/>
        </p:nvSpPr>
        <p:spPr>
          <a:xfrm>
            <a:off x="548640" y="347472"/>
            <a:ext cx="2606040"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5"/>
          <p:cNvSpPr txBox="1"/>
          <p:nvPr/>
        </p:nvSpPr>
        <p:spPr>
          <a:xfrm>
            <a:off x="548640" y="347472"/>
            <a:ext cx="260604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PREGUNTA E HIPÓTESIS</a:t>
            </a:r>
            <a:endParaRPr b="0" i="0" sz="1100" u="none" cap="none" strike="noStrike">
              <a:solidFill>
                <a:schemeClr val="dk1"/>
              </a:solidFill>
              <a:latin typeface="Calibri"/>
              <a:ea typeface="Calibri"/>
              <a:cs typeface="Calibri"/>
              <a:sym typeface="Calibri"/>
            </a:endParaRPr>
          </a:p>
        </p:txBody>
      </p:sp>
      <p:sp>
        <p:nvSpPr>
          <p:cNvPr id="42" name="Google Shape;42;p5"/>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Qué preguntamos y qué esperábamos</a:t>
            </a:r>
            <a:endParaRPr b="0" i="0" sz="3200" u="none" cap="none" strike="noStrike">
              <a:solidFill>
                <a:schemeClr val="dk1"/>
              </a:solidFill>
              <a:latin typeface="Calibri"/>
              <a:ea typeface="Calibri"/>
              <a:cs typeface="Calibri"/>
              <a:sym typeface="Calibri"/>
            </a:endParaRPr>
          </a:p>
        </p:txBody>
      </p:sp>
      <p:sp>
        <p:nvSpPr>
          <p:cNvPr id="43" name="Google Shape;43;p5"/>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44" name="Google Shape;44;p5"/>
          <p:cNvSpPr/>
          <p:nvPr/>
        </p:nvSpPr>
        <p:spPr>
          <a:xfrm>
            <a:off x="548640" y="1645920"/>
            <a:ext cx="11091672" cy="1143000"/>
          </a:xfrm>
          <a:prstGeom prst="roundRect">
            <a:avLst>
              <a:gd fmla="val 8000" name="adj"/>
            </a:avLst>
          </a:prstGeom>
          <a:solidFill>
            <a:srgbClr val="12263A"/>
          </a:solidFill>
          <a:ln cap="flat" cmpd="sng" w="12700">
            <a:solidFill>
              <a:srgbClr val="122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txBox="1"/>
          <p:nvPr/>
        </p:nvSpPr>
        <p:spPr>
          <a:xfrm>
            <a:off x="822960" y="1645920"/>
            <a:ext cx="1060704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Cambria"/>
              <a:buNone/>
            </a:pPr>
            <a:r>
              <a:rPr b="1" i="0" lang="en-US" sz="2000" u="none" cap="none" strike="noStrike">
                <a:solidFill>
                  <a:srgbClr val="FFFFFF"/>
                </a:solidFill>
                <a:latin typeface="Cambria"/>
                <a:ea typeface="Cambria"/>
                <a:cs typeface="Cambria"/>
                <a:sym typeface="Cambria"/>
              </a:rPr>
              <a:t>¿Cómo se relacionó la variabilidad del esfuerzo del viento con la diferenciación de las corrientes entre la superficie y 40 m en la ZEE peruana, del 17 al 30 de agosto de 2026?</a:t>
            </a:r>
            <a:endParaRPr b="0" i="0" sz="2000" u="none" cap="none" strike="noStrike">
              <a:solidFill>
                <a:schemeClr val="dk1"/>
              </a:solidFill>
              <a:latin typeface="Calibri"/>
              <a:ea typeface="Calibri"/>
              <a:cs typeface="Calibri"/>
              <a:sym typeface="Calibri"/>
            </a:endParaRPr>
          </a:p>
        </p:txBody>
      </p:sp>
      <p:sp>
        <p:nvSpPr>
          <p:cNvPr id="46" name="Google Shape;46;p5"/>
          <p:cNvSpPr txBox="1"/>
          <p:nvPr/>
        </p:nvSpPr>
        <p:spPr>
          <a:xfrm>
            <a:off x="548640" y="2971800"/>
            <a:ext cx="110642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6E7A"/>
              </a:buClr>
              <a:buSzPts val="1700"/>
              <a:buFont typeface="Calibri"/>
              <a:buNone/>
            </a:pPr>
            <a:r>
              <a:rPr b="1" i="0" lang="en-US" sz="1700" u="none" cap="none" strike="noStrike">
                <a:solidFill>
                  <a:srgbClr val="0F6E7A"/>
                </a:solidFill>
                <a:latin typeface="Calibri"/>
                <a:ea typeface="Calibri"/>
                <a:cs typeface="Calibri"/>
                <a:sym typeface="Calibri"/>
              </a:rPr>
              <a:t>Objetivo: </a:t>
            </a:r>
            <a:r>
              <a:rPr b="0" i="0" lang="en-US" sz="1700" u="none" cap="none" strike="noStrike">
                <a:solidFill>
                  <a:srgbClr val="12263A"/>
                </a:solidFill>
                <a:latin typeface="Calibri"/>
                <a:ea typeface="Calibri"/>
                <a:cs typeface="Calibri"/>
                <a:sym typeface="Calibri"/>
              </a:rPr>
              <a:t>analizar esa relación considerando la capa de mezcla, la componente geostrófica y las señales costeras propagantes.</a:t>
            </a:r>
            <a:endParaRPr b="0" i="0" sz="1700" u="none" cap="none" strike="noStrike">
              <a:solidFill>
                <a:schemeClr val="dk1"/>
              </a:solidFill>
              <a:latin typeface="Calibri"/>
              <a:ea typeface="Calibri"/>
              <a:cs typeface="Calibri"/>
              <a:sym typeface="Calibri"/>
            </a:endParaRPr>
          </a:p>
        </p:txBody>
      </p:sp>
      <p:sp>
        <p:nvSpPr>
          <p:cNvPr id="47" name="Google Shape;47;p5"/>
          <p:cNvSpPr/>
          <p:nvPr/>
        </p:nvSpPr>
        <p:spPr>
          <a:xfrm>
            <a:off x="548640" y="3611880"/>
            <a:ext cx="3593592" cy="2057400"/>
          </a:xfrm>
          <a:prstGeom prst="roundRect">
            <a:avLst>
              <a:gd fmla="val 4444"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731520" y="3749040"/>
            <a:ext cx="640080" cy="640080"/>
          </a:xfrm>
          <a:prstGeom prst="ellipse">
            <a:avLst/>
          </a:prstGeom>
          <a:solidFill>
            <a:srgbClr val="0F6E7A"/>
          </a:solidFill>
          <a:ln cap="flat" cmpd="sng" w="12700">
            <a:solidFill>
              <a:srgbClr val="0F6E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txBox="1"/>
          <p:nvPr/>
        </p:nvSpPr>
        <p:spPr>
          <a:xfrm>
            <a:off x="731520" y="374904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H1</a:t>
            </a:r>
            <a:endParaRPr b="0" i="0" sz="1800" u="none" cap="none" strike="noStrike">
              <a:solidFill>
                <a:schemeClr val="dk1"/>
              </a:solidFill>
              <a:latin typeface="Calibri"/>
              <a:ea typeface="Calibri"/>
              <a:cs typeface="Calibri"/>
              <a:sym typeface="Calibri"/>
            </a:endParaRPr>
          </a:p>
        </p:txBody>
      </p:sp>
      <p:sp>
        <p:nvSpPr>
          <p:cNvPr id="50" name="Google Shape;50;p5"/>
          <p:cNvSpPr txBox="1"/>
          <p:nvPr/>
        </p:nvSpPr>
        <p:spPr>
          <a:xfrm>
            <a:off x="731520" y="4526280"/>
            <a:ext cx="32461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0" i="0" lang="en-US" sz="1500" u="none" cap="none" strike="noStrike">
                <a:solidFill>
                  <a:srgbClr val="12263A"/>
                </a:solidFill>
                <a:latin typeface="Calibri"/>
                <a:ea typeface="Calibri"/>
                <a:cs typeface="Calibri"/>
                <a:sym typeface="Calibri"/>
              </a:rPr>
              <a:t>Más esfuerzo del viento → más diferencia superficie–40 m, sobre todo por la variabilidad de la circulación superficial.</a:t>
            </a:r>
            <a:endParaRPr b="0" i="0" sz="1500" u="none" cap="none" strike="noStrike">
              <a:solidFill>
                <a:schemeClr val="dk1"/>
              </a:solidFill>
              <a:latin typeface="Calibri"/>
              <a:ea typeface="Calibri"/>
              <a:cs typeface="Calibri"/>
              <a:sym typeface="Calibri"/>
            </a:endParaRPr>
          </a:p>
        </p:txBody>
      </p:sp>
      <p:sp>
        <p:nvSpPr>
          <p:cNvPr id="51" name="Google Shape;51;p5"/>
          <p:cNvSpPr/>
          <p:nvPr/>
        </p:nvSpPr>
        <p:spPr>
          <a:xfrm>
            <a:off x="4297680" y="3611880"/>
            <a:ext cx="3593592" cy="2057400"/>
          </a:xfrm>
          <a:prstGeom prst="roundRect">
            <a:avLst>
              <a:gd fmla="val 4444"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4480560" y="3749040"/>
            <a:ext cx="640080" cy="640080"/>
          </a:xfrm>
          <a:prstGeom prst="ellipse">
            <a:avLst/>
          </a:prstGeom>
          <a:solidFill>
            <a:srgbClr val="0F6E7A"/>
          </a:solidFill>
          <a:ln cap="flat" cmpd="sng" w="12700">
            <a:solidFill>
              <a:srgbClr val="0F6E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txBox="1"/>
          <p:nvPr/>
        </p:nvSpPr>
        <p:spPr>
          <a:xfrm>
            <a:off x="4480560" y="374904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H2</a:t>
            </a:r>
            <a:endParaRPr b="0" i="0" sz="1800" u="none" cap="none" strike="noStrike">
              <a:solidFill>
                <a:schemeClr val="dk1"/>
              </a:solidFill>
              <a:latin typeface="Calibri"/>
              <a:ea typeface="Calibri"/>
              <a:cs typeface="Calibri"/>
              <a:sym typeface="Calibri"/>
            </a:endParaRPr>
          </a:p>
        </p:txBody>
      </p:sp>
      <p:sp>
        <p:nvSpPr>
          <p:cNvPr id="54" name="Google Shape;54;p5"/>
          <p:cNvSpPr txBox="1"/>
          <p:nvPr/>
        </p:nvSpPr>
        <p:spPr>
          <a:xfrm>
            <a:off x="4480560" y="4526280"/>
            <a:ext cx="32461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0" i="0" lang="en-US" sz="1500" u="none" cap="none" strike="noStrike">
                <a:solidFill>
                  <a:srgbClr val="12263A"/>
                </a:solidFill>
                <a:latin typeface="Calibri"/>
                <a:ea typeface="Calibri"/>
                <a:cs typeface="Calibri"/>
                <a:sym typeface="Calibri"/>
              </a:rPr>
              <a:t>La diferencia será mayor donde la capa de mezcla es más somera que 40 m.</a:t>
            </a:r>
            <a:endParaRPr b="0" i="0" sz="1500" u="none" cap="none" strike="noStrike">
              <a:solidFill>
                <a:schemeClr val="dk1"/>
              </a:solidFill>
              <a:latin typeface="Calibri"/>
              <a:ea typeface="Calibri"/>
              <a:cs typeface="Calibri"/>
              <a:sym typeface="Calibri"/>
            </a:endParaRPr>
          </a:p>
        </p:txBody>
      </p:sp>
      <p:sp>
        <p:nvSpPr>
          <p:cNvPr id="55" name="Google Shape;55;p5"/>
          <p:cNvSpPr/>
          <p:nvPr/>
        </p:nvSpPr>
        <p:spPr>
          <a:xfrm>
            <a:off x="8046720" y="3611880"/>
            <a:ext cx="3593592" cy="2057400"/>
          </a:xfrm>
          <a:prstGeom prst="roundRect">
            <a:avLst>
              <a:gd fmla="val 4444"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8229600" y="3749040"/>
            <a:ext cx="640080" cy="640080"/>
          </a:xfrm>
          <a:prstGeom prst="ellipse">
            <a:avLst/>
          </a:prstGeom>
          <a:solidFill>
            <a:srgbClr val="0F6E7A"/>
          </a:solidFill>
          <a:ln cap="flat" cmpd="sng" w="12700">
            <a:solidFill>
              <a:srgbClr val="0F6E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txBox="1"/>
          <p:nvPr/>
        </p:nvSpPr>
        <p:spPr>
          <a:xfrm>
            <a:off x="8229600" y="374904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H3</a:t>
            </a:r>
            <a:endParaRPr b="0" i="0" sz="1800" u="none" cap="none" strike="noStrike">
              <a:solidFill>
                <a:schemeClr val="dk1"/>
              </a:solidFill>
              <a:latin typeface="Calibri"/>
              <a:ea typeface="Calibri"/>
              <a:cs typeface="Calibri"/>
              <a:sym typeface="Calibri"/>
            </a:endParaRPr>
          </a:p>
        </p:txBody>
      </p:sp>
      <p:sp>
        <p:nvSpPr>
          <p:cNvPr id="58" name="Google Shape;58;p5"/>
          <p:cNvSpPr txBox="1"/>
          <p:nvPr/>
        </p:nvSpPr>
        <p:spPr>
          <a:xfrm>
            <a:off x="8229600" y="4526280"/>
            <a:ext cx="32461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0" i="0" lang="en-US" sz="1500" u="none" cap="none" strike="noStrike">
                <a:solidFill>
                  <a:srgbClr val="12263A"/>
                </a:solidFill>
                <a:latin typeface="Calibri"/>
                <a:ea typeface="Calibri"/>
                <a:cs typeface="Calibri"/>
                <a:sym typeface="Calibri"/>
              </a:rPr>
              <a:t>El viento no explicará toda la variabilidad: coexisten procesos geostróficos y señales costeras propagantes.</a:t>
            </a:r>
            <a:endParaRPr b="0" i="0" sz="1500" u="none" cap="none" strike="noStrike">
              <a:solidFill>
                <a:schemeClr val="dk1"/>
              </a:solidFill>
              <a:latin typeface="Calibri"/>
              <a:ea typeface="Calibri"/>
              <a:cs typeface="Calibri"/>
              <a:sym typeface="Calibri"/>
            </a:endParaRPr>
          </a:p>
        </p:txBody>
      </p:sp>
      <p:sp>
        <p:nvSpPr>
          <p:cNvPr id="59" name="Google Shape;59;p5"/>
          <p:cNvSpPr/>
          <p:nvPr/>
        </p:nvSpPr>
        <p:spPr>
          <a:xfrm>
            <a:off x="548640" y="5806440"/>
            <a:ext cx="11091672" cy="475488"/>
          </a:xfrm>
          <a:prstGeom prst="roundRect">
            <a:avLst>
              <a:gd fmla="val 15385"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nvSpPr>
        <p:spPr>
          <a:xfrm>
            <a:off x="731520" y="5806440"/>
            <a:ext cx="10789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1800"/>
              <a:buFont typeface="Calibri"/>
              <a:buNone/>
            </a:pPr>
            <a:r>
              <a:rPr b="1" i="0" lang="en-US" sz="1800" u="none" cap="none" strike="noStrike">
                <a:solidFill>
                  <a:srgbClr val="0F6E7A"/>
                </a:solidFill>
                <a:latin typeface="Calibri"/>
                <a:ea typeface="Calibri"/>
                <a:cs typeface="Calibri"/>
                <a:sym typeface="Calibri"/>
              </a:rPr>
              <a:t>Hipótesis planteadas antes de los análisis y no modificadas después.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6"/>
          <p:cNvSpPr/>
          <p:nvPr/>
        </p:nvSpPr>
        <p:spPr>
          <a:xfrm>
            <a:off x="548640" y="347472"/>
            <a:ext cx="960120"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txBox="1"/>
          <p:nvPr/>
        </p:nvSpPr>
        <p:spPr>
          <a:xfrm>
            <a:off x="548640" y="347472"/>
            <a:ext cx="9601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DATOS</a:t>
            </a:r>
            <a:endParaRPr b="0" i="0" sz="1100" u="none" cap="none" strike="noStrike">
              <a:solidFill>
                <a:schemeClr val="dk1"/>
              </a:solidFill>
              <a:latin typeface="Calibri"/>
              <a:ea typeface="Calibri"/>
              <a:cs typeface="Calibri"/>
              <a:sym typeface="Calibri"/>
            </a:endParaRPr>
          </a:p>
        </p:txBody>
      </p:sp>
      <p:sp>
        <p:nvSpPr>
          <p:cNvPr id="68" name="Google Shape;68;p6"/>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Área y periodo de estudio</a:t>
            </a:r>
            <a:endParaRPr b="0" i="0" sz="3200" u="none" cap="none" strike="noStrike">
              <a:solidFill>
                <a:schemeClr val="dk1"/>
              </a:solidFill>
              <a:latin typeface="Calibri"/>
              <a:ea typeface="Calibri"/>
              <a:cs typeface="Calibri"/>
              <a:sym typeface="Calibri"/>
            </a:endParaRPr>
          </a:p>
        </p:txBody>
      </p:sp>
      <p:sp>
        <p:nvSpPr>
          <p:cNvPr id="69" name="Google Shape;69;p6"/>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pic>
        <p:nvPicPr>
          <p:cNvPr descr="/tmp/claude-0/-home-claude/39892b0b-c3c5-5855-9657-93e4cc1da44f/scratchpad/img/F00_mascara_ZEE.png" id="70" name="Google Shape;70;p6"/>
          <p:cNvPicPr preferRelativeResize="0"/>
          <p:nvPr/>
        </p:nvPicPr>
        <p:blipFill rotWithShape="1">
          <a:blip r:embed="rId3">
            <a:alphaModFix/>
          </a:blip>
          <a:srcRect b="0" l="0" r="0" t="0"/>
          <a:stretch/>
        </p:blipFill>
        <p:spPr>
          <a:xfrm>
            <a:off x="548640" y="1667022"/>
            <a:ext cx="4206240" cy="4529797"/>
          </a:xfrm>
          <a:prstGeom prst="rect">
            <a:avLst/>
          </a:prstGeom>
          <a:noFill/>
          <a:ln>
            <a:noFill/>
          </a:ln>
        </p:spPr>
      </p:pic>
      <p:sp>
        <p:nvSpPr>
          <p:cNvPr id="71" name="Google Shape;71;p6"/>
          <p:cNvSpPr/>
          <p:nvPr/>
        </p:nvSpPr>
        <p:spPr>
          <a:xfrm>
            <a:off x="5120640" y="1645920"/>
            <a:ext cx="3108960" cy="1143000"/>
          </a:xfrm>
          <a:prstGeom prst="roundRect">
            <a:avLst>
              <a:gd fmla="val 8000"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txBox="1"/>
          <p:nvPr/>
        </p:nvSpPr>
        <p:spPr>
          <a:xfrm>
            <a:off x="5257800" y="1755648"/>
            <a:ext cx="283464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2200"/>
              <a:buFont typeface="Cambria"/>
              <a:buNone/>
            </a:pPr>
            <a:r>
              <a:rPr b="1" i="0" lang="en-US" sz="2200" u="none" cap="none" strike="noStrike">
                <a:solidFill>
                  <a:srgbClr val="0F6E7A"/>
                </a:solidFill>
                <a:latin typeface="Cambria"/>
                <a:ea typeface="Cambria"/>
                <a:cs typeface="Cambria"/>
                <a:sym typeface="Cambria"/>
              </a:rPr>
              <a:t>17–30 ago 2026</a:t>
            </a:r>
            <a:endParaRPr b="0" i="0" sz="2200" u="none" cap="none" strike="noStrike">
              <a:solidFill>
                <a:schemeClr val="dk1"/>
              </a:solidFill>
              <a:latin typeface="Calibri"/>
              <a:ea typeface="Calibri"/>
              <a:cs typeface="Calibri"/>
              <a:sym typeface="Calibri"/>
            </a:endParaRPr>
          </a:p>
        </p:txBody>
      </p:sp>
      <p:sp>
        <p:nvSpPr>
          <p:cNvPr id="73" name="Google Shape;73;p6"/>
          <p:cNvSpPr txBox="1"/>
          <p:nvPr/>
        </p:nvSpPr>
        <p:spPr>
          <a:xfrm>
            <a:off x="5257800" y="2327148"/>
            <a:ext cx="2834640" cy="3886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14 días · promedios diarios</a:t>
            </a:r>
            <a:endParaRPr b="0" i="0" sz="1300" u="none" cap="none" strike="noStrike">
              <a:solidFill>
                <a:schemeClr val="dk1"/>
              </a:solidFill>
              <a:latin typeface="Calibri"/>
              <a:ea typeface="Calibri"/>
              <a:cs typeface="Calibri"/>
              <a:sym typeface="Calibri"/>
            </a:endParaRPr>
          </a:p>
        </p:txBody>
      </p:sp>
      <p:sp>
        <p:nvSpPr>
          <p:cNvPr id="74" name="Google Shape;74;p6"/>
          <p:cNvSpPr/>
          <p:nvPr/>
        </p:nvSpPr>
        <p:spPr>
          <a:xfrm>
            <a:off x="8412480" y="1645920"/>
            <a:ext cx="3227832" cy="1143000"/>
          </a:xfrm>
          <a:prstGeom prst="roundRect">
            <a:avLst>
              <a:gd fmla="val 8000"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txBox="1"/>
          <p:nvPr/>
        </p:nvSpPr>
        <p:spPr>
          <a:xfrm>
            <a:off x="8549640" y="1755648"/>
            <a:ext cx="2953512"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2200"/>
              <a:buFont typeface="Cambria"/>
              <a:buNone/>
            </a:pPr>
            <a:r>
              <a:rPr b="1" i="0" lang="en-US" sz="2200" u="none" cap="none" strike="noStrike">
                <a:solidFill>
                  <a:srgbClr val="0F6E7A"/>
                </a:solidFill>
                <a:latin typeface="Cambria"/>
                <a:ea typeface="Cambria"/>
                <a:cs typeface="Cambria"/>
                <a:sym typeface="Cambria"/>
              </a:rPr>
              <a:t>10 194 celdas</a:t>
            </a:r>
            <a:endParaRPr b="0" i="0" sz="2200" u="none" cap="none" strike="noStrike">
              <a:solidFill>
                <a:schemeClr val="dk1"/>
              </a:solidFill>
              <a:latin typeface="Calibri"/>
              <a:ea typeface="Calibri"/>
              <a:cs typeface="Calibri"/>
              <a:sym typeface="Calibri"/>
            </a:endParaRPr>
          </a:p>
        </p:txBody>
      </p:sp>
      <p:sp>
        <p:nvSpPr>
          <p:cNvPr id="76" name="Google Shape;76;p6"/>
          <p:cNvSpPr txBox="1"/>
          <p:nvPr/>
        </p:nvSpPr>
        <p:spPr>
          <a:xfrm>
            <a:off x="8549640" y="2327148"/>
            <a:ext cx="2953512" cy="3886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de 1/12° · ≈ 853 mil km²</a:t>
            </a:r>
            <a:endParaRPr b="0" i="0" sz="1300" u="none" cap="none" strike="noStrike">
              <a:solidFill>
                <a:schemeClr val="dk1"/>
              </a:solidFill>
              <a:latin typeface="Calibri"/>
              <a:ea typeface="Calibri"/>
              <a:cs typeface="Calibri"/>
              <a:sym typeface="Calibri"/>
            </a:endParaRPr>
          </a:p>
        </p:txBody>
      </p:sp>
      <p:sp>
        <p:nvSpPr>
          <p:cNvPr id="77" name="Google Shape;77;p6"/>
          <p:cNvSpPr/>
          <p:nvPr/>
        </p:nvSpPr>
        <p:spPr>
          <a:xfrm>
            <a:off x="5120640" y="3108960"/>
            <a:ext cx="292608" cy="292608"/>
          </a:xfrm>
          <a:prstGeom prst="ellipse">
            <a:avLst/>
          </a:prstGeom>
          <a:solidFill>
            <a:srgbClr val="7A9FD6"/>
          </a:solidFill>
          <a:ln cap="flat" cmpd="sng" w="12700">
            <a:solidFill>
              <a:srgbClr val="7A9FD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6"/>
          <p:cNvSpPr txBox="1"/>
          <p:nvPr/>
        </p:nvSpPr>
        <p:spPr>
          <a:xfrm>
            <a:off x="5577840" y="3017520"/>
            <a:ext cx="60350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800"/>
              <a:buFont typeface="Calibri"/>
              <a:buNone/>
            </a:pPr>
            <a:r>
              <a:rPr b="1" i="0" lang="en-US" sz="1800" u="none" cap="none" strike="noStrike">
                <a:solidFill>
                  <a:srgbClr val="12263A"/>
                </a:solidFill>
                <a:latin typeface="Calibri"/>
                <a:ea typeface="Calibri"/>
                <a:cs typeface="Calibri"/>
                <a:sym typeface="Calibri"/>
              </a:rPr>
              <a:t>Norte  </a:t>
            </a:r>
            <a:r>
              <a:rPr b="0" i="0" lang="en-US" sz="1800" u="none" cap="none" strike="noStrike">
                <a:solidFill>
                  <a:srgbClr val="12263A"/>
                </a:solidFill>
                <a:latin typeface="Calibri"/>
                <a:ea typeface="Calibri"/>
                <a:cs typeface="Calibri"/>
                <a:sym typeface="Calibri"/>
              </a:rPr>
              <a:t>3.39–7°S   </a:t>
            </a:r>
            <a:r>
              <a:rPr b="0" i="0" lang="en-US" sz="1800" u="none" cap="none" strike="noStrike">
                <a:solidFill>
                  <a:srgbClr val="56636C"/>
                </a:solidFill>
                <a:latin typeface="Calibri"/>
                <a:ea typeface="Calibri"/>
                <a:cs typeface="Calibri"/>
                <a:sym typeface="Calibri"/>
              </a:rPr>
              <a:t>1 936 celdas</a:t>
            </a:r>
            <a:endParaRPr b="0" i="0" sz="1800" u="none" cap="none" strike="noStrike">
              <a:solidFill>
                <a:schemeClr val="dk1"/>
              </a:solidFill>
              <a:latin typeface="Calibri"/>
              <a:ea typeface="Calibri"/>
              <a:cs typeface="Calibri"/>
              <a:sym typeface="Calibri"/>
            </a:endParaRPr>
          </a:p>
        </p:txBody>
      </p:sp>
      <p:sp>
        <p:nvSpPr>
          <p:cNvPr id="79" name="Google Shape;79;p6"/>
          <p:cNvSpPr/>
          <p:nvPr/>
        </p:nvSpPr>
        <p:spPr>
          <a:xfrm>
            <a:off x="5120640" y="3675888"/>
            <a:ext cx="292608" cy="292608"/>
          </a:xfrm>
          <a:prstGeom prst="ellipse">
            <a:avLst/>
          </a:prstGeom>
          <a:solidFill>
            <a:srgbClr val="E09A7E"/>
          </a:solidFill>
          <a:ln cap="flat" cmpd="sng" w="12700">
            <a:solidFill>
              <a:srgbClr val="E09A7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6"/>
          <p:cNvSpPr txBox="1"/>
          <p:nvPr/>
        </p:nvSpPr>
        <p:spPr>
          <a:xfrm>
            <a:off x="5577840" y="3584448"/>
            <a:ext cx="60350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800"/>
              <a:buFont typeface="Calibri"/>
              <a:buNone/>
            </a:pPr>
            <a:r>
              <a:rPr b="1" i="0" lang="en-US" sz="1800" u="none" cap="none" strike="noStrike">
                <a:solidFill>
                  <a:srgbClr val="12263A"/>
                </a:solidFill>
                <a:latin typeface="Calibri"/>
                <a:ea typeface="Calibri"/>
                <a:cs typeface="Calibri"/>
                <a:sym typeface="Calibri"/>
              </a:rPr>
              <a:t>Centro  </a:t>
            </a:r>
            <a:r>
              <a:rPr b="0" i="0" lang="en-US" sz="1800" u="none" cap="none" strike="noStrike">
                <a:solidFill>
                  <a:srgbClr val="12263A"/>
                </a:solidFill>
                <a:latin typeface="Calibri"/>
                <a:ea typeface="Calibri"/>
                <a:cs typeface="Calibri"/>
                <a:sym typeface="Calibri"/>
              </a:rPr>
              <a:t>7–12°S   </a:t>
            </a:r>
            <a:r>
              <a:rPr b="0" i="0" lang="en-US" sz="1800" u="none" cap="none" strike="noStrike">
                <a:solidFill>
                  <a:srgbClr val="56636C"/>
                </a:solidFill>
                <a:latin typeface="Calibri"/>
                <a:ea typeface="Calibri"/>
                <a:cs typeface="Calibri"/>
                <a:sym typeface="Calibri"/>
              </a:rPr>
              <a:t>3 037 celdas</a:t>
            </a:r>
            <a:endParaRPr b="0" i="0" sz="1800" u="none" cap="none" strike="noStrike">
              <a:solidFill>
                <a:schemeClr val="dk1"/>
              </a:solidFill>
              <a:latin typeface="Calibri"/>
              <a:ea typeface="Calibri"/>
              <a:cs typeface="Calibri"/>
              <a:sym typeface="Calibri"/>
            </a:endParaRPr>
          </a:p>
        </p:txBody>
      </p:sp>
      <p:sp>
        <p:nvSpPr>
          <p:cNvPr id="81" name="Google Shape;81;p6"/>
          <p:cNvSpPr/>
          <p:nvPr/>
        </p:nvSpPr>
        <p:spPr>
          <a:xfrm>
            <a:off x="5120640" y="4242816"/>
            <a:ext cx="292608" cy="292608"/>
          </a:xfrm>
          <a:prstGeom prst="ellipse">
            <a:avLst/>
          </a:prstGeom>
          <a:solidFill>
            <a:srgbClr val="72BFA4"/>
          </a:solidFill>
          <a:ln cap="flat" cmpd="sng" w="12700">
            <a:solidFill>
              <a:srgbClr val="72BF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p:cNvSpPr txBox="1"/>
          <p:nvPr/>
        </p:nvSpPr>
        <p:spPr>
          <a:xfrm>
            <a:off x="5577840" y="4151376"/>
            <a:ext cx="603504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800"/>
              <a:buFont typeface="Calibri"/>
              <a:buNone/>
            </a:pPr>
            <a:r>
              <a:rPr b="1" i="0" lang="en-US" sz="1800" u="none" cap="none" strike="noStrike">
                <a:solidFill>
                  <a:srgbClr val="12263A"/>
                </a:solidFill>
                <a:latin typeface="Calibri"/>
                <a:ea typeface="Calibri"/>
                <a:cs typeface="Calibri"/>
                <a:sym typeface="Calibri"/>
              </a:rPr>
              <a:t>Sur  </a:t>
            </a:r>
            <a:r>
              <a:rPr b="0" i="0" lang="en-US" sz="1800" u="none" cap="none" strike="noStrike">
                <a:solidFill>
                  <a:srgbClr val="12263A"/>
                </a:solidFill>
                <a:latin typeface="Calibri"/>
                <a:ea typeface="Calibri"/>
                <a:cs typeface="Calibri"/>
                <a:sym typeface="Calibri"/>
              </a:rPr>
              <a:t>12–20.21°S   </a:t>
            </a:r>
            <a:r>
              <a:rPr b="0" i="0" lang="en-US" sz="1800" u="none" cap="none" strike="noStrike">
                <a:solidFill>
                  <a:srgbClr val="56636C"/>
                </a:solidFill>
                <a:latin typeface="Calibri"/>
                <a:ea typeface="Calibri"/>
                <a:cs typeface="Calibri"/>
                <a:sym typeface="Calibri"/>
              </a:rPr>
              <a:t>5 221 celdas</a:t>
            </a:r>
            <a:endParaRPr b="0" i="0" sz="1800" u="none" cap="none" strike="noStrike">
              <a:solidFill>
                <a:schemeClr val="dk1"/>
              </a:solidFill>
              <a:latin typeface="Calibri"/>
              <a:ea typeface="Calibri"/>
              <a:cs typeface="Calibri"/>
              <a:sym typeface="Calibri"/>
            </a:endParaRPr>
          </a:p>
        </p:txBody>
      </p:sp>
      <p:sp>
        <p:nvSpPr>
          <p:cNvPr id="83" name="Google Shape;83;p6"/>
          <p:cNvSpPr txBox="1"/>
          <p:nvPr/>
        </p:nvSpPr>
        <p:spPr>
          <a:xfrm>
            <a:off x="5120640" y="4754880"/>
            <a:ext cx="649224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500"/>
              <a:buFont typeface="Calibri"/>
              <a:buNone/>
            </a:pPr>
            <a:r>
              <a:rPr b="0" i="0" lang="en-US" sz="1500" u="none" cap="none" strike="noStrike">
                <a:solidFill>
                  <a:srgbClr val="56636C"/>
                </a:solidFill>
                <a:latin typeface="Calibri"/>
                <a:ea typeface="Calibri"/>
                <a:cs typeface="Calibri"/>
                <a:sym typeface="Calibri"/>
              </a:rPr>
              <a:t>Se dividió por latitud para ver si la relación es la misma en todo el Perú (heterogeneidad latitudinal).</a:t>
            </a:r>
            <a:endParaRPr b="0" i="0" sz="1500" u="none" cap="none" strike="noStrike">
              <a:solidFill>
                <a:schemeClr val="dk1"/>
              </a:solidFill>
              <a:latin typeface="Calibri"/>
              <a:ea typeface="Calibri"/>
              <a:cs typeface="Calibri"/>
              <a:sym typeface="Calibri"/>
            </a:endParaRPr>
          </a:p>
        </p:txBody>
      </p:sp>
      <p:sp>
        <p:nvSpPr>
          <p:cNvPr id="84" name="Google Shape;84;p6"/>
          <p:cNvSpPr/>
          <p:nvPr/>
        </p:nvSpPr>
        <p:spPr>
          <a:xfrm>
            <a:off x="5120640" y="5394960"/>
            <a:ext cx="6519672" cy="868680"/>
          </a:xfrm>
          <a:prstGeom prst="roundRect">
            <a:avLst>
              <a:gd fmla="val 8421" name="adj"/>
            </a:avLst>
          </a:prstGeom>
          <a:solidFill>
            <a:srgbClr val="FFFFFF"/>
          </a:solidFill>
          <a:ln cap="flat" cmpd="sng" w="19050">
            <a:solidFill>
              <a:srgbClr val="D953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6"/>
          <p:cNvSpPr txBox="1"/>
          <p:nvPr/>
        </p:nvSpPr>
        <p:spPr>
          <a:xfrm>
            <a:off x="5303520" y="5394960"/>
            <a:ext cx="62179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400"/>
              <a:buFont typeface="Calibri"/>
              <a:buNone/>
            </a:pPr>
            <a:r>
              <a:rPr b="0" i="0" lang="en-US" sz="1400" u="none" cap="none" strike="noStrike">
                <a:solidFill>
                  <a:srgbClr val="12263A"/>
                </a:solidFill>
                <a:latin typeface="Calibri"/>
                <a:ea typeface="Calibri"/>
                <a:cs typeface="Calibri"/>
                <a:sym typeface="Calibri"/>
              </a:rPr>
              <a:t>La ZEE usada es una reconstrucción geométrica (200 millas náuticas y límites aproximados con Ecuador y Chile), no el polígono oficial MRGID 8432.</a:t>
            </a:r>
            <a:endParaRPr b="0" i="0" sz="1400" u="none" cap="none" strike="noStrike">
              <a:solidFill>
                <a:schemeClr val="dk1"/>
              </a:solidFill>
              <a:latin typeface="Calibri"/>
              <a:ea typeface="Calibri"/>
              <a:cs typeface="Calibri"/>
              <a:sym typeface="Calibri"/>
            </a:endParaRPr>
          </a:p>
        </p:txBody>
      </p:sp>
      <p:sp>
        <p:nvSpPr>
          <p:cNvPr id="86" name="Google Shape;86;p6"/>
          <p:cNvSpPr txBox="1"/>
          <p:nvPr/>
        </p:nvSpPr>
        <p:spPr>
          <a:xfrm>
            <a:off x="548640" y="6400800"/>
            <a:ext cx="10332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000"/>
              <a:buFont typeface="Calibri"/>
              <a:buNone/>
            </a:pPr>
            <a:r>
              <a:rPr b="0" i="1" lang="en-US" sz="1000" u="none" cap="none" strike="noStrike">
                <a:solidFill>
                  <a:srgbClr val="56636C"/>
                </a:solidFill>
                <a:latin typeface="Calibri"/>
                <a:ea typeface="Calibri"/>
                <a:cs typeface="Calibri"/>
                <a:sym typeface="Calibri"/>
              </a:rPr>
              <a:t>Referencia del polígono oficial: Flanders Marine Institute (2023). Datos: Copernicus Marine (GLOBAL_ANALYSISFORECAST_PHY_001_024; WIND_GLO_PHY_L4_NRT_012_004). Figura: elaboración propia, scripts reproducibles.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7"/>
          <p:cNvSpPr/>
          <p:nvPr/>
        </p:nvSpPr>
        <p:spPr>
          <a:xfrm>
            <a:off x="548640" y="347472"/>
            <a:ext cx="960120"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p:cNvSpPr txBox="1"/>
          <p:nvPr/>
        </p:nvSpPr>
        <p:spPr>
          <a:xfrm>
            <a:off x="548640" y="347472"/>
            <a:ext cx="9601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DATOS</a:t>
            </a:r>
            <a:endParaRPr b="0" i="0" sz="1100" u="none" cap="none" strike="noStrike">
              <a:solidFill>
                <a:schemeClr val="dk1"/>
              </a:solidFill>
              <a:latin typeface="Calibri"/>
              <a:ea typeface="Calibri"/>
              <a:cs typeface="Calibri"/>
              <a:sym typeface="Calibri"/>
            </a:endParaRPr>
          </a:p>
        </p:txBody>
      </p:sp>
      <p:sp>
        <p:nvSpPr>
          <p:cNvPr id="94" name="Google Shape;94;p7"/>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¿Qué datos utilizamos?</a:t>
            </a:r>
            <a:endParaRPr b="0" i="0" sz="3200" u="none" cap="none" strike="noStrike">
              <a:solidFill>
                <a:schemeClr val="dk1"/>
              </a:solidFill>
              <a:latin typeface="Calibri"/>
              <a:ea typeface="Calibri"/>
              <a:cs typeface="Calibri"/>
              <a:sym typeface="Calibri"/>
            </a:endParaRPr>
          </a:p>
        </p:txBody>
      </p:sp>
      <p:sp>
        <p:nvSpPr>
          <p:cNvPr id="95" name="Google Shape;95;p7"/>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5</a:t>
            </a:r>
            <a:endParaRPr b="0" i="0" sz="1100" u="none" cap="none" strike="noStrike">
              <a:solidFill>
                <a:schemeClr val="dk1"/>
              </a:solidFill>
              <a:latin typeface="Calibri"/>
              <a:ea typeface="Calibri"/>
              <a:cs typeface="Calibri"/>
              <a:sym typeface="Calibri"/>
            </a:endParaRPr>
          </a:p>
        </p:txBody>
      </p:sp>
      <p:sp>
        <p:nvSpPr>
          <p:cNvPr id="96" name="Google Shape;96;p7"/>
          <p:cNvSpPr/>
          <p:nvPr/>
        </p:nvSpPr>
        <p:spPr>
          <a:xfrm>
            <a:off x="548640" y="1691640"/>
            <a:ext cx="2651760" cy="2103120"/>
          </a:xfrm>
          <a:prstGeom prst="roundRect">
            <a:avLst>
              <a:gd fmla="val 4348" name="adj"/>
            </a:avLst>
          </a:prstGeom>
          <a:solidFill>
            <a:srgbClr val="F6F9FA"/>
          </a:solidFill>
          <a:ln cap="flat" cmpd="sng" w="19050">
            <a:solidFill>
              <a:srgbClr val="2A77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7"/>
          <p:cNvSpPr txBox="1"/>
          <p:nvPr/>
        </p:nvSpPr>
        <p:spPr>
          <a:xfrm>
            <a:off x="713232" y="1828800"/>
            <a:ext cx="23317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6E7A"/>
              </a:buClr>
              <a:buSzPts val="1800"/>
              <a:buFont typeface="Cambria"/>
              <a:buNone/>
            </a:pPr>
            <a:r>
              <a:rPr b="1" i="0" lang="en-US" sz="1800" u="none" cap="none" strike="noStrike">
                <a:solidFill>
                  <a:srgbClr val="0F6E7A"/>
                </a:solidFill>
                <a:latin typeface="Cambria"/>
                <a:ea typeface="Cambria"/>
                <a:cs typeface="Cambria"/>
                <a:sym typeface="Cambria"/>
              </a:rPr>
              <a:t>Corrientes u, v</a:t>
            </a:r>
            <a:endParaRPr b="0" i="0" sz="1800" u="none" cap="none" strike="noStrike">
              <a:solidFill>
                <a:schemeClr val="dk1"/>
              </a:solidFill>
              <a:latin typeface="Calibri"/>
              <a:ea typeface="Calibri"/>
              <a:cs typeface="Calibri"/>
              <a:sym typeface="Calibri"/>
            </a:endParaRPr>
          </a:p>
        </p:txBody>
      </p:sp>
      <p:sp>
        <p:nvSpPr>
          <p:cNvPr id="98" name="Google Shape;98;p7"/>
          <p:cNvSpPr txBox="1"/>
          <p:nvPr/>
        </p:nvSpPr>
        <p:spPr>
          <a:xfrm>
            <a:off x="713232" y="2560320"/>
            <a:ext cx="23317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1/12° · diaria · 17 niveles (0.49–40.34 m)</a:t>
            </a:r>
            <a:endParaRPr b="0" i="0" sz="1300" u="none" cap="none" strike="noStrike">
              <a:solidFill>
                <a:schemeClr val="dk1"/>
              </a:solidFill>
              <a:latin typeface="Calibri"/>
              <a:ea typeface="Calibri"/>
              <a:cs typeface="Calibri"/>
              <a:sym typeface="Calibri"/>
            </a:endParaRPr>
          </a:p>
        </p:txBody>
      </p:sp>
      <p:sp>
        <p:nvSpPr>
          <p:cNvPr id="99" name="Google Shape;99;p7"/>
          <p:cNvSpPr txBox="1"/>
          <p:nvPr/>
        </p:nvSpPr>
        <p:spPr>
          <a:xfrm>
            <a:off x="713232" y="3200400"/>
            <a:ext cx="23317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400"/>
              <a:buFont typeface="Calibri"/>
              <a:buNone/>
            </a:pPr>
            <a:r>
              <a:rPr b="1" i="0" lang="en-US" sz="1400" u="none" cap="none" strike="noStrike">
                <a:solidFill>
                  <a:srgbClr val="12263A"/>
                </a:solidFill>
                <a:latin typeface="Calibri"/>
                <a:ea typeface="Calibri"/>
                <a:cs typeface="Calibri"/>
                <a:sym typeface="Calibri"/>
              </a:rPr>
              <a:t>→ D y perfiles</a:t>
            </a:r>
            <a:endParaRPr b="0" i="0" sz="1400" u="none" cap="none" strike="noStrike">
              <a:solidFill>
                <a:schemeClr val="dk1"/>
              </a:solidFill>
              <a:latin typeface="Calibri"/>
              <a:ea typeface="Calibri"/>
              <a:cs typeface="Calibri"/>
              <a:sym typeface="Calibri"/>
            </a:endParaRPr>
          </a:p>
        </p:txBody>
      </p:sp>
      <p:sp>
        <p:nvSpPr>
          <p:cNvPr id="100" name="Google Shape;100;p7"/>
          <p:cNvSpPr/>
          <p:nvPr/>
        </p:nvSpPr>
        <p:spPr>
          <a:xfrm>
            <a:off x="3355848" y="1691640"/>
            <a:ext cx="2651760" cy="2103120"/>
          </a:xfrm>
          <a:prstGeom prst="roundRect">
            <a:avLst>
              <a:gd fmla="val 4348" name="adj"/>
            </a:avLst>
          </a:prstGeom>
          <a:solidFill>
            <a:srgbClr val="F6F9FA"/>
          </a:solidFill>
          <a:ln cap="flat" cmpd="sng" w="19050">
            <a:solidFill>
              <a:srgbClr val="2A77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7"/>
          <p:cNvSpPr txBox="1"/>
          <p:nvPr/>
        </p:nvSpPr>
        <p:spPr>
          <a:xfrm>
            <a:off x="3520440" y="1828800"/>
            <a:ext cx="23317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6E7A"/>
              </a:buClr>
              <a:buSzPts val="1800"/>
              <a:buFont typeface="Cambria"/>
              <a:buNone/>
            </a:pPr>
            <a:r>
              <a:rPr b="1" i="0" lang="en-US" sz="1800" u="none" cap="none" strike="noStrike">
                <a:solidFill>
                  <a:srgbClr val="0F6E7A"/>
                </a:solidFill>
                <a:latin typeface="Cambria"/>
                <a:ea typeface="Cambria"/>
                <a:cs typeface="Cambria"/>
                <a:sym typeface="Cambria"/>
              </a:rPr>
              <a:t>Temperatura y salinidad</a:t>
            </a:r>
            <a:endParaRPr b="0" i="0" sz="1800" u="none" cap="none" strike="noStrike">
              <a:solidFill>
                <a:schemeClr val="dk1"/>
              </a:solidFill>
              <a:latin typeface="Calibri"/>
              <a:ea typeface="Calibri"/>
              <a:cs typeface="Calibri"/>
              <a:sym typeface="Calibri"/>
            </a:endParaRPr>
          </a:p>
        </p:txBody>
      </p:sp>
      <p:sp>
        <p:nvSpPr>
          <p:cNvPr id="102" name="Google Shape;102;p7"/>
          <p:cNvSpPr txBox="1"/>
          <p:nvPr/>
        </p:nvSpPr>
        <p:spPr>
          <a:xfrm>
            <a:off x="3520440" y="2560320"/>
            <a:ext cx="23317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1/12° · diaria · 17 niveles</a:t>
            </a:r>
            <a:endParaRPr b="0" i="0" sz="1300" u="none" cap="none" strike="noStrike">
              <a:solidFill>
                <a:schemeClr val="dk1"/>
              </a:solidFill>
              <a:latin typeface="Calibri"/>
              <a:ea typeface="Calibri"/>
              <a:cs typeface="Calibri"/>
              <a:sym typeface="Calibri"/>
            </a:endParaRPr>
          </a:p>
        </p:txBody>
      </p:sp>
      <p:sp>
        <p:nvSpPr>
          <p:cNvPr id="103" name="Google Shape;103;p7"/>
          <p:cNvSpPr txBox="1"/>
          <p:nvPr/>
        </p:nvSpPr>
        <p:spPr>
          <a:xfrm>
            <a:off x="3520440" y="3200400"/>
            <a:ext cx="23317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400"/>
              <a:buFont typeface="Calibri"/>
              <a:buNone/>
            </a:pPr>
            <a:r>
              <a:rPr b="1" i="0" lang="en-US" sz="1400" u="none" cap="none" strike="noStrike">
                <a:solidFill>
                  <a:srgbClr val="12263A"/>
                </a:solidFill>
                <a:latin typeface="Calibri"/>
                <a:ea typeface="Calibri"/>
                <a:cs typeface="Calibri"/>
                <a:sym typeface="Calibri"/>
              </a:rPr>
              <a:t>→ capa de mezcla (MLD)</a:t>
            </a:r>
            <a:endParaRPr b="0" i="0" sz="1400" u="none" cap="none" strike="noStrike">
              <a:solidFill>
                <a:schemeClr val="dk1"/>
              </a:solidFill>
              <a:latin typeface="Calibri"/>
              <a:ea typeface="Calibri"/>
              <a:cs typeface="Calibri"/>
              <a:sym typeface="Calibri"/>
            </a:endParaRPr>
          </a:p>
        </p:txBody>
      </p:sp>
      <p:sp>
        <p:nvSpPr>
          <p:cNvPr id="104" name="Google Shape;104;p7"/>
          <p:cNvSpPr/>
          <p:nvPr/>
        </p:nvSpPr>
        <p:spPr>
          <a:xfrm>
            <a:off x="6163056" y="1691640"/>
            <a:ext cx="2651760" cy="2103120"/>
          </a:xfrm>
          <a:prstGeom prst="roundRect">
            <a:avLst>
              <a:gd fmla="val 4348" name="adj"/>
            </a:avLst>
          </a:prstGeom>
          <a:solidFill>
            <a:srgbClr val="F6F9FA"/>
          </a:solidFill>
          <a:ln cap="flat" cmpd="sng" w="19050">
            <a:solidFill>
              <a:srgbClr val="2A77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7"/>
          <p:cNvSpPr txBox="1"/>
          <p:nvPr/>
        </p:nvSpPr>
        <p:spPr>
          <a:xfrm>
            <a:off x="6327648" y="1828800"/>
            <a:ext cx="23317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6E7A"/>
              </a:buClr>
              <a:buSzPts val="1800"/>
              <a:buFont typeface="Cambria"/>
              <a:buNone/>
            </a:pPr>
            <a:r>
              <a:rPr b="1" i="0" lang="en-US" sz="1800" u="none" cap="none" strike="noStrike">
                <a:solidFill>
                  <a:srgbClr val="0F6E7A"/>
                </a:solidFill>
                <a:latin typeface="Cambria"/>
                <a:ea typeface="Cambria"/>
                <a:cs typeface="Cambria"/>
                <a:sym typeface="Cambria"/>
              </a:rPr>
              <a:t>Nivel del mar η</a:t>
            </a:r>
            <a:endParaRPr b="0" i="0" sz="1800" u="none" cap="none" strike="noStrike">
              <a:solidFill>
                <a:schemeClr val="dk1"/>
              </a:solidFill>
              <a:latin typeface="Calibri"/>
              <a:ea typeface="Calibri"/>
              <a:cs typeface="Calibri"/>
              <a:sym typeface="Calibri"/>
            </a:endParaRPr>
          </a:p>
        </p:txBody>
      </p:sp>
      <p:sp>
        <p:nvSpPr>
          <p:cNvPr id="106" name="Google Shape;106;p7"/>
          <p:cNvSpPr txBox="1"/>
          <p:nvPr/>
        </p:nvSpPr>
        <p:spPr>
          <a:xfrm>
            <a:off x="6327648" y="2560320"/>
            <a:ext cx="23317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1/12° · horaria · sin marea</a:t>
            </a:r>
            <a:endParaRPr b="0" i="0" sz="1300" u="none" cap="none" strike="noStrike">
              <a:solidFill>
                <a:schemeClr val="dk1"/>
              </a:solidFill>
              <a:latin typeface="Calibri"/>
              <a:ea typeface="Calibri"/>
              <a:cs typeface="Calibri"/>
              <a:sym typeface="Calibri"/>
            </a:endParaRPr>
          </a:p>
        </p:txBody>
      </p:sp>
      <p:sp>
        <p:nvSpPr>
          <p:cNvPr id="107" name="Google Shape;107;p7"/>
          <p:cNvSpPr txBox="1"/>
          <p:nvPr/>
        </p:nvSpPr>
        <p:spPr>
          <a:xfrm>
            <a:off x="6327648" y="3200400"/>
            <a:ext cx="23317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400"/>
              <a:buFont typeface="Calibri"/>
              <a:buNone/>
            </a:pPr>
            <a:r>
              <a:rPr b="1" i="0" lang="en-US" sz="1400" u="none" cap="none" strike="noStrike">
                <a:solidFill>
                  <a:srgbClr val="12263A"/>
                </a:solidFill>
                <a:latin typeface="Calibri"/>
                <a:ea typeface="Calibri"/>
                <a:cs typeface="Calibri"/>
                <a:sym typeface="Calibri"/>
              </a:rPr>
              <a:t>→ geostrofía y señal costera</a:t>
            </a:r>
            <a:endParaRPr b="0" i="0" sz="1400" u="none" cap="none" strike="noStrike">
              <a:solidFill>
                <a:schemeClr val="dk1"/>
              </a:solidFill>
              <a:latin typeface="Calibri"/>
              <a:ea typeface="Calibri"/>
              <a:cs typeface="Calibri"/>
              <a:sym typeface="Calibri"/>
            </a:endParaRPr>
          </a:p>
        </p:txBody>
      </p:sp>
      <p:sp>
        <p:nvSpPr>
          <p:cNvPr id="108" name="Google Shape;108;p7"/>
          <p:cNvSpPr/>
          <p:nvPr/>
        </p:nvSpPr>
        <p:spPr>
          <a:xfrm>
            <a:off x="8970264" y="1691640"/>
            <a:ext cx="2651760" cy="2103120"/>
          </a:xfrm>
          <a:prstGeom prst="roundRect">
            <a:avLst>
              <a:gd fmla="val 4348" name="adj"/>
            </a:avLst>
          </a:prstGeom>
          <a:solidFill>
            <a:srgbClr val="F6F9FA"/>
          </a:solidFill>
          <a:ln cap="flat" cmpd="sng" w="19050">
            <a:solidFill>
              <a:srgbClr val="D953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7"/>
          <p:cNvSpPr txBox="1"/>
          <p:nvPr/>
        </p:nvSpPr>
        <p:spPr>
          <a:xfrm>
            <a:off x="9134856" y="1828800"/>
            <a:ext cx="23317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1E"/>
              </a:buClr>
              <a:buSzPts val="1800"/>
              <a:buFont typeface="Cambria"/>
              <a:buNone/>
            </a:pPr>
            <a:r>
              <a:rPr b="1" i="0" lang="en-US" sz="1800" u="none" cap="none" strike="noStrike">
                <a:solidFill>
                  <a:srgbClr val="D9531E"/>
                </a:solidFill>
                <a:latin typeface="Cambria"/>
                <a:ea typeface="Cambria"/>
                <a:cs typeface="Cambria"/>
                <a:sym typeface="Cambria"/>
              </a:rPr>
              <a:t>Esfuerzo del viento τx, τy</a:t>
            </a:r>
            <a:endParaRPr b="0" i="0" sz="1800" u="none" cap="none" strike="noStrike">
              <a:solidFill>
                <a:schemeClr val="dk1"/>
              </a:solidFill>
              <a:latin typeface="Calibri"/>
              <a:ea typeface="Calibri"/>
              <a:cs typeface="Calibri"/>
              <a:sym typeface="Calibri"/>
            </a:endParaRPr>
          </a:p>
        </p:txBody>
      </p:sp>
      <p:sp>
        <p:nvSpPr>
          <p:cNvPr id="110" name="Google Shape;110;p7"/>
          <p:cNvSpPr txBox="1"/>
          <p:nvPr/>
        </p:nvSpPr>
        <p:spPr>
          <a:xfrm>
            <a:off x="9134856" y="2560320"/>
            <a:ext cx="23317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0.125° · horaria · N m⁻²</a:t>
            </a:r>
            <a:endParaRPr b="0" i="0" sz="1300" u="none" cap="none" strike="noStrike">
              <a:solidFill>
                <a:schemeClr val="dk1"/>
              </a:solidFill>
              <a:latin typeface="Calibri"/>
              <a:ea typeface="Calibri"/>
              <a:cs typeface="Calibri"/>
              <a:sym typeface="Calibri"/>
            </a:endParaRPr>
          </a:p>
        </p:txBody>
      </p:sp>
      <p:sp>
        <p:nvSpPr>
          <p:cNvPr id="111" name="Google Shape;111;p7"/>
          <p:cNvSpPr txBox="1"/>
          <p:nvPr/>
        </p:nvSpPr>
        <p:spPr>
          <a:xfrm>
            <a:off x="9134856" y="3200400"/>
            <a:ext cx="233172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400"/>
              <a:buFont typeface="Calibri"/>
              <a:buNone/>
            </a:pPr>
            <a:r>
              <a:rPr b="1" i="0" lang="en-US" sz="1400" u="none" cap="none" strike="noStrike">
                <a:solidFill>
                  <a:srgbClr val="12263A"/>
                </a:solidFill>
                <a:latin typeface="Calibri"/>
                <a:ea typeface="Calibri"/>
                <a:cs typeface="Calibri"/>
                <a:sym typeface="Calibri"/>
              </a:rPr>
              <a:t>→ forzamiento en superficie</a:t>
            </a:r>
            <a:endParaRPr b="0" i="0" sz="1400" u="none" cap="none" strike="noStrike">
              <a:solidFill>
                <a:schemeClr val="dk1"/>
              </a:solidFill>
              <a:latin typeface="Calibri"/>
              <a:ea typeface="Calibri"/>
              <a:cs typeface="Calibri"/>
              <a:sym typeface="Calibri"/>
            </a:endParaRPr>
          </a:p>
        </p:txBody>
      </p:sp>
      <p:sp>
        <p:nvSpPr>
          <p:cNvPr id="112" name="Google Shape;112;p7"/>
          <p:cNvSpPr txBox="1"/>
          <p:nvPr/>
        </p:nvSpPr>
        <p:spPr>
          <a:xfrm>
            <a:off x="548640" y="3886200"/>
            <a:ext cx="82296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77D4"/>
              </a:buClr>
              <a:buSzPts val="1300"/>
              <a:buFont typeface="Calibri"/>
              <a:buNone/>
            </a:pPr>
            <a:r>
              <a:rPr b="1" i="0" lang="en-US" sz="1300" u="none" cap="none" strike="noStrike">
                <a:solidFill>
                  <a:srgbClr val="2A77D4"/>
                </a:solidFill>
                <a:latin typeface="Calibri"/>
                <a:ea typeface="Calibri"/>
                <a:cs typeface="Calibri"/>
                <a:sym typeface="Calibri"/>
              </a:rPr>
              <a:t>Modelo oceánico con asimilación de datos: GLOBAL_ANALYSISFORECAST_PHY_001_024</a:t>
            </a:r>
            <a:endParaRPr b="0" i="0" sz="1300" u="none" cap="none" strike="noStrike">
              <a:solidFill>
                <a:schemeClr val="dk1"/>
              </a:solidFill>
              <a:latin typeface="Calibri"/>
              <a:ea typeface="Calibri"/>
              <a:cs typeface="Calibri"/>
              <a:sym typeface="Calibri"/>
            </a:endParaRPr>
          </a:p>
        </p:txBody>
      </p:sp>
      <p:sp>
        <p:nvSpPr>
          <p:cNvPr id="113" name="Google Shape;113;p7"/>
          <p:cNvSpPr txBox="1"/>
          <p:nvPr/>
        </p:nvSpPr>
        <p:spPr>
          <a:xfrm>
            <a:off x="8961120" y="3886200"/>
            <a:ext cx="269748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1E"/>
              </a:buClr>
              <a:buSzPts val="1300"/>
              <a:buFont typeface="Calibri"/>
              <a:buNone/>
            </a:pPr>
            <a:r>
              <a:rPr b="1" i="0" lang="en-US" sz="1300" u="none" cap="none" strike="noStrike">
                <a:solidFill>
                  <a:srgbClr val="D9531E"/>
                </a:solidFill>
                <a:latin typeface="Calibri"/>
                <a:ea typeface="Calibri"/>
                <a:cs typeface="Calibri"/>
                <a:sym typeface="Calibri"/>
              </a:rPr>
              <a:t>WIND_GLO_PHY_L4_NRT_012_004</a:t>
            </a:r>
            <a:endParaRPr b="0" i="0" sz="1300" u="none" cap="none" strike="noStrike">
              <a:solidFill>
                <a:schemeClr val="dk1"/>
              </a:solidFill>
              <a:latin typeface="Calibri"/>
              <a:ea typeface="Calibri"/>
              <a:cs typeface="Calibri"/>
              <a:sym typeface="Calibri"/>
            </a:endParaRPr>
          </a:p>
        </p:txBody>
      </p:sp>
      <p:sp>
        <p:nvSpPr>
          <p:cNvPr id="114" name="Google Shape;114;p7"/>
          <p:cNvSpPr/>
          <p:nvPr/>
        </p:nvSpPr>
        <p:spPr>
          <a:xfrm>
            <a:off x="548640" y="4434840"/>
            <a:ext cx="11091672" cy="1234440"/>
          </a:xfrm>
          <a:prstGeom prst="roundRect">
            <a:avLst>
              <a:gd fmla="val 7407" name="adj"/>
            </a:avLst>
          </a:prstGeom>
          <a:solidFill>
            <a:srgbClr val="FFFFFF"/>
          </a:solidFill>
          <a:ln cap="flat" cmpd="sng" w="22225">
            <a:solidFill>
              <a:srgbClr val="D953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txBox="1"/>
          <p:nvPr/>
        </p:nvSpPr>
        <p:spPr>
          <a:xfrm>
            <a:off x="777240" y="4434840"/>
            <a:ext cx="10698480" cy="12344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31E"/>
              </a:buClr>
              <a:buSzPts val="1700"/>
              <a:buFont typeface="Calibri"/>
              <a:buNone/>
            </a:pPr>
            <a:r>
              <a:rPr b="1" i="0" lang="en-US" sz="1700" u="none" cap="none" strike="noStrike">
                <a:solidFill>
                  <a:srgbClr val="D9531E"/>
                </a:solidFill>
                <a:latin typeface="Calibri"/>
                <a:ea typeface="Calibri"/>
                <a:cs typeface="Calibri"/>
                <a:sym typeface="Calibri"/>
              </a:rPr>
              <a:t>Viento y corrientes no son independientes. </a:t>
            </a:r>
            <a:r>
              <a:rPr b="0" i="0" lang="en-US" sz="1700" u="none" cap="none" strike="noStrike">
                <a:solidFill>
                  <a:srgbClr val="12263A"/>
                </a:solidFill>
                <a:latin typeface="Calibri"/>
                <a:ea typeface="Calibri"/>
                <a:cs typeface="Calibri"/>
                <a:sym typeface="Calibri"/>
              </a:rPr>
              <a:t>El modelo oceánico está forzado por la atmósfera de ECMWF y el producto de viento también se basa en ECMWF. Parte de la asociación es la respuesta del modelo a su propio forzamiento.</a:t>
            </a:r>
            <a:endParaRPr b="0" i="0" sz="1700" u="none" cap="none" strike="noStrike">
              <a:solidFill>
                <a:schemeClr val="dk1"/>
              </a:solidFill>
              <a:latin typeface="Calibri"/>
              <a:ea typeface="Calibri"/>
              <a:cs typeface="Calibri"/>
              <a:sym typeface="Calibri"/>
            </a:endParaRPr>
          </a:p>
        </p:txBody>
      </p:sp>
      <p:sp>
        <p:nvSpPr>
          <p:cNvPr id="116" name="Google Shape;116;p7"/>
          <p:cNvSpPr/>
          <p:nvPr/>
        </p:nvSpPr>
        <p:spPr>
          <a:xfrm>
            <a:off x="548640" y="5806440"/>
            <a:ext cx="11091672" cy="475488"/>
          </a:xfrm>
          <a:prstGeom prst="roundRect">
            <a:avLst>
              <a:gd fmla="val 15385"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
          <p:cNvSpPr txBox="1"/>
          <p:nvPr/>
        </p:nvSpPr>
        <p:spPr>
          <a:xfrm>
            <a:off x="731520" y="5806440"/>
            <a:ext cx="10789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1800"/>
              <a:buFont typeface="Calibri"/>
              <a:buNone/>
            </a:pPr>
            <a:r>
              <a:rPr b="1" i="0" lang="en-US" sz="1800" u="none" cap="none" strike="noStrike">
                <a:solidFill>
                  <a:srgbClr val="0F6E7A"/>
                </a:solidFill>
                <a:latin typeface="Calibri"/>
                <a:ea typeface="Calibri"/>
                <a:cs typeface="Calibri"/>
                <a:sym typeface="Calibri"/>
              </a:rPr>
              <a:t>Son datos modelados y asimilados, no mediciones directas del océano.</a:t>
            </a:r>
            <a:endParaRPr b="0" i="0" sz="1800" u="none" cap="none" strike="noStrike">
              <a:solidFill>
                <a:schemeClr val="dk1"/>
              </a:solidFill>
              <a:latin typeface="Calibri"/>
              <a:ea typeface="Calibri"/>
              <a:cs typeface="Calibri"/>
              <a:sym typeface="Calibri"/>
            </a:endParaRPr>
          </a:p>
        </p:txBody>
      </p:sp>
      <p:sp>
        <p:nvSpPr>
          <p:cNvPr id="118" name="Google Shape;118;p7"/>
          <p:cNvSpPr txBox="1"/>
          <p:nvPr/>
        </p:nvSpPr>
        <p:spPr>
          <a:xfrm>
            <a:off x="548640" y="6400800"/>
            <a:ext cx="10332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000"/>
              <a:buFont typeface="Calibri"/>
              <a:buNone/>
            </a:pPr>
            <a:r>
              <a:rPr b="0" i="1" lang="en-US" sz="1000" u="none" cap="none" strike="noStrike">
                <a:solidFill>
                  <a:srgbClr val="56636C"/>
                </a:solidFill>
                <a:latin typeface="Calibri"/>
                <a:ea typeface="Calibri"/>
                <a:cs typeface="Calibri"/>
                <a:sym typeface="Calibri"/>
              </a:rPr>
              <a:t>Lellouche et al. (2018); Copernicus Marine Service (2024, 2025).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8"/>
          <p:cNvSpPr/>
          <p:nvPr/>
        </p:nvSpPr>
        <p:spPr>
          <a:xfrm>
            <a:off x="548640" y="347472"/>
            <a:ext cx="1069848"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txBox="1"/>
          <p:nvPr/>
        </p:nvSpPr>
        <p:spPr>
          <a:xfrm>
            <a:off x="548640" y="347472"/>
            <a:ext cx="106984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MÉTODO</a:t>
            </a:r>
            <a:endParaRPr b="0" i="0" sz="1100" u="none" cap="none" strike="noStrike">
              <a:solidFill>
                <a:schemeClr val="dk1"/>
              </a:solidFill>
              <a:latin typeface="Calibri"/>
              <a:ea typeface="Calibri"/>
              <a:cs typeface="Calibri"/>
              <a:sym typeface="Calibri"/>
            </a:endParaRPr>
          </a:p>
        </p:txBody>
      </p:sp>
      <p:sp>
        <p:nvSpPr>
          <p:cNvPr id="126" name="Google Shape;126;p8"/>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¿Cómo medimos la diferencia vertical?</a:t>
            </a:r>
            <a:endParaRPr b="0" i="0" sz="3200" u="none" cap="none" strike="noStrike">
              <a:solidFill>
                <a:schemeClr val="dk1"/>
              </a:solidFill>
              <a:latin typeface="Calibri"/>
              <a:ea typeface="Calibri"/>
              <a:cs typeface="Calibri"/>
              <a:sym typeface="Calibri"/>
            </a:endParaRPr>
          </a:p>
        </p:txBody>
      </p:sp>
      <p:sp>
        <p:nvSpPr>
          <p:cNvPr id="127" name="Google Shape;127;p8"/>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6</a:t>
            </a:r>
            <a:endParaRPr b="0" i="0" sz="1100" u="none" cap="none" strike="noStrike">
              <a:solidFill>
                <a:schemeClr val="dk1"/>
              </a:solidFill>
              <a:latin typeface="Calibri"/>
              <a:ea typeface="Calibri"/>
              <a:cs typeface="Calibri"/>
              <a:sym typeface="Calibri"/>
            </a:endParaRPr>
          </a:p>
        </p:txBody>
      </p:sp>
      <p:sp>
        <p:nvSpPr>
          <p:cNvPr id="128" name="Google Shape;128;p8"/>
          <p:cNvSpPr/>
          <p:nvPr/>
        </p:nvSpPr>
        <p:spPr>
          <a:xfrm>
            <a:off x="548640" y="1691640"/>
            <a:ext cx="6309360" cy="1097280"/>
          </a:xfrm>
          <a:prstGeom prst="roundRect">
            <a:avLst>
              <a:gd fmla="val 8333"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
          <p:cNvSpPr txBox="1"/>
          <p:nvPr/>
        </p:nvSpPr>
        <p:spPr>
          <a:xfrm>
            <a:off x="731520" y="1691640"/>
            <a:ext cx="5943600" cy="10972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263A"/>
              </a:buClr>
              <a:buSzPts val="3000"/>
              <a:buFont typeface="Cambria"/>
              <a:buNone/>
            </a:pPr>
            <a:r>
              <a:rPr b="0" i="0" lang="en-US" sz="3000" u="none" cap="none" strike="noStrike">
                <a:solidFill>
                  <a:srgbClr val="12263A"/>
                </a:solidFill>
                <a:latin typeface="Cambria"/>
                <a:ea typeface="Cambria"/>
                <a:cs typeface="Cambria"/>
                <a:sym typeface="Cambria"/>
              </a:rPr>
              <a:t>D = √[ (u</a:t>
            </a:r>
            <a:r>
              <a:rPr b="0" baseline="-25000" i="0" lang="en-US" sz="3000" u="none" cap="none" strike="noStrike">
                <a:solidFill>
                  <a:srgbClr val="12263A"/>
                </a:solidFill>
                <a:latin typeface="Cambria"/>
                <a:ea typeface="Cambria"/>
                <a:cs typeface="Cambria"/>
                <a:sym typeface="Cambria"/>
              </a:rPr>
              <a:t>s</a:t>
            </a:r>
            <a:r>
              <a:rPr b="0" i="0" lang="en-US" sz="3000" u="none" cap="none" strike="noStrike">
                <a:solidFill>
                  <a:srgbClr val="12263A"/>
                </a:solidFill>
                <a:latin typeface="Cambria"/>
                <a:ea typeface="Cambria"/>
                <a:cs typeface="Cambria"/>
                <a:sym typeface="Cambria"/>
              </a:rPr>
              <a:t> − u</a:t>
            </a:r>
            <a:r>
              <a:rPr b="0" baseline="-25000" i="0" lang="en-US" sz="3000" u="none" cap="none" strike="noStrike">
                <a:solidFill>
                  <a:srgbClr val="12263A"/>
                </a:solidFill>
                <a:latin typeface="Cambria"/>
                <a:ea typeface="Cambria"/>
                <a:cs typeface="Cambria"/>
                <a:sym typeface="Cambria"/>
              </a:rPr>
              <a:t>40</a:t>
            </a:r>
            <a:r>
              <a:rPr b="0" i="0" lang="en-US" sz="3000" u="none" cap="none" strike="noStrike">
                <a:solidFill>
                  <a:srgbClr val="12263A"/>
                </a:solidFill>
                <a:latin typeface="Cambria"/>
                <a:ea typeface="Cambria"/>
                <a:cs typeface="Cambria"/>
                <a:sym typeface="Cambria"/>
              </a:rPr>
              <a:t>)² + (v</a:t>
            </a:r>
            <a:r>
              <a:rPr b="0" baseline="-25000" i="0" lang="en-US" sz="3000" u="none" cap="none" strike="noStrike">
                <a:solidFill>
                  <a:srgbClr val="12263A"/>
                </a:solidFill>
                <a:latin typeface="Cambria"/>
                <a:ea typeface="Cambria"/>
                <a:cs typeface="Cambria"/>
                <a:sym typeface="Cambria"/>
              </a:rPr>
              <a:t>s</a:t>
            </a:r>
            <a:r>
              <a:rPr b="0" i="0" lang="en-US" sz="3000" u="none" cap="none" strike="noStrike">
                <a:solidFill>
                  <a:srgbClr val="12263A"/>
                </a:solidFill>
                <a:latin typeface="Cambria"/>
                <a:ea typeface="Cambria"/>
                <a:cs typeface="Cambria"/>
                <a:sym typeface="Cambria"/>
              </a:rPr>
              <a:t> − v</a:t>
            </a:r>
            <a:r>
              <a:rPr b="0" baseline="-25000" i="0" lang="en-US" sz="3000" u="none" cap="none" strike="noStrike">
                <a:solidFill>
                  <a:srgbClr val="12263A"/>
                </a:solidFill>
                <a:latin typeface="Cambria"/>
                <a:ea typeface="Cambria"/>
                <a:cs typeface="Cambria"/>
                <a:sym typeface="Cambria"/>
              </a:rPr>
              <a:t>40</a:t>
            </a:r>
            <a:r>
              <a:rPr b="0" i="0" lang="en-US" sz="3000" u="none" cap="none" strike="noStrike">
                <a:solidFill>
                  <a:srgbClr val="12263A"/>
                </a:solidFill>
                <a:latin typeface="Cambria"/>
                <a:ea typeface="Cambria"/>
                <a:cs typeface="Cambria"/>
                <a:sym typeface="Cambria"/>
              </a:rPr>
              <a:t>)² ]</a:t>
            </a:r>
            <a:endParaRPr b="0" i="0" sz="3000" u="none" cap="none" strike="noStrike">
              <a:solidFill>
                <a:schemeClr val="dk1"/>
              </a:solidFill>
              <a:latin typeface="Calibri"/>
              <a:ea typeface="Calibri"/>
              <a:cs typeface="Calibri"/>
              <a:sym typeface="Calibri"/>
            </a:endParaRPr>
          </a:p>
        </p:txBody>
      </p:sp>
      <p:sp>
        <p:nvSpPr>
          <p:cNvPr id="130" name="Google Shape;130;p8"/>
          <p:cNvSpPr txBox="1"/>
          <p:nvPr/>
        </p:nvSpPr>
        <p:spPr>
          <a:xfrm>
            <a:off x="548640" y="2971800"/>
            <a:ext cx="63093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6E7A"/>
              </a:buClr>
              <a:buSzPts val="2000"/>
              <a:buFont typeface="Calibri"/>
              <a:buNone/>
            </a:pPr>
            <a:r>
              <a:rPr b="1" i="0" lang="en-US" sz="2000" u="none" cap="none" strike="noStrike">
                <a:solidFill>
                  <a:srgbClr val="0F6E7A"/>
                </a:solidFill>
                <a:latin typeface="Calibri"/>
                <a:ea typeface="Calibri"/>
                <a:cs typeface="Calibri"/>
                <a:sym typeface="Calibri"/>
              </a:rPr>
              <a:t>D mide cuánto cambia el vector corriente entre la superficie y 40 m.</a:t>
            </a:r>
            <a:endParaRPr b="0" i="0" sz="2000" u="none" cap="none" strike="noStrike">
              <a:solidFill>
                <a:schemeClr val="dk1"/>
              </a:solidFill>
              <a:latin typeface="Calibri"/>
              <a:ea typeface="Calibri"/>
              <a:cs typeface="Calibri"/>
              <a:sym typeface="Calibri"/>
            </a:endParaRPr>
          </a:p>
        </p:txBody>
      </p:sp>
      <p:sp>
        <p:nvSpPr>
          <p:cNvPr id="131" name="Google Shape;131;p8"/>
          <p:cNvSpPr txBox="1"/>
          <p:nvPr/>
        </p:nvSpPr>
        <p:spPr>
          <a:xfrm>
            <a:off x="548640" y="3794760"/>
            <a:ext cx="6309360" cy="201168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12263A"/>
              </a:buClr>
              <a:buSzPts val="1600"/>
              <a:buFont typeface="Calibri"/>
              <a:buChar char="•"/>
            </a:pPr>
            <a:r>
              <a:rPr b="0" i="0" lang="en-US" sz="1600" u="none" cap="none" strike="noStrike">
                <a:solidFill>
                  <a:srgbClr val="12263A"/>
                </a:solidFill>
                <a:latin typeface="Calibri"/>
                <a:ea typeface="Calibri"/>
                <a:cs typeface="Calibri"/>
                <a:sym typeface="Calibri"/>
              </a:rPr>
              <a:t>Cuenta diferencias de rapidez y de dirección: dos corrientes igual de rápidas pero opuestas dan un D grande.</a:t>
            </a:r>
            <a:endParaRPr b="0" i="0" sz="1600" u="none" cap="none" strike="noStrike">
              <a:solidFill>
                <a:schemeClr val="dk1"/>
              </a:solidFill>
              <a:latin typeface="Calibri"/>
              <a:ea typeface="Calibri"/>
              <a:cs typeface="Calibri"/>
              <a:sym typeface="Calibri"/>
            </a:endParaRPr>
          </a:p>
          <a:p>
            <a:pPr indent="-228600" lvl="0" marL="228600" marR="0" rtl="0" algn="l">
              <a:spcBef>
                <a:spcPts val="800"/>
              </a:spcBef>
              <a:spcAft>
                <a:spcPts val="0"/>
              </a:spcAft>
              <a:buClr>
                <a:srgbClr val="12263A"/>
              </a:buClr>
              <a:buSzPts val="1600"/>
              <a:buFont typeface="Calibri"/>
              <a:buChar char="•"/>
            </a:pPr>
            <a:r>
              <a:rPr b="0" i="0" lang="en-US" sz="1600" u="none" cap="none" strike="noStrike">
                <a:solidFill>
                  <a:srgbClr val="12263A"/>
                </a:solidFill>
                <a:latin typeface="Calibri"/>
                <a:ea typeface="Calibri"/>
                <a:cs typeface="Calibri"/>
                <a:sym typeface="Calibri"/>
              </a:rPr>
              <a:t>Se calcula en cada celda y cada día; después se promedia (ponderando por cos de la latitud).</a:t>
            </a:r>
            <a:endParaRPr b="0" i="0" sz="1600" u="none" cap="none" strike="noStrike">
              <a:solidFill>
                <a:schemeClr val="dk1"/>
              </a:solidFill>
              <a:latin typeface="Calibri"/>
              <a:ea typeface="Calibri"/>
              <a:cs typeface="Calibri"/>
              <a:sym typeface="Calibri"/>
            </a:endParaRPr>
          </a:p>
          <a:p>
            <a:pPr indent="-228600" lvl="0" marL="228600" marR="0" rtl="0" algn="l">
              <a:spcBef>
                <a:spcPts val="800"/>
              </a:spcBef>
              <a:spcAft>
                <a:spcPts val="0"/>
              </a:spcAft>
              <a:buClr>
                <a:srgbClr val="12263A"/>
              </a:buClr>
              <a:buSzPts val="1600"/>
              <a:buFont typeface="Calibri"/>
              <a:buChar char="•"/>
            </a:pPr>
            <a:r>
              <a:rPr b="0" i="0" lang="en-US" sz="1600" u="none" cap="none" strike="noStrike">
                <a:solidFill>
                  <a:srgbClr val="12263A"/>
                </a:solidFill>
                <a:latin typeface="Calibri"/>
                <a:ea typeface="Calibri"/>
                <a:cs typeface="Calibri"/>
                <a:sym typeface="Calibri"/>
              </a:rPr>
              <a:t>D no es «efecto del viento»: su origen es justamente lo que evaluamos.</a:t>
            </a:r>
            <a:endParaRPr b="0" i="0" sz="1600" u="none" cap="none" strike="noStrike">
              <a:solidFill>
                <a:schemeClr val="dk1"/>
              </a:solidFill>
              <a:latin typeface="Calibri"/>
              <a:ea typeface="Calibri"/>
              <a:cs typeface="Calibri"/>
              <a:sym typeface="Calibri"/>
            </a:endParaRPr>
          </a:p>
        </p:txBody>
      </p:sp>
      <p:sp>
        <p:nvSpPr>
          <p:cNvPr id="132" name="Google Shape;132;p8"/>
          <p:cNvSpPr/>
          <p:nvPr/>
        </p:nvSpPr>
        <p:spPr>
          <a:xfrm>
            <a:off x="7223760" y="1691640"/>
            <a:ext cx="4416552" cy="3977640"/>
          </a:xfrm>
          <a:prstGeom prst="roundRect">
            <a:avLst>
              <a:gd fmla="val 2299"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33" name="Google Shape;133;p8"/>
          <p:cNvCxnSpPr/>
          <p:nvPr/>
        </p:nvCxnSpPr>
        <p:spPr>
          <a:xfrm flipH="1" rot="10800000">
            <a:off x="7772400" y="2468880"/>
            <a:ext cx="3291840" cy="2651760"/>
          </a:xfrm>
          <a:prstGeom prst="straightConnector1">
            <a:avLst/>
          </a:prstGeom>
          <a:noFill/>
          <a:ln cap="flat" cmpd="sng" w="50800">
            <a:solidFill>
              <a:srgbClr val="2A77D4"/>
            </a:solidFill>
            <a:prstDash val="solid"/>
            <a:round/>
            <a:headEnd len="sm" w="sm" type="none"/>
            <a:tailEnd len="med" w="med" type="triangle"/>
          </a:ln>
        </p:spPr>
      </p:cxnSp>
      <p:cxnSp>
        <p:nvCxnSpPr>
          <p:cNvPr id="134" name="Google Shape;134;p8"/>
          <p:cNvCxnSpPr/>
          <p:nvPr/>
        </p:nvCxnSpPr>
        <p:spPr>
          <a:xfrm flipH="1" rot="10800000">
            <a:off x="7772400" y="2651760"/>
            <a:ext cx="914400" cy="2468880"/>
          </a:xfrm>
          <a:prstGeom prst="straightConnector1">
            <a:avLst/>
          </a:prstGeom>
          <a:noFill/>
          <a:ln cap="flat" cmpd="sng" w="50800">
            <a:solidFill>
              <a:srgbClr val="D9531E"/>
            </a:solidFill>
            <a:prstDash val="solid"/>
            <a:round/>
            <a:headEnd len="sm" w="sm" type="none"/>
            <a:tailEnd len="med" w="med" type="triangle"/>
          </a:ln>
        </p:spPr>
      </p:cxnSp>
      <p:cxnSp>
        <p:nvCxnSpPr>
          <p:cNvPr id="135" name="Google Shape;135;p8"/>
          <p:cNvCxnSpPr/>
          <p:nvPr/>
        </p:nvCxnSpPr>
        <p:spPr>
          <a:xfrm flipH="1" rot="10800000">
            <a:off x="8686800" y="2468880"/>
            <a:ext cx="2377440" cy="182880"/>
          </a:xfrm>
          <a:prstGeom prst="straightConnector1">
            <a:avLst/>
          </a:prstGeom>
          <a:noFill/>
          <a:ln cap="flat" cmpd="sng" w="31750">
            <a:solidFill>
              <a:srgbClr val="12263A"/>
            </a:solidFill>
            <a:prstDash val="dash"/>
            <a:round/>
            <a:headEnd len="sm" w="sm" type="none"/>
            <a:tailEnd len="med" w="med" type="triangle"/>
          </a:ln>
        </p:spPr>
      </p:cxnSp>
      <p:sp>
        <p:nvSpPr>
          <p:cNvPr id="136" name="Google Shape;136;p8"/>
          <p:cNvSpPr/>
          <p:nvPr/>
        </p:nvSpPr>
        <p:spPr>
          <a:xfrm>
            <a:off x="7699248" y="5047488"/>
            <a:ext cx="146304" cy="146304"/>
          </a:xfrm>
          <a:prstGeom prst="ellipse">
            <a:avLst/>
          </a:prstGeom>
          <a:solidFill>
            <a:srgbClr val="12263A"/>
          </a:solidFill>
          <a:ln cap="flat" cmpd="sng" w="12700">
            <a:solidFill>
              <a:srgbClr val="122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txBox="1"/>
          <p:nvPr/>
        </p:nvSpPr>
        <p:spPr>
          <a:xfrm>
            <a:off x="9784080" y="3703320"/>
            <a:ext cx="173736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77D4"/>
              </a:buClr>
              <a:buSzPts val="1600"/>
              <a:buFont typeface="Calibri"/>
              <a:buNone/>
            </a:pPr>
            <a:r>
              <a:rPr b="1" i="0" lang="en-US" sz="1600" u="none" cap="none" strike="noStrike">
                <a:solidFill>
                  <a:srgbClr val="2A77D4"/>
                </a:solidFill>
                <a:latin typeface="Calibri"/>
                <a:ea typeface="Calibri"/>
                <a:cs typeface="Calibri"/>
                <a:sym typeface="Calibri"/>
              </a:rPr>
              <a:t>U superficie</a:t>
            </a:r>
            <a:endParaRPr b="0" i="0" sz="1600" u="none" cap="none" strike="noStrike">
              <a:solidFill>
                <a:schemeClr val="dk1"/>
              </a:solidFill>
              <a:latin typeface="Calibri"/>
              <a:ea typeface="Calibri"/>
              <a:cs typeface="Calibri"/>
              <a:sym typeface="Calibri"/>
            </a:endParaRPr>
          </a:p>
        </p:txBody>
      </p:sp>
      <p:sp>
        <p:nvSpPr>
          <p:cNvPr id="138" name="Google Shape;138;p8"/>
          <p:cNvSpPr txBox="1"/>
          <p:nvPr/>
        </p:nvSpPr>
        <p:spPr>
          <a:xfrm>
            <a:off x="7406640" y="3200400"/>
            <a:ext cx="11887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1E"/>
              </a:buClr>
              <a:buSzPts val="1600"/>
              <a:buFont typeface="Calibri"/>
              <a:buNone/>
            </a:pPr>
            <a:r>
              <a:rPr b="1" i="0" lang="en-US" sz="1600" u="none" cap="none" strike="noStrike">
                <a:solidFill>
                  <a:srgbClr val="D9531E"/>
                </a:solidFill>
                <a:latin typeface="Calibri"/>
                <a:ea typeface="Calibri"/>
                <a:cs typeface="Calibri"/>
                <a:sym typeface="Calibri"/>
              </a:rPr>
              <a:t>U 40 m</a:t>
            </a:r>
            <a:endParaRPr b="0" i="0" sz="1600" u="none" cap="none" strike="noStrike">
              <a:solidFill>
                <a:schemeClr val="dk1"/>
              </a:solidFill>
              <a:latin typeface="Calibri"/>
              <a:ea typeface="Calibri"/>
              <a:cs typeface="Calibri"/>
              <a:sym typeface="Calibri"/>
            </a:endParaRPr>
          </a:p>
        </p:txBody>
      </p:sp>
      <p:sp>
        <p:nvSpPr>
          <p:cNvPr id="139" name="Google Shape;139;p8"/>
          <p:cNvSpPr txBox="1"/>
          <p:nvPr/>
        </p:nvSpPr>
        <p:spPr>
          <a:xfrm>
            <a:off x="9646920" y="2011680"/>
            <a:ext cx="5486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2200"/>
              <a:buFont typeface="Cambria"/>
              <a:buNone/>
            </a:pPr>
            <a:r>
              <a:rPr b="1" i="0" lang="en-US" sz="2200" u="none" cap="none" strike="noStrike">
                <a:solidFill>
                  <a:srgbClr val="12263A"/>
                </a:solidFill>
                <a:latin typeface="Cambria"/>
                <a:ea typeface="Cambria"/>
                <a:cs typeface="Cambria"/>
                <a:sym typeface="Cambria"/>
              </a:rPr>
              <a:t>D</a:t>
            </a:r>
            <a:endParaRPr b="0" i="0" sz="2200" u="none" cap="none" strike="noStrike">
              <a:solidFill>
                <a:schemeClr val="dk1"/>
              </a:solidFill>
              <a:latin typeface="Calibri"/>
              <a:ea typeface="Calibri"/>
              <a:cs typeface="Calibri"/>
              <a:sym typeface="Calibri"/>
            </a:endParaRPr>
          </a:p>
        </p:txBody>
      </p:sp>
      <p:sp>
        <p:nvSpPr>
          <p:cNvPr id="140" name="Google Shape;140;p8"/>
          <p:cNvSpPr txBox="1"/>
          <p:nvPr/>
        </p:nvSpPr>
        <p:spPr>
          <a:xfrm>
            <a:off x="7406640" y="5257800"/>
            <a:ext cx="41148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200"/>
              <a:buFont typeface="Calibri"/>
              <a:buNone/>
            </a:pPr>
            <a:r>
              <a:rPr b="0" i="0" lang="en-US" sz="1200" u="none" cap="none" strike="noStrike">
                <a:solidFill>
                  <a:srgbClr val="56636C"/>
                </a:solidFill>
                <a:latin typeface="Calibri"/>
                <a:ea typeface="Calibri"/>
                <a:cs typeface="Calibri"/>
                <a:sym typeface="Calibri"/>
              </a:rPr>
              <a:t>D es la longitud de la flecha que une las puntas de ambos vectores.</a:t>
            </a:r>
            <a:endParaRPr b="0" i="0" sz="1200" u="none" cap="none" strike="noStrike">
              <a:solidFill>
                <a:schemeClr val="dk1"/>
              </a:solidFill>
              <a:latin typeface="Calibri"/>
              <a:ea typeface="Calibri"/>
              <a:cs typeface="Calibri"/>
              <a:sym typeface="Calibri"/>
            </a:endParaRPr>
          </a:p>
        </p:txBody>
      </p:sp>
      <p:sp>
        <p:nvSpPr>
          <p:cNvPr id="141" name="Google Shape;141;p8"/>
          <p:cNvSpPr/>
          <p:nvPr/>
        </p:nvSpPr>
        <p:spPr>
          <a:xfrm>
            <a:off x="548640" y="5806440"/>
            <a:ext cx="11091672" cy="475488"/>
          </a:xfrm>
          <a:prstGeom prst="roundRect">
            <a:avLst>
              <a:gd fmla="val 15385"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txBox="1"/>
          <p:nvPr/>
        </p:nvSpPr>
        <p:spPr>
          <a:xfrm>
            <a:off x="731520" y="5806440"/>
            <a:ext cx="10789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800"/>
              <a:buFont typeface="Calibri"/>
              <a:buNone/>
            </a:pPr>
            <a:r>
              <a:rPr b="1" i="0" lang="en-US" sz="1800" u="none" cap="none" strike="noStrike">
                <a:solidFill>
                  <a:srgbClr val="12263A"/>
                </a:solidFill>
                <a:latin typeface="Calibri"/>
                <a:ea typeface="Calibri"/>
                <a:cs typeface="Calibri"/>
                <a:sym typeface="Calibri"/>
              </a:rPr>
              <a:t>Esfuerzo del viento τ = fuerza del viento por unidad de área sobre el mar (N m⁻²).</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9"/>
          <p:cNvSpPr/>
          <p:nvPr/>
        </p:nvSpPr>
        <p:spPr>
          <a:xfrm>
            <a:off x="548640" y="347472"/>
            <a:ext cx="2167128"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
          <p:cNvSpPr txBox="1"/>
          <p:nvPr/>
        </p:nvSpPr>
        <p:spPr>
          <a:xfrm>
            <a:off x="548640" y="347472"/>
            <a:ext cx="216712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PATRÓN OBSERVADO</a:t>
            </a:r>
            <a:endParaRPr b="0" i="0" sz="1100" u="none" cap="none" strike="noStrike">
              <a:solidFill>
                <a:schemeClr val="dk1"/>
              </a:solidFill>
              <a:latin typeface="Calibri"/>
              <a:ea typeface="Calibri"/>
              <a:cs typeface="Calibri"/>
              <a:sym typeface="Calibri"/>
            </a:endParaRPr>
          </a:p>
        </p:txBody>
      </p:sp>
      <p:sp>
        <p:nvSpPr>
          <p:cNvPr id="150" name="Google Shape;150;p9"/>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Primer hallazgo: la superficie no es igual a 40 m</a:t>
            </a:r>
            <a:endParaRPr b="0" i="0" sz="3200" u="none" cap="none" strike="noStrike">
              <a:solidFill>
                <a:schemeClr val="dk1"/>
              </a:solidFill>
              <a:latin typeface="Calibri"/>
              <a:ea typeface="Calibri"/>
              <a:cs typeface="Calibri"/>
              <a:sym typeface="Calibri"/>
            </a:endParaRPr>
          </a:p>
        </p:txBody>
      </p:sp>
      <p:sp>
        <p:nvSpPr>
          <p:cNvPr id="151" name="Google Shape;151;p9"/>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7</a:t>
            </a:r>
            <a:endParaRPr b="0" i="0" sz="1100" u="none" cap="none" strike="noStrike">
              <a:solidFill>
                <a:schemeClr val="dk1"/>
              </a:solidFill>
              <a:latin typeface="Calibri"/>
              <a:ea typeface="Calibri"/>
              <a:cs typeface="Calibri"/>
              <a:sym typeface="Calibri"/>
            </a:endParaRPr>
          </a:p>
        </p:txBody>
      </p:sp>
      <p:pic>
        <p:nvPicPr>
          <p:cNvPr descr="/tmp/claude-0/-home-claude/39892b0b-c3c5-5855-9657-93e4cc1da44f/scratchpad/img/A03_perfiles_19_22.png" id="152" name="Google Shape;152;p9"/>
          <p:cNvPicPr preferRelativeResize="0"/>
          <p:nvPr/>
        </p:nvPicPr>
        <p:blipFill rotWithShape="1">
          <a:blip r:embed="rId3">
            <a:alphaModFix/>
          </a:blip>
          <a:srcRect b="0" l="0" r="0" t="0"/>
          <a:stretch/>
        </p:blipFill>
        <p:spPr>
          <a:xfrm>
            <a:off x="548640" y="1554480"/>
            <a:ext cx="3608614" cy="3886200"/>
          </a:xfrm>
          <a:prstGeom prst="rect">
            <a:avLst/>
          </a:prstGeom>
          <a:noFill/>
          <a:ln>
            <a:noFill/>
          </a:ln>
        </p:spPr>
      </p:pic>
      <p:sp>
        <p:nvSpPr>
          <p:cNvPr id="153" name="Google Shape;153;p9"/>
          <p:cNvSpPr txBox="1"/>
          <p:nvPr/>
        </p:nvSpPr>
        <p:spPr>
          <a:xfrm>
            <a:off x="548640" y="5468112"/>
            <a:ext cx="40233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200"/>
              <a:buFont typeface="Calibri"/>
              <a:buNone/>
            </a:pPr>
            <a:r>
              <a:rPr b="0" i="0" lang="en-US" sz="1200" u="none" cap="none" strike="noStrike">
                <a:solidFill>
                  <a:srgbClr val="56636C"/>
                </a:solidFill>
                <a:latin typeface="Calibri"/>
                <a:ea typeface="Calibri"/>
                <a:cs typeface="Calibri"/>
                <a:sym typeface="Calibri"/>
              </a:rPr>
              <a:t>Perfil vertical de la rapidez media en la ZEE</a:t>
            </a:r>
            <a:endParaRPr b="0" i="0" sz="1200" u="none" cap="none" strike="noStrike">
              <a:solidFill>
                <a:schemeClr val="dk1"/>
              </a:solidFill>
              <a:latin typeface="Calibri"/>
              <a:ea typeface="Calibri"/>
              <a:cs typeface="Calibri"/>
              <a:sym typeface="Calibri"/>
            </a:endParaRPr>
          </a:p>
        </p:txBody>
      </p:sp>
      <p:pic>
        <p:nvPicPr>
          <p:cNvPr descr="/tmp/claude-0/-home-claude/39892b0b-c3c5-5855-9657-93e4cc1da44f/scratchpad/img/s07_rapidez.png" id="154" name="Google Shape;154;p9"/>
          <p:cNvPicPr preferRelativeResize="0"/>
          <p:nvPr/>
        </p:nvPicPr>
        <p:blipFill rotWithShape="1">
          <a:blip r:embed="rId4">
            <a:alphaModFix/>
          </a:blip>
          <a:srcRect b="0" l="0" r="0" t="0"/>
          <a:stretch/>
        </p:blipFill>
        <p:spPr>
          <a:xfrm>
            <a:off x="4937760" y="1585455"/>
            <a:ext cx="6702552" cy="2178329"/>
          </a:xfrm>
          <a:prstGeom prst="rect">
            <a:avLst/>
          </a:prstGeom>
          <a:noFill/>
          <a:ln>
            <a:noFill/>
          </a:ln>
        </p:spPr>
      </p:pic>
      <p:sp>
        <p:nvSpPr>
          <p:cNvPr id="155" name="Google Shape;155;p9"/>
          <p:cNvSpPr txBox="1"/>
          <p:nvPr/>
        </p:nvSpPr>
        <p:spPr>
          <a:xfrm>
            <a:off x="4937760" y="3977640"/>
            <a:ext cx="6702552"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77D4"/>
              </a:buClr>
              <a:buSzPts val="1600"/>
              <a:buFont typeface="Calibri"/>
              <a:buNone/>
            </a:pPr>
            <a:r>
              <a:rPr b="1" i="0" lang="en-US" sz="1600" u="none" cap="none" strike="noStrike">
                <a:solidFill>
                  <a:srgbClr val="2A77D4"/>
                </a:solidFill>
                <a:latin typeface="Calibri"/>
                <a:ea typeface="Calibri"/>
                <a:cs typeface="Calibri"/>
                <a:sym typeface="Calibri"/>
              </a:rPr>
              <a:t>19 ago (viento máximo): </a:t>
            </a:r>
            <a:r>
              <a:rPr b="0" i="0" lang="en-US" sz="1600" u="none" cap="none" strike="noStrike">
                <a:solidFill>
                  <a:srgbClr val="12263A"/>
                </a:solidFill>
                <a:latin typeface="Calibri"/>
                <a:ea typeface="Calibri"/>
                <a:cs typeface="Calibri"/>
                <a:sym typeface="Calibri"/>
              </a:rPr>
              <a:t>0.265 → 0.175 m s⁻¹ de superficie a 40.34 m; el cambio ocurre sobre todo bajo ~15 m.</a:t>
            </a:r>
            <a:endParaRPr b="0" i="0" sz="16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D9531E"/>
              </a:buClr>
              <a:buSzPts val="1600"/>
              <a:buFont typeface="Calibri"/>
              <a:buNone/>
            </a:pPr>
            <a:r>
              <a:rPr b="1" i="0" lang="en-US" sz="1600" u="none" cap="none" strike="noStrike">
                <a:solidFill>
                  <a:srgbClr val="D9531E"/>
                </a:solidFill>
                <a:latin typeface="Calibri"/>
                <a:ea typeface="Calibri"/>
                <a:cs typeface="Calibri"/>
                <a:sym typeface="Calibri"/>
              </a:rPr>
              <a:t>22 ago (viento débil): </a:t>
            </a:r>
            <a:r>
              <a:rPr b="0" i="0" lang="en-US" sz="1600" u="none" cap="none" strike="noStrike">
                <a:solidFill>
                  <a:srgbClr val="12263A"/>
                </a:solidFill>
                <a:latin typeface="Calibri"/>
                <a:ea typeface="Calibri"/>
                <a:cs typeface="Calibri"/>
                <a:sym typeface="Calibri"/>
              </a:rPr>
              <a:t>perfil casi uniforme, 0.191 → 0.178 m s⁻¹.</a:t>
            </a:r>
            <a:endParaRPr b="0" i="0" sz="16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12263A"/>
              </a:buClr>
              <a:buSzPts val="1600"/>
              <a:buFont typeface="Calibri"/>
              <a:buNone/>
            </a:pPr>
            <a:r>
              <a:rPr b="1" i="0" lang="en-US" sz="1600" u="none" cap="none" strike="noStrike">
                <a:solidFill>
                  <a:srgbClr val="12263A"/>
                </a:solidFill>
                <a:latin typeface="Calibri"/>
                <a:ea typeface="Calibri"/>
                <a:cs typeface="Calibri"/>
                <a:sym typeface="Calibri"/>
              </a:rPr>
              <a:t>A 40.34 m la rapidez casi no cambió: </a:t>
            </a:r>
            <a:r>
              <a:rPr b="0" i="0" lang="en-US" sz="1600" u="none" cap="none" strike="noStrike">
                <a:solidFill>
                  <a:srgbClr val="12263A"/>
                </a:solidFill>
                <a:latin typeface="Calibri"/>
                <a:ea typeface="Calibri"/>
                <a:cs typeface="Calibri"/>
                <a:sym typeface="Calibri"/>
              </a:rPr>
              <a:t>0.162–0.185 m s⁻¹ en 14 días.</a:t>
            </a:r>
            <a:endParaRPr b="0" i="0" sz="1600" u="none" cap="none" strike="noStrike">
              <a:solidFill>
                <a:schemeClr val="dk1"/>
              </a:solidFill>
              <a:latin typeface="Calibri"/>
              <a:ea typeface="Calibri"/>
              <a:cs typeface="Calibri"/>
              <a:sym typeface="Calibri"/>
            </a:endParaRPr>
          </a:p>
        </p:txBody>
      </p:sp>
      <p:sp>
        <p:nvSpPr>
          <p:cNvPr id="156" name="Google Shape;156;p9"/>
          <p:cNvSpPr/>
          <p:nvPr/>
        </p:nvSpPr>
        <p:spPr>
          <a:xfrm>
            <a:off x="548640" y="5806440"/>
            <a:ext cx="11091672" cy="475488"/>
          </a:xfrm>
          <a:prstGeom prst="roundRect">
            <a:avLst>
              <a:gd fmla="val 15385"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
          <p:cNvSpPr txBox="1"/>
          <p:nvPr/>
        </p:nvSpPr>
        <p:spPr>
          <a:xfrm>
            <a:off x="731520" y="5806440"/>
            <a:ext cx="10789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1800"/>
              <a:buFont typeface="Calibri"/>
              <a:buNone/>
            </a:pPr>
            <a:r>
              <a:rPr b="1" i="0" lang="en-US" sz="1800" u="none" cap="none" strike="noStrike">
                <a:solidFill>
                  <a:srgbClr val="0F6E7A"/>
                </a:solidFill>
                <a:latin typeface="Calibri"/>
                <a:ea typeface="Calibri"/>
                <a:cs typeface="Calibri"/>
                <a:sym typeface="Calibri"/>
              </a:rPr>
              <a:t>La estructura vertical cambió notablemente durante el periodo.</a:t>
            </a:r>
            <a:endParaRPr b="0" i="0" sz="1800" u="none" cap="none" strike="noStrike">
              <a:solidFill>
                <a:schemeClr val="dk1"/>
              </a:solidFill>
              <a:latin typeface="Calibri"/>
              <a:ea typeface="Calibri"/>
              <a:cs typeface="Calibri"/>
              <a:sym typeface="Calibri"/>
            </a:endParaRPr>
          </a:p>
        </p:txBody>
      </p:sp>
      <p:sp>
        <p:nvSpPr>
          <p:cNvPr id="158" name="Google Shape;158;p9"/>
          <p:cNvSpPr txBox="1"/>
          <p:nvPr/>
        </p:nvSpPr>
        <p:spPr>
          <a:xfrm>
            <a:off x="548640" y="6400800"/>
            <a:ext cx="10332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000"/>
              <a:buFont typeface="Calibri"/>
              <a:buNone/>
            </a:pPr>
            <a:r>
              <a:rPr b="0" i="1" lang="en-US" sz="1000" u="none" cap="none" strike="noStrike">
                <a:solidFill>
                  <a:srgbClr val="56636C"/>
                </a:solidFill>
                <a:latin typeface="Calibri"/>
                <a:ea typeface="Calibri"/>
                <a:cs typeface="Calibri"/>
                <a:sym typeface="Calibri"/>
              </a:rPr>
              <a:t>Datos: Copernicus Marine (GLOBAL_ANALYSISFORECAST_PHY_001_024; WIND_GLO_PHY_L4_NRT_012_004). Figura: elaboración propia, scripts reproducibles.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p10"/>
          <p:cNvSpPr/>
          <p:nvPr/>
        </p:nvSpPr>
        <p:spPr>
          <a:xfrm>
            <a:off x="548640" y="347472"/>
            <a:ext cx="2167128"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0"/>
          <p:cNvSpPr txBox="1"/>
          <p:nvPr/>
        </p:nvSpPr>
        <p:spPr>
          <a:xfrm>
            <a:off x="548640" y="347472"/>
            <a:ext cx="216712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PATRÓN OBSERVADO</a:t>
            </a:r>
            <a:endParaRPr b="0" i="0" sz="1100" u="none" cap="none" strike="noStrike">
              <a:solidFill>
                <a:schemeClr val="dk1"/>
              </a:solidFill>
              <a:latin typeface="Calibri"/>
              <a:ea typeface="Calibri"/>
              <a:cs typeface="Calibri"/>
              <a:sym typeface="Calibri"/>
            </a:endParaRPr>
          </a:p>
        </p:txBody>
      </p:sp>
      <p:sp>
        <p:nvSpPr>
          <p:cNvPr id="166" name="Google Shape;166;p10"/>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Viento y diferenciación vertical</a:t>
            </a:r>
            <a:endParaRPr b="0" i="0" sz="3200" u="none" cap="none" strike="noStrike">
              <a:solidFill>
                <a:schemeClr val="dk1"/>
              </a:solidFill>
              <a:latin typeface="Calibri"/>
              <a:ea typeface="Calibri"/>
              <a:cs typeface="Calibri"/>
              <a:sym typeface="Calibri"/>
            </a:endParaRPr>
          </a:p>
        </p:txBody>
      </p:sp>
      <p:sp>
        <p:nvSpPr>
          <p:cNvPr id="167" name="Google Shape;167;p10"/>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8</a:t>
            </a:r>
            <a:endParaRPr b="0" i="0" sz="1100" u="none" cap="none" strike="noStrike">
              <a:solidFill>
                <a:schemeClr val="dk1"/>
              </a:solidFill>
              <a:latin typeface="Calibri"/>
              <a:ea typeface="Calibri"/>
              <a:cs typeface="Calibri"/>
              <a:sym typeface="Calibri"/>
            </a:endParaRPr>
          </a:p>
        </p:txBody>
      </p:sp>
      <p:pic>
        <p:nvPicPr>
          <p:cNvPr descr="/tmp/claude-0/-home-claude/39892b0b-c3c5-5855-9657-93e4cc1da44f/scratchpad/img/s08_zee.png" id="168" name="Google Shape;168;p10"/>
          <p:cNvPicPr preferRelativeResize="0"/>
          <p:nvPr/>
        </p:nvPicPr>
        <p:blipFill rotWithShape="1">
          <a:blip r:embed="rId3">
            <a:alphaModFix/>
          </a:blip>
          <a:srcRect b="0" l="0" r="0" t="0"/>
          <a:stretch/>
        </p:blipFill>
        <p:spPr>
          <a:xfrm>
            <a:off x="548640" y="1554480"/>
            <a:ext cx="3914173" cy="4160520"/>
          </a:xfrm>
          <a:prstGeom prst="rect">
            <a:avLst/>
          </a:prstGeom>
          <a:noFill/>
          <a:ln>
            <a:noFill/>
          </a:ln>
        </p:spPr>
      </p:pic>
      <p:sp>
        <p:nvSpPr>
          <p:cNvPr id="169" name="Google Shape;169;p10"/>
          <p:cNvSpPr txBox="1"/>
          <p:nvPr/>
        </p:nvSpPr>
        <p:spPr>
          <a:xfrm>
            <a:off x="548640" y="5742432"/>
            <a:ext cx="51206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200"/>
              <a:buFont typeface="Calibri"/>
              <a:buNone/>
            </a:pPr>
            <a:r>
              <a:rPr b="0" i="0" lang="en-US" sz="1200" u="none" cap="none" strike="noStrike">
                <a:solidFill>
                  <a:srgbClr val="56636C"/>
                </a:solidFill>
                <a:latin typeface="Calibri"/>
                <a:ea typeface="Calibri"/>
                <a:cs typeface="Calibri"/>
                <a:sym typeface="Calibri"/>
              </a:rPr>
              <a:t>Cada punto es un día (número = día de agosto). ZEE completa.</a:t>
            </a:r>
            <a:endParaRPr b="0" i="0" sz="1200" u="none" cap="none" strike="noStrike">
              <a:solidFill>
                <a:schemeClr val="dk1"/>
              </a:solidFill>
              <a:latin typeface="Calibri"/>
              <a:ea typeface="Calibri"/>
              <a:cs typeface="Calibri"/>
              <a:sym typeface="Calibri"/>
            </a:endParaRPr>
          </a:p>
        </p:txBody>
      </p:sp>
      <p:sp>
        <p:nvSpPr>
          <p:cNvPr id="170" name="Google Shape;170;p10"/>
          <p:cNvSpPr txBox="1"/>
          <p:nvPr/>
        </p:nvSpPr>
        <p:spPr>
          <a:xfrm>
            <a:off x="6126480" y="1645920"/>
            <a:ext cx="548640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1E"/>
              </a:buClr>
              <a:buSzPts val="6000"/>
              <a:buFont typeface="Cambria"/>
              <a:buNone/>
            </a:pPr>
            <a:r>
              <a:rPr b="1" i="0" lang="en-US" sz="6000" u="none" cap="none" strike="noStrike">
                <a:solidFill>
                  <a:srgbClr val="D9531E"/>
                </a:solidFill>
                <a:latin typeface="Cambria"/>
                <a:ea typeface="Cambria"/>
                <a:cs typeface="Cambria"/>
                <a:sym typeface="Cambria"/>
              </a:rPr>
              <a:t>r = 0.917</a:t>
            </a:r>
            <a:endParaRPr b="0" i="0" sz="6000" u="none" cap="none" strike="noStrike">
              <a:solidFill>
                <a:schemeClr val="dk1"/>
              </a:solidFill>
              <a:latin typeface="Calibri"/>
              <a:ea typeface="Calibri"/>
              <a:cs typeface="Calibri"/>
              <a:sym typeface="Calibri"/>
            </a:endParaRPr>
          </a:p>
        </p:txBody>
      </p:sp>
      <p:sp>
        <p:nvSpPr>
          <p:cNvPr id="171" name="Google Shape;171;p10"/>
          <p:cNvSpPr txBox="1"/>
          <p:nvPr/>
        </p:nvSpPr>
        <p:spPr>
          <a:xfrm>
            <a:off x="6126480" y="2651760"/>
            <a:ext cx="5486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500"/>
              <a:buFont typeface="Calibri"/>
              <a:buNone/>
            </a:pPr>
            <a:r>
              <a:rPr b="0" i="0" lang="en-US" sz="1500" u="none" cap="none" strike="noStrike">
                <a:solidFill>
                  <a:srgbClr val="56636C"/>
                </a:solidFill>
                <a:latin typeface="Calibri"/>
                <a:ea typeface="Calibri"/>
                <a:cs typeface="Calibri"/>
                <a:sym typeface="Calibri"/>
              </a:rPr>
              <a:t>Pearson entre |τ| y D · Spearman 0.86 · n = 14 días</a:t>
            </a:r>
            <a:endParaRPr b="0" i="0" sz="1500" u="none" cap="none" strike="noStrike">
              <a:solidFill>
                <a:schemeClr val="dk1"/>
              </a:solidFill>
              <a:latin typeface="Calibri"/>
              <a:ea typeface="Calibri"/>
              <a:cs typeface="Calibri"/>
              <a:sym typeface="Calibri"/>
            </a:endParaRPr>
          </a:p>
        </p:txBody>
      </p:sp>
      <p:sp>
        <p:nvSpPr>
          <p:cNvPr id="172" name="Google Shape;172;p10"/>
          <p:cNvSpPr txBox="1"/>
          <p:nvPr/>
        </p:nvSpPr>
        <p:spPr>
          <a:xfrm>
            <a:off x="6126480" y="3200400"/>
            <a:ext cx="54864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2000"/>
              <a:buFont typeface="Calibri"/>
              <a:buNone/>
            </a:pPr>
            <a:r>
              <a:rPr b="1" i="0" lang="en-US" sz="2000" u="none" cap="none" strike="noStrike">
                <a:solidFill>
                  <a:srgbClr val="12263A"/>
                </a:solidFill>
                <a:latin typeface="Calibri"/>
                <a:ea typeface="Calibri"/>
                <a:cs typeface="Calibri"/>
                <a:sym typeface="Calibri"/>
              </a:rPr>
              <a:t>Cuando aumentó el esfuerzo del viento, tendió a aumentar la diferencia entre superficie y 40 m.</a:t>
            </a:r>
            <a:endParaRPr b="0" i="0" sz="2000" u="none" cap="none" strike="noStrike">
              <a:solidFill>
                <a:schemeClr val="dk1"/>
              </a:solidFill>
              <a:latin typeface="Calibri"/>
              <a:ea typeface="Calibri"/>
              <a:cs typeface="Calibri"/>
              <a:sym typeface="Calibri"/>
            </a:endParaRPr>
          </a:p>
        </p:txBody>
      </p:sp>
      <p:sp>
        <p:nvSpPr>
          <p:cNvPr id="173" name="Google Shape;173;p10"/>
          <p:cNvSpPr/>
          <p:nvPr/>
        </p:nvSpPr>
        <p:spPr>
          <a:xfrm>
            <a:off x="6126480" y="4251960"/>
            <a:ext cx="2651760" cy="1234440"/>
          </a:xfrm>
          <a:prstGeom prst="roundRect">
            <a:avLst>
              <a:gd fmla="val 7407"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0"/>
          <p:cNvSpPr txBox="1"/>
          <p:nvPr/>
        </p:nvSpPr>
        <p:spPr>
          <a:xfrm>
            <a:off x="6263640" y="4361688"/>
            <a:ext cx="2377440"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36C"/>
              </a:buClr>
              <a:buSzPts val="2800"/>
              <a:buFont typeface="Cambria"/>
              <a:buNone/>
            </a:pPr>
            <a:r>
              <a:rPr b="1" i="0" lang="en-US" sz="2800" u="none" cap="none" strike="noStrike">
                <a:solidFill>
                  <a:srgbClr val="56636C"/>
                </a:solidFill>
                <a:latin typeface="Cambria"/>
                <a:ea typeface="Cambria"/>
                <a:cs typeface="Cambria"/>
                <a:sym typeface="Cambria"/>
              </a:rPr>
              <a:t>r = 0.12</a:t>
            </a:r>
            <a:endParaRPr b="0" i="0" sz="2800" u="none" cap="none" strike="noStrike">
              <a:solidFill>
                <a:schemeClr val="dk1"/>
              </a:solidFill>
              <a:latin typeface="Calibri"/>
              <a:ea typeface="Calibri"/>
              <a:cs typeface="Calibri"/>
              <a:sym typeface="Calibri"/>
            </a:endParaRPr>
          </a:p>
        </p:txBody>
      </p:sp>
      <p:sp>
        <p:nvSpPr>
          <p:cNvPr id="175" name="Google Shape;175;p10"/>
          <p:cNvSpPr txBox="1"/>
          <p:nvPr/>
        </p:nvSpPr>
        <p:spPr>
          <a:xfrm>
            <a:off x="6263640" y="4978908"/>
            <a:ext cx="2377440" cy="4343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rapidez a 40.34 m vs τ el mismo día: sin relación</a:t>
            </a:r>
            <a:endParaRPr b="0" i="0" sz="1300" u="none" cap="none" strike="noStrike">
              <a:solidFill>
                <a:schemeClr val="dk1"/>
              </a:solidFill>
              <a:latin typeface="Calibri"/>
              <a:ea typeface="Calibri"/>
              <a:cs typeface="Calibri"/>
              <a:sym typeface="Calibri"/>
            </a:endParaRPr>
          </a:p>
        </p:txBody>
      </p:sp>
      <p:sp>
        <p:nvSpPr>
          <p:cNvPr id="176" name="Google Shape;176;p10"/>
          <p:cNvSpPr/>
          <p:nvPr/>
        </p:nvSpPr>
        <p:spPr>
          <a:xfrm>
            <a:off x="8961120" y="4251960"/>
            <a:ext cx="2679192" cy="1234440"/>
          </a:xfrm>
          <a:prstGeom prst="roundRect">
            <a:avLst>
              <a:gd fmla="val 7407"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0"/>
          <p:cNvSpPr txBox="1"/>
          <p:nvPr/>
        </p:nvSpPr>
        <p:spPr>
          <a:xfrm>
            <a:off x="9098280" y="4361688"/>
            <a:ext cx="2404872" cy="6172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2800"/>
              <a:buFont typeface="Cambria"/>
              <a:buNone/>
            </a:pPr>
            <a:r>
              <a:rPr b="1" i="0" lang="en-US" sz="2800" u="none" cap="none" strike="noStrike">
                <a:solidFill>
                  <a:srgbClr val="0F6E7A"/>
                </a:solidFill>
                <a:latin typeface="Cambria"/>
                <a:ea typeface="Cambria"/>
                <a:cs typeface="Cambria"/>
                <a:sym typeface="Cambria"/>
              </a:rPr>
              <a:t>0.157</a:t>
            </a:r>
            <a:endParaRPr b="0" i="0" sz="2800" u="none" cap="none" strike="noStrike">
              <a:solidFill>
                <a:schemeClr val="dk1"/>
              </a:solidFill>
              <a:latin typeface="Calibri"/>
              <a:ea typeface="Calibri"/>
              <a:cs typeface="Calibri"/>
              <a:sym typeface="Calibri"/>
            </a:endParaRPr>
          </a:p>
        </p:txBody>
      </p:sp>
      <p:sp>
        <p:nvSpPr>
          <p:cNvPr id="178" name="Google Shape;178;p10"/>
          <p:cNvSpPr txBox="1"/>
          <p:nvPr/>
        </p:nvSpPr>
        <p:spPr>
          <a:xfrm>
            <a:off x="9098280" y="4978908"/>
            <a:ext cx="2404872" cy="4343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N m⁻², máximo de |τ| el 19 ago (resto: 0.024–0.07)</a:t>
            </a:r>
            <a:endParaRPr b="0" i="0" sz="1300" u="none" cap="none" strike="noStrike">
              <a:solidFill>
                <a:schemeClr val="dk1"/>
              </a:solidFill>
              <a:latin typeface="Calibri"/>
              <a:ea typeface="Calibri"/>
              <a:cs typeface="Calibri"/>
              <a:sym typeface="Calibri"/>
            </a:endParaRPr>
          </a:p>
        </p:txBody>
      </p:sp>
      <p:sp>
        <p:nvSpPr>
          <p:cNvPr id="179" name="Google Shape;179;p10"/>
          <p:cNvSpPr/>
          <p:nvPr/>
        </p:nvSpPr>
        <p:spPr>
          <a:xfrm>
            <a:off x="6126480" y="5806440"/>
            <a:ext cx="3840480" cy="384048"/>
          </a:xfrm>
          <a:prstGeom prst="roundRect">
            <a:avLst>
              <a:gd fmla="val 19048" name="adj"/>
            </a:avLst>
          </a:prstGeom>
          <a:solidFill>
            <a:srgbClr val="FFFFFF"/>
          </a:solidFill>
          <a:ln cap="flat" cmpd="sng" w="22225">
            <a:solidFill>
              <a:srgbClr val="D953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txBox="1"/>
          <p:nvPr/>
        </p:nvSpPr>
        <p:spPr>
          <a:xfrm>
            <a:off x="6126480" y="5806440"/>
            <a:ext cx="38404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531E"/>
              </a:buClr>
              <a:buSzPts val="1400"/>
              <a:buFont typeface="Calibri"/>
              <a:buNone/>
            </a:pPr>
            <a:r>
              <a:rPr b="1" i="0" lang="en-US" sz="1400" u="none" cap="none" strike="noStrike">
                <a:solidFill>
                  <a:srgbClr val="D9531E"/>
                </a:solidFill>
                <a:latin typeface="Calibri"/>
                <a:ea typeface="Calibri"/>
                <a:cs typeface="Calibri"/>
                <a:sym typeface="Calibri"/>
              </a:rPr>
              <a:t>ASOCIACIÓN, NO CAUSALIDAD</a:t>
            </a:r>
            <a:endParaRPr b="0" i="0" sz="1400" u="none" cap="none" strike="noStrike">
              <a:solidFill>
                <a:schemeClr val="dk1"/>
              </a:solidFill>
              <a:latin typeface="Calibri"/>
              <a:ea typeface="Calibri"/>
              <a:cs typeface="Calibri"/>
              <a:sym typeface="Calibri"/>
            </a:endParaRPr>
          </a:p>
        </p:txBody>
      </p:sp>
      <p:sp>
        <p:nvSpPr>
          <p:cNvPr id="181" name="Google Shape;181;p10"/>
          <p:cNvSpPr txBox="1"/>
          <p:nvPr/>
        </p:nvSpPr>
        <p:spPr>
          <a:xfrm>
            <a:off x="548640" y="6400800"/>
            <a:ext cx="10332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000"/>
              <a:buFont typeface="Calibri"/>
              <a:buNone/>
            </a:pPr>
            <a:r>
              <a:rPr b="0" i="1" lang="en-US" sz="1000" u="none" cap="none" strike="noStrike">
                <a:solidFill>
                  <a:srgbClr val="56636C"/>
                </a:solidFill>
                <a:latin typeface="Calibri"/>
                <a:ea typeface="Calibri"/>
                <a:cs typeface="Calibri"/>
                <a:sym typeface="Calibri"/>
              </a:rPr>
              <a:t>Datos: Copernicus Marine (GLOBAL_ANALYSISFORECAST_PHY_001_024; WIND_GLO_PHY_L4_NRT_012_004). Figura: elaboración propia, scripts reproducibles.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11"/>
          <p:cNvSpPr/>
          <p:nvPr/>
        </p:nvSpPr>
        <p:spPr>
          <a:xfrm>
            <a:off x="548640" y="347472"/>
            <a:ext cx="1179576"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txBox="1"/>
          <p:nvPr/>
        </p:nvSpPr>
        <p:spPr>
          <a:xfrm>
            <a:off x="548640" y="347472"/>
            <a:ext cx="11795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PRUEBAS</a:t>
            </a:r>
            <a:endParaRPr b="0" i="0" sz="1100" u="none" cap="none" strike="noStrike">
              <a:solidFill>
                <a:schemeClr val="dk1"/>
              </a:solidFill>
              <a:latin typeface="Calibri"/>
              <a:ea typeface="Calibri"/>
              <a:cs typeface="Calibri"/>
              <a:sym typeface="Calibri"/>
            </a:endParaRPr>
          </a:p>
        </p:txBody>
      </p:sp>
      <p:sp>
        <p:nvSpPr>
          <p:cNvPr id="189" name="Google Shape;189;p11"/>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¿Es robusta esa relación?</a:t>
            </a:r>
            <a:endParaRPr b="0" i="0" sz="3200" u="none" cap="none" strike="noStrike">
              <a:solidFill>
                <a:schemeClr val="dk1"/>
              </a:solidFill>
              <a:latin typeface="Calibri"/>
              <a:ea typeface="Calibri"/>
              <a:cs typeface="Calibri"/>
              <a:sym typeface="Calibri"/>
            </a:endParaRPr>
          </a:p>
        </p:txBody>
      </p:sp>
      <p:sp>
        <p:nvSpPr>
          <p:cNvPr id="190" name="Google Shape;190;p11"/>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9</a:t>
            </a:r>
            <a:endParaRPr b="0" i="0" sz="1100" u="none" cap="none" strike="noStrike">
              <a:solidFill>
                <a:schemeClr val="dk1"/>
              </a:solidFill>
              <a:latin typeface="Calibri"/>
              <a:ea typeface="Calibri"/>
              <a:cs typeface="Calibri"/>
              <a:sym typeface="Calibri"/>
            </a:endParaRPr>
          </a:p>
        </p:txBody>
      </p:sp>
      <p:sp>
        <p:nvSpPr>
          <p:cNvPr id="191" name="Google Shape;191;p11"/>
          <p:cNvSpPr txBox="1"/>
          <p:nvPr/>
        </p:nvSpPr>
        <p:spPr>
          <a:xfrm>
            <a:off x="548640" y="1600200"/>
            <a:ext cx="1106424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600"/>
              <a:buFont typeface="Calibri"/>
              <a:buNone/>
            </a:pPr>
            <a:r>
              <a:rPr b="1" i="0" lang="en-US" sz="1600" u="none" cap="none" strike="noStrike">
                <a:solidFill>
                  <a:srgbClr val="12263A"/>
                </a:solidFill>
                <a:latin typeface="Calibri"/>
                <a:ea typeface="Calibri"/>
                <a:cs typeface="Calibri"/>
                <a:sym typeface="Calibri"/>
              </a:rPr>
              <a:t>14 días consecutivos no son 14 datos independientes: </a:t>
            </a:r>
            <a:r>
              <a:rPr b="0" i="0" lang="en-US" sz="1600" u="none" cap="none" strike="noStrike">
                <a:solidFill>
                  <a:srgbClr val="12263A"/>
                </a:solidFill>
                <a:latin typeface="Calibri"/>
                <a:ea typeface="Calibri"/>
                <a:cs typeface="Calibri"/>
                <a:sym typeface="Calibri"/>
              </a:rPr>
              <a:t>hoy se parece a ayer (autocorrelación de retardo 1: τ 0.65, D 0.48). Eso infla r y hace parecer significativo lo que podría ser azar.</a:t>
            </a:r>
            <a:endParaRPr b="0" i="0" sz="1600" u="none" cap="none" strike="noStrike">
              <a:solidFill>
                <a:schemeClr val="dk1"/>
              </a:solidFill>
              <a:latin typeface="Calibri"/>
              <a:ea typeface="Calibri"/>
              <a:cs typeface="Calibri"/>
              <a:sym typeface="Calibri"/>
            </a:endParaRPr>
          </a:p>
        </p:txBody>
      </p:sp>
      <p:sp>
        <p:nvSpPr>
          <p:cNvPr id="192" name="Google Shape;192;p11"/>
          <p:cNvSpPr/>
          <p:nvPr/>
        </p:nvSpPr>
        <p:spPr>
          <a:xfrm>
            <a:off x="548640" y="2514600"/>
            <a:ext cx="3200400" cy="1463040"/>
          </a:xfrm>
          <a:prstGeom prst="roundRect">
            <a:avLst>
              <a:gd fmla="val 6250"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txBox="1"/>
          <p:nvPr/>
        </p:nvSpPr>
        <p:spPr>
          <a:xfrm>
            <a:off x="685800" y="2624328"/>
            <a:ext cx="2926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2800"/>
              <a:buFont typeface="Cambria"/>
              <a:buNone/>
            </a:pPr>
            <a:r>
              <a:rPr b="1" i="0" lang="en-US" sz="2800" u="none" cap="none" strike="noStrike">
                <a:solidFill>
                  <a:srgbClr val="0F6E7A"/>
                </a:solidFill>
                <a:latin typeface="Cambria"/>
                <a:ea typeface="Cambria"/>
                <a:cs typeface="Cambria"/>
                <a:sym typeface="Cambria"/>
              </a:rPr>
              <a:t>n_eff ≈ 7.3</a:t>
            </a:r>
            <a:endParaRPr b="0" i="0" sz="2800" u="none" cap="none" strike="noStrike">
              <a:solidFill>
                <a:schemeClr val="dk1"/>
              </a:solidFill>
              <a:latin typeface="Calibri"/>
              <a:ea typeface="Calibri"/>
              <a:cs typeface="Calibri"/>
              <a:sym typeface="Calibri"/>
            </a:endParaRPr>
          </a:p>
        </p:txBody>
      </p:sp>
      <p:sp>
        <p:nvSpPr>
          <p:cNvPr id="194" name="Google Shape;194;p11"/>
          <p:cNvSpPr txBox="1"/>
          <p:nvPr/>
        </p:nvSpPr>
        <p:spPr>
          <a:xfrm>
            <a:off x="685800" y="3355848"/>
            <a:ext cx="29260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datos realmente independientes (de 14) → p corregido = 0.003</a:t>
            </a:r>
            <a:endParaRPr b="0" i="0" sz="1300" u="none" cap="none" strike="noStrike">
              <a:solidFill>
                <a:schemeClr val="dk1"/>
              </a:solidFill>
              <a:latin typeface="Calibri"/>
              <a:ea typeface="Calibri"/>
              <a:cs typeface="Calibri"/>
              <a:sym typeface="Calibri"/>
            </a:endParaRPr>
          </a:p>
        </p:txBody>
      </p:sp>
      <p:sp>
        <p:nvSpPr>
          <p:cNvPr id="195" name="Google Shape;195;p11"/>
          <p:cNvSpPr/>
          <p:nvPr/>
        </p:nvSpPr>
        <p:spPr>
          <a:xfrm>
            <a:off x="3931920" y="2514600"/>
            <a:ext cx="3200400" cy="1463040"/>
          </a:xfrm>
          <a:prstGeom prst="roundRect">
            <a:avLst>
              <a:gd fmla="val 6250"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txBox="1"/>
          <p:nvPr/>
        </p:nvSpPr>
        <p:spPr>
          <a:xfrm>
            <a:off x="4069080" y="2624328"/>
            <a:ext cx="2926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2800"/>
              <a:buFont typeface="Cambria"/>
              <a:buNone/>
            </a:pPr>
            <a:r>
              <a:rPr b="1" i="0" lang="en-US" sz="2800" u="none" cap="none" strike="noStrike">
                <a:solidFill>
                  <a:srgbClr val="0F6E7A"/>
                </a:solidFill>
                <a:latin typeface="Cambria"/>
                <a:ea typeface="Cambria"/>
                <a:cs typeface="Cambria"/>
                <a:sym typeface="Cambria"/>
              </a:rPr>
              <a:t>p = 4.0×10⁻⁴</a:t>
            </a:r>
            <a:endParaRPr b="0" i="0" sz="2800" u="none" cap="none" strike="noStrike">
              <a:solidFill>
                <a:schemeClr val="dk1"/>
              </a:solidFill>
              <a:latin typeface="Calibri"/>
              <a:ea typeface="Calibri"/>
              <a:cs typeface="Calibri"/>
              <a:sym typeface="Calibri"/>
            </a:endParaRPr>
          </a:p>
        </p:txBody>
      </p:sp>
      <p:sp>
        <p:nvSpPr>
          <p:cNvPr id="197" name="Google Shape;197;p11"/>
          <p:cNvSpPr txBox="1"/>
          <p:nvPr/>
        </p:nvSpPr>
        <p:spPr>
          <a:xfrm>
            <a:off x="4069080" y="3355848"/>
            <a:ext cx="29260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Ebisuzaki: 10 000 series con el mismo espectro y fases al azar</a:t>
            </a:r>
            <a:endParaRPr b="0" i="0" sz="1300" u="none" cap="none" strike="noStrike">
              <a:solidFill>
                <a:schemeClr val="dk1"/>
              </a:solidFill>
              <a:latin typeface="Calibri"/>
              <a:ea typeface="Calibri"/>
              <a:cs typeface="Calibri"/>
              <a:sym typeface="Calibri"/>
            </a:endParaRPr>
          </a:p>
        </p:txBody>
      </p:sp>
      <p:sp>
        <p:nvSpPr>
          <p:cNvPr id="198" name="Google Shape;198;p11"/>
          <p:cNvSpPr/>
          <p:nvPr/>
        </p:nvSpPr>
        <p:spPr>
          <a:xfrm>
            <a:off x="548640" y="4114800"/>
            <a:ext cx="3200400" cy="1463040"/>
          </a:xfrm>
          <a:prstGeom prst="roundRect">
            <a:avLst>
              <a:gd fmla="val 6250"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1"/>
          <p:cNvSpPr txBox="1"/>
          <p:nvPr/>
        </p:nvSpPr>
        <p:spPr>
          <a:xfrm>
            <a:off x="685800" y="4224528"/>
            <a:ext cx="2926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2800"/>
              <a:buFont typeface="Cambria"/>
              <a:buNone/>
            </a:pPr>
            <a:r>
              <a:rPr b="1" i="0" lang="en-US" sz="2800" u="none" cap="none" strike="noStrike">
                <a:solidFill>
                  <a:srgbClr val="0F6E7A"/>
                </a:solidFill>
                <a:latin typeface="Cambria"/>
                <a:ea typeface="Cambria"/>
                <a:cs typeface="Cambria"/>
                <a:sym typeface="Cambria"/>
              </a:rPr>
              <a:t>0.66–0.98</a:t>
            </a:r>
            <a:endParaRPr b="0" i="0" sz="2800" u="none" cap="none" strike="noStrike">
              <a:solidFill>
                <a:schemeClr val="dk1"/>
              </a:solidFill>
              <a:latin typeface="Calibri"/>
              <a:ea typeface="Calibri"/>
              <a:cs typeface="Calibri"/>
              <a:sym typeface="Calibri"/>
            </a:endParaRPr>
          </a:p>
        </p:txBody>
      </p:sp>
      <p:sp>
        <p:nvSpPr>
          <p:cNvPr id="200" name="Google Shape;200;p11"/>
          <p:cNvSpPr txBox="1"/>
          <p:nvPr/>
        </p:nvSpPr>
        <p:spPr>
          <a:xfrm>
            <a:off x="685800" y="4956048"/>
            <a:ext cx="29260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IC 95 % bootstrap por bloques de 2, 3 y 4 días</a:t>
            </a:r>
            <a:endParaRPr b="0" i="0" sz="1300" u="none" cap="none" strike="noStrike">
              <a:solidFill>
                <a:schemeClr val="dk1"/>
              </a:solidFill>
              <a:latin typeface="Calibri"/>
              <a:ea typeface="Calibri"/>
              <a:cs typeface="Calibri"/>
              <a:sym typeface="Calibri"/>
            </a:endParaRPr>
          </a:p>
        </p:txBody>
      </p:sp>
      <p:sp>
        <p:nvSpPr>
          <p:cNvPr id="201" name="Google Shape;201;p11"/>
          <p:cNvSpPr/>
          <p:nvPr/>
        </p:nvSpPr>
        <p:spPr>
          <a:xfrm>
            <a:off x="3931920" y="4114800"/>
            <a:ext cx="3200400" cy="1463040"/>
          </a:xfrm>
          <a:prstGeom prst="roundRect">
            <a:avLst>
              <a:gd fmla="val 6250"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txBox="1"/>
          <p:nvPr/>
        </p:nvSpPr>
        <p:spPr>
          <a:xfrm>
            <a:off x="4069080" y="4224528"/>
            <a:ext cx="292608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2800"/>
              <a:buFont typeface="Cambria"/>
              <a:buNone/>
            </a:pPr>
            <a:r>
              <a:rPr b="1" i="0" lang="en-US" sz="2800" u="none" cap="none" strike="noStrike">
                <a:solidFill>
                  <a:srgbClr val="0F6E7A"/>
                </a:solidFill>
                <a:latin typeface="Cambria"/>
                <a:ea typeface="Cambria"/>
                <a:cs typeface="Cambria"/>
                <a:sym typeface="Cambria"/>
              </a:rPr>
              <a:t>0.75 · 0.87</a:t>
            </a:r>
            <a:endParaRPr b="0" i="0" sz="2800" u="none" cap="none" strike="noStrike">
              <a:solidFill>
                <a:schemeClr val="dk1"/>
              </a:solidFill>
              <a:latin typeface="Calibri"/>
              <a:ea typeface="Calibri"/>
              <a:cs typeface="Calibri"/>
              <a:sym typeface="Calibri"/>
            </a:endParaRPr>
          </a:p>
        </p:txBody>
      </p:sp>
      <p:sp>
        <p:nvSpPr>
          <p:cNvPr id="203" name="Google Shape;203;p11"/>
          <p:cNvSpPr txBox="1"/>
          <p:nvPr/>
        </p:nvSpPr>
        <p:spPr>
          <a:xfrm>
            <a:off x="4069080" y="4956048"/>
            <a:ext cx="292608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sin el 18–20 ago · en primeras diferencias (día a día)</a:t>
            </a:r>
            <a:endParaRPr b="0" i="0" sz="1300" u="none" cap="none" strike="noStrike">
              <a:solidFill>
                <a:schemeClr val="dk1"/>
              </a:solidFill>
              <a:latin typeface="Calibri"/>
              <a:ea typeface="Calibri"/>
              <a:cs typeface="Calibri"/>
              <a:sym typeface="Calibri"/>
            </a:endParaRPr>
          </a:p>
        </p:txBody>
      </p:sp>
      <p:pic>
        <p:nvPicPr>
          <p:cNvPr descr="/tmp/claude-0/-home-claude/39892b0b-c3c5-5855-9657-93e4cc1da44f/scratchpad/img/s09_boot.png" id="204" name="Google Shape;204;p11"/>
          <p:cNvPicPr preferRelativeResize="0"/>
          <p:nvPr/>
        </p:nvPicPr>
        <p:blipFill rotWithShape="1">
          <a:blip r:embed="rId3">
            <a:alphaModFix/>
          </a:blip>
          <a:srcRect b="0" l="0" r="0" t="0"/>
          <a:stretch/>
        </p:blipFill>
        <p:spPr>
          <a:xfrm>
            <a:off x="8118130" y="2377440"/>
            <a:ext cx="2902131" cy="2834640"/>
          </a:xfrm>
          <a:prstGeom prst="rect">
            <a:avLst/>
          </a:prstGeom>
          <a:noFill/>
          <a:ln>
            <a:noFill/>
          </a:ln>
        </p:spPr>
      </p:pic>
      <p:sp>
        <p:nvSpPr>
          <p:cNvPr id="205" name="Google Shape;205;p11"/>
          <p:cNvSpPr txBox="1"/>
          <p:nvPr/>
        </p:nvSpPr>
        <p:spPr>
          <a:xfrm>
            <a:off x="7498080" y="5230368"/>
            <a:ext cx="4142232"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200"/>
              <a:buFont typeface="Calibri"/>
              <a:buNone/>
            </a:pPr>
            <a:r>
              <a:rPr b="0" i="0" lang="en-US" sz="1200" u="none" cap="none" strike="noStrike">
                <a:solidFill>
                  <a:srgbClr val="56636C"/>
                </a:solidFill>
                <a:latin typeface="Calibri"/>
                <a:ea typeface="Calibri"/>
                <a:cs typeface="Calibri"/>
                <a:sym typeface="Calibri"/>
              </a:rPr>
              <a:t>r e IC 95 %: τ–D sobrevive; τ–rapidez superficial no (su intervalo incluye negativos).</a:t>
            </a:r>
            <a:endParaRPr b="0" i="0" sz="1200" u="none" cap="none" strike="noStrike">
              <a:solidFill>
                <a:schemeClr val="dk1"/>
              </a:solidFill>
              <a:latin typeface="Calibri"/>
              <a:ea typeface="Calibri"/>
              <a:cs typeface="Calibri"/>
              <a:sym typeface="Calibri"/>
            </a:endParaRPr>
          </a:p>
        </p:txBody>
      </p:sp>
      <p:sp>
        <p:nvSpPr>
          <p:cNvPr id="206" name="Google Shape;206;p11"/>
          <p:cNvSpPr/>
          <p:nvPr/>
        </p:nvSpPr>
        <p:spPr>
          <a:xfrm>
            <a:off x="548640" y="5806440"/>
            <a:ext cx="11091672" cy="475488"/>
          </a:xfrm>
          <a:prstGeom prst="roundRect">
            <a:avLst>
              <a:gd fmla="val 15385"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txBox="1"/>
          <p:nvPr/>
        </p:nvSpPr>
        <p:spPr>
          <a:xfrm>
            <a:off x="731520" y="5806440"/>
            <a:ext cx="10789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1800"/>
              <a:buFont typeface="Calibri"/>
              <a:buNone/>
            </a:pPr>
            <a:r>
              <a:rPr b="1" i="0" lang="en-US" sz="1800" u="none" cap="none" strike="noStrike">
                <a:solidFill>
                  <a:srgbClr val="0F6E7A"/>
                </a:solidFill>
                <a:latin typeface="Calibri"/>
                <a:ea typeface="Calibri"/>
                <a:cs typeface="Calibri"/>
                <a:sym typeface="Calibri"/>
              </a:rPr>
              <a:t>La asociación τ–D sobrevivió a pruebas que consideran la dependencia temporal.</a:t>
            </a:r>
            <a:endParaRPr b="0" i="0" sz="1800" u="none" cap="none" strike="noStrike">
              <a:solidFill>
                <a:schemeClr val="dk1"/>
              </a:solidFill>
              <a:latin typeface="Calibri"/>
              <a:ea typeface="Calibri"/>
              <a:cs typeface="Calibri"/>
              <a:sym typeface="Calibri"/>
            </a:endParaRPr>
          </a:p>
        </p:txBody>
      </p:sp>
      <p:sp>
        <p:nvSpPr>
          <p:cNvPr id="208" name="Google Shape;208;p11"/>
          <p:cNvSpPr txBox="1"/>
          <p:nvPr/>
        </p:nvSpPr>
        <p:spPr>
          <a:xfrm>
            <a:off x="548640" y="6400800"/>
            <a:ext cx="10332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000"/>
              <a:buFont typeface="Calibri"/>
              <a:buNone/>
            </a:pPr>
            <a:r>
              <a:rPr b="0" i="1" lang="en-US" sz="1000" u="none" cap="none" strike="noStrike">
                <a:solidFill>
                  <a:srgbClr val="56636C"/>
                </a:solidFill>
                <a:latin typeface="Calibri"/>
                <a:ea typeface="Calibri"/>
                <a:cs typeface="Calibri"/>
                <a:sym typeface="Calibri"/>
              </a:rPr>
              <a:t>Bretherton et al. (1999); Ebisuzaki (1997). Leave-one-out: 0.82–0.94. Datos: Copernicus Marine (GLOBAL_ANALYSISFORECAST_PHY_001_024; WIND_GLO_PHY_L4_NRT_012_004). Figura: elaboración propia, scripts reproducibles.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sp>
        <p:nvSpPr>
          <p:cNvPr id="214" name="Google Shape;214;p12"/>
          <p:cNvSpPr/>
          <p:nvPr/>
        </p:nvSpPr>
        <p:spPr>
          <a:xfrm>
            <a:off x="548640" y="347472"/>
            <a:ext cx="2167128"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2"/>
          <p:cNvSpPr txBox="1"/>
          <p:nvPr/>
        </p:nvSpPr>
        <p:spPr>
          <a:xfrm>
            <a:off x="548640" y="347472"/>
            <a:ext cx="2167128"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PATRÓN OBSERVADO</a:t>
            </a:r>
            <a:endParaRPr b="0" i="0" sz="1100" u="none" cap="none" strike="noStrike">
              <a:solidFill>
                <a:schemeClr val="dk1"/>
              </a:solidFill>
              <a:latin typeface="Calibri"/>
              <a:ea typeface="Calibri"/>
              <a:cs typeface="Calibri"/>
              <a:sym typeface="Calibri"/>
            </a:endParaRPr>
          </a:p>
        </p:txBody>
      </p:sp>
      <p:sp>
        <p:nvSpPr>
          <p:cNvPr id="216" name="Google Shape;216;p12"/>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El resultado no es igual en todo el Perú</a:t>
            </a:r>
            <a:endParaRPr b="0" i="0" sz="3200" u="none" cap="none" strike="noStrike">
              <a:solidFill>
                <a:schemeClr val="dk1"/>
              </a:solidFill>
              <a:latin typeface="Calibri"/>
              <a:ea typeface="Calibri"/>
              <a:cs typeface="Calibri"/>
              <a:sym typeface="Calibri"/>
            </a:endParaRPr>
          </a:p>
        </p:txBody>
      </p:sp>
      <p:sp>
        <p:nvSpPr>
          <p:cNvPr id="217" name="Google Shape;217;p12"/>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10</a:t>
            </a:r>
            <a:endParaRPr b="0" i="0" sz="1100" u="none" cap="none" strike="noStrike">
              <a:solidFill>
                <a:schemeClr val="dk1"/>
              </a:solidFill>
              <a:latin typeface="Calibri"/>
              <a:ea typeface="Calibri"/>
              <a:cs typeface="Calibri"/>
              <a:sym typeface="Calibri"/>
            </a:endParaRPr>
          </a:p>
        </p:txBody>
      </p:sp>
      <p:pic>
        <p:nvPicPr>
          <p:cNvPr descr="/tmp/claude-0/-home-claude/39892b0b-c3c5-5855-9657-93e4cc1da44f/scratchpad/img/s10_sectores.png" id="218" name="Google Shape;218;p12"/>
          <p:cNvPicPr preferRelativeResize="0"/>
          <p:nvPr/>
        </p:nvPicPr>
        <p:blipFill rotWithShape="1">
          <a:blip r:embed="rId3">
            <a:alphaModFix/>
          </a:blip>
          <a:srcRect b="0" l="0" r="0" t="0"/>
          <a:stretch/>
        </p:blipFill>
        <p:spPr>
          <a:xfrm>
            <a:off x="2268885" y="1463040"/>
            <a:ext cx="7651182" cy="2788920"/>
          </a:xfrm>
          <a:prstGeom prst="rect">
            <a:avLst/>
          </a:prstGeom>
          <a:noFill/>
          <a:ln>
            <a:noFill/>
          </a:ln>
        </p:spPr>
      </p:pic>
      <p:sp>
        <p:nvSpPr>
          <p:cNvPr id="219" name="Google Shape;219;p12"/>
          <p:cNvSpPr/>
          <p:nvPr/>
        </p:nvSpPr>
        <p:spPr>
          <a:xfrm>
            <a:off x="548640" y="4315968"/>
            <a:ext cx="3593592" cy="1005840"/>
          </a:xfrm>
          <a:prstGeom prst="roundRect">
            <a:avLst>
              <a:gd fmla="val 9091"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2"/>
          <p:cNvSpPr txBox="1"/>
          <p:nvPr/>
        </p:nvSpPr>
        <p:spPr>
          <a:xfrm>
            <a:off x="731520" y="4389120"/>
            <a:ext cx="1371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A77D4"/>
              </a:buClr>
              <a:buSzPts val="1800"/>
              <a:buFont typeface="Calibri"/>
              <a:buNone/>
            </a:pPr>
            <a:r>
              <a:rPr b="1" i="0" lang="en-US" sz="1800" u="none" cap="none" strike="noStrike">
                <a:solidFill>
                  <a:srgbClr val="2A77D4"/>
                </a:solidFill>
                <a:latin typeface="Calibri"/>
                <a:ea typeface="Calibri"/>
                <a:cs typeface="Calibri"/>
                <a:sym typeface="Calibri"/>
              </a:rPr>
              <a:t>Norte</a:t>
            </a:r>
            <a:endParaRPr b="0" i="0" sz="1800" u="none" cap="none" strike="noStrike">
              <a:solidFill>
                <a:schemeClr val="dk1"/>
              </a:solidFill>
              <a:latin typeface="Calibri"/>
              <a:ea typeface="Calibri"/>
              <a:cs typeface="Calibri"/>
              <a:sym typeface="Calibri"/>
            </a:endParaRPr>
          </a:p>
        </p:txBody>
      </p:sp>
      <p:sp>
        <p:nvSpPr>
          <p:cNvPr id="221" name="Google Shape;221;p12"/>
          <p:cNvSpPr txBox="1"/>
          <p:nvPr/>
        </p:nvSpPr>
        <p:spPr>
          <a:xfrm>
            <a:off x="2103120" y="4361688"/>
            <a:ext cx="1920240" cy="5029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2263A"/>
              </a:buClr>
              <a:buSzPts val="2600"/>
              <a:buFont typeface="Cambria"/>
              <a:buNone/>
            </a:pPr>
            <a:r>
              <a:rPr b="1" i="0" lang="en-US" sz="2600" u="none" cap="none" strike="noStrike">
                <a:solidFill>
                  <a:srgbClr val="12263A"/>
                </a:solidFill>
                <a:latin typeface="Cambria"/>
                <a:ea typeface="Cambria"/>
                <a:cs typeface="Cambria"/>
                <a:sym typeface="Cambria"/>
              </a:rPr>
              <a:t>r = 0.92</a:t>
            </a:r>
            <a:endParaRPr b="0" i="0" sz="2600" u="none" cap="none" strike="noStrike">
              <a:solidFill>
                <a:schemeClr val="dk1"/>
              </a:solidFill>
              <a:latin typeface="Calibri"/>
              <a:ea typeface="Calibri"/>
              <a:cs typeface="Calibri"/>
              <a:sym typeface="Calibri"/>
            </a:endParaRPr>
          </a:p>
        </p:txBody>
      </p:sp>
      <p:sp>
        <p:nvSpPr>
          <p:cNvPr id="222" name="Google Shape;222;p12"/>
          <p:cNvSpPr txBox="1"/>
          <p:nvPr/>
        </p:nvSpPr>
        <p:spPr>
          <a:xfrm>
            <a:off x="731520" y="4892040"/>
            <a:ext cx="32461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Ebisuzaki p = 0.007 · n_eff ≈ 3.7</a:t>
            </a:r>
            <a:endParaRPr b="0" i="0" sz="1300" u="none" cap="none" strike="noStrike">
              <a:solidFill>
                <a:schemeClr val="dk1"/>
              </a:solidFill>
              <a:latin typeface="Calibri"/>
              <a:ea typeface="Calibri"/>
              <a:cs typeface="Calibri"/>
              <a:sym typeface="Calibri"/>
            </a:endParaRPr>
          </a:p>
        </p:txBody>
      </p:sp>
      <p:sp>
        <p:nvSpPr>
          <p:cNvPr id="223" name="Google Shape;223;p12"/>
          <p:cNvSpPr/>
          <p:nvPr/>
        </p:nvSpPr>
        <p:spPr>
          <a:xfrm>
            <a:off x="4297680" y="4315968"/>
            <a:ext cx="3593592" cy="1005840"/>
          </a:xfrm>
          <a:prstGeom prst="roundRect">
            <a:avLst>
              <a:gd fmla="val 9091"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
          <p:cNvSpPr txBox="1"/>
          <p:nvPr/>
        </p:nvSpPr>
        <p:spPr>
          <a:xfrm>
            <a:off x="4480560" y="4389120"/>
            <a:ext cx="1371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1E"/>
              </a:buClr>
              <a:buSzPts val="1800"/>
              <a:buFont typeface="Calibri"/>
              <a:buNone/>
            </a:pPr>
            <a:r>
              <a:rPr b="1" i="0" lang="en-US" sz="1800" u="none" cap="none" strike="noStrike">
                <a:solidFill>
                  <a:srgbClr val="D9531E"/>
                </a:solidFill>
                <a:latin typeface="Calibri"/>
                <a:ea typeface="Calibri"/>
                <a:cs typeface="Calibri"/>
                <a:sym typeface="Calibri"/>
              </a:rPr>
              <a:t>Centro</a:t>
            </a:r>
            <a:endParaRPr b="0" i="0" sz="1800" u="none" cap="none" strike="noStrike">
              <a:solidFill>
                <a:schemeClr val="dk1"/>
              </a:solidFill>
              <a:latin typeface="Calibri"/>
              <a:ea typeface="Calibri"/>
              <a:cs typeface="Calibri"/>
              <a:sym typeface="Calibri"/>
            </a:endParaRPr>
          </a:p>
        </p:txBody>
      </p:sp>
      <p:sp>
        <p:nvSpPr>
          <p:cNvPr id="225" name="Google Shape;225;p12"/>
          <p:cNvSpPr txBox="1"/>
          <p:nvPr/>
        </p:nvSpPr>
        <p:spPr>
          <a:xfrm>
            <a:off x="5852160" y="4361688"/>
            <a:ext cx="1920240" cy="5029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2263A"/>
              </a:buClr>
              <a:buSzPts val="2600"/>
              <a:buFont typeface="Cambria"/>
              <a:buNone/>
            </a:pPr>
            <a:r>
              <a:rPr b="1" i="0" lang="en-US" sz="2600" u="none" cap="none" strike="noStrike">
                <a:solidFill>
                  <a:srgbClr val="12263A"/>
                </a:solidFill>
                <a:latin typeface="Cambria"/>
                <a:ea typeface="Cambria"/>
                <a:cs typeface="Cambria"/>
                <a:sym typeface="Cambria"/>
              </a:rPr>
              <a:t>r = 0.40</a:t>
            </a:r>
            <a:endParaRPr b="0" i="0" sz="2600" u="none" cap="none" strike="noStrike">
              <a:solidFill>
                <a:schemeClr val="dk1"/>
              </a:solidFill>
              <a:latin typeface="Calibri"/>
              <a:ea typeface="Calibri"/>
              <a:cs typeface="Calibri"/>
              <a:sym typeface="Calibri"/>
            </a:endParaRPr>
          </a:p>
        </p:txBody>
      </p:sp>
      <p:sp>
        <p:nvSpPr>
          <p:cNvPr id="226" name="Google Shape;226;p12"/>
          <p:cNvSpPr txBox="1"/>
          <p:nvPr/>
        </p:nvSpPr>
        <p:spPr>
          <a:xfrm>
            <a:off x="4480560" y="4892040"/>
            <a:ext cx="32461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Ebisuzaki p = 0.28 · IC −0.23–0.83</a:t>
            </a:r>
            <a:endParaRPr b="0" i="0" sz="1300" u="none" cap="none" strike="noStrike">
              <a:solidFill>
                <a:schemeClr val="dk1"/>
              </a:solidFill>
              <a:latin typeface="Calibri"/>
              <a:ea typeface="Calibri"/>
              <a:cs typeface="Calibri"/>
              <a:sym typeface="Calibri"/>
            </a:endParaRPr>
          </a:p>
        </p:txBody>
      </p:sp>
      <p:sp>
        <p:nvSpPr>
          <p:cNvPr id="227" name="Google Shape;227;p12"/>
          <p:cNvSpPr/>
          <p:nvPr/>
        </p:nvSpPr>
        <p:spPr>
          <a:xfrm>
            <a:off x="8046720" y="4315968"/>
            <a:ext cx="3593592" cy="1005840"/>
          </a:xfrm>
          <a:prstGeom prst="roundRect">
            <a:avLst>
              <a:gd fmla="val 9091"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2"/>
          <p:cNvSpPr txBox="1"/>
          <p:nvPr/>
        </p:nvSpPr>
        <p:spPr>
          <a:xfrm>
            <a:off x="8229600" y="4389120"/>
            <a:ext cx="1371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8F67"/>
              </a:buClr>
              <a:buSzPts val="1800"/>
              <a:buFont typeface="Calibri"/>
              <a:buNone/>
            </a:pPr>
            <a:r>
              <a:rPr b="1" i="0" lang="en-US" sz="1800" u="none" cap="none" strike="noStrike">
                <a:solidFill>
                  <a:srgbClr val="178F67"/>
                </a:solidFill>
                <a:latin typeface="Calibri"/>
                <a:ea typeface="Calibri"/>
                <a:cs typeface="Calibri"/>
                <a:sym typeface="Calibri"/>
              </a:rPr>
              <a:t>Sur</a:t>
            </a:r>
            <a:endParaRPr b="0" i="0" sz="1800" u="none" cap="none" strike="noStrike">
              <a:solidFill>
                <a:schemeClr val="dk1"/>
              </a:solidFill>
              <a:latin typeface="Calibri"/>
              <a:ea typeface="Calibri"/>
              <a:cs typeface="Calibri"/>
              <a:sym typeface="Calibri"/>
            </a:endParaRPr>
          </a:p>
        </p:txBody>
      </p:sp>
      <p:sp>
        <p:nvSpPr>
          <p:cNvPr id="229" name="Google Shape;229;p12"/>
          <p:cNvSpPr txBox="1"/>
          <p:nvPr/>
        </p:nvSpPr>
        <p:spPr>
          <a:xfrm>
            <a:off x="9601200" y="4361688"/>
            <a:ext cx="1920240" cy="5029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12263A"/>
              </a:buClr>
              <a:buSzPts val="2600"/>
              <a:buFont typeface="Cambria"/>
              <a:buNone/>
            </a:pPr>
            <a:r>
              <a:rPr b="1" i="0" lang="en-US" sz="2600" u="none" cap="none" strike="noStrike">
                <a:solidFill>
                  <a:srgbClr val="12263A"/>
                </a:solidFill>
                <a:latin typeface="Cambria"/>
                <a:ea typeface="Cambria"/>
                <a:cs typeface="Cambria"/>
                <a:sym typeface="Cambria"/>
              </a:rPr>
              <a:t>r = 0.79</a:t>
            </a:r>
            <a:endParaRPr b="0" i="0" sz="2600" u="none" cap="none" strike="noStrike">
              <a:solidFill>
                <a:schemeClr val="dk1"/>
              </a:solidFill>
              <a:latin typeface="Calibri"/>
              <a:ea typeface="Calibri"/>
              <a:cs typeface="Calibri"/>
              <a:sym typeface="Calibri"/>
            </a:endParaRPr>
          </a:p>
        </p:txBody>
      </p:sp>
      <p:sp>
        <p:nvSpPr>
          <p:cNvPr id="230" name="Google Shape;230;p12"/>
          <p:cNvSpPr txBox="1"/>
          <p:nvPr/>
        </p:nvSpPr>
        <p:spPr>
          <a:xfrm>
            <a:off x="8229600" y="4892040"/>
            <a:ext cx="324612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Ebisuzaki p = 0.010</a:t>
            </a:r>
            <a:endParaRPr b="0" i="0" sz="1300" u="none" cap="none" strike="noStrike">
              <a:solidFill>
                <a:schemeClr val="dk1"/>
              </a:solidFill>
              <a:latin typeface="Calibri"/>
              <a:ea typeface="Calibri"/>
              <a:cs typeface="Calibri"/>
              <a:sym typeface="Calibri"/>
            </a:endParaRPr>
          </a:p>
        </p:txBody>
      </p:sp>
      <p:sp>
        <p:nvSpPr>
          <p:cNvPr id="231" name="Google Shape;231;p12"/>
          <p:cNvSpPr/>
          <p:nvPr/>
        </p:nvSpPr>
        <p:spPr>
          <a:xfrm>
            <a:off x="548640" y="5806440"/>
            <a:ext cx="11091672" cy="475488"/>
          </a:xfrm>
          <a:prstGeom prst="roundRect">
            <a:avLst>
              <a:gd fmla="val 15385"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
          <p:cNvSpPr txBox="1"/>
          <p:nvPr/>
        </p:nvSpPr>
        <p:spPr>
          <a:xfrm>
            <a:off x="731520" y="5806440"/>
            <a:ext cx="10789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1800"/>
              <a:buFont typeface="Calibri"/>
              <a:buNone/>
            </a:pPr>
            <a:r>
              <a:rPr b="1" i="0" lang="en-US" sz="1800" u="none" cap="none" strike="noStrike">
                <a:solidFill>
                  <a:srgbClr val="0F6E7A"/>
                </a:solidFill>
                <a:latin typeface="Calibri"/>
                <a:ea typeface="Calibri"/>
                <a:cs typeface="Calibri"/>
                <a:sym typeface="Calibri"/>
              </a:rPr>
              <a:t>Heterogeneidad latitudinal: fuerte en norte y sur, débil en el centro.</a:t>
            </a:r>
            <a:endParaRPr b="0" i="0" sz="1800" u="none" cap="none" strike="noStrike">
              <a:solidFill>
                <a:schemeClr val="dk1"/>
              </a:solidFill>
              <a:latin typeface="Calibri"/>
              <a:ea typeface="Calibri"/>
              <a:cs typeface="Calibri"/>
              <a:sym typeface="Calibri"/>
            </a:endParaRPr>
          </a:p>
        </p:txBody>
      </p:sp>
      <p:sp>
        <p:nvSpPr>
          <p:cNvPr id="233" name="Google Shape;233;p12"/>
          <p:cNvSpPr txBox="1"/>
          <p:nvPr/>
        </p:nvSpPr>
        <p:spPr>
          <a:xfrm>
            <a:off x="548640" y="5394960"/>
            <a:ext cx="110642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1E"/>
              </a:buClr>
              <a:buSzPts val="1400"/>
              <a:buFont typeface="Calibri"/>
              <a:buNone/>
            </a:pPr>
            <a:r>
              <a:rPr b="0" i="1" lang="en-US" sz="1400" u="none" cap="none" strike="noStrike">
                <a:solidFill>
                  <a:srgbClr val="D9531E"/>
                </a:solidFill>
                <a:latin typeface="Calibri"/>
                <a:ea typeface="Calibri"/>
                <a:cs typeface="Calibri"/>
                <a:sym typeface="Calibri"/>
              </a:rPr>
              <a:t>Intervalos bootstrap superpuestos: heterogeneidad, no diferencia estadísticamente demostrada.</a:t>
            </a:r>
            <a:endParaRPr b="0" i="0" sz="1400" u="none" cap="none" strike="noStrike">
              <a:solidFill>
                <a:schemeClr val="dk1"/>
              </a:solidFill>
              <a:latin typeface="Calibri"/>
              <a:ea typeface="Calibri"/>
              <a:cs typeface="Calibri"/>
              <a:sym typeface="Calibri"/>
            </a:endParaRPr>
          </a:p>
        </p:txBody>
      </p:sp>
      <p:sp>
        <p:nvSpPr>
          <p:cNvPr id="234" name="Google Shape;234;p12"/>
          <p:cNvSpPr txBox="1"/>
          <p:nvPr/>
        </p:nvSpPr>
        <p:spPr>
          <a:xfrm>
            <a:off x="548640" y="6400800"/>
            <a:ext cx="10332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000"/>
              <a:buFont typeface="Calibri"/>
              <a:buNone/>
            </a:pPr>
            <a:r>
              <a:rPr b="0" i="1" lang="en-US" sz="1000" u="none" cap="none" strike="noStrike">
                <a:solidFill>
                  <a:srgbClr val="56636C"/>
                </a:solidFill>
                <a:latin typeface="Calibri"/>
                <a:ea typeface="Calibri"/>
                <a:cs typeface="Calibri"/>
                <a:sym typeface="Calibri"/>
              </a:rPr>
              <a:t>Cada punto es un día; ejes verticales con escalas distintas. Datos: Copernicus Marine (GLOBAL_ANALYSISFORECAST_PHY_001_024; WIND_GLO_PHY_L4_NRT_012_004). Figura: elaboración propia, scripts reproducibles.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9" name="Shape 239"/>
        <p:cNvGrpSpPr/>
        <p:nvPr/>
      </p:nvGrpSpPr>
      <p:grpSpPr>
        <a:xfrm>
          <a:off x="0" y="0"/>
          <a:ext cx="0" cy="0"/>
          <a:chOff x="0" y="0"/>
          <a:chExt cx="0" cy="0"/>
        </a:xfrm>
      </p:grpSpPr>
      <p:sp>
        <p:nvSpPr>
          <p:cNvPr id="240" name="Google Shape;240;p13"/>
          <p:cNvSpPr/>
          <p:nvPr/>
        </p:nvSpPr>
        <p:spPr>
          <a:xfrm>
            <a:off x="548640" y="347472"/>
            <a:ext cx="1289304"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3"/>
          <p:cNvSpPr txBox="1"/>
          <p:nvPr/>
        </p:nvSpPr>
        <p:spPr>
          <a:xfrm>
            <a:off x="548640" y="347472"/>
            <a:ext cx="1289304"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CONCEPTO</a:t>
            </a:r>
            <a:endParaRPr b="0" i="0" sz="1100" u="none" cap="none" strike="noStrike">
              <a:solidFill>
                <a:schemeClr val="dk1"/>
              </a:solidFill>
              <a:latin typeface="Calibri"/>
              <a:ea typeface="Calibri"/>
              <a:cs typeface="Calibri"/>
              <a:sym typeface="Calibri"/>
            </a:endParaRPr>
          </a:p>
        </p:txBody>
      </p:sp>
      <p:sp>
        <p:nvSpPr>
          <p:cNvPr id="242" name="Google Shape;242;p13"/>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La pregunta clave: ¿dónde están los 40 m?</a:t>
            </a:r>
            <a:endParaRPr b="0" i="0" sz="3200" u="none" cap="none" strike="noStrike">
              <a:solidFill>
                <a:schemeClr val="dk1"/>
              </a:solidFill>
              <a:latin typeface="Calibri"/>
              <a:ea typeface="Calibri"/>
              <a:cs typeface="Calibri"/>
              <a:sym typeface="Calibri"/>
            </a:endParaRPr>
          </a:p>
        </p:txBody>
      </p:sp>
      <p:sp>
        <p:nvSpPr>
          <p:cNvPr id="243" name="Google Shape;243;p13"/>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11</a:t>
            </a:r>
            <a:endParaRPr b="0" i="0" sz="1100" u="none" cap="none" strike="noStrike">
              <a:solidFill>
                <a:schemeClr val="dk1"/>
              </a:solidFill>
              <a:latin typeface="Calibri"/>
              <a:ea typeface="Calibri"/>
              <a:cs typeface="Calibri"/>
              <a:sym typeface="Calibri"/>
            </a:endParaRPr>
          </a:p>
        </p:txBody>
      </p:sp>
      <p:sp>
        <p:nvSpPr>
          <p:cNvPr id="244" name="Google Shape;244;p13"/>
          <p:cNvSpPr txBox="1"/>
          <p:nvPr/>
        </p:nvSpPr>
        <p:spPr>
          <a:xfrm>
            <a:off x="640080" y="1600200"/>
            <a:ext cx="246888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F6E7A"/>
              </a:buClr>
              <a:buSzPts val="1800"/>
              <a:buFont typeface="Calibri"/>
              <a:buNone/>
            </a:pPr>
            <a:r>
              <a:rPr b="1" i="0" lang="en-US" sz="1800" u="none" cap="none" strike="noStrike">
                <a:solidFill>
                  <a:srgbClr val="0F6E7A"/>
                </a:solidFill>
                <a:latin typeface="Calibri"/>
                <a:ea typeface="Calibri"/>
                <a:cs typeface="Calibri"/>
                <a:sym typeface="Calibri"/>
              </a:rPr>
              <a:t>MLD &lt; 40 m</a:t>
            </a:r>
            <a:endParaRPr b="0" i="0" sz="1800" u="none" cap="none" strike="noStrike">
              <a:solidFill>
                <a:schemeClr val="dk1"/>
              </a:solidFill>
              <a:latin typeface="Calibri"/>
              <a:ea typeface="Calibri"/>
              <a:cs typeface="Calibri"/>
              <a:sym typeface="Calibri"/>
            </a:endParaRPr>
          </a:p>
        </p:txBody>
      </p:sp>
      <p:sp>
        <p:nvSpPr>
          <p:cNvPr id="245" name="Google Shape;245;p13"/>
          <p:cNvSpPr/>
          <p:nvPr/>
        </p:nvSpPr>
        <p:spPr>
          <a:xfrm>
            <a:off x="640080" y="2103120"/>
            <a:ext cx="2468880" cy="2743200"/>
          </a:xfrm>
          <a:prstGeom prst="rect">
            <a:avLst/>
          </a:prstGeom>
          <a:solidFill>
            <a:srgbClr val="2E5E77"/>
          </a:solidFill>
          <a:ln cap="flat" cmpd="sng" w="12700">
            <a:solidFill>
              <a:srgbClr val="2E5E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3"/>
          <p:cNvSpPr/>
          <p:nvPr/>
        </p:nvSpPr>
        <p:spPr>
          <a:xfrm>
            <a:off x="640080" y="2103120"/>
            <a:ext cx="2468880" cy="905256"/>
          </a:xfrm>
          <a:prstGeom prst="rect">
            <a:avLst/>
          </a:prstGeom>
          <a:solidFill>
            <a:srgbClr val="A9D8E0"/>
          </a:solidFill>
          <a:ln cap="flat" cmpd="sng" w="12700">
            <a:solidFill>
              <a:srgbClr val="A9D8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3"/>
          <p:cNvSpPr txBox="1"/>
          <p:nvPr/>
        </p:nvSpPr>
        <p:spPr>
          <a:xfrm>
            <a:off x="640080" y="2176272"/>
            <a:ext cx="246888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2263A"/>
              </a:buClr>
              <a:buSzPts val="1300"/>
              <a:buFont typeface="Calibri"/>
              <a:buNone/>
            </a:pPr>
            <a:r>
              <a:rPr b="1" i="0" lang="en-US" sz="1300" u="none" cap="none" strike="noStrike">
                <a:solidFill>
                  <a:srgbClr val="12263A"/>
                </a:solidFill>
                <a:latin typeface="Calibri"/>
                <a:ea typeface="Calibri"/>
                <a:cs typeface="Calibri"/>
                <a:sym typeface="Calibri"/>
              </a:rPr>
              <a:t>capa de mezcla</a:t>
            </a:r>
            <a:endParaRPr b="0" i="0" sz="1300" u="none" cap="none" strike="noStrike">
              <a:solidFill>
                <a:schemeClr val="dk1"/>
              </a:solidFill>
              <a:latin typeface="Calibri"/>
              <a:ea typeface="Calibri"/>
              <a:cs typeface="Calibri"/>
              <a:sym typeface="Calibri"/>
            </a:endParaRPr>
          </a:p>
        </p:txBody>
      </p:sp>
      <p:cxnSp>
        <p:nvCxnSpPr>
          <p:cNvPr id="248" name="Google Shape;248;p13"/>
          <p:cNvCxnSpPr/>
          <p:nvPr/>
        </p:nvCxnSpPr>
        <p:spPr>
          <a:xfrm>
            <a:off x="502920" y="3803904"/>
            <a:ext cx="2743200" cy="0"/>
          </a:xfrm>
          <a:prstGeom prst="straightConnector1">
            <a:avLst/>
          </a:prstGeom>
          <a:noFill/>
          <a:ln cap="flat" cmpd="sng" w="31750">
            <a:solidFill>
              <a:srgbClr val="D9531E"/>
            </a:solidFill>
            <a:prstDash val="dash"/>
            <a:round/>
            <a:headEnd len="sm" w="sm" type="none"/>
            <a:tailEnd len="sm" w="sm" type="none"/>
          </a:ln>
        </p:spPr>
      </p:cxnSp>
      <p:sp>
        <p:nvSpPr>
          <p:cNvPr id="249" name="Google Shape;249;p13"/>
          <p:cNvSpPr txBox="1"/>
          <p:nvPr/>
        </p:nvSpPr>
        <p:spPr>
          <a:xfrm>
            <a:off x="3291840" y="3621024"/>
            <a:ext cx="731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1E"/>
              </a:buClr>
              <a:buSzPts val="1500"/>
              <a:buFont typeface="Calibri"/>
              <a:buNone/>
            </a:pPr>
            <a:r>
              <a:rPr b="1" i="0" lang="en-US" sz="1500" u="none" cap="none" strike="noStrike">
                <a:solidFill>
                  <a:srgbClr val="D9531E"/>
                </a:solidFill>
                <a:latin typeface="Calibri"/>
                <a:ea typeface="Calibri"/>
                <a:cs typeface="Calibri"/>
                <a:sym typeface="Calibri"/>
              </a:rPr>
              <a:t>40 m</a:t>
            </a:r>
            <a:endParaRPr b="0" i="0" sz="1500" u="none" cap="none" strike="noStrike">
              <a:solidFill>
                <a:schemeClr val="dk1"/>
              </a:solidFill>
              <a:latin typeface="Calibri"/>
              <a:ea typeface="Calibri"/>
              <a:cs typeface="Calibri"/>
              <a:sym typeface="Calibri"/>
            </a:endParaRPr>
          </a:p>
        </p:txBody>
      </p:sp>
      <p:cxnSp>
        <p:nvCxnSpPr>
          <p:cNvPr id="250" name="Google Shape;250;p13"/>
          <p:cNvCxnSpPr/>
          <p:nvPr/>
        </p:nvCxnSpPr>
        <p:spPr>
          <a:xfrm>
            <a:off x="1005840" y="2587752"/>
            <a:ext cx="1737360" cy="18288"/>
          </a:xfrm>
          <a:prstGeom prst="straightConnector1">
            <a:avLst/>
          </a:prstGeom>
          <a:noFill/>
          <a:ln cap="flat" cmpd="sng" w="50800">
            <a:solidFill>
              <a:srgbClr val="2A77D4"/>
            </a:solidFill>
            <a:prstDash val="solid"/>
            <a:round/>
            <a:headEnd len="sm" w="sm" type="none"/>
            <a:tailEnd len="med" w="med" type="triangle"/>
          </a:ln>
        </p:spPr>
      </p:cxnSp>
      <p:cxnSp>
        <p:nvCxnSpPr>
          <p:cNvPr id="251" name="Google Shape;251;p13"/>
          <p:cNvCxnSpPr/>
          <p:nvPr/>
        </p:nvCxnSpPr>
        <p:spPr>
          <a:xfrm>
            <a:off x="1005840" y="4169664"/>
            <a:ext cx="640080" cy="914"/>
          </a:xfrm>
          <a:prstGeom prst="straightConnector1">
            <a:avLst/>
          </a:prstGeom>
          <a:noFill/>
          <a:ln cap="flat" cmpd="sng" w="38100">
            <a:solidFill>
              <a:srgbClr val="FFFFFF"/>
            </a:solidFill>
            <a:prstDash val="solid"/>
            <a:round/>
            <a:headEnd len="sm" w="sm" type="none"/>
            <a:tailEnd len="med" w="med" type="triangle"/>
          </a:ln>
        </p:spPr>
      </p:cxnSp>
      <p:sp>
        <p:nvSpPr>
          <p:cNvPr id="252" name="Google Shape;252;p13"/>
          <p:cNvSpPr txBox="1"/>
          <p:nvPr/>
        </p:nvSpPr>
        <p:spPr>
          <a:xfrm>
            <a:off x="548640" y="4919472"/>
            <a:ext cx="32918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300"/>
              <a:buFont typeface="Calibri"/>
              <a:buNone/>
            </a:pPr>
            <a:r>
              <a:rPr b="0" i="0" lang="en-US" sz="1300" u="none" cap="none" strike="noStrike">
                <a:solidFill>
                  <a:srgbClr val="12263A"/>
                </a:solidFill>
                <a:latin typeface="Calibri"/>
                <a:ea typeface="Calibri"/>
                <a:cs typeface="Calibri"/>
                <a:sym typeface="Calibri"/>
              </a:rPr>
              <a:t>40 m queda debajo de la capa mezclada: puede moverse distinto que la superficie.</a:t>
            </a:r>
            <a:endParaRPr b="0" i="0" sz="1300" u="none" cap="none" strike="noStrike">
              <a:solidFill>
                <a:schemeClr val="dk1"/>
              </a:solidFill>
              <a:latin typeface="Calibri"/>
              <a:ea typeface="Calibri"/>
              <a:cs typeface="Calibri"/>
              <a:sym typeface="Calibri"/>
            </a:endParaRPr>
          </a:p>
        </p:txBody>
      </p:sp>
      <p:sp>
        <p:nvSpPr>
          <p:cNvPr id="253" name="Google Shape;253;p13"/>
          <p:cNvSpPr txBox="1"/>
          <p:nvPr/>
        </p:nvSpPr>
        <p:spPr>
          <a:xfrm>
            <a:off x="4023360" y="1600200"/>
            <a:ext cx="2468880" cy="457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F6E7A"/>
              </a:buClr>
              <a:buSzPts val="1800"/>
              <a:buFont typeface="Calibri"/>
              <a:buNone/>
            </a:pPr>
            <a:r>
              <a:rPr b="1" i="0" lang="en-US" sz="1800" u="none" cap="none" strike="noStrike">
                <a:solidFill>
                  <a:srgbClr val="0F6E7A"/>
                </a:solidFill>
                <a:latin typeface="Calibri"/>
                <a:ea typeface="Calibri"/>
                <a:cs typeface="Calibri"/>
                <a:sym typeface="Calibri"/>
              </a:rPr>
              <a:t>MLD ≥ 40 m</a:t>
            </a:r>
            <a:endParaRPr b="0" i="0" sz="1800" u="none" cap="none" strike="noStrike">
              <a:solidFill>
                <a:schemeClr val="dk1"/>
              </a:solidFill>
              <a:latin typeface="Calibri"/>
              <a:ea typeface="Calibri"/>
              <a:cs typeface="Calibri"/>
              <a:sym typeface="Calibri"/>
            </a:endParaRPr>
          </a:p>
        </p:txBody>
      </p:sp>
      <p:sp>
        <p:nvSpPr>
          <p:cNvPr id="254" name="Google Shape;254;p13"/>
          <p:cNvSpPr/>
          <p:nvPr/>
        </p:nvSpPr>
        <p:spPr>
          <a:xfrm>
            <a:off x="4023360" y="2103120"/>
            <a:ext cx="2468880" cy="2743200"/>
          </a:xfrm>
          <a:prstGeom prst="rect">
            <a:avLst/>
          </a:prstGeom>
          <a:solidFill>
            <a:srgbClr val="2E5E77"/>
          </a:solidFill>
          <a:ln cap="flat" cmpd="sng" w="12700">
            <a:solidFill>
              <a:srgbClr val="2E5E7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3"/>
          <p:cNvSpPr/>
          <p:nvPr/>
        </p:nvSpPr>
        <p:spPr>
          <a:xfrm>
            <a:off x="4023360" y="2103120"/>
            <a:ext cx="2468880" cy="2331720"/>
          </a:xfrm>
          <a:prstGeom prst="rect">
            <a:avLst/>
          </a:prstGeom>
          <a:solidFill>
            <a:srgbClr val="A9D8E0"/>
          </a:solidFill>
          <a:ln cap="flat" cmpd="sng" w="12700">
            <a:solidFill>
              <a:srgbClr val="A9D8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3"/>
          <p:cNvSpPr txBox="1"/>
          <p:nvPr/>
        </p:nvSpPr>
        <p:spPr>
          <a:xfrm>
            <a:off x="4023360" y="2176272"/>
            <a:ext cx="2468880" cy="320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2263A"/>
              </a:buClr>
              <a:buSzPts val="1300"/>
              <a:buFont typeface="Calibri"/>
              <a:buNone/>
            </a:pPr>
            <a:r>
              <a:rPr b="1" i="0" lang="en-US" sz="1300" u="none" cap="none" strike="noStrike">
                <a:solidFill>
                  <a:srgbClr val="12263A"/>
                </a:solidFill>
                <a:latin typeface="Calibri"/>
                <a:ea typeface="Calibri"/>
                <a:cs typeface="Calibri"/>
                <a:sym typeface="Calibri"/>
              </a:rPr>
              <a:t>capa de mezcla</a:t>
            </a:r>
            <a:endParaRPr b="0" i="0" sz="1300" u="none" cap="none" strike="noStrike">
              <a:solidFill>
                <a:schemeClr val="dk1"/>
              </a:solidFill>
              <a:latin typeface="Calibri"/>
              <a:ea typeface="Calibri"/>
              <a:cs typeface="Calibri"/>
              <a:sym typeface="Calibri"/>
            </a:endParaRPr>
          </a:p>
        </p:txBody>
      </p:sp>
      <p:cxnSp>
        <p:nvCxnSpPr>
          <p:cNvPr id="257" name="Google Shape;257;p13"/>
          <p:cNvCxnSpPr/>
          <p:nvPr/>
        </p:nvCxnSpPr>
        <p:spPr>
          <a:xfrm>
            <a:off x="3886200" y="3803904"/>
            <a:ext cx="2743200" cy="0"/>
          </a:xfrm>
          <a:prstGeom prst="straightConnector1">
            <a:avLst/>
          </a:prstGeom>
          <a:noFill/>
          <a:ln cap="flat" cmpd="sng" w="31750">
            <a:solidFill>
              <a:srgbClr val="D9531E"/>
            </a:solidFill>
            <a:prstDash val="dash"/>
            <a:round/>
            <a:headEnd len="sm" w="sm" type="none"/>
            <a:tailEnd len="sm" w="sm" type="none"/>
          </a:ln>
        </p:spPr>
      </p:cxnSp>
      <p:sp>
        <p:nvSpPr>
          <p:cNvPr id="258" name="Google Shape;258;p13"/>
          <p:cNvSpPr txBox="1"/>
          <p:nvPr/>
        </p:nvSpPr>
        <p:spPr>
          <a:xfrm>
            <a:off x="6675120" y="3621024"/>
            <a:ext cx="7315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1E"/>
              </a:buClr>
              <a:buSzPts val="1500"/>
              <a:buFont typeface="Calibri"/>
              <a:buNone/>
            </a:pPr>
            <a:r>
              <a:rPr b="1" i="0" lang="en-US" sz="1500" u="none" cap="none" strike="noStrike">
                <a:solidFill>
                  <a:srgbClr val="D9531E"/>
                </a:solidFill>
                <a:latin typeface="Calibri"/>
                <a:ea typeface="Calibri"/>
                <a:cs typeface="Calibri"/>
                <a:sym typeface="Calibri"/>
              </a:rPr>
              <a:t>40 m</a:t>
            </a:r>
            <a:endParaRPr b="0" i="0" sz="1500" u="none" cap="none" strike="noStrike">
              <a:solidFill>
                <a:schemeClr val="dk1"/>
              </a:solidFill>
              <a:latin typeface="Calibri"/>
              <a:ea typeface="Calibri"/>
              <a:cs typeface="Calibri"/>
              <a:sym typeface="Calibri"/>
            </a:endParaRPr>
          </a:p>
        </p:txBody>
      </p:sp>
      <p:cxnSp>
        <p:nvCxnSpPr>
          <p:cNvPr id="259" name="Google Shape;259;p13"/>
          <p:cNvCxnSpPr/>
          <p:nvPr/>
        </p:nvCxnSpPr>
        <p:spPr>
          <a:xfrm>
            <a:off x="4389120" y="2587752"/>
            <a:ext cx="1737360" cy="18288"/>
          </a:xfrm>
          <a:prstGeom prst="straightConnector1">
            <a:avLst/>
          </a:prstGeom>
          <a:noFill/>
          <a:ln cap="flat" cmpd="sng" w="50800">
            <a:solidFill>
              <a:srgbClr val="2A77D4"/>
            </a:solidFill>
            <a:prstDash val="solid"/>
            <a:round/>
            <a:headEnd len="sm" w="sm" type="none"/>
            <a:tailEnd len="med" w="med" type="triangle"/>
          </a:ln>
        </p:spPr>
      </p:cxnSp>
      <p:cxnSp>
        <p:nvCxnSpPr>
          <p:cNvPr id="260" name="Google Shape;260;p13"/>
          <p:cNvCxnSpPr/>
          <p:nvPr/>
        </p:nvCxnSpPr>
        <p:spPr>
          <a:xfrm>
            <a:off x="4389120" y="4169664"/>
            <a:ext cx="1554480" cy="914"/>
          </a:xfrm>
          <a:prstGeom prst="straightConnector1">
            <a:avLst/>
          </a:prstGeom>
          <a:noFill/>
          <a:ln cap="flat" cmpd="sng" w="38100">
            <a:solidFill>
              <a:srgbClr val="D6F0F4"/>
            </a:solidFill>
            <a:prstDash val="solid"/>
            <a:round/>
            <a:headEnd len="sm" w="sm" type="none"/>
            <a:tailEnd len="med" w="med" type="triangle"/>
          </a:ln>
        </p:spPr>
      </p:cxnSp>
      <p:sp>
        <p:nvSpPr>
          <p:cNvPr id="261" name="Google Shape;261;p13"/>
          <p:cNvSpPr txBox="1"/>
          <p:nvPr/>
        </p:nvSpPr>
        <p:spPr>
          <a:xfrm>
            <a:off x="3931920" y="4919472"/>
            <a:ext cx="32918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300"/>
              <a:buFont typeface="Calibri"/>
              <a:buNone/>
            </a:pPr>
            <a:r>
              <a:rPr b="0" i="0" lang="en-US" sz="1300" u="none" cap="none" strike="noStrike">
                <a:solidFill>
                  <a:srgbClr val="12263A"/>
                </a:solidFill>
                <a:latin typeface="Calibri"/>
                <a:ea typeface="Calibri"/>
                <a:cs typeface="Calibri"/>
                <a:sym typeface="Calibri"/>
              </a:rPr>
              <a:t>Superficie y 40 m dentro de la misma capa: se mueven de forma más parecida.</a:t>
            </a:r>
            <a:endParaRPr b="0" i="0" sz="1300" u="none" cap="none" strike="noStrike">
              <a:solidFill>
                <a:schemeClr val="dk1"/>
              </a:solidFill>
              <a:latin typeface="Calibri"/>
              <a:ea typeface="Calibri"/>
              <a:cs typeface="Calibri"/>
              <a:sym typeface="Calibri"/>
            </a:endParaRPr>
          </a:p>
        </p:txBody>
      </p:sp>
      <p:sp>
        <p:nvSpPr>
          <p:cNvPr id="262" name="Google Shape;262;p13"/>
          <p:cNvSpPr/>
          <p:nvPr/>
        </p:nvSpPr>
        <p:spPr>
          <a:xfrm>
            <a:off x="7589520" y="1645920"/>
            <a:ext cx="4050792" cy="3931920"/>
          </a:xfrm>
          <a:prstGeom prst="roundRect">
            <a:avLst>
              <a:gd fmla="val 2326"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3"/>
          <p:cNvSpPr txBox="1"/>
          <p:nvPr/>
        </p:nvSpPr>
        <p:spPr>
          <a:xfrm>
            <a:off x="7772400" y="1783080"/>
            <a:ext cx="3749040" cy="2651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Capa de mezcla: </a:t>
            </a:r>
            <a:r>
              <a:rPr b="0" i="0" lang="en-US" sz="1500" u="none" cap="none" strike="noStrike">
                <a:solidFill>
                  <a:srgbClr val="12263A"/>
                </a:solidFill>
                <a:latin typeface="Calibri"/>
                <a:ea typeface="Calibri"/>
                <a:cs typeface="Calibri"/>
                <a:sym typeface="Calibri"/>
              </a:rPr>
              <a:t>capa superficial de densidad casi uniforme, mezclada por el viento y el enfriamiento.</a:t>
            </a:r>
            <a:endParaRPr b="0" i="0" sz="15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Cálculo: </a:t>
            </a:r>
            <a:r>
              <a:rPr b="0" i="0" lang="en-US" sz="1500" u="none" cap="none" strike="noStrike">
                <a:solidFill>
                  <a:srgbClr val="12263A"/>
                </a:solidFill>
                <a:latin typeface="Calibri"/>
                <a:ea typeface="Calibri"/>
                <a:cs typeface="Calibri"/>
                <a:sym typeface="Calibri"/>
              </a:rPr>
              <a:t>profundidad donde σ₀ supera en 0.03 kg m⁻³ su valor a 10 m (TEOS-10).</a:t>
            </a:r>
            <a:endParaRPr b="0" i="0" sz="15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Si no se alcanza antes de 40.34 m: </a:t>
            </a:r>
            <a:r>
              <a:rPr b="0" i="0" lang="en-US" sz="1500" u="none" cap="none" strike="noStrike">
                <a:solidFill>
                  <a:srgbClr val="12263A"/>
                </a:solidFill>
                <a:latin typeface="Calibri"/>
                <a:ea typeface="Calibri"/>
                <a:cs typeface="Calibri"/>
                <a:sym typeface="Calibri"/>
              </a:rPr>
              <a:t>clase «MLD ≥ 40.34 m».</a:t>
            </a:r>
            <a:endParaRPr b="0" i="0" sz="1500" u="none" cap="none" strike="noStrike">
              <a:solidFill>
                <a:schemeClr val="dk1"/>
              </a:solidFill>
              <a:latin typeface="Calibri"/>
              <a:ea typeface="Calibri"/>
              <a:cs typeface="Calibri"/>
              <a:sym typeface="Calibri"/>
            </a:endParaRPr>
          </a:p>
        </p:txBody>
      </p:sp>
      <p:sp>
        <p:nvSpPr>
          <p:cNvPr id="264" name="Google Shape;264;p13"/>
          <p:cNvSpPr txBox="1"/>
          <p:nvPr/>
        </p:nvSpPr>
        <p:spPr>
          <a:xfrm>
            <a:off x="7772400" y="4389120"/>
            <a:ext cx="155448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6E7A"/>
              </a:buClr>
              <a:buSzPts val="3600"/>
              <a:buFont typeface="Cambria"/>
              <a:buNone/>
            </a:pPr>
            <a:r>
              <a:rPr b="1" i="0" lang="en-US" sz="3600" u="none" cap="none" strike="noStrike">
                <a:solidFill>
                  <a:srgbClr val="0F6E7A"/>
                </a:solidFill>
                <a:latin typeface="Cambria"/>
                <a:ea typeface="Cambria"/>
                <a:cs typeface="Cambria"/>
                <a:sym typeface="Cambria"/>
              </a:rPr>
              <a:t>78 %</a:t>
            </a:r>
            <a:endParaRPr b="0" i="0" sz="3600" u="none" cap="none" strike="noStrike">
              <a:solidFill>
                <a:schemeClr val="dk1"/>
              </a:solidFill>
              <a:latin typeface="Calibri"/>
              <a:ea typeface="Calibri"/>
              <a:cs typeface="Calibri"/>
              <a:sym typeface="Calibri"/>
            </a:endParaRPr>
          </a:p>
        </p:txBody>
      </p:sp>
      <p:sp>
        <p:nvSpPr>
          <p:cNvPr id="265" name="Google Shape;265;p13"/>
          <p:cNvSpPr txBox="1"/>
          <p:nvPr/>
        </p:nvSpPr>
        <p:spPr>
          <a:xfrm>
            <a:off x="9326880" y="4434840"/>
            <a:ext cx="219456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del área con MLD &lt; 40.34 m (61–87 % según el día)</a:t>
            </a:r>
            <a:endParaRPr b="0" i="0" sz="1300" u="none" cap="none" strike="noStrike">
              <a:solidFill>
                <a:schemeClr val="dk1"/>
              </a:solidFill>
              <a:latin typeface="Calibri"/>
              <a:ea typeface="Calibri"/>
              <a:cs typeface="Calibri"/>
              <a:sym typeface="Calibri"/>
            </a:endParaRPr>
          </a:p>
        </p:txBody>
      </p:sp>
      <p:sp>
        <p:nvSpPr>
          <p:cNvPr id="266" name="Google Shape;266;p13"/>
          <p:cNvSpPr/>
          <p:nvPr/>
        </p:nvSpPr>
        <p:spPr>
          <a:xfrm>
            <a:off x="548640" y="5806440"/>
            <a:ext cx="11091672" cy="475488"/>
          </a:xfrm>
          <a:prstGeom prst="roundRect">
            <a:avLst>
              <a:gd fmla="val 15385"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3"/>
          <p:cNvSpPr txBox="1"/>
          <p:nvPr/>
        </p:nvSpPr>
        <p:spPr>
          <a:xfrm>
            <a:off x="731520" y="5806440"/>
            <a:ext cx="10789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1800"/>
              <a:buFont typeface="Calibri"/>
              <a:buNone/>
            </a:pPr>
            <a:r>
              <a:rPr b="1" i="0" lang="en-US" sz="1800" u="none" cap="none" strike="noStrike">
                <a:solidFill>
                  <a:srgbClr val="0F6E7A"/>
                </a:solidFill>
                <a:latin typeface="Calibri"/>
                <a:ea typeface="Calibri"/>
                <a:cs typeface="Calibri"/>
                <a:sym typeface="Calibri"/>
              </a:rPr>
              <a:t>Si la respuesta al viento queda atrapada arriba, 40 m «no se entera».</a:t>
            </a:r>
            <a:endParaRPr b="0" i="0" sz="1800" u="none" cap="none" strike="noStrike">
              <a:solidFill>
                <a:schemeClr val="dk1"/>
              </a:solidFill>
              <a:latin typeface="Calibri"/>
              <a:ea typeface="Calibri"/>
              <a:cs typeface="Calibri"/>
              <a:sym typeface="Calibri"/>
            </a:endParaRPr>
          </a:p>
        </p:txBody>
      </p:sp>
      <p:sp>
        <p:nvSpPr>
          <p:cNvPr id="268" name="Google Shape;268;p13"/>
          <p:cNvSpPr txBox="1"/>
          <p:nvPr/>
        </p:nvSpPr>
        <p:spPr>
          <a:xfrm>
            <a:off x="548640" y="6400800"/>
            <a:ext cx="10332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000"/>
              <a:buFont typeface="Calibri"/>
              <a:buNone/>
            </a:pPr>
            <a:r>
              <a:rPr b="0" i="1" lang="en-US" sz="1000" u="none" cap="none" strike="noStrike">
                <a:solidFill>
                  <a:srgbClr val="56636C"/>
                </a:solidFill>
                <a:latin typeface="Calibri"/>
                <a:ea typeface="Calibri"/>
                <a:cs typeface="Calibri"/>
                <a:sym typeface="Calibri"/>
              </a:rPr>
              <a:t>de Boyer Montégut et al. (2004); Price y Sundermeyer (1999). Esquema conceptual, no a escala.</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3" name="Shape 273"/>
        <p:cNvGrpSpPr/>
        <p:nvPr/>
      </p:nvGrpSpPr>
      <p:grpSpPr>
        <a:xfrm>
          <a:off x="0" y="0"/>
          <a:ext cx="0" cy="0"/>
          <a:chOff x="0" y="0"/>
          <a:chExt cx="0" cy="0"/>
        </a:xfrm>
      </p:grpSpPr>
      <p:sp>
        <p:nvSpPr>
          <p:cNvPr id="274" name="Google Shape;274;p14"/>
          <p:cNvSpPr/>
          <p:nvPr/>
        </p:nvSpPr>
        <p:spPr>
          <a:xfrm>
            <a:off x="548640" y="347472"/>
            <a:ext cx="1179576"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4"/>
          <p:cNvSpPr txBox="1"/>
          <p:nvPr/>
        </p:nvSpPr>
        <p:spPr>
          <a:xfrm>
            <a:off x="548640" y="347472"/>
            <a:ext cx="11795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PRUEBAS</a:t>
            </a:r>
            <a:endParaRPr b="0" i="0" sz="1100" u="none" cap="none" strike="noStrike">
              <a:solidFill>
                <a:schemeClr val="dk1"/>
              </a:solidFill>
              <a:latin typeface="Calibri"/>
              <a:ea typeface="Calibri"/>
              <a:cs typeface="Calibri"/>
              <a:sym typeface="Calibri"/>
            </a:endParaRPr>
          </a:p>
        </p:txBody>
      </p:sp>
      <p:sp>
        <p:nvSpPr>
          <p:cNvPr id="276" name="Google Shape;276;p14"/>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La capa de mezcla cambia la historia</a:t>
            </a:r>
            <a:endParaRPr b="0" i="0" sz="3200" u="none" cap="none" strike="noStrike">
              <a:solidFill>
                <a:schemeClr val="dk1"/>
              </a:solidFill>
              <a:latin typeface="Calibri"/>
              <a:ea typeface="Calibri"/>
              <a:cs typeface="Calibri"/>
              <a:sym typeface="Calibri"/>
            </a:endParaRPr>
          </a:p>
        </p:txBody>
      </p:sp>
      <p:sp>
        <p:nvSpPr>
          <p:cNvPr id="277" name="Google Shape;277;p14"/>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12</a:t>
            </a:r>
            <a:endParaRPr b="0" i="0" sz="1100" u="none" cap="none" strike="noStrike">
              <a:solidFill>
                <a:schemeClr val="dk1"/>
              </a:solidFill>
              <a:latin typeface="Calibri"/>
              <a:ea typeface="Calibri"/>
              <a:cs typeface="Calibri"/>
              <a:sym typeface="Calibri"/>
            </a:endParaRPr>
          </a:p>
        </p:txBody>
      </p:sp>
      <p:pic>
        <p:nvPicPr>
          <p:cNvPr descr="/tmp/claude-0/-home-claude/39892b0b-c3c5-5855-9657-93e4cc1da44f/scratchpad/img/F13b_D_por_clase_MLD.png" id="278" name="Google Shape;278;p14"/>
          <p:cNvPicPr preferRelativeResize="0"/>
          <p:nvPr/>
        </p:nvPicPr>
        <p:blipFill rotWithShape="1">
          <a:blip r:embed="rId3">
            <a:alphaModFix/>
          </a:blip>
          <a:srcRect b="0" l="0" r="0" t="0"/>
          <a:stretch/>
        </p:blipFill>
        <p:spPr>
          <a:xfrm>
            <a:off x="548640" y="1562921"/>
            <a:ext cx="7589520" cy="2451999"/>
          </a:xfrm>
          <a:prstGeom prst="rect">
            <a:avLst/>
          </a:prstGeom>
          <a:noFill/>
          <a:ln>
            <a:noFill/>
          </a:ln>
        </p:spPr>
      </p:pic>
      <p:sp>
        <p:nvSpPr>
          <p:cNvPr id="279" name="Google Shape;279;p14"/>
          <p:cNvSpPr txBox="1"/>
          <p:nvPr/>
        </p:nvSpPr>
        <p:spPr>
          <a:xfrm>
            <a:off x="548640" y="4114800"/>
            <a:ext cx="75895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200"/>
              <a:buFont typeface="Calibri"/>
              <a:buNone/>
            </a:pPr>
            <a:r>
              <a:rPr b="0" i="0" lang="en-US" sz="1200" u="none" cap="none" strike="noStrike">
                <a:solidFill>
                  <a:srgbClr val="56636C"/>
                </a:solidFill>
                <a:latin typeface="Calibri"/>
                <a:ea typeface="Calibri"/>
                <a:cs typeface="Calibri"/>
                <a:sym typeface="Calibri"/>
              </a:rPr>
              <a:t>D diaria por clase de MLD y sector (azul: MLD &lt; 40.34 m; naranja: MLD ≥ 40.34 m).</a:t>
            </a:r>
            <a:endParaRPr b="0" i="0" sz="1200" u="none" cap="none" strike="noStrike">
              <a:solidFill>
                <a:schemeClr val="dk1"/>
              </a:solidFill>
              <a:latin typeface="Calibri"/>
              <a:ea typeface="Calibri"/>
              <a:cs typeface="Calibri"/>
              <a:sym typeface="Calibri"/>
            </a:endParaRPr>
          </a:p>
        </p:txBody>
      </p:sp>
      <p:sp>
        <p:nvSpPr>
          <p:cNvPr id="280" name="Google Shape;280;p14"/>
          <p:cNvSpPr txBox="1"/>
          <p:nvPr/>
        </p:nvSpPr>
        <p:spPr>
          <a:xfrm>
            <a:off x="8412480" y="1508760"/>
            <a:ext cx="3200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500"/>
              <a:buFont typeface="Calibri"/>
              <a:buNone/>
            </a:pPr>
            <a:r>
              <a:rPr b="1" i="0" lang="en-US" sz="1500" u="none" cap="none" strike="noStrike">
                <a:solidFill>
                  <a:srgbClr val="56636C"/>
                </a:solidFill>
                <a:latin typeface="Calibri"/>
                <a:ea typeface="Calibri"/>
                <a:cs typeface="Calibri"/>
                <a:sym typeface="Calibri"/>
              </a:rPr>
              <a:t>r(τ, D) en la ZEE</a:t>
            </a:r>
            <a:endParaRPr b="0" i="0" sz="1500" u="none" cap="none" strike="noStrike">
              <a:solidFill>
                <a:schemeClr val="dk1"/>
              </a:solidFill>
              <a:latin typeface="Calibri"/>
              <a:ea typeface="Calibri"/>
              <a:cs typeface="Calibri"/>
              <a:sym typeface="Calibri"/>
            </a:endParaRPr>
          </a:p>
        </p:txBody>
      </p:sp>
      <p:sp>
        <p:nvSpPr>
          <p:cNvPr id="281" name="Google Shape;281;p14"/>
          <p:cNvSpPr/>
          <p:nvPr/>
        </p:nvSpPr>
        <p:spPr>
          <a:xfrm>
            <a:off x="8412480" y="1874520"/>
            <a:ext cx="1554480" cy="1143000"/>
          </a:xfrm>
          <a:prstGeom prst="roundRect">
            <a:avLst>
              <a:gd fmla="val 8000"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4"/>
          <p:cNvSpPr txBox="1"/>
          <p:nvPr/>
        </p:nvSpPr>
        <p:spPr>
          <a:xfrm>
            <a:off x="8549640" y="1984248"/>
            <a:ext cx="128016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A77D4"/>
              </a:buClr>
              <a:buSzPts val="3400"/>
              <a:buFont typeface="Cambria"/>
              <a:buNone/>
            </a:pPr>
            <a:r>
              <a:rPr b="1" i="0" lang="en-US" sz="3400" u="none" cap="none" strike="noStrike">
                <a:solidFill>
                  <a:srgbClr val="2A77D4"/>
                </a:solidFill>
                <a:latin typeface="Cambria"/>
                <a:ea typeface="Cambria"/>
                <a:cs typeface="Cambria"/>
                <a:sym typeface="Cambria"/>
              </a:rPr>
              <a:t>0.97</a:t>
            </a:r>
            <a:endParaRPr b="0" i="0" sz="3400" u="none" cap="none" strike="noStrike">
              <a:solidFill>
                <a:schemeClr val="dk1"/>
              </a:solidFill>
              <a:latin typeface="Calibri"/>
              <a:ea typeface="Calibri"/>
              <a:cs typeface="Calibri"/>
              <a:sym typeface="Calibri"/>
            </a:endParaRPr>
          </a:p>
        </p:txBody>
      </p:sp>
      <p:sp>
        <p:nvSpPr>
          <p:cNvPr id="283" name="Google Shape;283;p14"/>
          <p:cNvSpPr txBox="1"/>
          <p:nvPr/>
        </p:nvSpPr>
        <p:spPr>
          <a:xfrm>
            <a:off x="8549640" y="2555748"/>
            <a:ext cx="1280160" cy="3886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MLD &lt; 40.34 m (somera)</a:t>
            </a:r>
            <a:endParaRPr b="0" i="0" sz="1300" u="none" cap="none" strike="noStrike">
              <a:solidFill>
                <a:schemeClr val="dk1"/>
              </a:solidFill>
              <a:latin typeface="Calibri"/>
              <a:ea typeface="Calibri"/>
              <a:cs typeface="Calibri"/>
              <a:sym typeface="Calibri"/>
            </a:endParaRPr>
          </a:p>
        </p:txBody>
      </p:sp>
      <p:sp>
        <p:nvSpPr>
          <p:cNvPr id="284" name="Google Shape;284;p14"/>
          <p:cNvSpPr/>
          <p:nvPr/>
        </p:nvSpPr>
        <p:spPr>
          <a:xfrm>
            <a:off x="10085832" y="1874520"/>
            <a:ext cx="1554480" cy="1143000"/>
          </a:xfrm>
          <a:prstGeom prst="roundRect">
            <a:avLst>
              <a:gd fmla="val 8000"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4"/>
          <p:cNvSpPr txBox="1"/>
          <p:nvPr/>
        </p:nvSpPr>
        <p:spPr>
          <a:xfrm>
            <a:off x="10222992" y="1984248"/>
            <a:ext cx="1280160" cy="571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31E"/>
              </a:buClr>
              <a:buSzPts val="3400"/>
              <a:buFont typeface="Cambria"/>
              <a:buNone/>
            </a:pPr>
            <a:r>
              <a:rPr b="1" i="0" lang="en-US" sz="3400" u="none" cap="none" strike="noStrike">
                <a:solidFill>
                  <a:srgbClr val="D9531E"/>
                </a:solidFill>
                <a:latin typeface="Cambria"/>
                <a:ea typeface="Cambria"/>
                <a:cs typeface="Cambria"/>
                <a:sym typeface="Cambria"/>
              </a:rPr>
              <a:t>0.15</a:t>
            </a:r>
            <a:endParaRPr b="0" i="0" sz="3400" u="none" cap="none" strike="noStrike">
              <a:solidFill>
                <a:schemeClr val="dk1"/>
              </a:solidFill>
              <a:latin typeface="Calibri"/>
              <a:ea typeface="Calibri"/>
              <a:cs typeface="Calibri"/>
              <a:sym typeface="Calibri"/>
            </a:endParaRPr>
          </a:p>
        </p:txBody>
      </p:sp>
      <p:sp>
        <p:nvSpPr>
          <p:cNvPr id="286" name="Google Shape;286;p14"/>
          <p:cNvSpPr txBox="1"/>
          <p:nvPr/>
        </p:nvSpPr>
        <p:spPr>
          <a:xfrm>
            <a:off x="10222992" y="2555748"/>
            <a:ext cx="1280160" cy="3886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MLD ≥ 40.34 m (profunda)</a:t>
            </a:r>
            <a:endParaRPr b="0" i="0" sz="1300" u="none" cap="none" strike="noStrike">
              <a:solidFill>
                <a:schemeClr val="dk1"/>
              </a:solidFill>
              <a:latin typeface="Calibri"/>
              <a:ea typeface="Calibri"/>
              <a:cs typeface="Calibri"/>
              <a:sym typeface="Calibri"/>
            </a:endParaRPr>
          </a:p>
        </p:txBody>
      </p:sp>
      <p:sp>
        <p:nvSpPr>
          <p:cNvPr id="287" name="Google Shape;287;p14"/>
          <p:cNvSpPr txBox="1"/>
          <p:nvPr/>
        </p:nvSpPr>
        <p:spPr>
          <a:xfrm>
            <a:off x="8412480" y="3154680"/>
            <a:ext cx="320040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600"/>
              <a:buFont typeface="Calibri"/>
              <a:buNone/>
            </a:pPr>
            <a:r>
              <a:rPr b="1" i="0" lang="en-US" sz="1600" u="none" cap="none" strike="noStrike">
                <a:solidFill>
                  <a:srgbClr val="12263A"/>
                </a:solidFill>
                <a:latin typeface="Calibri"/>
                <a:ea typeface="Calibri"/>
                <a:cs typeface="Calibri"/>
                <a:sym typeface="Calibri"/>
              </a:rPr>
              <a:t>D media ≈ el doble con capa somera: 0.16 vs 0.09 m s⁻¹</a:t>
            </a:r>
            <a:endParaRPr b="0" i="0" sz="1600" u="none" cap="none" strike="noStrike">
              <a:solidFill>
                <a:schemeClr val="dk1"/>
              </a:solidFill>
              <a:latin typeface="Calibri"/>
              <a:ea typeface="Calibri"/>
              <a:cs typeface="Calibri"/>
              <a:sym typeface="Calibri"/>
            </a:endParaRPr>
          </a:p>
        </p:txBody>
      </p:sp>
      <p:graphicFrame>
        <p:nvGraphicFramePr>
          <p:cNvPr id="288" name="Google Shape;288;p14"/>
          <p:cNvGraphicFramePr/>
          <p:nvPr/>
        </p:nvGraphicFramePr>
        <p:xfrm>
          <a:off x="548640" y="4480560"/>
          <a:ext cx="3000000" cy="3000000"/>
        </p:xfrm>
        <a:graphic>
          <a:graphicData uri="http://schemas.openxmlformats.org/drawingml/2006/table">
            <a:tbl>
              <a:tblPr>
                <a:noFill/>
                <a:tableStyleId>{AA92881A-C2CB-4D3E-B84A-95C91AE57FA1}</a:tableStyleId>
              </a:tblPr>
              <a:tblGrid>
                <a:gridCol w="1737350"/>
                <a:gridCol w="1737350"/>
                <a:gridCol w="1737350"/>
                <a:gridCol w="2377450"/>
              </a:tblGrid>
              <a:tr h="310900">
                <a:tc>
                  <a:txBody>
                    <a:bodyPr/>
                    <a:lstStyle/>
                    <a:p>
                      <a:pPr indent="0" lvl="0" marL="0" marR="0" rtl="0" algn="ctr">
                        <a:spcBef>
                          <a:spcPts val="0"/>
                        </a:spcBef>
                        <a:spcAft>
                          <a:spcPts val="0"/>
                        </a:spcAft>
                        <a:buClr>
                          <a:srgbClr val="FFFFFF"/>
                        </a:buClr>
                        <a:buSzPts val="1500"/>
                        <a:buFont typeface="Calibri"/>
                        <a:buNone/>
                      </a:pPr>
                      <a:r>
                        <a:rPr b="1" lang="en-US" sz="1500" u="none" cap="none" strike="noStrike">
                          <a:solidFill>
                            <a:srgbClr val="FFFFFF"/>
                          </a:solidFill>
                          <a:latin typeface="Calibri"/>
                          <a:ea typeface="Calibri"/>
                          <a:cs typeface="Calibri"/>
                          <a:sym typeface="Calibri"/>
                        </a:rPr>
                        <a:t>Sector</a:t>
                      </a:r>
                      <a:endParaRPr sz="15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0F6E7A"/>
                    </a:solidFill>
                  </a:tcPr>
                </a:tc>
                <a:tc>
                  <a:txBody>
                    <a:bodyPr/>
                    <a:lstStyle/>
                    <a:p>
                      <a:pPr indent="0" lvl="0" marL="0" marR="0" rtl="0" algn="ctr">
                        <a:spcBef>
                          <a:spcPts val="0"/>
                        </a:spcBef>
                        <a:spcAft>
                          <a:spcPts val="0"/>
                        </a:spcAft>
                        <a:buClr>
                          <a:srgbClr val="FFFFFF"/>
                        </a:buClr>
                        <a:buSzPts val="1500"/>
                        <a:buFont typeface="Calibri"/>
                        <a:buNone/>
                      </a:pPr>
                      <a:r>
                        <a:rPr b="1" lang="en-US" sz="1500" u="none" cap="none" strike="noStrike">
                          <a:solidFill>
                            <a:srgbClr val="FFFFFF"/>
                          </a:solidFill>
                          <a:latin typeface="Calibri"/>
                          <a:ea typeface="Calibri"/>
                          <a:cs typeface="Calibri"/>
                          <a:sym typeface="Calibri"/>
                        </a:rPr>
                        <a:t>D somera</a:t>
                      </a:r>
                      <a:endParaRPr sz="15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0F6E7A"/>
                    </a:solidFill>
                  </a:tcPr>
                </a:tc>
                <a:tc>
                  <a:txBody>
                    <a:bodyPr/>
                    <a:lstStyle/>
                    <a:p>
                      <a:pPr indent="0" lvl="0" marL="0" marR="0" rtl="0" algn="ctr">
                        <a:spcBef>
                          <a:spcPts val="0"/>
                        </a:spcBef>
                        <a:spcAft>
                          <a:spcPts val="0"/>
                        </a:spcAft>
                        <a:buClr>
                          <a:srgbClr val="FFFFFF"/>
                        </a:buClr>
                        <a:buSzPts val="1500"/>
                        <a:buFont typeface="Calibri"/>
                        <a:buNone/>
                      </a:pPr>
                      <a:r>
                        <a:rPr b="1" lang="en-US" sz="1500" u="none" cap="none" strike="noStrike">
                          <a:solidFill>
                            <a:srgbClr val="FFFFFF"/>
                          </a:solidFill>
                          <a:latin typeface="Calibri"/>
                          <a:ea typeface="Calibri"/>
                          <a:cs typeface="Calibri"/>
                          <a:sym typeface="Calibri"/>
                        </a:rPr>
                        <a:t>D profunda</a:t>
                      </a:r>
                      <a:endParaRPr sz="15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0F6E7A"/>
                    </a:solidFill>
                  </a:tcPr>
                </a:tc>
                <a:tc>
                  <a:txBody>
                    <a:bodyPr/>
                    <a:lstStyle/>
                    <a:p>
                      <a:pPr indent="0" lvl="0" marL="0" marR="0" rtl="0" algn="ctr">
                        <a:spcBef>
                          <a:spcPts val="0"/>
                        </a:spcBef>
                        <a:spcAft>
                          <a:spcPts val="0"/>
                        </a:spcAft>
                        <a:buClr>
                          <a:srgbClr val="FFFFFF"/>
                        </a:buClr>
                        <a:buSzPts val="1500"/>
                        <a:buFont typeface="Calibri"/>
                        <a:buNone/>
                      </a:pPr>
                      <a:r>
                        <a:rPr b="1" lang="en-US" sz="1500" u="none" cap="none" strike="noStrike">
                          <a:solidFill>
                            <a:srgbClr val="FFFFFF"/>
                          </a:solidFill>
                          <a:latin typeface="Calibri"/>
                          <a:ea typeface="Calibri"/>
                          <a:cs typeface="Calibri"/>
                          <a:sym typeface="Calibri"/>
                        </a:rPr>
                        <a:t>Días con contraste</a:t>
                      </a:r>
                      <a:endParaRPr sz="15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0F6E7A"/>
                    </a:solidFill>
                  </a:tcPr>
                </a:tc>
              </a:tr>
              <a:tr h="310900">
                <a:tc>
                  <a:txBody>
                    <a:bodyPr/>
                    <a:lstStyle/>
                    <a:p>
                      <a:pPr indent="0" lvl="0" marL="0" marR="0" rtl="0" algn="ctr">
                        <a:spcBef>
                          <a:spcPts val="0"/>
                        </a:spcBef>
                        <a:spcAft>
                          <a:spcPts val="0"/>
                        </a:spcAft>
                        <a:buClr>
                          <a:srgbClr val="12263A"/>
                        </a:buClr>
                        <a:buSzPts val="1500"/>
                        <a:buFont typeface="Calibri"/>
                        <a:buNone/>
                      </a:pPr>
                      <a:r>
                        <a:rPr lang="en-US" sz="1500" u="none" cap="none" strike="noStrike">
                          <a:solidFill>
                            <a:srgbClr val="12263A"/>
                          </a:solidFill>
                          <a:latin typeface="Calibri"/>
                          <a:ea typeface="Calibri"/>
                          <a:cs typeface="Calibri"/>
                          <a:sym typeface="Calibri"/>
                        </a:rPr>
                        <a:t>Norte</a:t>
                      </a:r>
                      <a:endParaRPr sz="15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ctr">
                        <a:spcBef>
                          <a:spcPts val="0"/>
                        </a:spcBef>
                        <a:spcAft>
                          <a:spcPts val="0"/>
                        </a:spcAft>
                        <a:buClr>
                          <a:srgbClr val="12263A"/>
                        </a:buClr>
                        <a:buSzPts val="1500"/>
                        <a:buFont typeface="Calibri"/>
                        <a:buNone/>
                      </a:pPr>
                      <a:r>
                        <a:rPr lang="en-US" sz="1500" u="none" cap="none" strike="noStrike">
                          <a:solidFill>
                            <a:srgbClr val="12263A"/>
                          </a:solidFill>
                          <a:latin typeface="Calibri"/>
                          <a:ea typeface="Calibri"/>
                          <a:cs typeface="Calibri"/>
                          <a:sym typeface="Calibri"/>
                        </a:rPr>
                        <a:t>0.24</a:t>
                      </a:r>
                      <a:endParaRPr sz="15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ctr">
                        <a:spcBef>
                          <a:spcPts val="0"/>
                        </a:spcBef>
                        <a:spcAft>
                          <a:spcPts val="0"/>
                        </a:spcAft>
                        <a:buClr>
                          <a:srgbClr val="12263A"/>
                        </a:buClr>
                        <a:buSzPts val="1500"/>
                        <a:buFont typeface="Calibri"/>
                        <a:buNone/>
                      </a:pPr>
                      <a:r>
                        <a:rPr lang="en-US" sz="1500" u="none" cap="none" strike="noStrike">
                          <a:solidFill>
                            <a:srgbClr val="12263A"/>
                          </a:solidFill>
                          <a:latin typeface="Calibri"/>
                          <a:ea typeface="Calibri"/>
                          <a:cs typeface="Calibri"/>
                          <a:sym typeface="Calibri"/>
                        </a:rPr>
                        <a:t>0.12</a:t>
                      </a:r>
                      <a:endParaRPr sz="15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ctr">
                        <a:spcBef>
                          <a:spcPts val="0"/>
                        </a:spcBef>
                        <a:spcAft>
                          <a:spcPts val="0"/>
                        </a:spcAft>
                        <a:buClr>
                          <a:srgbClr val="12263A"/>
                        </a:buClr>
                        <a:buSzPts val="1500"/>
                        <a:buFont typeface="Calibri"/>
                        <a:buNone/>
                      </a:pPr>
                      <a:r>
                        <a:rPr lang="en-US" sz="1500" u="none" cap="none" strike="noStrike">
                          <a:solidFill>
                            <a:srgbClr val="12263A"/>
                          </a:solidFill>
                          <a:latin typeface="Calibri"/>
                          <a:ea typeface="Calibri"/>
                          <a:cs typeface="Calibri"/>
                          <a:sym typeface="Calibri"/>
                        </a:rPr>
                        <a:t>14/14</a:t>
                      </a:r>
                      <a:endParaRPr sz="15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10900">
                <a:tc>
                  <a:txBody>
                    <a:bodyPr/>
                    <a:lstStyle/>
                    <a:p>
                      <a:pPr indent="0" lvl="0" marL="0" marR="0" rtl="0" algn="ctr">
                        <a:spcBef>
                          <a:spcPts val="0"/>
                        </a:spcBef>
                        <a:spcAft>
                          <a:spcPts val="0"/>
                        </a:spcAft>
                        <a:buClr>
                          <a:srgbClr val="12263A"/>
                        </a:buClr>
                        <a:buSzPts val="1500"/>
                        <a:buFont typeface="Calibri"/>
                        <a:buNone/>
                      </a:pPr>
                      <a:r>
                        <a:rPr lang="en-US" sz="1500" u="none" cap="none" strike="noStrike">
                          <a:solidFill>
                            <a:srgbClr val="12263A"/>
                          </a:solidFill>
                          <a:latin typeface="Calibri"/>
                          <a:ea typeface="Calibri"/>
                          <a:cs typeface="Calibri"/>
                          <a:sym typeface="Calibri"/>
                        </a:rPr>
                        <a:t>Centro</a:t>
                      </a:r>
                      <a:endParaRPr sz="15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ctr">
                        <a:spcBef>
                          <a:spcPts val="0"/>
                        </a:spcBef>
                        <a:spcAft>
                          <a:spcPts val="0"/>
                        </a:spcAft>
                        <a:buClr>
                          <a:srgbClr val="12263A"/>
                        </a:buClr>
                        <a:buSzPts val="1500"/>
                        <a:buFont typeface="Calibri"/>
                        <a:buNone/>
                      </a:pPr>
                      <a:r>
                        <a:rPr lang="en-US" sz="1500" u="none" cap="none" strike="noStrike">
                          <a:solidFill>
                            <a:srgbClr val="12263A"/>
                          </a:solidFill>
                          <a:latin typeface="Calibri"/>
                          <a:ea typeface="Calibri"/>
                          <a:cs typeface="Calibri"/>
                          <a:sym typeface="Calibri"/>
                        </a:rPr>
                        <a:t>0.20</a:t>
                      </a:r>
                      <a:endParaRPr sz="15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ctr">
                        <a:spcBef>
                          <a:spcPts val="0"/>
                        </a:spcBef>
                        <a:spcAft>
                          <a:spcPts val="0"/>
                        </a:spcAft>
                        <a:buClr>
                          <a:srgbClr val="12263A"/>
                        </a:buClr>
                        <a:buSzPts val="1500"/>
                        <a:buFont typeface="Calibri"/>
                        <a:buNone/>
                      </a:pPr>
                      <a:r>
                        <a:rPr lang="en-US" sz="1500" u="none" cap="none" strike="noStrike">
                          <a:solidFill>
                            <a:srgbClr val="12263A"/>
                          </a:solidFill>
                          <a:latin typeface="Calibri"/>
                          <a:ea typeface="Calibri"/>
                          <a:cs typeface="Calibri"/>
                          <a:sym typeface="Calibri"/>
                        </a:rPr>
                        <a:t>0.09</a:t>
                      </a:r>
                      <a:endParaRPr sz="15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ctr">
                        <a:spcBef>
                          <a:spcPts val="0"/>
                        </a:spcBef>
                        <a:spcAft>
                          <a:spcPts val="0"/>
                        </a:spcAft>
                        <a:buClr>
                          <a:srgbClr val="12263A"/>
                        </a:buClr>
                        <a:buSzPts val="1500"/>
                        <a:buFont typeface="Calibri"/>
                        <a:buNone/>
                      </a:pPr>
                      <a:r>
                        <a:rPr lang="en-US" sz="1500" u="none" cap="none" strike="noStrike">
                          <a:solidFill>
                            <a:srgbClr val="12263A"/>
                          </a:solidFill>
                          <a:latin typeface="Calibri"/>
                          <a:ea typeface="Calibri"/>
                          <a:cs typeface="Calibri"/>
                          <a:sym typeface="Calibri"/>
                        </a:rPr>
                        <a:t>14/14</a:t>
                      </a:r>
                      <a:endParaRPr sz="15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10900">
                <a:tc>
                  <a:txBody>
                    <a:bodyPr/>
                    <a:lstStyle/>
                    <a:p>
                      <a:pPr indent="0" lvl="0" marL="0" marR="0" rtl="0" algn="ctr">
                        <a:spcBef>
                          <a:spcPts val="0"/>
                        </a:spcBef>
                        <a:spcAft>
                          <a:spcPts val="0"/>
                        </a:spcAft>
                        <a:buClr>
                          <a:srgbClr val="12263A"/>
                        </a:buClr>
                        <a:buSzPts val="1500"/>
                        <a:buFont typeface="Calibri"/>
                        <a:buNone/>
                      </a:pPr>
                      <a:r>
                        <a:rPr lang="en-US" sz="1500" u="none" cap="none" strike="noStrike">
                          <a:solidFill>
                            <a:srgbClr val="12263A"/>
                          </a:solidFill>
                          <a:latin typeface="Calibri"/>
                          <a:ea typeface="Calibri"/>
                          <a:cs typeface="Calibri"/>
                          <a:sym typeface="Calibri"/>
                        </a:rPr>
                        <a:t>Sur</a:t>
                      </a:r>
                      <a:endParaRPr sz="15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ctr">
                        <a:spcBef>
                          <a:spcPts val="0"/>
                        </a:spcBef>
                        <a:spcAft>
                          <a:spcPts val="0"/>
                        </a:spcAft>
                        <a:buClr>
                          <a:srgbClr val="12263A"/>
                        </a:buClr>
                        <a:buSzPts val="1500"/>
                        <a:buFont typeface="Calibri"/>
                        <a:buNone/>
                      </a:pPr>
                      <a:r>
                        <a:rPr lang="en-US" sz="1500" u="none" cap="none" strike="noStrike">
                          <a:solidFill>
                            <a:srgbClr val="12263A"/>
                          </a:solidFill>
                          <a:latin typeface="Calibri"/>
                          <a:ea typeface="Calibri"/>
                          <a:cs typeface="Calibri"/>
                          <a:sym typeface="Calibri"/>
                        </a:rPr>
                        <a:t>0.11</a:t>
                      </a:r>
                      <a:endParaRPr sz="15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ctr">
                        <a:spcBef>
                          <a:spcPts val="0"/>
                        </a:spcBef>
                        <a:spcAft>
                          <a:spcPts val="0"/>
                        </a:spcAft>
                        <a:buClr>
                          <a:srgbClr val="12263A"/>
                        </a:buClr>
                        <a:buSzPts val="1500"/>
                        <a:buFont typeface="Calibri"/>
                        <a:buNone/>
                      </a:pPr>
                      <a:r>
                        <a:rPr lang="en-US" sz="1500" u="none" cap="none" strike="noStrike">
                          <a:solidFill>
                            <a:srgbClr val="12263A"/>
                          </a:solidFill>
                          <a:latin typeface="Calibri"/>
                          <a:ea typeface="Calibri"/>
                          <a:cs typeface="Calibri"/>
                          <a:sym typeface="Calibri"/>
                        </a:rPr>
                        <a:t>0.08</a:t>
                      </a:r>
                      <a:endParaRPr sz="15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ctr">
                        <a:spcBef>
                          <a:spcPts val="0"/>
                        </a:spcBef>
                        <a:spcAft>
                          <a:spcPts val="0"/>
                        </a:spcAft>
                        <a:buClr>
                          <a:srgbClr val="12263A"/>
                        </a:buClr>
                        <a:buSzPts val="1500"/>
                        <a:buFont typeface="Calibri"/>
                        <a:buNone/>
                      </a:pPr>
                      <a:r>
                        <a:rPr lang="en-US" sz="1500" u="none" cap="none" strike="noStrike">
                          <a:solidFill>
                            <a:srgbClr val="12263A"/>
                          </a:solidFill>
                          <a:latin typeface="Calibri"/>
                          <a:ea typeface="Calibri"/>
                          <a:cs typeface="Calibri"/>
                          <a:sym typeface="Calibri"/>
                        </a:rPr>
                        <a:t>13/14</a:t>
                      </a:r>
                      <a:endParaRPr sz="15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bl>
          </a:graphicData>
        </a:graphic>
      </p:graphicFrame>
      <p:sp>
        <p:nvSpPr>
          <p:cNvPr id="289" name="Google Shape;289;p14"/>
          <p:cNvSpPr txBox="1"/>
          <p:nvPr/>
        </p:nvSpPr>
        <p:spPr>
          <a:xfrm>
            <a:off x="8412480" y="3931920"/>
            <a:ext cx="3227832"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Límites: las celdas someras estaban más cerca de la costa (≈167 vs 242 km) y tenían corrientes más rápidas; la relación temporal MLD–D fue débil (|r| ≤ 0.22).</a:t>
            </a:r>
            <a:endParaRPr b="0" i="0" sz="1300" u="none" cap="none" strike="noStrike">
              <a:solidFill>
                <a:schemeClr val="dk1"/>
              </a:solidFill>
              <a:latin typeface="Calibri"/>
              <a:ea typeface="Calibri"/>
              <a:cs typeface="Calibri"/>
              <a:sym typeface="Calibri"/>
            </a:endParaRPr>
          </a:p>
        </p:txBody>
      </p:sp>
      <p:sp>
        <p:nvSpPr>
          <p:cNvPr id="290" name="Google Shape;290;p14"/>
          <p:cNvSpPr/>
          <p:nvPr/>
        </p:nvSpPr>
        <p:spPr>
          <a:xfrm>
            <a:off x="548640" y="5806440"/>
            <a:ext cx="7589520" cy="475488"/>
          </a:xfrm>
          <a:prstGeom prst="roundRect">
            <a:avLst>
              <a:gd fmla="val 15385"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4"/>
          <p:cNvSpPr txBox="1"/>
          <p:nvPr/>
        </p:nvSpPr>
        <p:spPr>
          <a:xfrm>
            <a:off x="731520" y="5806440"/>
            <a:ext cx="73152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1700"/>
              <a:buFont typeface="Calibri"/>
              <a:buNone/>
            </a:pPr>
            <a:r>
              <a:rPr b="1" i="0" lang="en-US" sz="1700" u="none" cap="none" strike="noStrike">
                <a:solidFill>
                  <a:srgbClr val="0F6E7A"/>
                </a:solidFill>
                <a:latin typeface="Calibri"/>
                <a:ea typeface="Calibri"/>
                <a:cs typeface="Calibri"/>
                <a:sym typeface="Calibri"/>
              </a:rPr>
              <a:t>La profundidad de la capa de mezcla modula la diferenciación vertical.</a:t>
            </a:r>
            <a:endParaRPr b="0" i="0" sz="1700" u="none" cap="none" strike="noStrike">
              <a:solidFill>
                <a:schemeClr val="dk1"/>
              </a:solidFill>
              <a:latin typeface="Calibri"/>
              <a:ea typeface="Calibri"/>
              <a:cs typeface="Calibri"/>
              <a:sym typeface="Calibri"/>
            </a:endParaRPr>
          </a:p>
        </p:txBody>
      </p:sp>
      <p:sp>
        <p:nvSpPr>
          <p:cNvPr id="292" name="Google Shape;292;p14"/>
          <p:cNvSpPr/>
          <p:nvPr/>
        </p:nvSpPr>
        <p:spPr>
          <a:xfrm>
            <a:off x="8412480" y="5852160"/>
            <a:ext cx="3227832" cy="384048"/>
          </a:xfrm>
          <a:prstGeom prst="roundRect">
            <a:avLst>
              <a:gd fmla="val 19048" name="adj"/>
            </a:avLst>
          </a:prstGeom>
          <a:solidFill>
            <a:srgbClr val="FFFFFF"/>
          </a:solidFill>
          <a:ln cap="flat" cmpd="sng" w="22225">
            <a:solidFill>
              <a:srgbClr val="D953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4"/>
          <p:cNvSpPr txBox="1"/>
          <p:nvPr/>
        </p:nvSpPr>
        <p:spPr>
          <a:xfrm>
            <a:off x="8412480" y="5852160"/>
            <a:ext cx="3227832"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531E"/>
              </a:buClr>
              <a:buSzPts val="1400"/>
              <a:buFont typeface="Calibri"/>
              <a:buNone/>
            </a:pPr>
            <a:r>
              <a:rPr b="1" i="0" lang="en-US" sz="1400" u="none" cap="none" strike="noStrike">
                <a:solidFill>
                  <a:srgbClr val="D9531E"/>
                </a:solidFill>
                <a:latin typeface="Calibri"/>
                <a:ea typeface="Calibri"/>
                <a:cs typeface="Calibri"/>
                <a:sym typeface="Calibri"/>
              </a:rPr>
              <a:t>ASOCIACIÓN ≠ CAUSALIDAD</a:t>
            </a:r>
            <a:endParaRPr b="0" i="0" sz="1400" u="none" cap="none" strike="noStrike">
              <a:solidFill>
                <a:schemeClr val="dk1"/>
              </a:solidFill>
              <a:latin typeface="Calibri"/>
              <a:ea typeface="Calibri"/>
              <a:cs typeface="Calibri"/>
              <a:sym typeface="Calibri"/>
            </a:endParaRPr>
          </a:p>
        </p:txBody>
      </p:sp>
      <p:sp>
        <p:nvSpPr>
          <p:cNvPr id="294" name="Google Shape;294;p14"/>
          <p:cNvSpPr txBox="1"/>
          <p:nvPr/>
        </p:nvSpPr>
        <p:spPr>
          <a:xfrm>
            <a:off x="548640" y="6400800"/>
            <a:ext cx="10332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000"/>
              <a:buFont typeface="Calibri"/>
              <a:buNone/>
            </a:pPr>
            <a:r>
              <a:rPr b="0" i="1" lang="en-US" sz="1000" u="none" cap="none" strike="noStrike">
                <a:solidFill>
                  <a:srgbClr val="56636C"/>
                </a:solidFill>
                <a:latin typeface="Calibri"/>
                <a:ea typeface="Calibri"/>
                <a:cs typeface="Calibri"/>
                <a:sym typeface="Calibri"/>
              </a:rPr>
              <a:t>D en m s⁻¹, media de medias diarias; criterio Δσ₀ = 0.03 kg m⁻³. Datos: Copernicus Marine (GLOBAL_ANALYSISFORECAST_PHY_001_024; WIND_GLO_PHY_L4_NRT_012_004). Figura: elaboración propia, scripts reproducibles.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15"/>
          <p:cNvSpPr/>
          <p:nvPr/>
        </p:nvSpPr>
        <p:spPr>
          <a:xfrm>
            <a:off x="548640" y="347472"/>
            <a:ext cx="1179576"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5"/>
          <p:cNvSpPr txBox="1"/>
          <p:nvPr/>
        </p:nvSpPr>
        <p:spPr>
          <a:xfrm>
            <a:off x="548640" y="347472"/>
            <a:ext cx="11795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PRUEBAS</a:t>
            </a:r>
            <a:endParaRPr b="0" i="0" sz="1100" u="none" cap="none" strike="noStrike">
              <a:solidFill>
                <a:schemeClr val="dk1"/>
              </a:solidFill>
              <a:latin typeface="Calibri"/>
              <a:ea typeface="Calibri"/>
              <a:cs typeface="Calibri"/>
              <a:sym typeface="Calibri"/>
            </a:endParaRPr>
          </a:p>
        </p:txBody>
      </p:sp>
      <p:sp>
        <p:nvSpPr>
          <p:cNvPr id="302" name="Google Shape;302;p15"/>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¿Y la geostrofía?</a:t>
            </a:r>
            <a:endParaRPr b="0" i="0" sz="3200" u="none" cap="none" strike="noStrike">
              <a:solidFill>
                <a:schemeClr val="dk1"/>
              </a:solidFill>
              <a:latin typeface="Calibri"/>
              <a:ea typeface="Calibri"/>
              <a:cs typeface="Calibri"/>
              <a:sym typeface="Calibri"/>
            </a:endParaRPr>
          </a:p>
        </p:txBody>
      </p:sp>
      <p:sp>
        <p:nvSpPr>
          <p:cNvPr id="303" name="Google Shape;303;p15"/>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13</a:t>
            </a:r>
            <a:endParaRPr b="0" i="0" sz="1100" u="none" cap="none" strike="noStrike">
              <a:solidFill>
                <a:schemeClr val="dk1"/>
              </a:solidFill>
              <a:latin typeface="Calibri"/>
              <a:ea typeface="Calibri"/>
              <a:cs typeface="Calibri"/>
              <a:sym typeface="Calibri"/>
            </a:endParaRPr>
          </a:p>
        </p:txBody>
      </p:sp>
      <p:sp>
        <p:nvSpPr>
          <p:cNvPr id="304" name="Google Shape;304;p15"/>
          <p:cNvSpPr/>
          <p:nvPr/>
        </p:nvSpPr>
        <p:spPr>
          <a:xfrm>
            <a:off x="548640" y="1508760"/>
            <a:ext cx="11091672" cy="868680"/>
          </a:xfrm>
          <a:prstGeom prst="roundRect">
            <a:avLst>
              <a:gd fmla="val 8421"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5"/>
          <p:cNvSpPr txBox="1"/>
          <p:nvPr/>
        </p:nvSpPr>
        <p:spPr>
          <a:xfrm>
            <a:off x="731520" y="1508760"/>
            <a:ext cx="1078992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700"/>
              <a:buFont typeface="Calibri"/>
              <a:buNone/>
            </a:pPr>
            <a:r>
              <a:rPr b="0" i="0" lang="en-US" sz="1700" u="none" cap="none" strike="noStrike">
                <a:solidFill>
                  <a:srgbClr val="12263A"/>
                </a:solidFill>
                <a:latin typeface="Calibri"/>
                <a:ea typeface="Calibri"/>
                <a:cs typeface="Calibri"/>
                <a:sym typeface="Calibri"/>
              </a:rPr>
              <a:t>Parte de la corriente se debe a la pendiente del nivel del mar (equilibrio Coriolis–presión).</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F6E7A"/>
              </a:buClr>
              <a:buSzPts val="1700"/>
              <a:buFont typeface="Calibri"/>
              <a:buNone/>
            </a:pPr>
            <a:r>
              <a:rPr b="1" i="0" lang="en-US" sz="1700" u="none" cap="none" strike="noStrike">
                <a:solidFill>
                  <a:srgbClr val="0F6E7A"/>
                </a:solidFill>
                <a:latin typeface="Calibri"/>
                <a:ea typeface="Calibri"/>
                <a:cs typeface="Calibri"/>
                <a:sym typeface="Calibri"/>
              </a:rPr>
              <a:t>Residuo = U superficie − U geostrófica</a:t>
            </a:r>
            <a:r>
              <a:rPr b="0" i="0" lang="en-US" sz="1700" u="none" cap="none" strike="noStrike">
                <a:solidFill>
                  <a:srgbClr val="56636C"/>
                </a:solidFill>
                <a:latin typeface="Calibri"/>
                <a:ea typeface="Calibri"/>
                <a:cs typeface="Calibri"/>
                <a:sym typeface="Calibri"/>
              </a:rPr>
              <a:t>   (no lo llamamos «Ekman»)</a:t>
            </a:r>
            <a:endParaRPr b="0" i="0" sz="1700" u="none" cap="none" strike="noStrike">
              <a:solidFill>
                <a:schemeClr val="dk1"/>
              </a:solidFill>
              <a:latin typeface="Calibri"/>
              <a:ea typeface="Calibri"/>
              <a:cs typeface="Calibri"/>
              <a:sym typeface="Calibri"/>
            </a:endParaRPr>
          </a:p>
        </p:txBody>
      </p:sp>
      <p:pic>
        <p:nvPicPr>
          <p:cNvPr descr="/tmp/claude-0/-home-claude/39892b0b-c3c5-5855-9657-93e4cc1da44f/scratchpad/img/F14_geostrofia_residuo.png" id="306" name="Google Shape;306;p15"/>
          <p:cNvPicPr preferRelativeResize="0"/>
          <p:nvPr/>
        </p:nvPicPr>
        <p:blipFill rotWithShape="1">
          <a:blip r:embed="rId3">
            <a:alphaModFix/>
          </a:blip>
          <a:srcRect b="0" l="0" r="0" t="0"/>
          <a:stretch/>
        </p:blipFill>
        <p:spPr>
          <a:xfrm>
            <a:off x="548640" y="2577302"/>
            <a:ext cx="7498080" cy="2892117"/>
          </a:xfrm>
          <a:prstGeom prst="rect">
            <a:avLst/>
          </a:prstGeom>
          <a:noFill/>
          <a:ln>
            <a:noFill/>
          </a:ln>
        </p:spPr>
      </p:pic>
      <p:sp>
        <p:nvSpPr>
          <p:cNvPr id="307" name="Google Shape;307;p15"/>
          <p:cNvSpPr txBox="1"/>
          <p:nvPr/>
        </p:nvSpPr>
        <p:spPr>
          <a:xfrm>
            <a:off x="548640" y="5487706"/>
            <a:ext cx="749808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(a) U geostrófica y (b) residuo el 19 ago, flechas naranjas = τ; (c) series estandarizadas.</a:t>
            </a:r>
            <a:endParaRPr b="0" i="0" sz="1100" u="none" cap="none" strike="noStrike">
              <a:solidFill>
                <a:schemeClr val="dk1"/>
              </a:solidFill>
              <a:latin typeface="Calibri"/>
              <a:ea typeface="Calibri"/>
              <a:cs typeface="Calibri"/>
              <a:sym typeface="Calibri"/>
            </a:endParaRPr>
          </a:p>
        </p:txBody>
      </p:sp>
      <p:sp>
        <p:nvSpPr>
          <p:cNvPr id="308" name="Google Shape;308;p15"/>
          <p:cNvSpPr txBox="1"/>
          <p:nvPr/>
        </p:nvSpPr>
        <p:spPr>
          <a:xfrm>
            <a:off x="8321040" y="2514600"/>
            <a:ext cx="12801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36C"/>
              </a:buClr>
              <a:buSzPts val="3200"/>
              <a:buFont typeface="Cambria"/>
              <a:buNone/>
            </a:pPr>
            <a:r>
              <a:rPr b="1" i="0" lang="en-US" sz="3200" u="none" cap="none" strike="noStrike">
                <a:solidFill>
                  <a:srgbClr val="56636C"/>
                </a:solidFill>
                <a:latin typeface="Cambria"/>
                <a:ea typeface="Cambria"/>
                <a:cs typeface="Cambria"/>
                <a:sym typeface="Cambria"/>
              </a:rPr>
              <a:t>0.41</a:t>
            </a:r>
            <a:endParaRPr b="0" i="0" sz="3200" u="none" cap="none" strike="noStrike">
              <a:solidFill>
                <a:schemeClr val="dk1"/>
              </a:solidFill>
              <a:latin typeface="Calibri"/>
              <a:ea typeface="Calibri"/>
              <a:cs typeface="Calibri"/>
              <a:sym typeface="Calibri"/>
            </a:endParaRPr>
          </a:p>
        </p:txBody>
      </p:sp>
      <p:sp>
        <p:nvSpPr>
          <p:cNvPr id="309" name="Google Shape;309;p15"/>
          <p:cNvSpPr txBox="1"/>
          <p:nvPr/>
        </p:nvSpPr>
        <p:spPr>
          <a:xfrm>
            <a:off x="9601200" y="2514600"/>
            <a:ext cx="2057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400"/>
              <a:buFont typeface="Calibri"/>
              <a:buNone/>
            </a:pPr>
            <a:r>
              <a:rPr b="0" i="0" lang="en-US" sz="1400" u="none" cap="none" strike="noStrike">
                <a:solidFill>
                  <a:srgbClr val="12263A"/>
                </a:solidFill>
                <a:latin typeface="Calibri"/>
                <a:ea typeface="Calibri"/>
                <a:cs typeface="Calibri"/>
                <a:sym typeface="Calibri"/>
              </a:rPr>
              <a:t>r(τ, |U geostrófica|)</a:t>
            </a:r>
            <a:endParaRPr b="0" i="0" sz="1400" u="none" cap="none" strike="noStrike">
              <a:solidFill>
                <a:schemeClr val="dk1"/>
              </a:solidFill>
              <a:latin typeface="Calibri"/>
              <a:ea typeface="Calibri"/>
              <a:cs typeface="Calibri"/>
              <a:sym typeface="Calibri"/>
            </a:endParaRPr>
          </a:p>
        </p:txBody>
      </p:sp>
      <p:sp>
        <p:nvSpPr>
          <p:cNvPr id="310" name="Google Shape;310;p15"/>
          <p:cNvSpPr txBox="1"/>
          <p:nvPr/>
        </p:nvSpPr>
        <p:spPr>
          <a:xfrm>
            <a:off x="8321040" y="3172968"/>
            <a:ext cx="12801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31E"/>
              </a:buClr>
              <a:buSzPts val="3200"/>
              <a:buFont typeface="Cambria"/>
              <a:buNone/>
            </a:pPr>
            <a:r>
              <a:rPr b="1" i="0" lang="en-US" sz="3200" u="none" cap="none" strike="noStrike">
                <a:solidFill>
                  <a:srgbClr val="D9531E"/>
                </a:solidFill>
                <a:latin typeface="Cambria"/>
                <a:ea typeface="Cambria"/>
                <a:cs typeface="Cambria"/>
                <a:sym typeface="Cambria"/>
              </a:rPr>
              <a:t>0.94</a:t>
            </a:r>
            <a:endParaRPr b="0" i="0" sz="3200" u="none" cap="none" strike="noStrike">
              <a:solidFill>
                <a:schemeClr val="dk1"/>
              </a:solidFill>
              <a:latin typeface="Calibri"/>
              <a:ea typeface="Calibri"/>
              <a:cs typeface="Calibri"/>
              <a:sym typeface="Calibri"/>
            </a:endParaRPr>
          </a:p>
        </p:txBody>
      </p:sp>
      <p:sp>
        <p:nvSpPr>
          <p:cNvPr id="311" name="Google Shape;311;p15"/>
          <p:cNvSpPr txBox="1"/>
          <p:nvPr/>
        </p:nvSpPr>
        <p:spPr>
          <a:xfrm>
            <a:off x="9601200" y="3172968"/>
            <a:ext cx="2057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400"/>
              <a:buFont typeface="Calibri"/>
              <a:buNone/>
            </a:pPr>
            <a:r>
              <a:rPr b="0" i="0" lang="en-US" sz="1400" u="none" cap="none" strike="noStrike">
                <a:solidFill>
                  <a:srgbClr val="12263A"/>
                </a:solidFill>
                <a:latin typeface="Calibri"/>
                <a:ea typeface="Calibri"/>
                <a:cs typeface="Calibri"/>
                <a:sym typeface="Calibri"/>
              </a:rPr>
              <a:t>r(τ, |U residuo|)</a:t>
            </a:r>
            <a:endParaRPr b="0" i="0" sz="1400" u="none" cap="none" strike="noStrike">
              <a:solidFill>
                <a:schemeClr val="dk1"/>
              </a:solidFill>
              <a:latin typeface="Calibri"/>
              <a:ea typeface="Calibri"/>
              <a:cs typeface="Calibri"/>
              <a:sym typeface="Calibri"/>
            </a:endParaRPr>
          </a:p>
        </p:txBody>
      </p:sp>
      <p:sp>
        <p:nvSpPr>
          <p:cNvPr id="312" name="Google Shape;312;p15"/>
          <p:cNvSpPr txBox="1"/>
          <p:nvPr/>
        </p:nvSpPr>
        <p:spPr>
          <a:xfrm>
            <a:off x="8321040" y="3831336"/>
            <a:ext cx="12801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31E"/>
              </a:buClr>
              <a:buSzPts val="3200"/>
              <a:buFont typeface="Cambria"/>
              <a:buNone/>
            </a:pPr>
            <a:r>
              <a:rPr b="1" i="0" lang="en-US" sz="3200" u="none" cap="none" strike="noStrike">
                <a:solidFill>
                  <a:srgbClr val="D9531E"/>
                </a:solidFill>
                <a:latin typeface="Cambria"/>
                <a:ea typeface="Cambria"/>
                <a:cs typeface="Cambria"/>
                <a:sym typeface="Cambria"/>
              </a:rPr>
              <a:t>0.97</a:t>
            </a:r>
            <a:endParaRPr b="0" i="0" sz="3200" u="none" cap="none" strike="noStrike">
              <a:solidFill>
                <a:schemeClr val="dk1"/>
              </a:solidFill>
              <a:latin typeface="Calibri"/>
              <a:ea typeface="Calibri"/>
              <a:cs typeface="Calibri"/>
              <a:sym typeface="Calibri"/>
            </a:endParaRPr>
          </a:p>
        </p:txBody>
      </p:sp>
      <p:sp>
        <p:nvSpPr>
          <p:cNvPr id="313" name="Google Shape;313;p15"/>
          <p:cNvSpPr txBox="1"/>
          <p:nvPr/>
        </p:nvSpPr>
        <p:spPr>
          <a:xfrm>
            <a:off x="9601200" y="3831336"/>
            <a:ext cx="2057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400"/>
              <a:buFont typeface="Calibri"/>
              <a:buNone/>
            </a:pPr>
            <a:r>
              <a:rPr b="0" i="0" lang="en-US" sz="1400" u="none" cap="none" strike="noStrike">
                <a:solidFill>
                  <a:srgbClr val="12263A"/>
                </a:solidFill>
                <a:latin typeface="Calibri"/>
                <a:ea typeface="Calibri"/>
                <a:cs typeface="Calibri"/>
                <a:sym typeface="Calibri"/>
              </a:rPr>
              <a:t>r(D, |U residuo|)</a:t>
            </a:r>
            <a:endParaRPr b="0" i="0" sz="1400" u="none" cap="none" strike="noStrike">
              <a:solidFill>
                <a:schemeClr val="dk1"/>
              </a:solidFill>
              <a:latin typeface="Calibri"/>
              <a:ea typeface="Calibri"/>
              <a:cs typeface="Calibri"/>
              <a:sym typeface="Calibri"/>
            </a:endParaRPr>
          </a:p>
        </p:txBody>
      </p:sp>
      <p:sp>
        <p:nvSpPr>
          <p:cNvPr id="314" name="Google Shape;314;p15"/>
          <p:cNvSpPr/>
          <p:nvPr/>
        </p:nvSpPr>
        <p:spPr>
          <a:xfrm>
            <a:off x="8321040" y="4526280"/>
            <a:ext cx="3319272" cy="1097280"/>
          </a:xfrm>
          <a:prstGeom prst="roundRect">
            <a:avLst>
              <a:gd fmla="val 6667"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5"/>
          <p:cNvSpPr txBox="1"/>
          <p:nvPr/>
        </p:nvSpPr>
        <p:spPr>
          <a:xfrm>
            <a:off x="8458200" y="4572000"/>
            <a:ext cx="310896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1600"/>
              <a:buFont typeface="Calibri"/>
              <a:buNone/>
            </a:pPr>
            <a:r>
              <a:rPr b="1" i="0" lang="en-US" sz="1600" u="none" cap="none" strike="noStrike">
                <a:solidFill>
                  <a:srgbClr val="0F6E7A"/>
                </a:solidFill>
                <a:latin typeface="Calibri"/>
                <a:ea typeface="Calibri"/>
                <a:cs typeface="Calibri"/>
                <a:sym typeface="Calibri"/>
              </a:rPr>
              <a:t>62° a la izquierda del viento</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mediana; 96 % de los casos. Norte 70° · Centro 58° · Sur 62°</a:t>
            </a:r>
            <a:endParaRPr b="0" i="0" sz="1600" u="none" cap="none" strike="noStrike">
              <a:solidFill>
                <a:schemeClr val="dk1"/>
              </a:solidFill>
              <a:latin typeface="Calibri"/>
              <a:ea typeface="Calibri"/>
              <a:cs typeface="Calibri"/>
              <a:sym typeface="Calibri"/>
            </a:endParaRPr>
          </a:p>
        </p:txBody>
      </p:sp>
      <p:sp>
        <p:nvSpPr>
          <p:cNvPr id="316" name="Google Shape;316;p15"/>
          <p:cNvSpPr/>
          <p:nvPr/>
        </p:nvSpPr>
        <p:spPr>
          <a:xfrm>
            <a:off x="548640" y="5852160"/>
            <a:ext cx="11091672" cy="475488"/>
          </a:xfrm>
          <a:prstGeom prst="roundRect">
            <a:avLst>
              <a:gd fmla="val 15385"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5"/>
          <p:cNvSpPr txBox="1"/>
          <p:nvPr/>
        </p:nvSpPr>
        <p:spPr>
          <a:xfrm>
            <a:off x="731520" y="5852160"/>
            <a:ext cx="10789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1800"/>
              <a:buFont typeface="Calibri"/>
              <a:buNone/>
            </a:pPr>
            <a:r>
              <a:rPr b="1" i="0" lang="en-US" sz="1800" u="none" cap="none" strike="noStrike">
                <a:solidFill>
                  <a:srgbClr val="0F6E7A"/>
                </a:solidFill>
                <a:latin typeface="Calibri"/>
                <a:ea typeface="Calibri"/>
                <a:cs typeface="Calibri"/>
                <a:sym typeface="Calibri"/>
              </a:rPr>
              <a:t>Giro a la izquierda del viento: compatible con una respuesta ageostrófica del hemisferio sur.</a:t>
            </a:r>
            <a:endParaRPr b="0" i="0" sz="1800" u="none" cap="none" strike="noStrike">
              <a:solidFill>
                <a:schemeClr val="dk1"/>
              </a:solidFill>
              <a:latin typeface="Calibri"/>
              <a:ea typeface="Calibri"/>
              <a:cs typeface="Calibri"/>
              <a:sym typeface="Calibri"/>
            </a:endParaRPr>
          </a:p>
        </p:txBody>
      </p:sp>
      <p:sp>
        <p:nvSpPr>
          <p:cNvPr id="318" name="Google Shape;318;p15"/>
          <p:cNvSpPr txBox="1"/>
          <p:nvPr/>
        </p:nvSpPr>
        <p:spPr>
          <a:xfrm>
            <a:off x="548640" y="6400800"/>
            <a:ext cx="10332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000"/>
              <a:buFont typeface="Calibri"/>
              <a:buNone/>
            </a:pPr>
            <a:r>
              <a:rPr b="0" i="1" lang="en-US" sz="1000" u="none" cap="none" strike="noStrike">
                <a:solidFill>
                  <a:srgbClr val="56636C"/>
                </a:solidFill>
                <a:latin typeface="Calibri"/>
                <a:ea typeface="Calibri"/>
                <a:cs typeface="Calibri"/>
                <a:sym typeface="Calibri"/>
              </a:rPr>
              <a:t>Price y Sundermeyer (1999); Brink et al. (1983). Datos: Copernicus Marine (GLOBAL_ANALYSISFORECAST_PHY_001_024; WIND_GLO_PHY_L4_NRT_012_004). Figura: elaboración propia, scripts reproducibles.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p16"/>
          <p:cNvSpPr/>
          <p:nvPr/>
        </p:nvSpPr>
        <p:spPr>
          <a:xfrm>
            <a:off x="548640" y="347472"/>
            <a:ext cx="1179576"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6"/>
          <p:cNvSpPr txBox="1"/>
          <p:nvPr/>
        </p:nvSpPr>
        <p:spPr>
          <a:xfrm>
            <a:off x="548640" y="347472"/>
            <a:ext cx="11795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PRUEBAS</a:t>
            </a:r>
            <a:endParaRPr b="0" i="0" sz="1100" u="none" cap="none" strike="noStrike">
              <a:solidFill>
                <a:schemeClr val="dk1"/>
              </a:solidFill>
              <a:latin typeface="Calibri"/>
              <a:ea typeface="Calibri"/>
              <a:cs typeface="Calibri"/>
              <a:sym typeface="Calibri"/>
            </a:endParaRPr>
          </a:p>
        </p:txBody>
      </p:sp>
      <p:sp>
        <p:nvSpPr>
          <p:cNvPr id="326" name="Google Shape;326;p16"/>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¿Podían existir otros mecanismos?</a:t>
            </a:r>
            <a:endParaRPr b="0" i="0" sz="3200" u="none" cap="none" strike="noStrike">
              <a:solidFill>
                <a:schemeClr val="dk1"/>
              </a:solidFill>
              <a:latin typeface="Calibri"/>
              <a:ea typeface="Calibri"/>
              <a:cs typeface="Calibri"/>
              <a:sym typeface="Calibri"/>
            </a:endParaRPr>
          </a:p>
        </p:txBody>
      </p:sp>
      <p:sp>
        <p:nvSpPr>
          <p:cNvPr id="327" name="Google Shape;327;p16"/>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14</a:t>
            </a:r>
            <a:endParaRPr b="0" i="0" sz="1100" u="none" cap="none" strike="noStrike">
              <a:solidFill>
                <a:schemeClr val="dk1"/>
              </a:solidFill>
              <a:latin typeface="Calibri"/>
              <a:ea typeface="Calibri"/>
              <a:cs typeface="Calibri"/>
              <a:sym typeface="Calibri"/>
            </a:endParaRPr>
          </a:p>
        </p:txBody>
      </p:sp>
      <p:graphicFrame>
        <p:nvGraphicFramePr>
          <p:cNvPr id="328" name="Google Shape;328;p16"/>
          <p:cNvGraphicFramePr/>
          <p:nvPr/>
        </p:nvGraphicFramePr>
        <p:xfrm>
          <a:off x="548640" y="1554480"/>
          <a:ext cx="3000000" cy="3000000"/>
        </p:xfrm>
        <a:graphic>
          <a:graphicData uri="http://schemas.openxmlformats.org/drawingml/2006/table">
            <a:tbl>
              <a:tblPr>
                <a:noFill/>
                <a:tableStyleId>{AA92881A-C2CB-4D3E-B84A-95C91AE57FA1}</a:tableStyleId>
              </a:tblPr>
              <a:tblGrid>
                <a:gridCol w="3566150"/>
                <a:gridCol w="4325100"/>
                <a:gridCol w="3200400"/>
              </a:tblGrid>
              <a:tr h="566925">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Mecanismo</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12263A"/>
                    </a:solidFill>
                  </a:tcPr>
                </a:tc>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Qué encontramos</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12263A"/>
                    </a:solidFill>
                  </a:tcPr>
                </a:tc>
                <a:tc>
                  <a:txBody>
                    <a:bodyPr/>
                    <a:lstStyle/>
                    <a:p>
                      <a:pPr indent="0" lvl="0" marL="0" marR="0" rtl="0" algn="l">
                        <a:spcBef>
                          <a:spcPts val="0"/>
                        </a:spcBef>
                        <a:spcAft>
                          <a:spcPts val="0"/>
                        </a:spcAft>
                        <a:buClr>
                          <a:srgbClr val="FFFFFF"/>
                        </a:buClr>
                        <a:buSzPts val="1400"/>
                        <a:buFont typeface="Calibri"/>
                        <a:buNone/>
                      </a:pPr>
                      <a:r>
                        <a:rPr b="1" lang="en-US" sz="1400" u="none" cap="none" strike="noStrike">
                          <a:solidFill>
                            <a:srgbClr val="FFFFFF"/>
                          </a:solidFill>
                          <a:latin typeface="Calibri"/>
                          <a:ea typeface="Calibri"/>
                          <a:cs typeface="Calibri"/>
                          <a:sym typeface="Calibri"/>
                        </a:rPr>
                        <a:t>Estado</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12263A"/>
                    </a:solidFill>
                  </a:tcPr>
                </a:tc>
              </a:tr>
              <a:tr h="566925">
                <a:tc>
                  <a:txBody>
                    <a:bodyPr/>
                    <a:lstStyle/>
                    <a:p>
                      <a:pPr indent="0" lvl="0" marL="0" marR="0" rtl="0" algn="l">
                        <a:spcBef>
                          <a:spcPts val="0"/>
                        </a:spcBef>
                        <a:spcAft>
                          <a:spcPts val="0"/>
                        </a:spcAft>
                        <a:buClr>
                          <a:srgbClr val="12263A"/>
                        </a:buClr>
                        <a:buSzPts val="1400"/>
                        <a:buFont typeface="Calibri"/>
                        <a:buNone/>
                      </a:pPr>
                      <a:r>
                        <a:rPr lang="en-US" sz="1400" u="none" cap="none" strike="noStrike">
                          <a:solidFill>
                            <a:srgbClr val="12263A"/>
                          </a:solidFill>
                          <a:latin typeface="Calibri"/>
                          <a:ea typeface="Calibri"/>
                          <a:cs typeface="Calibri"/>
                          <a:sym typeface="Calibri"/>
                        </a:rPr>
                        <a:t>Respuesta superficial no geostrófica asociada al viento</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2263A"/>
                        </a:buClr>
                        <a:buSzPts val="1400"/>
                        <a:buFont typeface="Calibri"/>
                        <a:buNone/>
                      </a:pPr>
                      <a:r>
                        <a:rPr lang="en-US" sz="1400" u="none" cap="none" strike="noStrike">
                          <a:solidFill>
                            <a:srgbClr val="12263A"/>
                          </a:solidFill>
                          <a:latin typeface="Calibri"/>
                          <a:ea typeface="Calibri"/>
                          <a:cs typeface="Calibri"/>
                          <a:sym typeface="Calibri"/>
                        </a:rPr>
                        <a:t>τ–D robusta; D sigue al residuo (0.97); giro a la izquierda (62°)</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78F67"/>
                        </a:buClr>
                        <a:buSzPts val="1400"/>
                        <a:buFont typeface="Calibri"/>
                        <a:buNone/>
                      </a:pPr>
                      <a:r>
                        <a:rPr b="1" lang="en-US" sz="1400" u="none" cap="none" strike="noStrike">
                          <a:solidFill>
                            <a:srgbClr val="178F67"/>
                          </a:solidFill>
                          <a:latin typeface="Calibri"/>
                          <a:ea typeface="Calibri"/>
                          <a:cs typeface="Calibri"/>
                          <a:sym typeface="Calibri"/>
                        </a:rPr>
                        <a:t>Respaldado como asociación; compatible con Ekman</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2263A"/>
                        </a:buClr>
                        <a:buSzPts val="1400"/>
                        <a:buFont typeface="Calibri"/>
                        <a:buNone/>
                      </a:pPr>
                      <a:r>
                        <a:rPr lang="en-US" sz="1400" u="none" cap="none" strike="noStrike">
                          <a:solidFill>
                            <a:srgbClr val="12263A"/>
                          </a:solidFill>
                          <a:latin typeface="Calibri"/>
                          <a:ea typeface="Calibri"/>
                          <a:cs typeface="Calibri"/>
                          <a:sym typeface="Calibri"/>
                        </a:rPr>
                        <a:t>Capa de mezcla / estratificación</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2263A"/>
                        </a:buClr>
                        <a:buSzPts val="1400"/>
                        <a:buFont typeface="Calibri"/>
                        <a:buNone/>
                      </a:pPr>
                      <a:r>
                        <a:rPr lang="en-US" sz="1400" u="none" cap="none" strike="noStrike">
                          <a:solidFill>
                            <a:srgbClr val="12263A"/>
                          </a:solidFill>
                          <a:latin typeface="Calibri"/>
                          <a:ea typeface="Calibri"/>
                          <a:cs typeface="Calibri"/>
                          <a:sym typeface="Calibri"/>
                        </a:rPr>
                        <a:t>D ≈ doble con MLD &lt; 40.34 m; confundida con distancia a la costa</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78F67"/>
                        </a:buClr>
                        <a:buSzPts val="1400"/>
                        <a:buFont typeface="Calibri"/>
                        <a:buNone/>
                      </a:pPr>
                      <a:r>
                        <a:rPr b="1" lang="en-US" sz="1400" u="none" cap="none" strike="noStrike">
                          <a:solidFill>
                            <a:srgbClr val="178F67"/>
                          </a:solidFill>
                          <a:latin typeface="Calibri"/>
                          <a:ea typeface="Calibri"/>
                          <a:cs typeface="Calibri"/>
                          <a:sym typeface="Calibri"/>
                        </a:rPr>
                        <a:t>Compatible (modulador estructural)</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2263A"/>
                        </a:buClr>
                        <a:buSzPts val="1400"/>
                        <a:buFont typeface="Calibri"/>
                        <a:buNone/>
                      </a:pPr>
                      <a:r>
                        <a:rPr lang="en-US" sz="1400" u="none" cap="none" strike="noStrike">
                          <a:solidFill>
                            <a:srgbClr val="12263A"/>
                          </a:solidFill>
                          <a:latin typeface="Calibri"/>
                          <a:ea typeface="Calibri"/>
                          <a:cs typeface="Calibri"/>
                          <a:sym typeface="Calibri"/>
                        </a:rPr>
                        <a:t>Circulación geostrófica</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2263A"/>
                        </a:buClr>
                        <a:buSzPts val="1400"/>
                        <a:buFont typeface="Calibri"/>
                        <a:buNone/>
                      </a:pPr>
                      <a:r>
                        <a:rPr lang="en-US" sz="1400" u="none" cap="none" strike="noStrike">
                          <a:solidFill>
                            <a:srgbClr val="12263A"/>
                          </a:solidFill>
                          <a:latin typeface="Calibri"/>
                          <a:ea typeface="Calibri"/>
                          <a:cs typeface="Calibri"/>
                          <a:sym typeface="Calibri"/>
                        </a:rPr>
                        <a:t>Relevante sobre todo en el centro (r = 0.78 con τ)</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F6E7A"/>
                        </a:buClr>
                        <a:buSzPts val="1400"/>
                        <a:buFont typeface="Calibri"/>
                        <a:buNone/>
                      </a:pPr>
                      <a:r>
                        <a:rPr b="1" lang="en-US" sz="1400" u="none" cap="none" strike="noStrike">
                          <a:solidFill>
                            <a:srgbClr val="0F6E7A"/>
                          </a:solidFill>
                          <a:latin typeface="Calibri"/>
                          <a:ea typeface="Calibri"/>
                          <a:cs typeface="Calibri"/>
                          <a:sym typeface="Calibri"/>
                        </a:rPr>
                        <a:t>Posible, sobre todo en el centro</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2263A"/>
                        </a:buClr>
                        <a:buSzPts val="1400"/>
                        <a:buFont typeface="Calibri"/>
                        <a:buNone/>
                      </a:pPr>
                      <a:r>
                        <a:rPr lang="en-US" sz="1400" u="none" cap="none" strike="noStrike">
                          <a:solidFill>
                            <a:srgbClr val="12263A"/>
                          </a:solidFill>
                          <a:latin typeface="Calibri"/>
                          <a:ea typeface="Calibri"/>
                          <a:cs typeface="Calibri"/>
                          <a:sym typeface="Calibri"/>
                        </a:rPr>
                        <a:t>Ondas atrapadas a la costa (CTW) / forzamiento remoto</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2263A"/>
                        </a:buClr>
                        <a:buSzPts val="1400"/>
                        <a:buFont typeface="Calibri"/>
                        <a:buNone/>
                      </a:pPr>
                      <a:r>
                        <a:rPr lang="en-US" sz="1400" u="none" cap="none" strike="noStrike">
                          <a:solidFill>
                            <a:srgbClr val="12263A"/>
                          </a:solidFill>
                          <a:latin typeface="Calibri"/>
                          <a:ea typeface="Calibri"/>
                          <a:cs typeface="Calibri"/>
                          <a:sym typeface="Calibri"/>
                        </a:rPr>
                        <a:t>Desfases hacia el polo, pero sin velocidad coherente</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D9531E"/>
                        </a:buClr>
                        <a:buSzPts val="1400"/>
                        <a:buFont typeface="Calibri"/>
                        <a:buNone/>
                      </a:pPr>
                      <a:r>
                        <a:rPr b="1" lang="en-US" sz="1400" u="none" cap="none" strike="noStrike">
                          <a:solidFill>
                            <a:srgbClr val="D9531E"/>
                          </a:solidFill>
                          <a:latin typeface="Calibri"/>
                          <a:ea typeface="Calibri"/>
                          <a:cs typeface="Calibri"/>
                          <a:sym typeface="Calibri"/>
                        </a:rPr>
                        <a:t>Evidencia ambigua</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2263A"/>
                        </a:buClr>
                        <a:buSzPts val="1400"/>
                        <a:buFont typeface="Calibri"/>
                        <a:buNone/>
                      </a:pPr>
                      <a:r>
                        <a:rPr lang="en-US" sz="1400" u="none" cap="none" strike="noStrike">
                          <a:solidFill>
                            <a:srgbClr val="12263A"/>
                          </a:solidFill>
                          <a:latin typeface="Calibri"/>
                          <a:ea typeface="Calibri"/>
                          <a:cs typeface="Calibri"/>
                          <a:sym typeface="Calibri"/>
                        </a:rPr>
                        <a:t>Mesoescala (remolinos)</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2263A"/>
                        </a:buClr>
                        <a:buSzPts val="1400"/>
                        <a:buFont typeface="Calibri"/>
                        <a:buNone/>
                      </a:pPr>
                      <a:r>
                        <a:rPr lang="en-US" sz="1400" u="none" cap="none" strike="noStrike">
                          <a:solidFill>
                            <a:srgbClr val="12263A"/>
                          </a:solidFill>
                          <a:latin typeface="Calibri"/>
                          <a:ea typeface="Calibri"/>
                          <a:cs typeface="Calibri"/>
                          <a:sym typeface="Calibri"/>
                        </a:rPr>
                        <a:t>Visibles en los mapas; no cuantificados</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36C"/>
                        </a:buClr>
                        <a:buSzPts val="1400"/>
                        <a:buFont typeface="Calibri"/>
                        <a:buNone/>
                      </a:pPr>
                      <a:r>
                        <a:rPr b="1" lang="en-US" sz="1400" u="none" cap="none" strike="noStrike">
                          <a:solidFill>
                            <a:srgbClr val="56636C"/>
                          </a:solidFill>
                          <a:latin typeface="Calibri"/>
                          <a:ea typeface="Calibri"/>
                          <a:cs typeface="Calibri"/>
                          <a:sym typeface="Calibri"/>
                        </a:rPr>
                        <a:t>Posible; sin evidencia suficiente</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r>
              <a:tr h="566925">
                <a:tc>
                  <a:txBody>
                    <a:bodyPr/>
                    <a:lstStyle/>
                    <a:p>
                      <a:pPr indent="0" lvl="0" marL="0" marR="0" rtl="0" algn="l">
                        <a:spcBef>
                          <a:spcPts val="0"/>
                        </a:spcBef>
                        <a:spcAft>
                          <a:spcPts val="0"/>
                        </a:spcAft>
                        <a:buClr>
                          <a:srgbClr val="12263A"/>
                        </a:buClr>
                        <a:buSzPts val="1400"/>
                        <a:buFont typeface="Calibri"/>
                        <a:buNone/>
                      </a:pPr>
                      <a:r>
                        <a:rPr lang="en-US" sz="1400" u="none" cap="none" strike="noStrike">
                          <a:solidFill>
                            <a:srgbClr val="12263A"/>
                          </a:solidFill>
                          <a:latin typeface="Calibri"/>
                          <a:ea typeface="Calibri"/>
                          <a:cs typeface="Calibri"/>
                          <a:sym typeface="Calibri"/>
                        </a:rPr>
                        <a:t>Otros: oscilaciones inerciales, sesgos del modelo</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2263A"/>
                        </a:buClr>
                        <a:buSzPts val="1400"/>
                        <a:buFont typeface="Calibri"/>
                        <a:buNone/>
                      </a:pPr>
                      <a:r>
                        <a:rPr lang="en-US" sz="1400" u="none" cap="none" strike="noStrike">
                          <a:solidFill>
                            <a:srgbClr val="12263A"/>
                          </a:solidFill>
                          <a:latin typeface="Calibri"/>
                          <a:ea typeface="Calibri"/>
                          <a:cs typeface="Calibri"/>
                          <a:sym typeface="Calibri"/>
                        </a:rPr>
                        <a:t>No evaluados</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56636C"/>
                        </a:buClr>
                        <a:buSzPts val="1400"/>
                        <a:buFont typeface="Calibri"/>
                        <a:buNone/>
                      </a:pPr>
                      <a:r>
                        <a:rPr b="1" lang="en-US" sz="1400" u="none" cap="none" strike="noStrike">
                          <a:solidFill>
                            <a:srgbClr val="56636C"/>
                          </a:solidFill>
                          <a:latin typeface="Calibri"/>
                          <a:ea typeface="Calibri"/>
                          <a:cs typeface="Calibri"/>
                          <a:sym typeface="Calibri"/>
                        </a:rPr>
                        <a:t>Sin evidencia suficiente</a:t>
                      </a:r>
                      <a:endParaRPr sz="14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FFFFFF"/>
                    </a:solidFill>
                  </a:tcPr>
                </a:tc>
              </a:tr>
            </a:tbl>
          </a:graphicData>
        </a:graphic>
      </p:graphicFrame>
      <p:sp>
        <p:nvSpPr>
          <p:cNvPr id="329" name="Google Shape;329;p16"/>
          <p:cNvSpPr/>
          <p:nvPr/>
        </p:nvSpPr>
        <p:spPr>
          <a:xfrm>
            <a:off x="548640" y="5806440"/>
            <a:ext cx="11091672" cy="475488"/>
          </a:xfrm>
          <a:prstGeom prst="roundRect">
            <a:avLst>
              <a:gd fmla="val 15385"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6"/>
          <p:cNvSpPr txBox="1"/>
          <p:nvPr/>
        </p:nvSpPr>
        <p:spPr>
          <a:xfrm>
            <a:off x="731520" y="5806440"/>
            <a:ext cx="10789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1800"/>
              <a:buFont typeface="Calibri"/>
              <a:buNone/>
            </a:pPr>
            <a:r>
              <a:rPr b="1" i="0" lang="en-US" sz="1800" u="none" cap="none" strike="noStrike">
                <a:solidFill>
                  <a:srgbClr val="0F6E7A"/>
                </a:solidFill>
                <a:latin typeface="Calibri"/>
                <a:ea typeface="Calibri"/>
                <a:cs typeface="Calibri"/>
                <a:sym typeface="Calibri"/>
              </a:rPr>
              <a:t>Intentamos refutar nuestra propia explicación antes de aceptarla.</a:t>
            </a:r>
            <a:endParaRPr b="0" i="0" sz="1800" u="none" cap="none" strike="noStrike">
              <a:solidFill>
                <a:schemeClr val="dk1"/>
              </a:solidFill>
              <a:latin typeface="Calibri"/>
              <a:ea typeface="Calibri"/>
              <a:cs typeface="Calibri"/>
              <a:sym typeface="Calibri"/>
            </a:endParaRPr>
          </a:p>
        </p:txBody>
      </p:sp>
      <p:sp>
        <p:nvSpPr>
          <p:cNvPr id="331" name="Google Shape;331;p16"/>
          <p:cNvSpPr txBox="1"/>
          <p:nvPr/>
        </p:nvSpPr>
        <p:spPr>
          <a:xfrm>
            <a:off x="548640" y="6400800"/>
            <a:ext cx="10332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000"/>
              <a:buFont typeface="Calibri"/>
              <a:buNone/>
            </a:pPr>
            <a:r>
              <a:rPr b="0" i="1" lang="en-US" sz="1000" u="none" cap="none" strike="noStrike">
                <a:solidFill>
                  <a:srgbClr val="56636C"/>
                </a:solidFill>
                <a:latin typeface="Calibri"/>
                <a:ea typeface="Calibri"/>
                <a:cs typeface="Calibri"/>
                <a:sym typeface="Calibri"/>
              </a:rPr>
              <a:t>Chaigneau et al. (2008); Huyer et al. (1987); Echevin et al. (2014). Síntesis de la Tabla 8 del artículo.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6" name="Shape 336"/>
        <p:cNvGrpSpPr/>
        <p:nvPr/>
      </p:nvGrpSpPr>
      <p:grpSpPr>
        <a:xfrm>
          <a:off x="0" y="0"/>
          <a:ext cx="0" cy="0"/>
          <a:chOff x="0" y="0"/>
          <a:chExt cx="0" cy="0"/>
        </a:xfrm>
      </p:grpSpPr>
      <p:sp>
        <p:nvSpPr>
          <p:cNvPr id="337" name="Google Shape;337;p17"/>
          <p:cNvSpPr/>
          <p:nvPr/>
        </p:nvSpPr>
        <p:spPr>
          <a:xfrm>
            <a:off x="548640" y="347472"/>
            <a:ext cx="1179576"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7"/>
          <p:cNvSpPr txBox="1"/>
          <p:nvPr/>
        </p:nvSpPr>
        <p:spPr>
          <a:xfrm>
            <a:off x="548640" y="347472"/>
            <a:ext cx="117957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PRUEBAS</a:t>
            </a:r>
            <a:endParaRPr b="0" i="0" sz="1100" u="none" cap="none" strike="noStrike">
              <a:solidFill>
                <a:schemeClr val="dk1"/>
              </a:solidFill>
              <a:latin typeface="Calibri"/>
              <a:ea typeface="Calibri"/>
              <a:cs typeface="Calibri"/>
              <a:sym typeface="Calibri"/>
            </a:endParaRPr>
          </a:p>
        </p:txBody>
      </p:sp>
      <p:sp>
        <p:nvSpPr>
          <p:cNvPr id="339" name="Google Shape;339;p17"/>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¿Ondas atrapadas a la costa? Evidencia ambigua</a:t>
            </a:r>
            <a:endParaRPr b="0" i="0" sz="3200" u="none" cap="none" strike="noStrike">
              <a:solidFill>
                <a:schemeClr val="dk1"/>
              </a:solidFill>
              <a:latin typeface="Calibri"/>
              <a:ea typeface="Calibri"/>
              <a:cs typeface="Calibri"/>
              <a:sym typeface="Calibri"/>
            </a:endParaRPr>
          </a:p>
        </p:txBody>
      </p:sp>
      <p:sp>
        <p:nvSpPr>
          <p:cNvPr id="340" name="Google Shape;340;p17"/>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15</a:t>
            </a:r>
            <a:endParaRPr b="0" i="0" sz="1100" u="none" cap="none" strike="noStrike">
              <a:solidFill>
                <a:schemeClr val="dk1"/>
              </a:solidFill>
              <a:latin typeface="Calibri"/>
              <a:ea typeface="Calibri"/>
              <a:cs typeface="Calibri"/>
              <a:sym typeface="Calibri"/>
            </a:endParaRPr>
          </a:p>
        </p:txBody>
      </p:sp>
      <p:sp>
        <p:nvSpPr>
          <p:cNvPr id="341" name="Google Shape;341;p17"/>
          <p:cNvSpPr txBox="1"/>
          <p:nvPr/>
        </p:nvSpPr>
        <p:spPr>
          <a:xfrm>
            <a:off x="548640" y="1508760"/>
            <a:ext cx="1106424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600"/>
              <a:buFont typeface="Calibri"/>
              <a:buNone/>
            </a:pPr>
            <a:r>
              <a:rPr b="0" i="0" lang="en-US" sz="1600" u="none" cap="none" strike="noStrike">
                <a:solidFill>
                  <a:srgbClr val="12263A"/>
                </a:solidFill>
                <a:latin typeface="Calibri"/>
                <a:ea typeface="Calibri"/>
                <a:cs typeface="Calibri"/>
                <a:sym typeface="Calibri"/>
              </a:rPr>
              <a:t>CTW: perturbaciones del nivel del mar y de las corrientes que viajan pegadas a la costa hacia el polo, a menudo de origen ecuatorial (documentadas a ~1–4 m s⁻¹).</a:t>
            </a:r>
            <a:endParaRPr b="0" i="0" sz="1600" u="none" cap="none" strike="noStrike">
              <a:solidFill>
                <a:schemeClr val="dk1"/>
              </a:solidFill>
              <a:latin typeface="Calibri"/>
              <a:ea typeface="Calibri"/>
              <a:cs typeface="Calibri"/>
              <a:sym typeface="Calibri"/>
            </a:endParaRPr>
          </a:p>
        </p:txBody>
      </p:sp>
      <p:pic>
        <p:nvPicPr>
          <p:cNvPr descr="/tmp/claude-0/-home-claude/39892b0b-c3c5-5855-9657-93e4cc1da44f/scratchpad/img/F15_hovmoller_SSH_costera.png" id="342" name="Google Shape;342;p17"/>
          <p:cNvPicPr preferRelativeResize="0"/>
          <p:nvPr/>
        </p:nvPicPr>
        <p:blipFill rotWithShape="1">
          <a:blip r:embed="rId3">
            <a:alphaModFix/>
          </a:blip>
          <a:srcRect b="0" l="0" r="0" t="0"/>
          <a:stretch/>
        </p:blipFill>
        <p:spPr>
          <a:xfrm>
            <a:off x="548640" y="2264898"/>
            <a:ext cx="6858000" cy="3059723"/>
          </a:xfrm>
          <a:prstGeom prst="rect">
            <a:avLst/>
          </a:prstGeom>
          <a:noFill/>
          <a:ln>
            <a:noFill/>
          </a:ln>
        </p:spPr>
      </p:pic>
      <p:sp>
        <p:nvSpPr>
          <p:cNvPr id="343" name="Google Shape;343;p17"/>
          <p:cNvSpPr txBox="1"/>
          <p:nvPr/>
        </p:nvSpPr>
        <p:spPr>
          <a:xfrm>
            <a:off x="548640" y="5342910"/>
            <a:ext cx="685800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(a) Anomalía del nivel del mar costero (50 km) en latitud–tiempo; (b) desfases entre bandas separadas 2°.</a:t>
            </a:r>
            <a:endParaRPr b="0" i="0" sz="1100" u="none" cap="none" strike="noStrike">
              <a:solidFill>
                <a:schemeClr val="dk1"/>
              </a:solidFill>
              <a:latin typeface="Calibri"/>
              <a:ea typeface="Calibri"/>
              <a:cs typeface="Calibri"/>
              <a:sym typeface="Calibri"/>
            </a:endParaRPr>
          </a:p>
        </p:txBody>
      </p:sp>
      <p:sp>
        <p:nvSpPr>
          <p:cNvPr id="344" name="Google Shape;344;p17"/>
          <p:cNvSpPr txBox="1"/>
          <p:nvPr/>
        </p:nvSpPr>
        <p:spPr>
          <a:xfrm>
            <a:off x="7680960" y="2194560"/>
            <a:ext cx="39319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8F67"/>
              </a:buClr>
              <a:buSzPts val="1600"/>
              <a:buFont typeface="Calibri"/>
              <a:buNone/>
            </a:pPr>
            <a:r>
              <a:rPr b="1" i="0" lang="en-US" sz="1600" u="none" cap="none" strike="noStrike">
                <a:solidFill>
                  <a:srgbClr val="178F67"/>
                </a:solidFill>
                <a:latin typeface="Calibri"/>
                <a:ea typeface="Calibri"/>
                <a:cs typeface="Calibri"/>
                <a:sym typeface="Calibri"/>
              </a:rPr>
              <a:t>A favor</a:t>
            </a:r>
            <a:endParaRPr b="0" i="0" sz="1600" u="none" cap="none" strike="noStrike">
              <a:solidFill>
                <a:schemeClr val="dk1"/>
              </a:solidFill>
              <a:latin typeface="Calibri"/>
              <a:ea typeface="Calibri"/>
              <a:cs typeface="Calibri"/>
              <a:sym typeface="Calibri"/>
            </a:endParaRPr>
          </a:p>
        </p:txBody>
      </p:sp>
      <p:sp>
        <p:nvSpPr>
          <p:cNvPr id="345" name="Google Shape;345;p17"/>
          <p:cNvSpPr txBox="1"/>
          <p:nvPr/>
        </p:nvSpPr>
        <p:spPr>
          <a:xfrm>
            <a:off x="7680960" y="2560320"/>
            <a:ext cx="3959352"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400"/>
              <a:buFont typeface="Calibri"/>
              <a:buNone/>
            </a:pPr>
            <a:r>
              <a:rPr b="0" i="0" lang="en-US" sz="1400" u="none" cap="none" strike="noStrike">
                <a:solidFill>
                  <a:srgbClr val="12263A"/>
                </a:solidFill>
                <a:latin typeface="Calibri"/>
                <a:ea typeface="Calibri"/>
                <a:cs typeface="Calibri"/>
                <a:sym typeface="Calibri"/>
              </a:rPr>
              <a:t>Desfases hacia el polo en ≥ 12 de 13 pares (anomalías A y B).</a:t>
            </a:r>
            <a:endParaRPr b="0" i="0" sz="1400" u="none" cap="none" strike="noStrike">
              <a:solidFill>
                <a:schemeClr val="dk1"/>
              </a:solidFill>
              <a:latin typeface="Calibri"/>
              <a:ea typeface="Calibri"/>
              <a:cs typeface="Calibri"/>
              <a:sym typeface="Calibri"/>
            </a:endParaRPr>
          </a:p>
        </p:txBody>
      </p:sp>
      <p:sp>
        <p:nvSpPr>
          <p:cNvPr id="346" name="Google Shape;346;p17"/>
          <p:cNvSpPr txBox="1"/>
          <p:nvPr/>
        </p:nvSpPr>
        <p:spPr>
          <a:xfrm>
            <a:off x="7680960" y="3200400"/>
            <a:ext cx="393192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1E"/>
              </a:buClr>
              <a:buSzPts val="1600"/>
              <a:buFont typeface="Calibri"/>
              <a:buNone/>
            </a:pPr>
            <a:r>
              <a:rPr b="1" i="0" lang="en-US" sz="1600" u="none" cap="none" strike="noStrike">
                <a:solidFill>
                  <a:srgbClr val="D9531E"/>
                </a:solidFill>
                <a:latin typeface="Calibri"/>
                <a:ea typeface="Calibri"/>
                <a:cs typeface="Calibri"/>
                <a:sym typeface="Calibri"/>
              </a:rPr>
              <a:t>En contra</a:t>
            </a:r>
            <a:endParaRPr b="0" i="0" sz="1600" u="none" cap="none" strike="noStrike">
              <a:solidFill>
                <a:schemeClr val="dk1"/>
              </a:solidFill>
              <a:latin typeface="Calibri"/>
              <a:ea typeface="Calibri"/>
              <a:cs typeface="Calibri"/>
              <a:sym typeface="Calibri"/>
            </a:endParaRPr>
          </a:p>
        </p:txBody>
      </p:sp>
      <p:sp>
        <p:nvSpPr>
          <p:cNvPr id="347" name="Google Shape;347;p17"/>
          <p:cNvSpPr txBox="1"/>
          <p:nvPr/>
        </p:nvSpPr>
        <p:spPr>
          <a:xfrm>
            <a:off x="7680960" y="3566160"/>
            <a:ext cx="3959352" cy="2194560"/>
          </a:xfrm>
          <a:prstGeom prst="rect">
            <a:avLst/>
          </a:prstGeom>
          <a:noFill/>
          <a:ln>
            <a:noFill/>
          </a:ln>
        </p:spPr>
        <p:txBody>
          <a:bodyPr anchorCtr="0" anchor="t" bIns="0" lIns="0" spcFirstLastPara="1" rIns="0" wrap="square" tIns="0">
            <a:noAutofit/>
          </a:bodyPr>
          <a:lstStyle/>
          <a:p>
            <a:pPr indent="-228600" lvl="0" marL="228600" marR="0" rtl="0" algn="l">
              <a:spcBef>
                <a:spcPts val="0"/>
              </a:spcBef>
              <a:spcAft>
                <a:spcPts val="0"/>
              </a:spcAft>
              <a:buClr>
                <a:srgbClr val="12263A"/>
              </a:buClr>
              <a:buSzPts val="1300"/>
              <a:buFont typeface="Calibri"/>
              <a:buChar char="•"/>
            </a:pPr>
            <a:r>
              <a:rPr b="0" i="0" lang="en-US" sz="1300" u="none" cap="none" strike="noStrike">
                <a:solidFill>
                  <a:srgbClr val="12263A"/>
                </a:solidFill>
                <a:latin typeface="Calibri"/>
                <a:ea typeface="Calibri"/>
                <a:cs typeface="Calibri"/>
                <a:sym typeface="Calibri"/>
              </a:rPr>
              <a:t>Gran parte de la señal fue casi simultánea en toda la costa (r sin desfase ≈ 0.78).</a:t>
            </a:r>
            <a:endParaRPr b="0" i="0" sz="1300" u="none" cap="none" strike="noStrike">
              <a:solidFill>
                <a:schemeClr val="dk1"/>
              </a:solidFill>
              <a:latin typeface="Calibri"/>
              <a:ea typeface="Calibri"/>
              <a:cs typeface="Calibri"/>
              <a:sym typeface="Calibri"/>
            </a:endParaRPr>
          </a:p>
          <a:p>
            <a:pPr indent="-228600" lvl="0" marL="228600" marR="0" rtl="0" algn="l">
              <a:spcBef>
                <a:spcPts val="800"/>
              </a:spcBef>
              <a:spcAft>
                <a:spcPts val="0"/>
              </a:spcAft>
              <a:buClr>
                <a:srgbClr val="12263A"/>
              </a:buClr>
              <a:buSzPts val="1300"/>
              <a:buFont typeface="Calibri"/>
              <a:buChar char="•"/>
            </a:pPr>
            <a:r>
              <a:rPr b="0" i="0" lang="en-US" sz="1300" u="none" cap="none" strike="noStrike">
                <a:solidFill>
                  <a:srgbClr val="12263A"/>
                </a:solidFill>
                <a:latin typeface="Calibri"/>
                <a:ea typeface="Calibri"/>
                <a:cs typeface="Calibri"/>
                <a:sym typeface="Calibri"/>
              </a:rPr>
              <a:t>Los desfases no crecen ordenadamente con la distancia: la regresión implica 13–33 m s⁻¹, poco realista.</a:t>
            </a:r>
            <a:endParaRPr b="0" i="0" sz="1300" u="none" cap="none" strike="noStrike">
              <a:solidFill>
                <a:schemeClr val="dk1"/>
              </a:solidFill>
              <a:latin typeface="Calibri"/>
              <a:ea typeface="Calibri"/>
              <a:cs typeface="Calibri"/>
              <a:sym typeface="Calibri"/>
            </a:endParaRPr>
          </a:p>
          <a:p>
            <a:pPr indent="-228600" lvl="0" marL="228600" marR="0" rtl="0" algn="l">
              <a:spcBef>
                <a:spcPts val="800"/>
              </a:spcBef>
              <a:spcAft>
                <a:spcPts val="0"/>
              </a:spcAft>
              <a:buClr>
                <a:srgbClr val="12263A"/>
              </a:buClr>
              <a:buSzPts val="1300"/>
              <a:buFont typeface="Calibri"/>
              <a:buChar char="•"/>
            </a:pPr>
            <a:r>
              <a:rPr b="0" i="0" lang="en-US" sz="1300" u="none" cap="none" strike="noStrike">
                <a:solidFill>
                  <a:srgbClr val="12263A"/>
                </a:solidFill>
                <a:latin typeface="Calibri"/>
                <a:ea typeface="Calibri"/>
                <a:cs typeface="Calibri"/>
                <a:sym typeface="Calibri"/>
              </a:rPr>
              <a:t>El nivel costero subió 1–2 días después de debilitarse el viento local (r ≈ −0.6 a −0.88).</a:t>
            </a:r>
            <a:endParaRPr b="0" i="0" sz="1300" u="none" cap="none" strike="noStrike">
              <a:solidFill>
                <a:schemeClr val="dk1"/>
              </a:solidFill>
              <a:latin typeface="Calibri"/>
              <a:ea typeface="Calibri"/>
              <a:cs typeface="Calibri"/>
              <a:sym typeface="Calibri"/>
            </a:endParaRPr>
          </a:p>
        </p:txBody>
      </p:sp>
      <p:sp>
        <p:nvSpPr>
          <p:cNvPr id="348" name="Google Shape;348;p17"/>
          <p:cNvSpPr/>
          <p:nvPr/>
        </p:nvSpPr>
        <p:spPr>
          <a:xfrm>
            <a:off x="548640" y="5852160"/>
            <a:ext cx="11091672" cy="475488"/>
          </a:xfrm>
          <a:prstGeom prst="roundRect">
            <a:avLst>
              <a:gd fmla="val 15385"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7"/>
          <p:cNvSpPr txBox="1"/>
          <p:nvPr/>
        </p:nvSpPr>
        <p:spPr>
          <a:xfrm>
            <a:off x="731520" y="5852160"/>
            <a:ext cx="10789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531E"/>
              </a:buClr>
              <a:buSzPts val="1800"/>
              <a:buFont typeface="Calibri"/>
              <a:buNone/>
            </a:pPr>
            <a:r>
              <a:rPr b="1" i="0" lang="en-US" sz="1800" u="none" cap="none" strike="noStrike">
                <a:solidFill>
                  <a:srgbClr val="D9531E"/>
                </a:solidFill>
                <a:latin typeface="Calibri"/>
                <a:ea typeface="Calibri"/>
                <a:cs typeface="Calibri"/>
                <a:sym typeface="Calibri"/>
              </a:rPr>
              <a:t>Hubo desfases hacia el polo, pero no una velocidad coherente: no identificamos una CTW.</a:t>
            </a:r>
            <a:endParaRPr b="0" i="0" sz="1800" u="none" cap="none" strike="noStrike">
              <a:solidFill>
                <a:schemeClr val="dk1"/>
              </a:solidFill>
              <a:latin typeface="Calibri"/>
              <a:ea typeface="Calibri"/>
              <a:cs typeface="Calibri"/>
              <a:sym typeface="Calibri"/>
            </a:endParaRPr>
          </a:p>
        </p:txBody>
      </p:sp>
      <p:sp>
        <p:nvSpPr>
          <p:cNvPr id="350" name="Google Shape;350;p17"/>
          <p:cNvSpPr txBox="1"/>
          <p:nvPr/>
        </p:nvSpPr>
        <p:spPr>
          <a:xfrm>
            <a:off x="548640" y="6400800"/>
            <a:ext cx="10332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000"/>
              <a:buFont typeface="Calibri"/>
              <a:buNone/>
            </a:pPr>
            <a:r>
              <a:rPr b="0" i="1" lang="en-US" sz="1000" u="none" cap="none" strike="noStrike">
                <a:solidFill>
                  <a:srgbClr val="56636C"/>
                </a:solidFill>
                <a:latin typeface="Calibri"/>
                <a:ea typeface="Calibri"/>
                <a:cs typeface="Calibri"/>
                <a:sym typeface="Calibri"/>
              </a:rPr>
              <a:t>Romea y Smith (1983); Pietri et al. (2014); Illig et al. (2018); Lüdke et al. (2020). Datos: Copernicus Marine (GLOBAL_ANALYSISFORECAST_PHY_001_024; WIND_GLO_PHY_L4_NRT_012_004). Figura: elaboración propia, scripts reproducibles.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5" name="Shape 355"/>
        <p:cNvGrpSpPr/>
        <p:nvPr/>
      </p:nvGrpSpPr>
      <p:grpSpPr>
        <a:xfrm>
          <a:off x="0" y="0"/>
          <a:ext cx="0" cy="0"/>
          <a:chOff x="0" y="0"/>
          <a:chExt cx="0" cy="0"/>
        </a:xfrm>
      </p:grpSpPr>
      <p:sp>
        <p:nvSpPr>
          <p:cNvPr id="356" name="Google Shape;356;p18"/>
          <p:cNvSpPr/>
          <p:nvPr/>
        </p:nvSpPr>
        <p:spPr>
          <a:xfrm>
            <a:off x="548640" y="347472"/>
            <a:ext cx="1947672"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8"/>
          <p:cNvSpPr txBox="1"/>
          <p:nvPr/>
        </p:nvSpPr>
        <p:spPr>
          <a:xfrm>
            <a:off x="548640" y="347472"/>
            <a:ext cx="1947672"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INTERPRETACIÓN</a:t>
            </a:r>
            <a:endParaRPr b="0" i="0" sz="1100" u="none" cap="none" strike="noStrike">
              <a:solidFill>
                <a:schemeClr val="dk1"/>
              </a:solidFill>
              <a:latin typeface="Calibri"/>
              <a:ea typeface="Calibri"/>
              <a:cs typeface="Calibri"/>
              <a:sym typeface="Calibri"/>
            </a:endParaRPr>
          </a:p>
        </p:txBody>
      </p:sp>
      <p:sp>
        <p:nvSpPr>
          <p:cNvPr id="358" name="Google Shape;358;p18"/>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Interpretación física integrada</a:t>
            </a:r>
            <a:endParaRPr b="0" i="0" sz="3200" u="none" cap="none" strike="noStrike">
              <a:solidFill>
                <a:schemeClr val="dk1"/>
              </a:solidFill>
              <a:latin typeface="Calibri"/>
              <a:ea typeface="Calibri"/>
              <a:cs typeface="Calibri"/>
              <a:sym typeface="Calibri"/>
            </a:endParaRPr>
          </a:p>
        </p:txBody>
      </p:sp>
      <p:sp>
        <p:nvSpPr>
          <p:cNvPr id="359" name="Google Shape;359;p18"/>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16</a:t>
            </a:r>
            <a:endParaRPr b="0" i="0" sz="1100" u="none" cap="none" strike="noStrike">
              <a:solidFill>
                <a:schemeClr val="dk1"/>
              </a:solidFill>
              <a:latin typeface="Calibri"/>
              <a:ea typeface="Calibri"/>
              <a:cs typeface="Calibri"/>
              <a:sym typeface="Calibri"/>
            </a:endParaRPr>
          </a:p>
        </p:txBody>
      </p:sp>
      <p:sp>
        <p:nvSpPr>
          <p:cNvPr id="360" name="Google Shape;360;p18"/>
          <p:cNvSpPr/>
          <p:nvPr/>
        </p:nvSpPr>
        <p:spPr>
          <a:xfrm>
            <a:off x="4069080" y="1554480"/>
            <a:ext cx="4023360" cy="777240"/>
          </a:xfrm>
          <a:prstGeom prst="roundRect">
            <a:avLst>
              <a:gd fmla="val 11765" name="adj"/>
            </a:avLst>
          </a:prstGeom>
          <a:solidFill>
            <a:srgbClr val="12263A"/>
          </a:solidFill>
          <a:ln cap="flat" cmpd="sng" w="12700">
            <a:solidFill>
              <a:srgbClr val="1226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8"/>
          <p:cNvSpPr txBox="1"/>
          <p:nvPr/>
        </p:nvSpPr>
        <p:spPr>
          <a:xfrm>
            <a:off x="4206240" y="1554480"/>
            <a:ext cx="37490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ESFUERZO DEL VIENTO (τ)</a:t>
            </a:r>
            <a:endParaRPr b="0" i="0" sz="1800" u="none" cap="none" strike="noStrike">
              <a:solidFill>
                <a:schemeClr val="dk1"/>
              </a:solidFill>
              <a:latin typeface="Calibri"/>
              <a:ea typeface="Calibri"/>
              <a:cs typeface="Calibri"/>
              <a:sym typeface="Calibri"/>
            </a:endParaRPr>
          </a:p>
        </p:txBody>
      </p:sp>
      <p:cxnSp>
        <p:nvCxnSpPr>
          <p:cNvPr id="362" name="Google Shape;362;p18"/>
          <p:cNvCxnSpPr/>
          <p:nvPr/>
        </p:nvCxnSpPr>
        <p:spPr>
          <a:xfrm>
            <a:off x="6080760" y="2350008"/>
            <a:ext cx="914" cy="420624"/>
          </a:xfrm>
          <a:prstGeom prst="straightConnector1">
            <a:avLst/>
          </a:prstGeom>
          <a:noFill/>
          <a:ln cap="flat" cmpd="sng" w="38100">
            <a:solidFill>
              <a:srgbClr val="12263A"/>
            </a:solidFill>
            <a:prstDash val="solid"/>
            <a:round/>
            <a:headEnd len="sm" w="sm" type="none"/>
            <a:tailEnd len="med" w="med" type="triangle"/>
          </a:ln>
        </p:spPr>
      </p:cxnSp>
      <p:sp>
        <p:nvSpPr>
          <p:cNvPr id="363" name="Google Shape;363;p18"/>
          <p:cNvSpPr/>
          <p:nvPr/>
        </p:nvSpPr>
        <p:spPr>
          <a:xfrm>
            <a:off x="4069080" y="2788920"/>
            <a:ext cx="4023360" cy="960120"/>
          </a:xfrm>
          <a:prstGeom prst="roundRect">
            <a:avLst>
              <a:gd fmla="val 9524" name="adj"/>
            </a:avLst>
          </a:prstGeom>
          <a:solidFill>
            <a:srgbClr val="0F6E7A"/>
          </a:solidFill>
          <a:ln cap="flat" cmpd="sng" w="12700">
            <a:solidFill>
              <a:srgbClr val="0F6E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8"/>
          <p:cNvSpPr txBox="1"/>
          <p:nvPr/>
        </p:nvSpPr>
        <p:spPr>
          <a:xfrm>
            <a:off x="4206240" y="2788920"/>
            <a:ext cx="3749040" cy="960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RESPUESTA SUPERFICIAL NO GEOSTRÓFICA</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r(τ, residuo) = 0.94 · giro ≈ 62° a la izquierda</a:t>
            </a:r>
            <a:endParaRPr b="0" i="0" sz="1800" u="none" cap="none" strike="noStrike">
              <a:solidFill>
                <a:schemeClr val="dk1"/>
              </a:solidFill>
              <a:latin typeface="Calibri"/>
              <a:ea typeface="Calibri"/>
              <a:cs typeface="Calibri"/>
              <a:sym typeface="Calibri"/>
            </a:endParaRPr>
          </a:p>
        </p:txBody>
      </p:sp>
      <p:cxnSp>
        <p:nvCxnSpPr>
          <p:cNvPr id="365" name="Google Shape;365;p18"/>
          <p:cNvCxnSpPr/>
          <p:nvPr/>
        </p:nvCxnSpPr>
        <p:spPr>
          <a:xfrm>
            <a:off x="6080760" y="3767328"/>
            <a:ext cx="914" cy="420624"/>
          </a:xfrm>
          <a:prstGeom prst="straightConnector1">
            <a:avLst/>
          </a:prstGeom>
          <a:noFill/>
          <a:ln cap="flat" cmpd="sng" w="38100">
            <a:solidFill>
              <a:srgbClr val="12263A"/>
            </a:solidFill>
            <a:prstDash val="solid"/>
            <a:round/>
            <a:headEnd len="sm" w="sm" type="none"/>
            <a:tailEnd len="med" w="med" type="triangle"/>
          </a:ln>
        </p:spPr>
      </p:cxnSp>
      <p:sp>
        <p:nvSpPr>
          <p:cNvPr id="366" name="Google Shape;366;p18"/>
          <p:cNvSpPr/>
          <p:nvPr/>
        </p:nvSpPr>
        <p:spPr>
          <a:xfrm>
            <a:off x="4069080" y="4206240"/>
            <a:ext cx="4023360" cy="960120"/>
          </a:xfrm>
          <a:prstGeom prst="roundRect">
            <a:avLst>
              <a:gd fmla="val 9524" name="adj"/>
            </a:avLst>
          </a:prstGeom>
          <a:solidFill>
            <a:srgbClr val="D9531E"/>
          </a:solidFill>
          <a:ln cap="flat" cmpd="sng" w="12700">
            <a:solidFill>
              <a:srgbClr val="D953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8"/>
          <p:cNvSpPr txBox="1"/>
          <p:nvPr/>
        </p:nvSpPr>
        <p:spPr>
          <a:xfrm>
            <a:off x="4206240" y="4206240"/>
            <a:ext cx="3749040" cy="9601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DIFERENCIACIÓN SUPERFICIE–40 m (D)</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r(τ, D) = 0.917 · r(D, residuo) = 0.97</a:t>
            </a:r>
            <a:endParaRPr b="0" i="0" sz="1800" u="none" cap="none" strike="noStrike">
              <a:solidFill>
                <a:schemeClr val="dk1"/>
              </a:solidFill>
              <a:latin typeface="Calibri"/>
              <a:ea typeface="Calibri"/>
              <a:cs typeface="Calibri"/>
              <a:sym typeface="Calibri"/>
            </a:endParaRPr>
          </a:p>
        </p:txBody>
      </p:sp>
      <p:sp>
        <p:nvSpPr>
          <p:cNvPr id="368" name="Google Shape;368;p18"/>
          <p:cNvSpPr/>
          <p:nvPr/>
        </p:nvSpPr>
        <p:spPr>
          <a:xfrm>
            <a:off x="548640" y="2788920"/>
            <a:ext cx="3063240" cy="1463040"/>
          </a:xfrm>
          <a:prstGeom prst="roundRect">
            <a:avLst>
              <a:gd fmla="val 6250" name="adj"/>
            </a:avLst>
          </a:prstGeom>
          <a:solidFill>
            <a:srgbClr val="EAF3F4"/>
          </a:solidFill>
          <a:ln cap="flat" cmpd="sng" w="19050">
            <a:solidFill>
              <a:srgbClr val="0F6E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8"/>
          <p:cNvSpPr txBox="1"/>
          <p:nvPr/>
        </p:nvSpPr>
        <p:spPr>
          <a:xfrm>
            <a:off x="685800" y="2788920"/>
            <a:ext cx="278892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1300"/>
              <a:buFont typeface="Calibri"/>
              <a:buNone/>
            </a:pPr>
            <a:r>
              <a:rPr b="1" i="0" lang="en-US" sz="1300" u="none" cap="none" strike="noStrike">
                <a:solidFill>
                  <a:srgbClr val="0F6E7A"/>
                </a:solidFill>
                <a:latin typeface="Calibri"/>
                <a:ea typeface="Calibri"/>
                <a:cs typeface="Calibri"/>
                <a:sym typeface="Calibri"/>
              </a:rPr>
              <a:t>MODULADA POR</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2263A"/>
              </a:buClr>
              <a:buSzPts val="1600"/>
              <a:buFont typeface="Calibri"/>
              <a:buNone/>
            </a:pPr>
            <a:r>
              <a:rPr b="1" i="0" lang="en-US" sz="1600" u="none" cap="none" strike="noStrike">
                <a:solidFill>
                  <a:srgbClr val="12263A"/>
                </a:solidFill>
                <a:latin typeface="Calibri"/>
                <a:ea typeface="Calibri"/>
                <a:cs typeface="Calibri"/>
                <a:sym typeface="Calibri"/>
              </a:rPr>
              <a:t>Capa de mezcla y estructura vertical</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r(τ, D) 0.97 somera vs 0.15 profunda</a:t>
            </a:r>
            <a:endParaRPr b="0" i="0" sz="1600" u="none" cap="none" strike="noStrike">
              <a:solidFill>
                <a:schemeClr val="dk1"/>
              </a:solidFill>
              <a:latin typeface="Calibri"/>
              <a:ea typeface="Calibri"/>
              <a:cs typeface="Calibri"/>
              <a:sym typeface="Calibri"/>
            </a:endParaRPr>
          </a:p>
        </p:txBody>
      </p:sp>
      <p:cxnSp>
        <p:nvCxnSpPr>
          <p:cNvPr id="370" name="Google Shape;370;p18"/>
          <p:cNvCxnSpPr/>
          <p:nvPr/>
        </p:nvCxnSpPr>
        <p:spPr>
          <a:xfrm>
            <a:off x="3611880" y="3520440"/>
            <a:ext cx="2377440" cy="457200"/>
          </a:xfrm>
          <a:prstGeom prst="straightConnector1">
            <a:avLst/>
          </a:prstGeom>
          <a:noFill/>
          <a:ln cap="flat" cmpd="sng" w="31750">
            <a:solidFill>
              <a:srgbClr val="0F6E7A"/>
            </a:solidFill>
            <a:prstDash val="dash"/>
            <a:round/>
            <a:headEnd len="sm" w="sm" type="none"/>
            <a:tailEnd len="med" w="med" type="triangle"/>
          </a:ln>
        </p:spPr>
      </p:cxnSp>
      <p:sp>
        <p:nvSpPr>
          <p:cNvPr id="371" name="Google Shape;371;p18"/>
          <p:cNvSpPr/>
          <p:nvPr/>
        </p:nvSpPr>
        <p:spPr>
          <a:xfrm>
            <a:off x="8503920" y="1554480"/>
            <a:ext cx="3136392" cy="3611880"/>
          </a:xfrm>
          <a:prstGeom prst="roundRect">
            <a:avLst>
              <a:gd fmla="val 2915" name="adj"/>
            </a:avLst>
          </a:prstGeom>
          <a:solidFill>
            <a:srgbClr val="FFFFFF"/>
          </a:solidFill>
          <a:ln cap="flat" cmpd="sng" w="15875">
            <a:solidFill>
              <a:srgbClr val="56636C"/>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8"/>
          <p:cNvSpPr txBox="1"/>
          <p:nvPr/>
        </p:nvSpPr>
        <p:spPr>
          <a:xfrm>
            <a:off x="8686800" y="1645920"/>
            <a:ext cx="28346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1" i="0" lang="en-US" sz="1300" u="none" cap="none" strike="noStrike">
                <a:solidFill>
                  <a:srgbClr val="56636C"/>
                </a:solidFill>
                <a:latin typeface="Calibri"/>
                <a:ea typeface="Calibri"/>
                <a:cs typeface="Calibri"/>
                <a:sym typeface="Calibri"/>
              </a:rPr>
              <a:t>COEXISTE CON</a:t>
            </a:r>
            <a:endParaRPr b="0" i="0" sz="1300" u="none" cap="none" strike="noStrike">
              <a:solidFill>
                <a:schemeClr val="dk1"/>
              </a:solidFill>
              <a:latin typeface="Calibri"/>
              <a:ea typeface="Calibri"/>
              <a:cs typeface="Calibri"/>
              <a:sym typeface="Calibri"/>
            </a:endParaRPr>
          </a:p>
        </p:txBody>
      </p:sp>
      <p:sp>
        <p:nvSpPr>
          <p:cNvPr id="373" name="Google Shape;373;p18"/>
          <p:cNvSpPr txBox="1"/>
          <p:nvPr/>
        </p:nvSpPr>
        <p:spPr>
          <a:xfrm>
            <a:off x="8686800" y="2057400"/>
            <a:ext cx="2834640" cy="3017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Geostrofía </a:t>
            </a:r>
            <a:r>
              <a:rPr b="0" i="0" lang="en-US" sz="1500" u="none" cap="none" strike="noStrike">
                <a:solidFill>
                  <a:srgbClr val="12263A"/>
                </a:solidFill>
                <a:latin typeface="Calibri"/>
                <a:ea typeface="Calibri"/>
                <a:cs typeface="Calibri"/>
                <a:sym typeface="Calibri"/>
              </a:rPr>
              <a:t>(sobre todo en el centro)</a:t>
            </a:r>
            <a:endParaRPr b="0" i="0" sz="15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Dinámica regional </a:t>
            </a:r>
            <a:r>
              <a:rPr b="0" i="0" lang="en-US" sz="1500" u="none" cap="none" strike="noStrike">
                <a:solidFill>
                  <a:srgbClr val="12263A"/>
                </a:solidFill>
                <a:latin typeface="Calibri"/>
                <a:ea typeface="Calibri"/>
                <a:cs typeface="Calibri"/>
                <a:sym typeface="Calibri"/>
              </a:rPr>
              <a:t>(heterogeneidad N–C–S)</a:t>
            </a:r>
            <a:endParaRPr b="0" i="0" sz="15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Variabilidad costera </a:t>
            </a:r>
            <a:r>
              <a:rPr b="0" i="0" lang="en-US" sz="1500" u="none" cap="none" strike="noStrike">
                <a:solidFill>
                  <a:srgbClr val="12263A"/>
                </a:solidFill>
                <a:latin typeface="Calibri"/>
                <a:ea typeface="Calibri"/>
                <a:cs typeface="Calibri"/>
                <a:sym typeface="Calibri"/>
              </a:rPr>
              <a:t>local o remota (CTW ambigua)</a:t>
            </a:r>
            <a:endParaRPr b="0" i="0" sz="1500" u="none" cap="none" strike="noStrike">
              <a:solidFill>
                <a:schemeClr val="dk1"/>
              </a:solidFill>
              <a:latin typeface="Calibri"/>
              <a:ea typeface="Calibri"/>
              <a:cs typeface="Calibri"/>
              <a:sym typeface="Calibri"/>
            </a:endParaRPr>
          </a:p>
          <a:p>
            <a:pPr indent="0" lvl="0" marL="0" marR="0" rtl="0" algn="l">
              <a:spcBef>
                <a:spcPts val="800"/>
              </a:spcBef>
              <a:spcAft>
                <a:spcPts val="0"/>
              </a:spcAft>
              <a:buClr>
                <a:srgbClr val="12263A"/>
              </a:buClr>
              <a:buSzPts val="1500"/>
              <a:buFont typeface="Calibri"/>
              <a:buNone/>
            </a:pPr>
            <a:r>
              <a:rPr b="1" i="0" lang="en-US" sz="1500" u="none" cap="none" strike="noStrike">
                <a:solidFill>
                  <a:srgbClr val="12263A"/>
                </a:solidFill>
                <a:latin typeface="Calibri"/>
                <a:ea typeface="Calibri"/>
                <a:cs typeface="Calibri"/>
                <a:sym typeface="Calibri"/>
              </a:rPr>
              <a:t>Mesoescala </a:t>
            </a:r>
            <a:r>
              <a:rPr b="0" i="0" lang="en-US" sz="1500" u="none" cap="none" strike="noStrike">
                <a:solidFill>
                  <a:srgbClr val="12263A"/>
                </a:solidFill>
                <a:latin typeface="Calibri"/>
                <a:ea typeface="Calibri"/>
                <a:cs typeface="Calibri"/>
                <a:sym typeface="Calibri"/>
              </a:rPr>
              <a:t>(no cuantificada)</a:t>
            </a:r>
            <a:endParaRPr b="0" i="0" sz="1500" u="none" cap="none" strike="noStrike">
              <a:solidFill>
                <a:schemeClr val="dk1"/>
              </a:solidFill>
              <a:latin typeface="Calibri"/>
              <a:ea typeface="Calibri"/>
              <a:cs typeface="Calibri"/>
              <a:sym typeface="Calibri"/>
            </a:endParaRPr>
          </a:p>
        </p:txBody>
      </p:sp>
      <p:sp>
        <p:nvSpPr>
          <p:cNvPr id="374" name="Google Shape;374;p18"/>
          <p:cNvSpPr/>
          <p:nvPr/>
        </p:nvSpPr>
        <p:spPr>
          <a:xfrm>
            <a:off x="548640" y="5486400"/>
            <a:ext cx="11091672" cy="475488"/>
          </a:xfrm>
          <a:prstGeom prst="roundRect">
            <a:avLst>
              <a:gd fmla="val 15385"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8"/>
          <p:cNvSpPr txBox="1"/>
          <p:nvPr/>
        </p:nvSpPr>
        <p:spPr>
          <a:xfrm>
            <a:off x="731520" y="5486400"/>
            <a:ext cx="10789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800"/>
              <a:buFont typeface="Calibri"/>
              <a:buNone/>
            </a:pPr>
            <a:r>
              <a:rPr b="1" i="0" lang="en-US" sz="1800" u="none" cap="none" strike="noStrike">
                <a:solidFill>
                  <a:srgbClr val="12263A"/>
                </a:solidFill>
                <a:latin typeface="Calibri"/>
                <a:ea typeface="Calibri"/>
                <a:cs typeface="Calibri"/>
                <a:sym typeface="Calibri"/>
              </a:rPr>
              <a:t>No encontramos un mecanismo único.</a:t>
            </a:r>
            <a:endParaRPr b="0" i="0" sz="1800" u="none" cap="none" strike="noStrike">
              <a:solidFill>
                <a:schemeClr val="dk1"/>
              </a:solidFill>
              <a:latin typeface="Calibri"/>
              <a:ea typeface="Calibri"/>
              <a:cs typeface="Calibri"/>
              <a:sym typeface="Calibri"/>
            </a:endParaRPr>
          </a:p>
        </p:txBody>
      </p:sp>
      <p:sp>
        <p:nvSpPr>
          <p:cNvPr id="376" name="Google Shape;376;p18"/>
          <p:cNvSpPr txBox="1"/>
          <p:nvPr/>
        </p:nvSpPr>
        <p:spPr>
          <a:xfrm>
            <a:off x="548640" y="6035040"/>
            <a:ext cx="11064240"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1" lang="en-US" sz="1300" u="none" cap="none" strike="noStrike">
                <a:solidFill>
                  <a:srgbClr val="56636C"/>
                </a:solidFill>
                <a:latin typeface="Calibri"/>
                <a:ea typeface="Calibri"/>
                <a:cs typeface="Calibri"/>
                <a:sym typeface="Calibri"/>
              </a:rPr>
              <a:t>Todas las flechas son asociaciones en un sistema modelado, no relaciones causales demostradas.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1" name="Shape 381"/>
        <p:cNvGrpSpPr/>
        <p:nvPr/>
      </p:nvGrpSpPr>
      <p:grpSpPr>
        <a:xfrm>
          <a:off x="0" y="0"/>
          <a:ext cx="0" cy="0"/>
          <a:chOff x="0" y="0"/>
          <a:chExt cx="0" cy="0"/>
        </a:xfrm>
      </p:grpSpPr>
      <p:sp>
        <p:nvSpPr>
          <p:cNvPr id="382" name="Google Shape;382;p19"/>
          <p:cNvSpPr/>
          <p:nvPr/>
        </p:nvSpPr>
        <p:spPr>
          <a:xfrm>
            <a:off x="548640" y="347472"/>
            <a:ext cx="1508760"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9"/>
          <p:cNvSpPr txBox="1"/>
          <p:nvPr/>
        </p:nvSpPr>
        <p:spPr>
          <a:xfrm>
            <a:off x="548640" y="347472"/>
            <a:ext cx="15087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CONCLUSIÓN</a:t>
            </a:r>
            <a:endParaRPr b="0" i="0" sz="1100" u="none" cap="none" strike="noStrike">
              <a:solidFill>
                <a:schemeClr val="dk1"/>
              </a:solidFill>
              <a:latin typeface="Calibri"/>
              <a:ea typeface="Calibri"/>
              <a:cs typeface="Calibri"/>
              <a:sym typeface="Calibri"/>
            </a:endParaRPr>
          </a:p>
        </p:txBody>
      </p:sp>
      <p:sp>
        <p:nvSpPr>
          <p:cNvPr id="384" name="Google Shape;384;p19"/>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¿Qué pasó con las hipótesis?</a:t>
            </a:r>
            <a:endParaRPr b="0" i="0" sz="3200" u="none" cap="none" strike="noStrike">
              <a:solidFill>
                <a:schemeClr val="dk1"/>
              </a:solidFill>
              <a:latin typeface="Calibri"/>
              <a:ea typeface="Calibri"/>
              <a:cs typeface="Calibri"/>
              <a:sym typeface="Calibri"/>
            </a:endParaRPr>
          </a:p>
        </p:txBody>
      </p:sp>
      <p:sp>
        <p:nvSpPr>
          <p:cNvPr id="385" name="Google Shape;385;p19"/>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17</a:t>
            </a:r>
            <a:endParaRPr b="0" i="0" sz="1100" u="none" cap="none" strike="noStrike">
              <a:solidFill>
                <a:schemeClr val="dk1"/>
              </a:solidFill>
              <a:latin typeface="Calibri"/>
              <a:ea typeface="Calibri"/>
              <a:cs typeface="Calibri"/>
              <a:sym typeface="Calibri"/>
            </a:endParaRPr>
          </a:p>
        </p:txBody>
      </p:sp>
      <p:sp>
        <p:nvSpPr>
          <p:cNvPr id="386" name="Google Shape;386;p19"/>
          <p:cNvSpPr/>
          <p:nvPr/>
        </p:nvSpPr>
        <p:spPr>
          <a:xfrm>
            <a:off x="548640" y="1600200"/>
            <a:ext cx="11091672" cy="1234440"/>
          </a:xfrm>
          <a:prstGeom prst="roundRect">
            <a:avLst>
              <a:gd fmla="val 7407"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9"/>
          <p:cNvSpPr/>
          <p:nvPr/>
        </p:nvSpPr>
        <p:spPr>
          <a:xfrm>
            <a:off x="731520" y="1874520"/>
            <a:ext cx="685800" cy="685800"/>
          </a:xfrm>
          <a:prstGeom prst="ellipse">
            <a:avLst/>
          </a:prstGeom>
          <a:solidFill>
            <a:srgbClr val="0F6E7A"/>
          </a:solidFill>
          <a:ln cap="flat" cmpd="sng" w="12700">
            <a:solidFill>
              <a:srgbClr val="0F6E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9"/>
          <p:cNvSpPr txBox="1"/>
          <p:nvPr/>
        </p:nvSpPr>
        <p:spPr>
          <a:xfrm>
            <a:off x="731520" y="1874520"/>
            <a:ext cx="68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H1</a:t>
            </a:r>
            <a:endParaRPr b="0" i="0" sz="1800" u="none" cap="none" strike="noStrike">
              <a:solidFill>
                <a:schemeClr val="dk1"/>
              </a:solidFill>
              <a:latin typeface="Calibri"/>
              <a:ea typeface="Calibri"/>
              <a:cs typeface="Calibri"/>
              <a:sym typeface="Calibri"/>
            </a:endParaRPr>
          </a:p>
        </p:txBody>
      </p:sp>
      <p:sp>
        <p:nvSpPr>
          <p:cNvPr id="389" name="Google Shape;389;p19"/>
          <p:cNvSpPr txBox="1"/>
          <p:nvPr/>
        </p:nvSpPr>
        <p:spPr>
          <a:xfrm>
            <a:off x="1645920" y="1691640"/>
            <a:ext cx="338328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400"/>
              <a:buFont typeface="Calibri"/>
              <a:buNone/>
            </a:pPr>
            <a:r>
              <a:rPr b="0" i="0" lang="en-US" sz="1400" u="none" cap="none" strike="noStrike">
                <a:solidFill>
                  <a:srgbClr val="12263A"/>
                </a:solidFill>
                <a:latin typeface="Calibri"/>
                <a:ea typeface="Calibri"/>
                <a:cs typeface="Calibri"/>
                <a:sym typeface="Calibri"/>
              </a:rPr>
              <a:t>Más τ → más diferenciación, principalmente por la variabilidad superficial</a:t>
            </a:r>
            <a:endParaRPr b="0" i="0" sz="1400" u="none" cap="none" strike="noStrike">
              <a:solidFill>
                <a:schemeClr val="dk1"/>
              </a:solidFill>
              <a:latin typeface="Calibri"/>
              <a:ea typeface="Calibri"/>
              <a:cs typeface="Calibri"/>
              <a:sym typeface="Calibri"/>
            </a:endParaRPr>
          </a:p>
        </p:txBody>
      </p:sp>
      <p:sp>
        <p:nvSpPr>
          <p:cNvPr id="390" name="Google Shape;390;p19"/>
          <p:cNvSpPr/>
          <p:nvPr/>
        </p:nvSpPr>
        <p:spPr>
          <a:xfrm>
            <a:off x="5212080" y="1874520"/>
            <a:ext cx="2560320" cy="685800"/>
          </a:xfrm>
          <a:prstGeom prst="roundRect">
            <a:avLst>
              <a:gd fmla="val 10667" name="adj"/>
            </a:avLst>
          </a:prstGeom>
          <a:solidFill>
            <a:srgbClr val="FFFFFF"/>
          </a:solidFill>
          <a:ln cap="flat" cmpd="sng" w="25400">
            <a:solidFill>
              <a:srgbClr val="E8A3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9"/>
          <p:cNvSpPr txBox="1"/>
          <p:nvPr/>
        </p:nvSpPr>
        <p:spPr>
          <a:xfrm>
            <a:off x="5257800" y="1874520"/>
            <a:ext cx="24688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263A"/>
              </a:buClr>
              <a:buSzPts val="1400"/>
              <a:buFont typeface="Calibri"/>
              <a:buNone/>
            </a:pPr>
            <a:r>
              <a:rPr b="1" i="0" lang="en-US" sz="1400" u="none" cap="none" strike="noStrike">
                <a:solidFill>
                  <a:srgbClr val="12263A"/>
                </a:solidFill>
                <a:latin typeface="Calibri"/>
                <a:ea typeface="Calibri"/>
                <a:cs typeface="Calibri"/>
                <a:sym typeface="Calibri"/>
              </a:rPr>
              <a:t>Parcialmente respaldada</a:t>
            </a:r>
            <a:endParaRPr b="0" i="0" sz="1400" u="none" cap="none" strike="noStrike">
              <a:solidFill>
                <a:schemeClr val="dk1"/>
              </a:solidFill>
              <a:latin typeface="Calibri"/>
              <a:ea typeface="Calibri"/>
              <a:cs typeface="Calibri"/>
              <a:sym typeface="Calibri"/>
            </a:endParaRPr>
          </a:p>
        </p:txBody>
      </p:sp>
      <p:sp>
        <p:nvSpPr>
          <p:cNvPr id="392" name="Google Shape;392;p19"/>
          <p:cNvSpPr txBox="1"/>
          <p:nvPr/>
        </p:nvSpPr>
        <p:spPr>
          <a:xfrm>
            <a:off x="8001000" y="1691640"/>
            <a:ext cx="352044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τ–D robusta; pero la relación pasa por la componente no geostrófica, no por la rapidez superficial total (τ–|U sup| no robusta).</a:t>
            </a:r>
            <a:endParaRPr b="0" i="0" sz="1300" u="none" cap="none" strike="noStrike">
              <a:solidFill>
                <a:schemeClr val="dk1"/>
              </a:solidFill>
              <a:latin typeface="Calibri"/>
              <a:ea typeface="Calibri"/>
              <a:cs typeface="Calibri"/>
              <a:sym typeface="Calibri"/>
            </a:endParaRPr>
          </a:p>
        </p:txBody>
      </p:sp>
      <p:sp>
        <p:nvSpPr>
          <p:cNvPr id="393" name="Google Shape;393;p19"/>
          <p:cNvSpPr/>
          <p:nvPr/>
        </p:nvSpPr>
        <p:spPr>
          <a:xfrm>
            <a:off x="548640" y="2971800"/>
            <a:ext cx="11091672" cy="1234440"/>
          </a:xfrm>
          <a:prstGeom prst="roundRect">
            <a:avLst>
              <a:gd fmla="val 7407"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9"/>
          <p:cNvSpPr/>
          <p:nvPr/>
        </p:nvSpPr>
        <p:spPr>
          <a:xfrm>
            <a:off x="731520" y="3246120"/>
            <a:ext cx="685800" cy="685800"/>
          </a:xfrm>
          <a:prstGeom prst="ellipse">
            <a:avLst/>
          </a:prstGeom>
          <a:solidFill>
            <a:srgbClr val="0F6E7A"/>
          </a:solidFill>
          <a:ln cap="flat" cmpd="sng" w="12700">
            <a:solidFill>
              <a:srgbClr val="0F6E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9"/>
          <p:cNvSpPr txBox="1"/>
          <p:nvPr/>
        </p:nvSpPr>
        <p:spPr>
          <a:xfrm>
            <a:off x="731520" y="3246120"/>
            <a:ext cx="68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H2</a:t>
            </a:r>
            <a:endParaRPr b="0" i="0" sz="1800" u="none" cap="none" strike="noStrike">
              <a:solidFill>
                <a:schemeClr val="dk1"/>
              </a:solidFill>
              <a:latin typeface="Calibri"/>
              <a:ea typeface="Calibri"/>
              <a:cs typeface="Calibri"/>
              <a:sym typeface="Calibri"/>
            </a:endParaRPr>
          </a:p>
        </p:txBody>
      </p:sp>
      <p:sp>
        <p:nvSpPr>
          <p:cNvPr id="396" name="Google Shape;396;p19"/>
          <p:cNvSpPr txBox="1"/>
          <p:nvPr/>
        </p:nvSpPr>
        <p:spPr>
          <a:xfrm>
            <a:off x="1645920" y="3063240"/>
            <a:ext cx="338328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400"/>
              <a:buFont typeface="Calibri"/>
              <a:buNone/>
            </a:pPr>
            <a:r>
              <a:rPr b="0" i="0" lang="en-US" sz="1400" u="none" cap="none" strike="noStrike">
                <a:solidFill>
                  <a:srgbClr val="12263A"/>
                </a:solidFill>
                <a:latin typeface="Calibri"/>
                <a:ea typeface="Calibri"/>
                <a:cs typeface="Calibri"/>
                <a:sym typeface="Calibri"/>
              </a:rPr>
              <a:t>Más diferenciación donde MLD &lt; 40 m</a:t>
            </a:r>
            <a:endParaRPr b="0" i="0" sz="1400" u="none" cap="none" strike="noStrike">
              <a:solidFill>
                <a:schemeClr val="dk1"/>
              </a:solidFill>
              <a:latin typeface="Calibri"/>
              <a:ea typeface="Calibri"/>
              <a:cs typeface="Calibri"/>
              <a:sym typeface="Calibri"/>
            </a:endParaRPr>
          </a:p>
        </p:txBody>
      </p:sp>
      <p:sp>
        <p:nvSpPr>
          <p:cNvPr id="397" name="Google Shape;397;p19"/>
          <p:cNvSpPr/>
          <p:nvPr/>
        </p:nvSpPr>
        <p:spPr>
          <a:xfrm>
            <a:off x="5212080" y="3246120"/>
            <a:ext cx="2560320" cy="685800"/>
          </a:xfrm>
          <a:prstGeom prst="roundRect">
            <a:avLst>
              <a:gd fmla="val 10667" name="adj"/>
            </a:avLst>
          </a:prstGeom>
          <a:solidFill>
            <a:srgbClr val="FFFFFF"/>
          </a:solidFill>
          <a:ln cap="flat" cmpd="sng" w="25400">
            <a:solidFill>
              <a:srgbClr val="178F6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9"/>
          <p:cNvSpPr txBox="1"/>
          <p:nvPr/>
        </p:nvSpPr>
        <p:spPr>
          <a:xfrm>
            <a:off x="5257800" y="3246120"/>
            <a:ext cx="24688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263A"/>
              </a:buClr>
              <a:buSzPts val="1400"/>
              <a:buFont typeface="Calibri"/>
              <a:buNone/>
            </a:pPr>
            <a:r>
              <a:rPr b="1" i="0" lang="en-US" sz="1400" u="none" cap="none" strike="noStrike">
                <a:solidFill>
                  <a:srgbClr val="12263A"/>
                </a:solidFill>
                <a:latin typeface="Calibri"/>
                <a:ea typeface="Calibri"/>
                <a:cs typeface="Calibri"/>
                <a:sym typeface="Calibri"/>
              </a:rPr>
              <a:t>Respaldada como contraste espacial</a:t>
            </a:r>
            <a:endParaRPr b="0" i="0" sz="1400" u="none" cap="none" strike="noStrike">
              <a:solidFill>
                <a:schemeClr val="dk1"/>
              </a:solidFill>
              <a:latin typeface="Calibri"/>
              <a:ea typeface="Calibri"/>
              <a:cs typeface="Calibri"/>
              <a:sym typeface="Calibri"/>
            </a:endParaRPr>
          </a:p>
        </p:txBody>
      </p:sp>
      <p:sp>
        <p:nvSpPr>
          <p:cNvPr id="399" name="Google Shape;399;p19"/>
          <p:cNvSpPr txBox="1"/>
          <p:nvPr/>
        </p:nvSpPr>
        <p:spPr>
          <a:xfrm>
            <a:off x="8001000" y="3063240"/>
            <a:ext cx="352044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D mayor en 13–14 de 14 días en todos los sectores; confundida con la distancia a la costa; relación temporal débil.</a:t>
            </a:r>
            <a:endParaRPr b="0" i="0" sz="1300" u="none" cap="none" strike="noStrike">
              <a:solidFill>
                <a:schemeClr val="dk1"/>
              </a:solidFill>
              <a:latin typeface="Calibri"/>
              <a:ea typeface="Calibri"/>
              <a:cs typeface="Calibri"/>
              <a:sym typeface="Calibri"/>
            </a:endParaRPr>
          </a:p>
        </p:txBody>
      </p:sp>
      <p:sp>
        <p:nvSpPr>
          <p:cNvPr id="400" name="Google Shape;400;p19"/>
          <p:cNvSpPr/>
          <p:nvPr/>
        </p:nvSpPr>
        <p:spPr>
          <a:xfrm>
            <a:off x="548640" y="4343400"/>
            <a:ext cx="11091672" cy="1234440"/>
          </a:xfrm>
          <a:prstGeom prst="roundRect">
            <a:avLst>
              <a:gd fmla="val 7407"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9"/>
          <p:cNvSpPr/>
          <p:nvPr/>
        </p:nvSpPr>
        <p:spPr>
          <a:xfrm>
            <a:off x="731520" y="4617720"/>
            <a:ext cx="685800" cy="685800"/>
          </a:xfrm>
          <a:prstGeom prst="ellipse">
            <a:avLst/>
          </a:prstGeom>
          <a:solidFill>
            <a:srgbClr val="0F6E7A"/>
          </a:solidFill>
          <a:ln cap="flat" cmpd="sng" w="12700">
            <a:solidFill>
              <a:srgbClr val="0F6E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9"/>
          <p:cNvSpPr txBox="1"/>
          <p:nvPr/>
        </p:nvSpPr>
        <p:spPr>
          <a:xfrm>
            <a:off x="731520" y="4617720"/>
            <a:ext cx="68580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H3</a:t>
            </a:r>
            <a:endParaRPr b="0" i="0" sz="1800" u="none" cap="none" strike="noStrike">
              <a:solidFill>
                <a:schemeClr val="dk1"/>
              </a:solidFill>
              <a:latin typeface="Calibri"/>
              <a:ea typeface="Calibri"/>
              <a:cs typeface="Calibri"/>
              <a:sym typeface="Calibri"/>
            </a:endParaRPr>
          </a:p>
        </p:txBody>
      </p:sp>
      <p:sp>
        <p:nvSpPr>
          <p:cNvPr id="403" name="Google Shape;403;p19"/>
          <p:cNvSpPr txBox="1"/>
          <p:nvPr/>
        </p:nvSpPr>
        <p:spPr>
          <a:xfrm>
            <a:off x="1645920" y="4434840"/>
            <a:ext cx="338328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400"/>
              <a:buFont typeface="Calibri"/>
              <a:buNone/>
            </a:pPr>
            <a:r>
              <a:rPr b="0" i="0" lang="en-US" sz="1400" u="none" cap="none" strike="noStrike">
                <a:solidFill>
                  <a:srgbClr val="12263A"/>
                </a:solidFill>
                <a:latin typeface="Calibri"/>
                <a:ea typeface="Calibri"/>
                <a:cs typeface="Calibri"/>
                <a:sym typeface="Calibri"/>
              </a:rPr>
              <a:t>El viento no lo explica todo (geostrofía y señales costeras)</a:t>
            </a:r>
            <a:endParaRPr b="0" i="0" sz="1400" u="none" cap="none" strike="noStrike">
              <a:solidFill>
                <a:schemeClr val="dk1"/>
              </a:solidFill>
              <a:latin typeface="Calibri"/>
              <a:ea typeface="Calibri"/>
              <a:cs typeface="Calibri"/>
              <a:sym typeface="Calibri"/>
            </a:endParaRPr>
          </a:p>
        </p:txBody>
      </p:sp>
      <p:sp>
        <p:nvSpPr>
          <p:cNvPr id="404" name="Google Shape;404;p19"/>
          <p:cNvSpPr/>
          <p:nvPr/>
        </p:nvSpPr>
        <p:spPr>
          <a:xfrm>
            <a:off x="5212080" y="4617720"/>
            <a:ext cx="2560320" cy="685800"/>
          </a:xfrm>
          <a:prstGeom prst="roundRect">
            <a:avLst>
              <a:gd fmla="val 10667" name="adj"/>
            </a:avLst>
          </a:prstGeom>
          <a:solidFill>
            <a:srgbClr val="FFFFFF"/>
          </a:solidFill>
          <a:ln cap="flat" cmpd="sng" w="25400">
            <a:solidFill>
              <a:srgbClr val="E8A3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9"/>
          <p:cNvSpPr txBox="1"/>
          <p:nvPr/>
        </p:nvSpPr>
        <p:spPr>
          <a:xfrm>
            <a:off x="5257800" y="4617720"/>
            <a:ext cx="246888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2263A"/>
              </a:buClr>
              <a:buSzPts val="1400"/>
              <a:buFont typeface="Calibri"/>
              <a:buNone/>
            </a:pPr>
            <a:r>
              <a:rPr b="1" i="0" lang="en-US" sz="1400" u="none" cap="none" strike="noStrike">
                <a:solidFill>
                  <a:srgbClr val="12263A"/>
                </a:solidFill>
                <a:latin typeface="Calibri"/>
                <a:ea typeface="Calibri"/>
                <a:cs typeface="Calibri"/>
                <a:sym typeface="Calibri"/>
              </a:rPr>
              <a:t>Respaldada en parte</a:t>
            </a:r>
            <a:endParaRPr b="0" i="0" sz="1400" u="none" cap="none" strike="noStrike">
              <a:solidFill>
                <a:schemeClr val="dk1"/>
              </a:solidFill>
              <a:latin typeface="Calibri"/>
              <a:ea typeface="Calibri"/>
              <a:cs typeface="Calibri"/>
              <a:sym typeface="Calibri"/>
            </a:endParaRPr>
          </a:p>
        </p:txBody>
      </p:sp>
      <p:sp>
        <p:nvSpPr>
          <p:cNvPr id="406" name="Google Shape;406;p19"/>
          <p:cNvSpPr txBox="1"/>
          <p:nvPr/>
        </p:nvSpPr>
        <p:spPr>
          <a:xfrm>
            <a:off x="8001000" y="4434840"/>
            <a:ext cx="352044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Geostrofía relevante en el centro y heterogeneidad regional; la contribución de las CTW no pudo demostrarse.</a:t>
            </a:r>
            <a:endParaRPr b="0" i="0" sz="1300" u="none" cap="none" strike="noStrike">
              <a:solidFill>
                <a:schemeClr val="dk1"/>
              </a:solidFill>
              <a:latin typeface="Calibri"/>
              <a:ea typeface="Calibri"/>
              <a:cs typeface="Calibri"/>
              <a:sym typeface="Calibri"/>
            </a:endParaRPr>
          </a:p>
        </p:txBody>
      </p:sp>
      <p:sp>
        <p:nvSpPr>
          <p:cNvPr id="407" name="Google Shape;407;p19"/>
          <p:cNvSpPr/>
          <p:nvPr/>
        </p:nvSpPr>
        <p:spPr>
          <a:xfrm>
            <a:off x="548640" y="5806440"/>
            <a:ext cx="11091672" cy="475488"/>
          </a:xfrm>
          <a:prstGeom prst="roundRect">
            <a:avLst>
              <a:gd fmla="val 15385"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9"/>
          <p:cNvSpPr txBox="1"/>
          <p:nvPr/>
        </p:nvSpPr>
        <p:spPr>
          <a:xfrm>
            <a:off x="731520" y="5806440"/>
            <a:ext cx="10789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6E7A"/>
              </a:buClr>
              <a:buSzPts val="1800"/>
              <a:buFont typeface="Calibri"/>
              <a:buNone/>
            </a:pPr>
            <a:r>
              <a:rPr b="1" i="0" lang="en-US" sz="1800" u="none" cap="none" strike="noStrike">
                <a:solidFill>
                  <a:srgbClr val="0F6E7A"/>
                </a:solidFill>
                <a:latin typeface="Calibri"/>
                <a:ea typeface="Calibri"/>
                <a:cs typeface="Calibri"/>
                <a:sym typeface="Calibri"/>
              </a:rPr>
              <a:t>Ninguna hipótesis se reformuló para ajustarla a los resultados.</a:t>
            </a:r>
            <a:endParaRPr b="0" i="0" sz="1800" u="none" cap="none" strike="noStrike">
              <a:solidFill>
                <a:schemeClr val="dk1"/>
              </a:solidFill>
              <a:latin typeface="Calibri"/>
              <a:ea typeface="Calibri"/>
              <a:cs typeface="Calibri"/>
              <a:sym typeface="Calibri"/>
            </a:endParaRPr>
          </a:p>
        </p:txBody>
      </p:sp>
      <p:sp>
        <p:nvSpPr>
          <p:cNvPr id="409" name="Google Shape;409;p19"/>
          <p:cNvSpPr txBox="1"/>
          <p:nvPr/>
        </p:nvSpPr>
        <p:spPr>
          <a:xfrm>
            <a:off x="548640" y="6400800"/>
            <a:ext cx="10332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000"/>
              <a:buFont typeface="Calibri"/>
              <a:buNone/>
            </a:pPr>
            <a:r>
              <a:rPr b="0" i="1" lang="en-US" sz="1000" u="none" cap="none" strike="noStrike">
                <a:solidFill>
                  <a:srgbClr val="56636C"/>
                </a:solidFill>
                <a:latin typeface="Calibri"/>
                <a:ea typeface="Calibri"/>
                <a:cs typeface="Calibri"/>
                <a:sym typeface="Calibri"/>
              </a:rPr>
              <a:t>Veredictos de la Tabla 9 del artículo, basados solo en los resultados reproducidos.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4" name="Shape 414"/>
        <p:cNvGrpSpPr/>
        <p:nvPr/>
      </p:nvGrpSpPr>
      <p:grpSpPr>
        <a:xfrm>
          <a:off x="0" y="0"/>
          <a:ext cx="0" cy="0"/>
          <a:chOff x="0" y="0"/>
          <a:chExt cx="0" cy="0"/>
        </a:xfrm>
      </p:grpSpPr>
      <p:sp>
        <p:nvSpPr>
          <p:cNvPr id="415" name="Google Shape;415;p20"/>
          <p:cNvSpPr/>
          <p:nvPr/>
        </p:nvSpPr>
        <p:spPr>
          <a:xfrm>
            <a:off x="548640" y="347472"/>
            <a:ext cx="1728216"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0"/>
          <p:cNvSpPr txBox="1"/>
          <p:nvPr/>
        </p:nvSpPr>
        <p:spPr>
          <a:xfrm>
            <a:off x="548640" y="347472"/>
            <a:ext cx="172821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LIMITACIONES</a:t>
            </a:r>
            <a:endParaRPr b="0" i="0" sz="1100" u="none" cap="none" strike="noStrike">
              <a:solidFill>
                <a:schemeClr val="dk1"/>
              </a:solidFill>
              <a:latin typeface="Calibri"/>
              <a:ea typeface="Calibri"/>
              <a:cs typeface="Calibri"/>
              <a:sym typeface="Calibri"/>
            </a:endParaRPr>
          </a:p>
        </p:txBody>
      </p:sp>
      <p:sp>
        <p:nvSpPr>
          <p:cNvPr id="417" name="Google Shape;417;p20"/>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Lo que estos datos no permiten afirmar</a:t>
            </a:r>
            <a:endParaRPr b="0" i="0" sz="3200" u="none" cap="none" strike="noStrike">
              <a:solidFill>
                <a:schemeClr val="dk1"/>
              </a:solidFill>
              <a:latin typeface="Calibri"/>
              <a:ea typeface="Calibri"/>
              <a:cs typeface="Calibri"/>
              <a:sym typeface="Calibri"/>
            </a:endParaRPr>
          </a:p>
        </p:txBody>
      </p:sp>
      <p:sp>
        <p:nvSpPr>
          <p:cNvPr id="418" name="Google Shape;418;p20"/>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18</a:t>
            </a:r>
            <a:endParaRPr b="0" i="0" sz="1100" u="none" cap="none" strike="noStrike">
              <a:solidFill>
                <a:schemeClr val="dk1"/>
              </a:solidFill>
              <a:latin typeface="Calibri"/>
              <a:ea typeface="Calibri"/>
              <a:cs typeface="Calibri"/>
              <a:sym typeface="Calibri"/>
            </a:endParaRPr>
          </a:p>
        </p:txBody>
      </p:sp>
      <p:sp>
        <p:nvSpPr>
          <p:cNvPr id="419" name="Google Shape;419;p20"/>
          <p:cNvSpPr/>
          <p:nvPr/>
        </p:nvSpPr>
        <p:spPr>
          <a:xfrm>
            <a:off x="548640" y="1645920"/>
            <a:ext cx="2651760" cy="1828800"/>
          </a:xfrm>
          <a:prstGeom prst="roundRect">
            <a:avLst>
              <a:gd fmla="val 5000"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0"/>
          <p:cNvSpPr txBox="1"/>
          <p:nvPr/>
        </p:nvSpPr>
        <p:spPr>
          <a:xfrm>
            <a:off x="731520" y="1783080"/>
            <a:ext cx="5486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1E"/>
              </a:buClr>
              <a:buSzPts val="2200"/>
              <a:buFont typeface="Cambria"/>
              <a:buNone/>
            </a:pPr>
            <a:r>
              <a:rPr b="1" i="0" lang="en-US" sz="2200" u="none" cap="none" strike="noStrike">
                <a:solidFill>
                  <a:srgbClr val="D9531E"/>
                </a:solidFill>
                <a:latin typeface="Cambria"/>
                <a:ea typeface="Cambria"/>
                <a:cs typeface="Cambria"/>
                <a:sym typeface="Cambria"/>
              </a:rPr>
              <a:t>1</a:t>
            </a:r>
            <a:endParaRPr b="0" i="0" sz="2200" u="none" cap="none" strike="noStrike">
              <a:solidFill>
                <a:schemeClr val="dk1"/>
              </a:solidFill>
              <a:latin typeface="Calibri"/>
              <a:ea typeface="Calibri"/>
              <a:cs typeface="Calibri"/>
              <a:sym typeface="Calibri"/>
            </a:endParaRPr>
          </a:p>
        </p:txBody>
      </p:sp>
      <p:sp>
        <p:nvSpPr>
          <p:cNvPr id="421" name="Google Shape;421;p20"/>
          <p:cNvSpPr txBox="1"/>
          <p:nvPr/>
        </p:nvSpPr>
        <p:spPr>
          <a:xfrm>
            <a:off x="731520" y="224028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700"/>
              <a:buFont typeface="Calibri"/>
              <a:buNone/>
            </a:pPr>
            <a:r>
              <a:rPr b="1" i="0" lang="en-US" sz="1700" u="none" cap="none" strike="noStrike">
                <a:solidFill>
                  <a:srgbClr val="12263A"/>
                </a:solidFill>
                <a:latin typeface="Calibri"/>
                <a:ea typeface="Calibri"/>
                <a:cs typeface="Calibri"/>
                <a:sym typeface="Calibri"/>
              </a:rPr>
              <a:t>Solo 14 días</a:t>
            </a:r>
            <a:endParaRPr b="0" i="0" sz="1700" u="none" cap="none" strike="noStrike">
              <a:solidFill>
                <a:schemeClr val="dk1"/>
              </a:solidFill>
              <a:latin typeface="Calibri"/>
              <a:ea typeface="Calibri"/>
              <a:cs typeface="Calibri"/>
              <a:sym typeface="Calibri"/>
            </a:endParaRPr>
          </a:p>
        </p:txBody>
      </p:sp>
      <p:sp>
        <p:nvSpPr>
          <p:cNvPr id="422" name="Google Shape;422;p20"/>
          <p:cNvSpPr txBox="1"/>
          <p:nvPr/>
        </p:nvSpPr>
        <p:spPr>
          <a:xfrm>
            <a:off x="731520" y="283464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un único evento de viento intenso; n_eff ≈ 7.3</a:t>
            </a:r>
            <a:endParaRPr b="0" i="0" sz="1300" u="none" cap="none" strike="noStrike">
              <a:solidFill>
                <a:schemeClr val="dk1"/>
              </a:solidFill>
              <a:latin typeface="Calibri"/>
              <a:ea typeface="Calibri"/>
              <a:cs typeface="Calibri"/>
              <a:sym typeface="Calibri"/>
            </a:endParaRPr>
          </a:p>
        </p:txBody>
      </p:sp>
      <p:sp>
        <p:nvSpPr>
          <p:cNvPr id="423" name="Google Shape;423;p20"/>
          <p:cNvSpPr/>
          <p:nvPr/>
        </p:nvSpPr>
        <p:spPr>
          <a:xfrm>
            <a:off x="3355848" y="1645920"/>
            <a:ext cx="2651760" cy="1828800"/>
          </a:xfrm>
          <a:prstGeom prst="roundRect">
            <a:avLst>
              <a:gd fmla="val 5000"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0"/>
          <p:cNvSpPr txBox="1"/>
          <p:nvPr/>
        </p:nvSpPr>
        <p:spPr>
          <a:xfrm>
            <a:off x="3538728" y="1783080"/>
            <a:ext cx="5486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1E"/>
              </a:buClr>
              <a:buSzPts val="2200"/>
              <a:buFont typeface="Cambria"/>
              <a:buNone/>
            </a:pPr>
            <a:r>
              <a:rPr b="1" i="0" lang="en-US" sz="2200" u="none" cap="none" strike="noStrike">
                <a:solidFill>
                  <a:srgbClr val="D9531E"/>
                </a:solidFill>
                <a:latin typeface="Cambria"/>
                <a:ea typeface="Cambria"/>
                <a:cs typeface="Cambria"/>
                <a:sym typeface="Cambria"/>
              </a:rPr>
              <a:t>2</a:t>
            </a:r>
            <a:endParaRPr b="0" i="0" sz="2200" u="none" cap="none" strike="noStrike">
              <a:solidFill>
                <a:schemeClr val="dk1"/>
              </a:solidFill>
              <a:latin typeface="Calibri"/>
              <a:ea typeface="Calibri"/>
              <a:cs typeface="Calibri"/>
              <a:sym typeface="Calibri"/>
            </a:endParaRPr>
          </a:p>
        </p:txBody>
      </p:sp>
      <p:sp>
        <p:nvSpPr>
          <p:cNvPr id="425" name="Google Shape;425;p20"/>
          <p:cNvSpPr txBox="1"/>
          <p:nvPr/>
        </p:nvSpPr>
        <p:spPr>
          <a:xfrm>
            <a:off x="3538728" y="224028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700"/>
              <a:buFont typeface="Calibri"/>
              <a:buNone/>
            </a:pPr>
            <a:r>
              <a:rPr b="1" i="0" lang="en-US" sz="1700" u="none" cap="none" strike="noStrike">
                <a:solidFill>
                  <a:srgbClr val="12263A"/>
                </a:solidFill>
                <a:latin typeface="Calibri"/>
                <a:ea typeface="Calibri"/>
                <a:cs typeface="Calibri"/>
                <a:sym typeface="Calibri"/>
              </a:rPr>
              <a:t>Datos modelados</a:t>
            </a:r>
            <a:endParaRPr b="0" i="0" sz="1700" u="none" cap="none" strike="noStrike">
              <a:solidFill>
                <a:schemeClr val="dk1"/>
              </a:solidFill>
              <a:latin typeface="Calibri"/>
              <a:ea typeface="Calibri"/>
              <a:cs typeface="Calibri"/>
              <a:sym typeface="Calibri"/>
            </a:endParaRPr>
          </a:p>
        </p:txBody>
      </p:sp>
      <p:sp>
        <p:nvSpPr>
          <p:cNvPr id="426" name="Google Shape;426;p20"/>
          <p:cNvSpPr txBox="1"/>
          <p:nvPr/>
        </p:nvSpPr>
        <p:spPr>
          <a:xfrm>
            <a:off x="3538728" y="283464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modelo con asimilación, con sesgos documentados</a:t>
            </a:r>
            <a:endParaRPr b="0" i="0" sz="1300" u="none" cap="none" strike="noStrike">
              <a:solidFill>
                <a:schemeClr val="dk1"/>
              </a:solidFill>
              <a:latin typeface="Calibri"/>
              <a:ea typeface="Calibri"/>
              <a:cs typeface="Calibri"/>
              <a:sym typeface="Calibri"/>
            </a:endParaRPr>
          </a:p>
        </p:txBody>
      </p:sp>
      <p:sp>
        <p:nvSpPr>
          <p:cNvPr id="427" name="Google Shape;427;p20"/>
          <p:cNvSpPr/>
          <p:nvPr/>
        </p:nvSpPr>
        <p:spPr>
          <a:xfrm>
            <a:off x="6163056" y="1645920"/>
            <a:ext cx="2651760" cy="1828800"/>
          </a:xfrm>
          <a:prstGeom prst="roundRect">
            <a:avLst>
              <a:gd fmla="val 5000"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0"/>
          <p:cNvSpPr txBox="1"/>
          <p:nvPr/>
        </p:nvSpPr>
        <p:spPr>
          <a:xfrm>
            <a:off x="6345936" y="1783080"/>
            <a:ext cx="5486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1E"/>
              </a:buClr>
              <a:buSzPts val="2200"/>
              <a:buFont typeface="Cambria"/>
              <a:buNone/>
            </a:pPr>
            <a:r>
              <a:rPr b="1" i="0" lang="en-US" sz="2200" u="none" cap="none" strike="noStrike">
                <a:solidFill>
                  <a:srgbClr val="D9531E"/>
                </a:solidFill>
                <a:latin typeface="Cambria"/>
                <a:ea typeface="Cambria"/>
                <a:cs typeface="Cambria"/>
                <a:sym typeface="Cambria"/>
              </a:rPr>
              <a:t>3</a:t>
            </a:r>
            <a:endParaRPr b="0" i="0" sz="2200" u="none" cap="none" strike="noStrike">
              <a:solidFill>
                <a:schemeClr val="dk1"/>
              </a:solidFill>
              <a:latin typeface="Calibri"/>
              <a:ea typeface="Calibri"/>
              <a:cs typeface="Calibri"/>
              <a:sym typeface="Calibri"/>
            </a:endParaRPr>
          </a:p>
        </p:txBody>
      </p:sp>
      <p:sp>
        <p:nvSpPr>
          <p:cNvPr id="429" name="Google Shape;429;p20"/>
          <p:cNvSpPr txBox="1"/>
          <p:nvPr/>
        </p:nvSpPr>
        <p:spPr>
          <a:xfrm>
            <a:off x="6345936" y="224028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700"/>
              <a:buFont typeface="Calibri"/>
              <a:buNone/>
            </a:pPr>
            <a:r>
              <a:rPr b="1" i="0" lang="en-US" sz="1700" u="none" cap="none" strike="noStrike">
                <a:solidFill>
                  <a:srgbClr val="12263A"/>
                </a:solidFill>
                <a:latin typeface="Calibri"/>
                <a:ea typeface="Calibri"/>
                <a:cs typeface="Calibri"/>
                <a:sym typeface="Calibri"/>
              </a:rPr>
              <a:t>Forzamiento compartido</a:t>
            </a:r>
            <a:endParaRPr b="0" i="0" sz="1700" u="none" cap="none" strike="noStrike">
              <a:solidFill>
                <a:schemeClr val="dk1"/>
              </a:solidFill>
              <a:latin typeface="Calibri"/>
              <a:ea typeface="Calibri"/>
              <a:cs typeface="Calibri"/>
              <a:sym typeface="Calibri"/>
            </a:endParaRPr>
          </a:p>
        </p:txBody>
      </p:sp>
      <p:sp>
        <p:nvSpPr>
          <p:cNvPr id="430" name="Google Shape;430;p20"/>
          <p:cNvSpPr txBox="1"/>
          <p:nvPr/>
        </p:nvSpPr>
        <p:spPr>
          <a:xfrm>
            <a:off x="6345936" y="283464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viento y corrientes derivan de ECMWF</a:t>
            </a:r>
            <a:endParaRPr b="0" i="0" sz="1300" u="none" cap="none" strike="noStrike">
              <a:solidFill>
                <a:schemeClr val="dk1"/>
              </a:solidFill>
              <a:latin typeface="Calibri"/>
              <a:ea typeface="Calibri"/>
              <a:cs typeface="Calibri"/>
              <a:sym typeface="Calibri"/>
            </a:endParaRPr>
          </a:p>
        </p:txBody>
      </p:sp>
      <p:sp>
        <p:nvSpPr>
          <p:cNvPr id="431" name="Google Shape;431;p20"/>
          <p:cNvSpPr/>
          <p:nvPr/>
        </p:nvSpPr>
        <p:spPr>
          <a:xfrm>
            <a:off x="8970264" y="1645920"/>
            <a:ext cx="2651760" cy="1828800"/>
          </a:xfrm>
          <a:prstGeom prst="roundRect">
            <a:avLst>
              <a:gd fmla="val 5000"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0"/>
          <p:cNvSpPr txBox="1"/>
          <p:nvPr/>
        </p:nvSpPr>
        <p:spPr>
          <a:xfrm>
            <a:off x="9153144" y="1783080"/>
            <a:ext cx="5486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1E"/>
              </a:buClr>
              <a:buSzPts val="2200"/>
              <a:buFont typeface="Cambria"/>
              <a:buNone/>
            </a:pPr>
            <a:r>
              <a:rPr b="1" i="0" lang="en-US" sz="2200" u="none" cap="none" strike="noStrike">
                <a:solidFill>
                  <a:srgbClr val="D9531E"/>
                </a:solidFill>
                <a:latin typeface="Cambria"/>
                <a:ea typeface="Cambria"/>
                <a:cs typeface="Cambria"/>
                <a:sym typeface="Cambria"/>
              </a:rPr>
              <a:t>4</a:t>
            </a:r>
            <a:endParaRPr b="0" i="0" sz="2200" u="none" cap="none" strike="noStrike">
              <a:solidFill>
                <a:schemeClr val="dk1"/>
              </a:solidFill>
              <a:latin typeface="Calibri"/>
              <a:ea typeface="Calibri"/>
              <a:cs typeface="Calibri"/>
              <a:sym typeface="Calibri"/>
            </a:endParaRPr>
          </a:p>
        </p:txBody>
      </p:sp>
      <p:sp>
        <p:nvSpPr>
          <p:cNvPr id="433" name="Google Shape;433;p20"/>
          <p:cNvSpPr txBox="1"/>
          <p:nvPr/>
        </p:nvSpPr>
        <p:spPr>
          <a:xfrm>
            <a:off x="9153144" y="224028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700"/>
              <a:buFont typeface="Calibri"/>
              <a:buNone/>
            </a:pPr>
            <a:r>
              <a:rPr b="1" i="0" lang="en-US" sz="1700" u="none" cap="none" strike="noStrike">
                <a:solidFill>
                  <a:srgbClr val="12263A"/>
                </a:solidFill>
                <a:latin typeface="Calibri"/>
                <a:ea typeface="Calibri"/>
                <a:cs typeface="Calibri"/>
                <a:sym typeface="Calibri"/>
              </a:rPr>
              <a:t>Sin validación independiente</a:t>
            </a:r>
            <a:endParaRPr b="0" i="0" sz="1700" u="none" cap="none" strike="noStrike">
              <a:solidFill>
                <a:schemeClr val="dk1"/>
              </a:solidFill>
              <a:latin typeface="Calibri"/>
              <a:ea typeface="Calibri"/>
              <a:cs typeface="Calibri"/>
              <a:sym typeface="Calibri"/>
            </a:endParaRPr>
          </a:p>
        </p:txBody>
      </p:sp>
      <p:sp>
        <p:nvSpPr>
          <p:cNvPr id="434" name="Google Shape;434;p20"/>
          <p:cNvSpPr txBox="1"/>
          <p:nvPr/>
        </p:nvSpPr>
        <p:spPr>
          <a:xfrm>
            <a:off x="9153144" y="283464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sin ADCP, derivadores ni perfiles in situ en toda la ZEE</a:t>
            </a:r>
            <a:endParaRPr b="0" i="0" sz="1300" u="none" cap="none" strike="noStrike">
              <a:solidFill>
                <a:schemeClr val="dk1"/>
              </a:solidFill>
              <a:latin typeface="Calibri"/>
              <a:ea typeface="Calibri"/>
              <a:cs typeface="Calibri"/>
              <a:sym typeface="Calibri"/>
            </a:endParaRPr>
          </a:p>
        </p:txBody>
      </p:sp>
      <p:sp>
        <p:nvSpPr>
          <p:cNvPr id="435" name="Google Shape;435;p20"/>
          <p:cNvSpPr/>
          <p:nvPr/>
        </p:nvSpPr>
        <p:spPr>
          <a:xfrm>
            <a:off x="548640" y="3657600"/>
            <a:ext cx="2651760" cy="1828800"/>
          </a:xfrm>
          <a:prstGeom prst="roundRect">
            <a:avLst>
              <a:gd fmla="val 5000"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0"/>
          <p:cNvSpPr txBox="1"/>
          <p:nvPr/>
        </p:nvSpPr>
        <p:spPr>
          <a:xfrm>
            <a:off x="731520" y="3794760"/>
            <a:ext cx="5486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1E"/>
              </a:buClr>
              <a:buSzPts val="2200"/>
              <a:buFont typeface="Cambria"/>
              <a:buNone/>
            </a:pPr>
            <a:r>
              <a:rPr b="1" i="0" lang="en-US" sz="2200" u="none" cap="none" strike="noStrike">
                <a:solidFill>
                  <a:srgbClr val="D9531E"/>
                </a:solidFill>
                <a:latin typeface="Cambria"/>
                <a:ea typeface="Cambria"/>
                <a:cs typeface="Cambria"/>
                <a:sym typeface="Cambria"/>
              </a:rPr>
              <a:t>5</a:t>
            </a:r>
            <a:endParaRPr b="0" i="0" sz="2200" u="none" cap="none" strike="noStrike">
              <a:solidFill>
                <a:schemeClr val="dk1"/>
              </a:solidFill>
              <a:latin typeface="Calibri"/>
              <a:ea typeface="Calibri"/>
              <a:cs typeface="Calibri"/>
              <a:sym typeface="Calibri"/>
            </a:endParaRPr>
          </a:p>
        </p:txBody>
      </p:sp>
      <p:sp>
        <p:nvSpPr>
          <p:cNvPr id="437" name="Google Shape;437;p20"/>
          <p:cNvSpPr txBox="1"/>
          <p:nvPr/>
        </p:nvSpPr>
        <p:spPr>
          <a:xfrm>
            <a:off x="731520" y="425196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700"/>
              <a:buFont typeface="Calibri"/>
              <a:buNone/>
            </a:pPr>
            <a:r>
              <a:rPr b="1" i="0" lang="en-US" sz="1700" u="none" cap="none" strike="noStrike">
                <a:solidFill>
                  <a:srgbClr val="12263A"/>
                </a:solidFill>
                <a:latin typeface="Calibri"/>
                <a:ea typeface="Calibri"/>
                <a:cs typeface="Calibri"/>
                <a:sym typeface="Calibri"/>
              </a:rPr>
              <a:t>40.34 m no es frontera física</a:t>
            </a:r>
            <a:endParaRPr b="0" i="0" sz="1700" u="none" cap="none" strike="noStrike">
              <a:solidFill>
                <a:schemeClr val="dk1"/>
              </a:solidFill>
              <a:latin typeface="Calibri"/>
              <a:ea typeface="Calibri"/>
              <a:cs typeface="Calibri"/>
              <a:sym typeface="Calibri"/>
            </a:endParaRPr>
          </a:p>
        </p:txBody>
      </p:sp>
      <p:sp>
        <p:nvSpPr>
          <p:cNvPr id="438" name="Google Shape;438;p20"/>
          <p:cNvSpPr txBox="1"/>
          <p:nvPr/>
        </p:nvSpPr>
        <p:spPr>
          <a:xfrm>
            <a:off x="731520" y="484632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es un nivel del modelo</a:t>
            </a:r>
            <a:endParaRPr b="0" i="0" sz="1300" u="none" cap="none" strike="noStrike">
              <a:solidFill>
                <a:schemeClr val="dk1"/>
              </a:solidFill>
              <a:latin typeface="Calibri"/>
              <a:ea typeface="Calibri"/>
              <a:cs typeface="Calibri"/>
              <a:sym typeface="Calibri"/>
            </a:endParaRPr>
          </a:p>
        </p:txBody>
      </p:sp>
      <p:sp>
        <p:nvSpPr>
          <p:cNvPr id="439" name="Google Shape;439;p20"/>
          <p:cNvSpPr/>
          <p:nvPr/>
        </p:nvSpPr>
        <p:spPr>
          <a:xfrm>
            <a:off x="3355848" y="3657600"/>
            <a:ext cx="2651760" cy="1828800"/>
          </a:xfrm>
          <a:prstGeom prst="roundRect">
            <a:avLst>
              <a:gd fmla="val 5000"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0"/>
          <p:cNvSpPr txBox="1"/>
          <p:nvPr/>
        </p:nvSpPr>
        <p:spPr>
          <a:xfrm>
            <a:off x="3538728" y="3794760"/>
            <a:ext cx="5486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1E"/>
              </a:buClr>
              <a:buSzPts val="2200"/>
              <a:buFont typeface="Cambria"/>
              <a:buNone/>
            </a:pPr>
            <a:r>
              <a:rPr b="1" i="0" lang="en-US" sz="2200" u="none" cap="none" strike="noStrike">
                <a:solidFill>
                  <a:srgbClr val="D9531E"/>
                </a:solidFill>
                <a:latin typeface="Cambria"/>
                <a:ea typeface="Cambria"/>
                <a:cs typeface="Cambria"/>
                <a:sym typeface="Cambria"/>
              </a:rPr>
              <a:t>6</a:t>
            </a:r>
            <a:endParaRPr b="0" i="0" sz="2200" u="none" cap="none" strike="noStrike">
              <a:solidFill>
                <a:schemeClr val="dk1"/>
              </a:solidFill>
              <a:latin typeface="Calibri"/>
              <a:ea typeface="Calibri"/>
              <a:cs typeface="Calibri"/>
              <a:sym typeface="Calibri"/>
            </a:endParaRPr>
          </a:p>
        </p:txBody>
      </p:sp>
      <p:sp>
        <p:nvSpPr>
          <p:cNvPr id="441" name="Google Shape;441;p20"/>
          <p:cNvSpPr txBox="1"/>
          <p:nvPr/>
        </p:nvSpPr>
        <p:spPr>
          <a:xfrm>
            <a:off x="3538728" y="425196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700"/>
              <a:buFont typeface="Calibri"/>
              <a:buNone/>
            </a:pPr>
            <a:r>
              <a:rPr b="1" i="0" lang="en-US" sz="1700" u="none" cap="none" strike="noStrike">
                <a:solidFill>
                  <a:srgbClr val="12263A"/>
                </a:solidFill>
                <a:latin typeface="Calibri"/>
                <a:ea typeface="Calibri"/>
                <a:cs typeface="Calibri"/>
                <a:sym typeface="Calibri"/>
              </a:rPr>
              <a:t>Residuo ≠ Ekman puro</a:t>
            </a:r>
            <a:endParaRPr b="0" i="0" sz="1700" u="none" cap="none" strike="noStrike">
              <a:solidFill>
                <a:schemeClr val="dk1"/>
              </a:solidFill>
              <a:latin typeface="Calibri"/>
              <a:ea typeface="Calibri"/>
              <a:cs typeface="Calibri"/>
              <a:sym typeface="Calibri"/>
            </a:endParaRPr>
          </a:p>
        </p:txBody>
      </p:sp>
      <p:sp>
        <p:nvSpPr>
          <p:cNvPr id="442" name="Google Shape;442;p20"/>
          <p:cNvSpPr txBox="1"/>
          <p:nvPr/>
        </p:nvSpPr>
        <p:spPr>
          <a:xfrm>
            <a:off x="3538728" y="484632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incluye inercia y errores de gradiente</a:t>
            </a:r>
            <a:endParaRPr b="0" i="0" sz="1300" u="none" cap="none" strike="noStrike">
              <a:solidFill>
                <a:schemeClr val="dk1"/>
              </a:solidFill>
              <a:latin typeface="Calibri"/>
              <a:ea typeface="Calibri"/>
              <a:cs typeface="Calibri"/>
              <a:sym typeface="Calibri"/>
            </a:endParaRPr>
          </a:p>
        </p:txBody>
      </p:sp>
      <p:sp>
        <p:nvSpPr>
          <p:cNvPr id="443" name="Google Shape;443;p20"/>
          <p:cNvSpPr/>
          <p:nvPr/>
        </p:nvSpPr>
        <p:spPr>
          <a:xfrm>
            <a:off x="6163056" y="3657600"/>
            <a:ext cx="2651760" cy="1828800"/>
          </a:xfrm>
          <a:prstGeom prst="roundRect">
            <a:avLst>
              <a:gd fmla="val 5000"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0"/>
          <p:cNvSpPr txBox="1"/>
          <p:nvPr/>
        </p:nvSpPr>
        <p:spPr>
          <a:xfrm>
            <a:off x="6345936" y="3794760"/>
            <a:ext cx="5486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1E"/>
              </a:buClr>
              <a:buSzPts val="2200"/>
              <a:buFont typeface="Cambria"/>
              <a:buNone/>
            </a:pPr>
            <a:r>
              <a:rPr b="1" i="0" lang="en-US" sz="2200" u="none" cap="none" strike="noStrike">
                <a:solidFill>
                  <a:srgbClr val="D9531E"/>
                </a:solidFill>
                <a:latin typeface="Cambria"/>
                <a:ea typeface="Cambria"/>
                <a:cs typeface="Cambria"/>
                <a:sym typeface="Cambria"/>
              </a:rPr>
              <a:t>7</a:t>
            </a:r>
            <a:endParaRPr b="0" i="0" sz="2200" u="none" cap="none" strike="noStrike">
              <a:solidFill>
                <a:schemeClr val="dk1"/>
              </a:solidFill>
              <a:latin typeface="Calibri"/>
              <a:ea typeface="Calibri"/>
              <a:cs typeface="Calibri"/>
              <a:sym typeface="Calibri"/>
            </a:endParaRPr>
          </a:p>
        </p:txBody>
      </p:sp>
      <p:sp>
        <p:nvSpPr>
          <p:cNvPr id="445" name="Google Shape;445;p20"/>
          <p:cNvSpPr txBox="1"/>
          <p:nvPr/>
        </p:nvSpPr>
        <p:spPr>
          <a:xfrm>
            <a:off x="6345936" y="425196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700"/>
              <a:buFont typeface="Calibri"/>
              <a:buNone/>
            </a:pPr>
            <a:r>
              <a:rPr b="1" i="0" lang="en-US" sz="1700" u="none" cap="none" strike="noStrike">
                <a:solidFill>
                  <a:srgbClr val="12263A"/>
                </a:solidFill>
                <a:latin typeface="Calibri"/>
                <a:ea typeface="Calibri"/>
                <a:cs typeface="Calibri"/>
                <a:sym typeface="Calibri"/>
              </a:rPr>
              <a:t>CTW no identificada</a:t>
            </a:r>
            <a:endParaRPr b="0" i="0" sz="1700" u="none" cap="none" strike="noStrike">
              <a:solidFill>
                <a:schemeClr val="dk1"/>
              </a:solidFill>
              <a:latin typeface="Calibri"/>
              <a:ea typeface="Calibri"/>
              <a:cs typeface="Calibri"/>
              <a:sym typeface="Calibri"/>
            </a:endParaRPr>
          </a:p>
        </p:txBody>
      </p:sp>
      <p:sp>
        <p:nvSpPr>
          <p:cNvPr id="446" name="Google Shape;446;p20"/>
          <p:cNvSpPr txBox="1"/>
          <p:nvPr/>
        </p:nvSpPr>
        <p:spPr>
          <a:xfrm>
            <a:off x="6345936" y="484632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evidencia ambigua; efecto a 40 m no evaluado</a:t>
            </a:r>
            <a:endParaRPr b="0" i="0" sz="1300" u="none" cap="none" strike="noStrike">
              <a:solidFill>
                <a:schemeClr val="dk1"/>
              </a:solidFill>
              <a:latin typeface="Calibri"/>
              <a:ea typeface="Calibri"/>
              <a:cs typeface="Calibri"/>
              <a:sym typeface="Calibri"/>
            </a:endParaRPr>
          </a:p>
        </p:txBody>
      </p:sp>
      <p:sp>
        <p:nvSpPr>
          <p:cNvPr id="447" name="Google Shape;447;p20"/>
          <p:cNvSpPr/>
          <p:nvPr/>
        </p:nvSpPr>
        <p:spPr>
          <a:xfrm>
            <a:off x="8970264" y="3657600"/>
            <a:ext cx="2651760" cy="1828800"/>
          </a:xfrm>
          <a:prstGeom prst="roundRect">
            <a:avLst>
              <a:gd fmla="val 5000" name="adj"/>
            </a:avLst>
          </a:prstGeom>
          <a:solidFill>
            <a:srgbClr val="F6F9FA"/>
          </a:solidFill>
          <a:ln cap="flat" cmpd="sng" w="9525">
            <a:solidFill>
              <a:srgbClr val="C5D3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0"/>
          <p:cNvSpPr txBox="1"/>
          <p:nvPr/>
        </p:nvSpPr>
        <p:spPr>
          <a:xfrm>
            <a:off x="9153144" y="3794760"/>
            <a:ext cx="54864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D9531E"/>
              </a:buClr>
              <a:buSzPts val="2200"/>
              <a:buFont typeface="Cambria"/>
              <a:buNone/>
            </a:pPr>
            <a:r>
              <a:rPr b="1" i="0" lang="en-US" sz="2200" u="none" cap="none" strike="noStrike">
                <a:solidFill>
                  <a:srgbClr val="D9531E"/>
                </a:solidFill>
                <a:latin typeface="Cambria"/>
                <a:ea typeface="Cambria"/>
                <a:cs typeface="Cambria"/>
                <a:sym typeface="Cambria"/>
              </a:rPr>
              <a:t>8</a:t>
            </a:r>
            <a:endParaRPr b="0" i="0" sz="2200" u="none" cap="none" strike="noStrike">
              <a:solidFill>
                <a:schemeClr val="dk1"/>
              </a:solidFill>
              <a:latin typeface="Calibri"/>
              <a:ea typeface="Calibri"/>
              <a:cs typeface="Calibri"/>
              <a:sym typeface="Calibri"/>
            </a:endParaRPr>
          </a:p>
        </p:txBody>
      </p:sp>
      <p:sp>
        <p:nvSpPr>
          <p:cNvPr id="449" name="Google Shape;449;p20"/>
          <p:cNvSpPr txBox="1"/>
          <p:nvPr/>
        </p:nvSpPr>
        <p:spPr>
          <a:xfrm>
            <a:off x="9153144" y="425196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700"/>
              <a:buFont typeface="Calibri"/>
              <a:buNone/>
            </a:pPr>
            <a:r>
              <a:rPr b="1" i="0" lang="en-US" sz="1700" u="none" cap="none" strike="noStrike">
                <a:solidFill>
                  <a:srgbClr val="12263A"/>
                </a:solidFill>
                <a:latin typeface="Calibri"/>
                <a:ea typeface="Calibri"/>
                <a:cs typeface="Calibri"/>
                <a:sym typeface="Calibri"/>
              </a:rPr>
              <a:t>Sin año neutral</a:t>
            </a:r>
            <a:endParaRPr b="0" i="0" sz="1700" u="none" cap="none" strike="noStrike">
              <a:solidFill>
                <a:schemeClr val="dk1"/>
              </a:solidFill>
              <a:latin typeface="Calibri"/>
              <a:ea typeface="Calibri"/>
              <a:cs typeface="Calibri"/>
              <a:sym typeface="Calibri"/>
            </a:endParaRPr>
          </a:p>
        </p:txBody>
      </p:sp>
      <p:sp>
        <p:nvSpPr>
          <p:cNvPr id="450" name="Google Shape;450;p20"/>
          <p:cNvSpPr txBox="1"/>
          <p:nvPr/>
        </p:nvSpPr>
        <p:spPr>
          <a:xfrm>
            <a:off x="9153144" y="4846320"/>
            <a:ext cx="233172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300"/>
              <a:buFont typeface="Calibri"/>
              <a:buNone/>
            </a:pPr>
            <a:r>
              <a:rPr b="0" i="0" lang="en-US" sz="1300" u="none" cap="none" strike="noStrike">
                <a:solidFill>
                  <a:srgbClr val="56636C"/>
                </a:solidFill>
                <a:latin typeface="Calibri"/>
                <a:ea typeface="Calibri"/>
                <a:cs typeface="Calibri"/>
                <a:sym typeface="Calibri"/>
              </a:rPr>
              <a:t>no se puede atribuir el patrón a El Niño Costero</a:t>
            </a:r>
            <a:endParaRPr b="0" i="0" sz="1300" u="none" cap="none" strike="noStrike">
              <a:solidFill>
                <a:schemeClr val="dk1"/>
              </a:solidFill>
              <a:latin typeface="Calibri"/>
              <a:ea typeface="Calibri"/>
              <a:cs typeface="Calibri"/>
              <a:sym typeface="Calibri"/>
            </a:endParaRPr>
          </a:p>
        </p:txBody>
      </p:sp>
      <p:sp>
        <p:nvSpPr>
          <p:cNvPr id="451" name="Google Shape;451;p20"/>
          <p:cNvSpPr/>
          <p:nvPr/>
        </p:nvSpPr>
        <p:spPr>
          <a:xfrm>
            <a:off x="548640" y="5760720"/>
            <a:ext cx="11091672" cy="475488"/>
          </a:xfrm>
          <a:prstGeom prst="roundRect">
            <a:avLst>
              <a:gd fmla="val 15385"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0"/>
          <p:cNvSpPr txBox="1"/>
          <p:nvPr/>
        </p:nvSpPr>
        <p:spPr>
          <a:xfrm>
            <a:off x="731520" y="5760720"/>
            <a:ext cx="1078992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1800"/>
              <a:buFont typeface="Calibri"/>
              <a:buNone/>
            </a:pPr>
            <a:r>
              <a:rPr b="1" i="0" lang="en-US" sz="1800" u="none" cap="none" strike="noStrike">
                <a:solidFill>
                  <a:srgbClr val="12263A"/>
                </a:solidFill>
                <a:latin typeface="Calibri"/>
                <a:ea typeface="Calibri"/>
                <a:cs typeface="Calibri"/>
                <a:sym typeface="Calibri"/>
              </a:rPr>
              <a:t>Resultados válidos para esta ventana y este sistema de datos.</a:t>
            </a:r>
            <a:endParaRPr b="0" i="0" sz="1800" u="none" cap="none" strike="noStrike">
              <a:solidFill>
                <a:schemeClr val="dk1"/>
              </a:solidFill>
              <a:latin typeface="Calibri"/>
              <a:ea typeface="Calibri"/>
              <a:cs typeface="Calibri"/>
              <a:sym typeface="Calibri"/>
            </a:endParaRPr>
          </a:p>
        </p:txBody>
      </p:sp>
      <p:sp>
        <p:nvSpPr>
          <p:cNvPr id="453" name="Google Shape;453;p20"/>
          <p:cNvSpPr txBox="1"/>
          <p:nvPr/>
        </p:nvSpPr>
        <p:spPr>
          <a:xfrm>
            <a:off x="548640" y="6400800"/>
            <a:ext cx="1033272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6636C"/>
              </a:buClr>
              <a:buSzPts val="1000"/>
              <a:buFont typeface="Calibri"/>
              <a:buNone/>
            </a:pPr>
            <a:r>
              <a:rPr b="0" i="1" lang="en-US" sz="1000" u="none" cap="none" strike="noStrike">
                <a:solidFill>
                  <a:srgbClr val="56636C"/>
                </a:solidFill>
                <a:latin typeface="Calibri"/>
                <a:ea typeface="Calibri"/>
                <a:cs typeface="Calibri"/>
                <a:sym typeface="Calibri"/>
              </a:rPr>
              <a:t>Copernicus Marine Service (2025); Comisión Multisectorial ENFEN (2026a, 2026b). También: máscara ZEE aproximada; mesoescala no cuantificada.</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263A"/>
        </a:solidFill>
      </p:bgPr>
    </p:bg>
    <p:spTree>
      <p:nvGrpSpPr>
        <p:cNvPr id="458" name="Shape 458"/>
        <p:cNvGrpSpPr/>
        <p:nvPr/>
      </p:nvGrpSpPr>
      <p:grpSpPr>
        <a:xfrm>
          <a:off x="0" y="0"/>
          <a:ext cx="0" cy="0"/>
          <a:chOff x="0" y="0"/>
          <a:chExt cx="0" cy="0"/>
        </a:xfrm>
      </p:grpSpPr>
      <p:sp>
        <p:nvSpPr>
          <p:cNvPr id="459" name="Google Shape;459;p21"/>
          <p:cNvSpPr/>
          <p:nvPr/>
        </p:nvSpPr>
        <p:spPr>
          <a:xfrm>
            <a:off x="548640" y="347472"/>
            <a:ext cx="1508760" cy="310896"/>
          </a:xfrm>
          <a:prstGeom prst="roundRect">
            <a:avLst>
              <a:gd fmla="val 23529" name="adj"/>
            </a:avLst>
          </a:prstGeom>
          <a:solidFill>
            <a:srgbClr val="0F6E7A"/>
          </a:solidFill>
          <a:ln cap="flat" cmpd="sng" w="12700">
            <a:solidFill>
              <a:srgbClr val="0F6E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1"/>
          <p:cNvSpPr txBox="1"/>
          <p:nvPr/>
        </p:nvSpPr>
        <p:spPr>
          <a:xfrm>
            <a:off x="548640" y="347472"/>
            <a:ext cx="150876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CONCLUSIÓN</a:t>
            </a:r>
            <a:endParaRPr b="0" i="0" sz="1100" u="none" cap="none" strike="noStrike">
              <a:solidFill>
                <a:schemeClr val="dk1"/>
              </a:solidFill>
              <a:latin typeface="Calibri"/>
              <a:ea typeface="Calibri"/>
              <a:cs typeface="Calibri"/>
              <a:sym typeface="Calibri"/>
            </a:endParaRPr>
          </a:p>
        </p:txBody>
      </p:sp>
      <p:sp>
        <p:nvSpPr>
          <p:cNvPr id="461" name="Google Shape;461;p21"/>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Conclusiones</a:t>
            </a:r>
            <a:endParaRPr b="0" i="0" sz="3200" u="none" cap="none" strike="noStrike">
              <a:solidFill>
                <a:schemeClr val="dk1"/>
              </a:solidFill>
              <a:latin typeface="Calibri"/>
              <a:ea typeface="Calibri"/>
              <a:cs typeface="Calibri"/>
              <a:sym typeface="Calibri"/>
            </a:endParaRPr>
          </a:p>
        </p:txBody>
      </p:sp>
      <p:sp>
        <p:nvSpPr>
          <p:cNvPr id="462" name="Google Shape;462;p21"/>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9FB3BF"/>
              </a:buClr>
              <a:buSzPts val="1100"/>
              <a:buFont typeface="Calibri"/>
              <a:buNone/>
            </a:pPr>
            <a:r>
              <a:rPr b="0" i="0" lang="en-US" sz="1100" u="none" cap="none" strike="noStrike">
                <a:solidFill>
                  <a:srgbClr val="9FB3BF"/>
                </a:solidFill>
                <a:latin typeface="Calibri"/>
                <a:ea typeface="Calibri"/>
                <a:cs typeface="Calibri"/>
                <a:sym typeface="Calibri"/>
              </a:rPr>
              <a:t>19</a:t>
            </a:r>
            <a:endParaRPr b="0" i="0" sz="1100" u="none" cap="none" strike="noStrike">
              <a:solidFill>
                <a:schemeClr val="dk1"/>
              </a:solidFill>
              <a:latin typeface="Calibri"/>
              <a:ea typeface="Calibri"/>
              <a:cs typeface="Calibri"/>
              <a:sym typeface="Calibri"/>
            </a:endParaRPr>
          </a:p>
        </p:txBody>
      </p:sp>
      <p:sp>
        <p:nvSpPr>
          <p:cNvPr id="463" name="Google Shape;463;p21"/>
          <p:cNvSpPr/>
          <p:nvPr/>
        </p:nvSpPr>
        <p:spPr>
          <a:xfrm>
            <a:off x="640080" y="1737360"/>
            <a:ext cx="566928" cy="566928"/>
          </a:xfrm>
          <a:prstGeom prst="ellipse">
            <a:avLst/>
          </a:prstGeom>
          <a:solidFill>
            <a:srgbClr val="0F6E7A"/>
          </a:solidFill>
          <a:ln cap="flat" cmpd="sng" w="12700">
            <a:solidFill>
              <a:srgbClr val="0F6E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1"/>
          <p:cNvSpPr txBox="1"/>
          <p:nvPr/>
        </p:nvSpPr>
        <p:spPr>
          <a:xfrm>
            <a:off x="640080" y="1737360"/>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465" name="Google Shape;465;p21"/>
          <p:cNvSpPr txBox="1"/>
          <p:nvPr/>
        </p:nvSpPr>
        <p:spPr>
          <a:xfrm>
            <a:off x="1417320" y="1645920"/>
            <a:ext cx="10149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Existe una asociación robusta entre el esfuerzo del viento y la diferenciación superficie–40 m en la ZEE durante el periodo estudiado (r = 0.917).</a:t>
            </a:r>
            <a:endParaRPr b="0" i="0" sz="1800" u="none" cap="none" strike="noStrike">
              <a:solidFill>
                <a:schemeClr val="dk1"/>
              </a:solidFill>
              <a:latin typeface="Calibri"/>
              <a:ea typeface="Calibri"/>
              <a:cs typeface="Calibri"/>
              <a:sym typeface="Calibri"/>
            </a:endParaRPr>
          </a:p>
        </p:txBody>
      </p:sp>
      <p:sp>
        <p:nvSpPr>
          <p:cNvPr id="466" name="Google Shape;466;p21"/>
          <p:cNvSpPr/>
          <p:nvPr/>
        </p:nvSpPr>
        <p:spPr>
          <a:xfrm>
            <a:off x="640080" y="2679192"/>
            <a:ext cx="566928" cy="566928"/>
          </a:xfrm>
          <a:prstGeom prst="ellipse">
            <a:avLst/>
          </a:prstGeom>
          <a:solidFill>
            <a:srgbClr val="0F6E7A"/>
          </a:solidFill>
          <a:ln cap="flat" cmpd="sng" w="12700">
            <a:solidFill>
              <a:srgbClr val="0F6E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1"/>
          <p:cNvSpPr txBox="1"/>
          <p:nvPr/>
        </p:nvSpPr>
        <p:spPr>
          <a:xfrm>
            <a:off x="640080" y="267919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468" name="Google Shape;468;p21"/>
          <p:cNvSpPr txBox="1"/>
          <p:nvPr/>
        </p:nvSpPr>
        <p:spPr>
          <a:xfrm>
            <a:off x="1417320" y="2587752"/>
            <a:ext cx="10149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La capa de mezcla modifica fuertemente esa relación: 0.97 donde 40.34 m quedó bajo la capa de mezcla, 0.15 donde la mezcla lo alcanzó.</a:t>
            </a:r>
            <a:endParaRPr b="0" i="0" sz="1800" u="none" cap="none" strike="noStrike">
              <a:solidFill>
                <a:schemeClr val="dk1"/>
              </a:solidFill>
              <a:latin typeface="Calibri"/>
              <a:ea typeface="Calibri"/>
              <a:cs typeface="Calibri"/>
              <a:sym typeface="Calibri"/>
            </a:endParaRPr>
          </a:p>
        </p:txBody>
      </p:sp>
      <p:sp>
        <p:nvSpPr>
          <p:cNvPr id="469" name="Google Shape;469;p21"/>
          <p:cNvSpPr/>
          <p:nvPr/>
        </p:nvSpPr>
        <p:spPr>
          <a:xfrm>
            <a:off x="640080" y="3621024"/>
            <a:ext cx="566928" cy="566928"/>
          </a:xfrm>
          <a:prstGeom prst="ellipse">
            <a:avLst/>
          </a:prstGeom>
          <a:solidFill>
            <a:srgbClr val="0F6E7A"/>
          </a:solidFill>
          <a:ln cap="flat" cmpd="sng" w="12700">
            <a:solidFill>
              <a:srgbClr val="0F6E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1"/>
          <p:cNvSpPr txBox="1"/>
          <p:nvPr/>
        </p:nvSpPr>
        <p:spPr>
          <a:xfrm>
            <a:off x="640080" y="3621024"/>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471" name="Google Shape;471;p21"/>
          <p:cNvSpPr txBox="1"/>
          <p:nvPr/>
        </p:nvSpPr>
        <p:spPr>
          <a:xfrm>
            <a:off x="1417320" y="3529584"/>
            <a:ext cx="10149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La señal asociada al viento aparece sobre todo en la componente no geostrófica (r = 0.94), pero el sistema no se explica con un único mecanismo.</a:t>
            </a:r>
            <a:endParaRPr b="0" i="0" sz="1800" u="none" cap="none" strike="noStrike">
              <a:solidFill>
                <a:schemeClr val="dk1"/>
              </a:solidFill>
              <a:latin typeface="Calibri"/>
              <a:ea typeface="Calibri"/>
              <a:cs typeface="Calibri"/>
              <a:sym typeface="Calibri"/>
            </a:endParaRPr>
          </a:p>
        </p:txBody>
      </p:sp>
      <p:sp>
        <p:nvSpPr>
          <p:cNvPr id="472" name="Google Shape;472;p21"/>
          <p:cNvSpPr/>
          <p:nvPr/>
        </p:nvSpPr>
        <p:spPr>
          <a:xfrm>
            <a:off x="640080" y="4562856"/>
            <a:ext cx="566928" cy="566928"/>
          </a:xfrm>
          <a:prstGeom prst="ellipse">
            <a:avLst/>
          </a:prstGeom>
          <a:solidFill>
            <a:srgbClr val="0F6E7A"/>
          </a:solidFill>
          <a:ln cap="flat" cmpd="sng" w="12700">
            <a:solidFill>
              <a:srgbClr val="0F6E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1"/>
          <p:cNvSpPr txBox="1"/>
          <p:nvPr/>
        </p:nvSpPr>
        <p:spPr>
          <a:xfrm>
            <a:off x="640080" y="4562856"/>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4</a:t>
            </a:r>
            <a:endParaRPr b="0" i="0" sz="1800" u="none" cap="none" strike="noStrike">
              <a:solidFill>
                <a:schemeClr val="dk1"/>
              </a:solidFill>
              <a:latin typeface="Calibri"/>
              <a:ea typeface="Calibri"/>
              <a:cs typeface="Calibri"/>
              <a:sym typeface="Calibri"/>
            </a:endParaRPr>
          </a:p>
        </p:txBody>
      </p:sp>
      <p:sp>
        <p:nvSpPr>
          <p:cNvPr id="474" name="Google Shape;474;p21"/>
          <p:cNvSpPr txBox="1"/>
          <p:nvPr/>
        </p:nvSpPr>
        <p:spPr>
          <a:xfrm>
            <a:off x="1417320" y="4471416"/>
            <a:ext cx="1014984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0" i="0" lang="en-US" sz="1800" u="none" cap="none" strike="noStrike">
                <a:solidFill>
                  <a:srgbClr val="FFFFFF"/>
                </a:solidFill>
                <a:latin typeface="Calibri"/>
                <a:ea typeface="Calibri"/>
                <a:cs typeface="Calibri"/>
                <a:sym typeface="Calibri"/>
              </a:rPr>
              <a:t>Los resultados valen para esta ventana y este sistema de datos: no prueban causalidad general para el océano peruano.</a:t>
            </a:r>
            <a:endParaRPr b="0" i="0" sz="1800" u="none" cap="none" strike="noStrike">
              <a:solidFill>
                <a:schemeClr val="dk1"/>
              </a:solidFill>
              <a:latin typeface="Calibri"/>
              <a:ea typeface="Calibri"/>
              <a:cs typeface="Calibri"/>
              <a:sym typeface="Calibri"/>
            </a:endParaRPr>
          </a:p>
        </p:txBody>
      </p:sp>
      <p:sp>
        <p:nvSpPr>
          <p:cNvPr id="475" name="Google Shape;475;p21"/>
          <p:cNvSpPr txBox="1"/>
          <p:nvPr/>
        </p:nvSpPr>
        <p:spPr>
          <a:xfrm>
            <a:off x="640080" y="5486400"/>
            <a:ext cx="1088136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D3DB"/>
              </a:buClr>
              <a:buSzPts val="2000"/>
              <a:buFont typeface="Cambria"/>
              <a:buNone/>
            </a:pPr>
            <a:r>
              <a:rPr b="0" i="1" lang="en-US" sz="2000" u="none" cap="none" strike="noStrike">
                <a:solidFill>
                  <a:srgbClr val="8FD3DB"/>
                </a:solidFill>
                <a:latin typeface="Cambria"/>
                <a:ea typeface="Cambria"/>
                <a:cs typeface="Cambria"/>
                <a:sym typeface="Cambria"/>
              </a:rPr>
              <a:t>Una asociación robusta no es un mecanismo demostrado: es una pregunta mejor planteada para el siguiente estudio.</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0" name="Shape 480"/>
        <p:cNvGrpSpPr/>
        <p:nvPr/>
      </p:nvGrpSpPr>
      <p:grpSpPr>
        <a:xfrm>
          <a:off x="0" y="0"/>
          <a:ext cx="0" cy="0"/>
          <a:chOff x="0" y="0"/>
          <a:chExt cx="0" cy="0"/>
        </a:xfrm>
      </p:grpSpPr>
      <p:sp>
        <p:nvSpPr>
          <p:cNvPr id="481" name="Google Shape;481;p22"/>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Referencias</a:t>
            </a:r>
            <a:endParaRPr b="0" i="0" sz="3200" u="none" cap="none" strike="noStrike">
              <a:solidFill>
                <a:schemeClr val="dk1"/>
              </a:solidFill>
              <a:latin typeface="Calibri"/>
              <a:ea typeface="Calibri"/>
              <a:cs typeface="Calibri"/>
              <a:sym typeface="Calibri"/>
            </a:endParaRPr>
          </a:p>
        </p:txBody>
      </p:sp>
      <p:sp>
        <p:nvSpPr>
          <p:cNvPr id="482" name="Google Shape;482;p22"/>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20</a:t>
            </a:r>
            <a:endParaRPr b="0" i="0" sz="1100" u="none" cap="none" strike="noStrike">
              <a:solidFill>
                <a:schemeClr val="dk1"/>
              </a:solidFill>
              <a:latin typeface="Calibri"/>
              <a:ea typeface="Calibri"/>
              <a:cs typeface="Calibri"/>
              <a:sym typeface="Calibri"/>
            </a:endParaRPr>
          </a:p>
        </p:txBody>
      </p:sp>
      <p:sp>
        <p:nvSpPr>
          <p:cNvPr id="483" name="Google Shape;483;p22"/>
          <p:cNvSpPr txBox="1"/>
          <p:nvPr/>
        </p:nvSpPr>
        <p:spPr>
          <a:xfrm>
            <a:off x="548640" y="1554480"/>
            <a:ext cx="11091672" cy="4754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Bretherton, C. S., Widmann, M., Dymnikov, V. P., Wallace, J. M., &amp; Bladé, I. (1999). The effective number of spatial degrees of freedom of a time-varying field. </a:t>
            </a:r>
            <a:r>
              <a:rPr b="0" i="1" lang="en-US" sz="1150" u="none" cap="none" strike="noStrike">
                <a:solidFill>
                  <a:srgbClr val="12263A"/>
                </a:solidFill>
                <a:latin typeface="Calibri"/>
                <a:ea typeface="Calibri"/>
                <a:cs typeface="Calibri"/>
                <a:sym typeface="Calibri"/>
              </a:rPr>
              <a:t>Journal of Climate, 12</a:t>
            </a:r>
            <a:r>
              <a:rPr b="0" i="0" lang="en-US" sz="1150" u="none" cap="none" strike="noStrike">
                <a:solidFill>
                  <a:srgbClr val="12263A"/>
                </a:solidFill>
                <a:latin typeface="Calibri"/>
                <a:ea typeface="Calibri"/>
                <a:cs typeface="Calibri"/>
                <a:sym typeface="Calibri"/>
              </a:rPr>
              <a:t>(7), 1990–2009. https://doi.org/10.1175/1520-0442(1999)012&lt;1990:TENOSD&gt;2.0.CO;2</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Brink, K. H., Halpern, D., Huyer, A., &amp; Smith, R. L. (1983). The physical environment of the Peruvian upwelling system. </a:t>
            </a:r>
            <a:r>
              <a:rPr b="0" i="1" lang="en-US" sz="1150" u="none" cap="none" strike="noStrike">
                <a:solidFill>
                  <a:srgbClr val="12263A"/>
                </a:solidFill>
                <a:latin typeface="Calibri"/>
                <a:ea typeface="Calibri"/>
                <a:cs typeface="Calibri"/>
                <a:sym typeface="Calibri"/>
              </a:rPr>
              <a:t>Progress in Oceanography, 12</a:t>
            </a:r>
            <a:r>
              <a:rPr b="0" i="0" lang="en-US" sz="1150" u="none" cap="none" strike="noStrike">
                <a:solidFill>
                  <a:srgbClr val="12263A"/>
                </a:solidFill>
                <a:latin typeface="Calibri"/>
                <a:ea typeface="Calibri"/>
                <a:cs typeface="Calibri"/>
                <a:sym typeface="Calibri"/>
              </a:rPr>
              <a:t>(3), 285–305. https://doi.org/10.1016/0079-6611(83)90011-3</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Chaigneau, A., Dominguez, N., Eldin, G., Vasquez, L., Flores, R., Grados, C., &amp; Echevin, V. (2013). Near-coastal circulation in the Northern Humboldt Current System from shipboard ADCP data. </a:t>
            </a:r>
            <a:r>
              <a:rPr b="0" i="1" lang="en-US" sz="1150" u="none" cap="none" strike="noStrike">
                <a:solidFill>
                  <a:srgbClr val="12263A"/>
                </a:solidFill>
                <a:latin typeface="Calibri"/>
                <a:ea typeface="Calibri"/>
                <a:cs typeface="Calibri"/>
                <a:sym typeface="Calibri"/>
              </a:rPr>
              <a:t>Journal of Geophysical Research: Oceans, 118</a:t>
            </a:r>
            <a:r>
              <a:rPr b="0" i="0" lang="en-US" sz="1150" u="none" cap="none" strike="noStrike">
                <a:solidFill>
                  <a:srgbClr val="12263A"/>
                </a:solidFill>
                <a:latin typeface="Calibri"/>
                <a:ea typeface="Calibri"/>
                <a:cs typeface="Calibri"/>
                <a:sym typeface="Calibri"/>
              </a:rPr>
              <a:t>(10), 5251–5266. https://doi.org/10.1002/jgrc.20328</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Chaigneau, A., Gizolme, A., &amp; Grados, C. (2008). Mesoscale eddies off Peru in altimeter records: Identification algorithms and eddy spatio-temporal patterns. </a:t>
            </a:r>
            <a:r>
              <a:rPr b="0" i="1" lang="en-US" sz="1150" u="none" cap="none" strike="noStrike">
                <a:solidFill>
                  <a:srgbClr val="12263A"/>
                </a:solidFill>
                <a:latin typeface="Calibri"/>
                <a:ea typeface="Calibri"/>
                <a:cs typeface="Calibri"/>
                <a:sym typeface="Calibri"/>
              </a:rPr>
              <a:t>Progress in Oceanography, 79</a:t>
            </a:r>
            <a:r>
              <a:rPr b="0" i="0" lang="en-US" sz="1150" u="none" cap="none" strike="noStrike">
                <a:solidFill>
                  <a:srgbClr val="12263A"/>
                </a:solidFill>
                <a:latin typeface="Calibri"/>
                <a:ea typeface="Calibri"/>
                <a:cs typeface="Calibri"/>
                <a:sym typeface="Calibri"/>
              </a:rPr>
              <a:t>(2–4), 106–119. https://doi.org/10.1016/j.pocean.2008.10.013</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Comisión Multisectorial ENFEN. (2026a, 28 de agosto). </a:t>
            </a:r>
            <a:r>
              <a:rPr b="0" i="1" lang="en-US" sz="1150" u="none" cap="none" strike="noStrike">
                <a:solidFill>
                  <a:srgbClr val="12263A"/>
                </a:solidFill>
                <a:latin typeface="Calibri"/>
                <a:ea typeface="Calibri"/>
                <a:cs typeface="Calibri"/>
                <a:sym typeface="Calibri"/>
              </a:rPr>
              <a:t>Comunicado Oficial ENFEN N.° 15-2026</a:t>
            </a:r>
            <a:r>
              <a:rPr b="0" i="0" lang="en-US" sz="1150" u="none" cap="none" strike="noStrike">
                <a:solidFill>
                  <a:srgbClr val="12263A"/>
                </a:solidFill>
                <a:latin typeface="Calibri"/>
                <a:ea typeface="Calibri"/>
                <a:cs typeface="Calibri"/>
                <a:sym typeface="Calibri"/>
              </a:rPr>
              <a:t>. https://enfen.imarpe.gob.pe/download/comunicado-oficial-enfen-n-15-2026</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Comisión Multisectorial ENFEN. (2026b, 11 de septiembre). </a:t>
            </a:r>
            <a:r>
              <a:rPr b="0" i="1" lang="en-US" sz="1150" u="none" cap="none" strike="noStrike">
                <a:solidFill>
                  <a:srgbClr val="12263A"/>
                </a:solidFill>
                <a:latin typeface="Calibri"/>
                <a:ea typeface="Calibri"/>
                <a:cs typeface="Calibri"/>
                <a:sym typeface="Calibri"/>
              </a:rPr>
              <a:t>Informe Técnico ENFEN, Año 12, N.° 16</a:t>
            </a:r>
            <a:r>
              <a:rPr b="0" i="0" lang="en-US" sz="1150" u="none" cap="none" strike="noStrike">
                <a:solidFill>
                  <a:srgbClr val="12263A"/>
                </a:solidFill>
                <a:latin typeface="Calibri"/>
                <a:ea typeface="Calibri"/>
                <a:cs typeface="Calibri"/>
                <a:sym typeface="Calibri"/>
              </a:rPr>
              <a:t>. https://enfen.imarpe.gob.pe/informes-tecnicos/</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Copernicus Marine Service. (2024). </a:t>
            </a:r>
            <a:r>
              <a:rPr b="0" i="1" lang="en-US" sz="1150" u="none" cap="none" strike="noStrike">
                <a:solidFill>
                  <a:srgbClr val="12263A"/>
                </a:solidFill>
                <a:latin typeface="Calibri"/>
                <a:ea typeface="Calibri"/>
                <a:cs typeface="Calibri"/>
                <a:sym typeface="Calibri"/>
              </a:rPr>
              <a:t>Product user manual for wind products WIND_GLO_PHY_L4_NRT_012_004 and WIND_GLO_PHY_L4_MY_012_006</a:t>
            </a:r>
            <a:r>
              <a:rPr b="0" i="0" lang="en-US" sz="1150" u="none" cap="none" strike="noStrike">
                <a:solidFill>
                  <a:srgbClr val="12263A"/>
                </a:solidFill>
                <a:latin typeface="Calibri"/>
                <a:ea typeface="Calibri"/>
                <a:cs typeface="Calibri"/>
                <a:sym typeface="Calibri"/>
              </a:rPr>
              <a:t> (CMEMS-WIND-PUM-012-004-006, Issue 1.3). https://documentation.marine.copernicus.eu/PUM/CMEMS-WIND-PUM-012-004-006.pdf</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Copernicus Marine Service. (2025). </a:t>
            </a:r>
            <a:r>
              <a:rPr b="0" i="1" lang="en-US" sz="1150" u="none" cap="none" strike="noStrike">
                <a:solidFill>
                  <a:srgbClr val="12263A"/>
                </a:solidFill>
                <a:latin typeface="Calibri"/>
                <a:ea typeface="Calibri"/>
                <a:cs typeface="Calibri"/>
                <a:sym typeface="Calibri"/>
              </a:rPr>
              <a:t>Quality information document for Global Ocean Physics Analysis and Forecast product GLOBAL_ANALYSISFORECAST_PHY_001_024</a:t>
            </a:r>
            <a:r>
              <a:rPr b="0" i="0" lang="en-US" sz="1150" u="none" cap="none" strike="noStrike">
                <a:solidFill>
                  <a:srgbClr val="12263A"/>
                </a:solidFill>
                <a:latin typeface="Calibri"/>
                <a:ea typeface="Calibri"/>
                <a:cs typeface="Calibri"/>
                <a:sym typeface="Calibri"/>
              </a:rPr>
              <a:t> (CMEMS-GLO-QUID-001-024, Issue 1.3). https://documentation.marine.copernicus.eu/QUID/CMEMS-GLO-QUID-001-024.pdf</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de Boyer Montégut, C., Madec, G., Fischer, A. S., Lazar, A., &amp; Iudicone, D. (2004). Mixed layer depth over the global ocean: An examination of profile data and a profile-based climatology. </a:t>
            </a:r>
            <a:r>
              <a:rPr b="0" i="1" lang="en-US" sz="1150" u="none" cap="none" strike="noStrike">
                <a:solidFill>
                  <a:srgbClr val="12263A"/>
                </a:solidFill>
                <a:latin typeface="Calibri"/>
                <a:ea typeface="Calibri"/>
                <a:cs typeface="Calibri"/>
                <a:sym typeface="Calibri"/>
              </a:rPr>
              <a:t>Journal of Geophysical Research: Oceans, 109</a:t>
            </a:r>
            <a:r>
              <a:rPr b="0" i="0" lang="en-US" sz="1150" u="none" cap="none" strike="noStrike">
                <a:solidFill>
                  <a:srgbClr val="12263A"/>
                </a:solidFill>
                <a:latin typeface="Calibri"/>
                <a:ea typeface="Calibri"/>
                <a:cs typeface="Calibri"/>
                <a:sym typeface="Calibri"/>
              </a:rPr>
              <a:t>, C12003. https://doi.org/10.1029/2004JC002378</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Ebisuzaki, W. (1997). A method to estimate the statistical significance of a correlation when the data are serially correlated. </a:t>
            </a:r>
            <a:r>
              <a:rPr b="0" i="1" lang="en-US" sz="1150" u="none" cap="none" strike="noStrike">
                <a:solidFill>
                  <a:srgbClr val="12263A"/>
                </a:solidFill>
                <a:latin typeface="Calibri"/>
                <a:ea typeface="Calibri"/>
                <a:cs typeface="Calibri"/>
                <a:sym typeface="Calibri"/>
              </a:rPr>
              <a:t>Journal of Climate, 10</a:t>
            </a:r>
            <a:r>
              <a:rPr b="0" i="0" lang="en-US" sz="1150" u="none" cap="none" strike="noStrike">
                <a:solidFill>
                  <a:srgbClr val="12263A"/>
                </a:solidFill>
                <a:latin typeface="Calibri"/>
                <a:ea typeface="Calibri"/>
                <a:cs typeface="Calibri"/>
                <a:sym typeface="Calibri"/>
              </a:rPr>
              <a:t>(9), 2147–2153. https://doi.org/10.1175/1520-0442(1997)010&lt;2147:AMTETS&gt;2.0.CO;2</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8" name="Shape 488"/>
        <p:cNvGrpSpPr/>
        <p:nvPr/>
      </p:nvGrpSpPr>
      <p:grpSpPr>
        <a:xfrm>
          <a:off x="0" y="0"/>
          <a:ext cx="0" cy="0"/>
          <a:chOff x="0" y="0"/>
          <a:chExt cx="0" cy="0"/>
        </a:xfrm>
      </p:grpSpPr>
      <p:sp>
        <p:nvSpPr>
          <p:cNvPr id="489" name="Google Shape;489;p23"/>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Referencias (continuación)</a:t>
            </a:r>
            <a:endParaRPr b="0" i="0" sz="3200" u="none" cap="none" strike="noStrike">
              <a:solidFill>
                <a:schemeClr val="dk1"/>
              </a:solidFill>
              <a:latin typeface="Calibri"/>
              <a:ea typeface="Calibri"/>
              <a:cs typeface="Calibri"/>
              <a:sym typeface="Calibri"/>
            </a:endParaRPr>
          </a:p>
        </p:txBody>
      </p:sp>
      <p:sp>
        <p:nvSpPr>
          <p:cNvPr id="490" name="Google Shape;490;p23"/>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21</a:t>
            </a:r>
            <a:endParaRPr b="0" i="0" sz="1100" u="none" cap="none" strike="noStrike">
              <a:solidFill>
                <a:schemeClr val="dk1"/>
              </a:solidFill>
              <a:latin typeface="Calibri"/>
              <a:ea typeface="Calibri"/>
              <a:cs typeface="Calibri"/>
              <a:sym typeface="Calibri"/>
            </a:endParaRPr>
          </a:p>
        </p:txBody>
      </p:sp>
      <p:sp>
        <p:nvSpPr>
          <p:cNvPr id="491" name="Google Shape;491;p23"/>
          <p:cNvSpPr txBox="1"/>
          <p:nvPr/>
        </p:nvSpPr>
        <p:spPr>
          <a:xfrm>
            <a:off x="548640" y="1554480"/>
            <a:ext cx="11091672" cy="47548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Echevin, V., Albert, A., Lévy, M., Graco, M., Aumont, O., Piétri, A., &amp; Garric, G. (2014). Intraseasonal variability of nearshore productivity in the Northern Humboldt Current System: The role of coastal trapped waves. </a:t>
            </a:r>
            <a:r>
              <a:rPr b="0" i="1" lang="en-US" sz="1150" u="none" cap="none" strike="noStrike">
                <a:solidFill>
                  <a:srgbClr val="12263A"/>
                </a:solidFill>
                <a:latin typeface="Calibri"/>
                <a:ea typeface="Calibri"/>
                <a:cs typeface="Calibri"/>
                <a:sym typeface="Calibri"/>
              </a:rPr>
              <a:t>Continental Shelf Research, 73</a:t>
            </a:r>
            <a:r>
              <a:rPr b="0" i="0" lang="en-US" sz="1150" u="none" cap="none" strike="noStrike">
                <a:solidFill>
                  <a:srgbClr val="12263A"/>
                </a:solidFill>
                <a:latin typeface="Calibri"/>
                <a:ea typeface="Calibri"/>
                <a:cs typeface="Calibri"/>
                <a:sym typeface="Calibri"/>
              </a:rPr>
              <a:t>, 14–30. https://doi.org/10.1016/j.csr.2013.11.015</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Flanders Marine Institute. (2023). </a:t>
            </a:r>
            <a:r>
              <a:rPr b="0" i="1" lang="en-US" sz="1150" u="none" cap="none" strike="noStrike">
                <a:solidFill>
                  <a:srgbClr val="12263A"/>
                </a:solidFill>
                <a:latin typeface="Calibri"/>
                <a:ea typeface="Calibri"/>
                <a:cs typeface="Calibri"/>
                <a:sym typeface="Calibri"/>
              </a:rPr>
              <a:t>Maritime Boundaries Geodatabase: Maritime Boundaries and Exclusive Economic Zones</a:t>
            </a:r>
            <a:r>
              <a:rPr b="0" i="0" lang="en-US" sz="1150" u="none" cap="none" strike="noStrike">
                <a:solidFill>
                  <a:srgbClr val="12263A"/>
                </a:solidFill>
                <a:latin typeface="Calibri"/>
                <a:ea typeface="Calibri"/>
                <a:cs typeface="Calibri"/>
                <a:sym typeface="Calibri"/>
              </a:rPr>
              <a:t> (200NM), version 12 [Peruvian Exclusive Economic Zone, MRGID 8432]. https://www.marineregions.org/mrgid/8432</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Huyer, A., Smith, R. L., &amp; Paluszkiewicz, T. (1987). Coastal upwelling off Peru during normal and El Niño times, 1981–1984. </a:t>
            </a:r>
            <a:r>
              <a:rPr b="0" i="1" lang="en-US" sz="1150" u="none" cap="none" strike="noStrike">
                <a:solidFill>
                  <a:srgbClr val="12263A"/>
                </a:solidFill>
                <a:latin typeface="Calibri"/>
                <a:ea typeface="Calibri"/>
                <a:cs typeface="Calibri"/>
                <a:sym typeface="Calibri"/>
              </a:rPr>
              <a:t>Journal of Geophysical Research: Oceans, 92</a:t>
            </a:r>
            <a:r>
              <a:rPr b="0" i="0" lang="en-US" sz="1150" u="none" cap="none" strike="noStrike">
                <a:solidFill>
                  <a:srgbClr val="12263A"/>
                </a:solidFill>
                <a:latin typeface="Calibri"/>
                <a:ea typeface="Calibri"/>
                <a:cs typeface="Calibri"/>
                <a:sym typeface="Calibri"/>
              </a:rPr>
              <a:t>(C13), 14297–14307. https://doi.org/10.1029/JC092iC13p14297</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Illig, S., Cadier, E., Bachèlery, M.-L., &amp; Kersalé, M. (2018). Subseasonal coastal-trapped wave propagations in the southeastern Pacific and Atlantic Oceans: 1. A new approach to estimate wave amplitude. </a:t>
            </a:r>
            <a:r>
              <a:rPr b="0" i="1" lang="en-US" sz="1150" u="none" cap="none" strike="noStrike">
                <a:solidFill>
                  <a:srgbClr val="12263A"/>
                </a:solidFill>
                <a:latin typeface="Calibri"/>
                <a:ea typeface="Calibri"/>
                <a:cs typeface="Calibri"/>
                <a:sym typeface="Calibri"/>
              </a:rPr>
              <a:t>Journal of Geophysical Research: Oceans, 123</a:t>
            </a:r>
            <a:r>
              <a:rPr b="0" i="0" lang="en-US" sz="1150" u="none" cap="none" strike="noStrike">
                <a:solidFill>
                  <a:srgbClr val="12263A"/>
                </a:solidFill>
                <a:latin typeface="Calibri"/>
                <a:ea typeface="Calibri"/>
                <a:cs typeface="Calibri"/>
                <a:sym typeface="Calibri"/>
              </a:rPr>
              <a:t>, 3915–3941. https://doi.org/10.1029/2017JC013539</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Lellouche, J.-M., Greiner, E., Le Galloudec, O., Garric, G., Regnier, C., Drevillon, M., Benkiran, M., Testut, C.-E., Bourdalle-Badie, R., Gasparin, F., Hernandez, O., Levier, B., Drillet, Y., Remy, E., &amp; Le Traon, P.-Y. (2018). Recent updates to the Copernicus Marine Service global ocean monitoring and forecasting real-time 1/12° high-resolution system. </a:t>
            </a:r>
            <a:r>
              <a:rPr b="0" i="1" lang="en-US" sz="1150" u="none" cap="none" strike="noStrike">
                <a:solidFill>
                  <a:srgbClr val="12263A"/>
                </a:solidFill>
                <a:latin typeface="Calibri"/>
                <a:ea typeface="Calibri"/>
                <a:cs typeface="Calibri"/>
                <a:sym typeface="Calibri"/>
              </a:rPr>
              <a:t>Ocean Science, 14</a:t>
            </a:r>
            <a:r>
              <a:rPr b="0" i="0" lang="en-US" sz="1150" u="none" cap="none" strike="noStrike">
                <a:solidFill>
                  <a:srgbClr val="12263A"/>
                </a:solidFill>
                <a:latin typeface="Calibri"/>
                <a:ea typeface="Calibri"/>
                <a:cs typeface="Calibri"/>
                <a:sym typeface="Calibri"/>
              </a:rPr>
              <a:t>(5), 1093–1126. https://doi.org/10.5194/os-14-1093-2018</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Lüdke, J., Dengler, M., Sommer, S., Clemens, D., Thomsen, S., Krahmann, G., Dale, A. W., Achterberg, E. P., &amp; Visbeck, M. (2020). Influence of intraseasonal eastern boundary circulation variability on hydrography and biogeochemistry off Peru. </a:t>
            </a:r>
            <a:r>
              <a:rPr b="0" i="1" lang="en-US" sz="1150" u="none" cap="none" strike="noStrike">
                <a:solidFill>
                  <a:srgbClr val="12263A"/>
                </a:solidFill>
                <a:latin typeface="Calibri"/>
                <a:ea typeface="Calibri"/>
                <a:cs typeface="Calibri"/>
                <a:sym typeface="Calibri"/>
              </a:rPr>
              <a:t>Ocean Science, 16</a:t>
            </a:r>
            <a:r>
              <a:rPr b="0" i="0" lang="en-US" sz="1150" u="none" cap="none" strike="noStrike">
                <a:solidFill>
                  <a:srgbClr val="12263A"/>
                </a:solidFill>
                <a:latin typeface="Calibri"/>
                <a:ea typeface="Calibri"/>
                <a:cs typeface="Calibri"/>
                <a:sym typeface="Calibri"/>
              </a:rPr>
              <a:t>(6), 1347–1366. https://doi.org/10.5194/os-16-1347-2020</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Pietri, A., Echevin, V., Testor, P., Chaigneau, A., Mortier, L., Grados, C., &amp; Albert, A. (2014). Impact of a coastal-trapped wave on the near-coastal circulation of the Peru upwelling system from glider data. </a:t>
            </a:r>
            <a:r>
              <a:rPr b="0" i="1" lang="en-US" sz="1150" u="none" cap="none" strike="noStrike">
                <a:solidFill>
                  <a:srgbClr val="12263A"/>
                </a:solidFill>
                <a:latin typeface="Calibri"/>
                <a:ea typeface="Calibri"/>
                <a:cs typeface="Calibri"/>
                <a:sym typeface="Calibri"/>
              </a:rPr>
              <a:t>Journal of Geophysical Research: Oceans, 119</a:t>
            </a:r>
            <a:r>
              <a:rPr b="0" i="0" lang="en-US" sz="1150" u="none" cap="none" strike="noStrike">
                <a:solidFill>
                  <a:srgbClr val="12263A"/>
                </a:solidFill>
                <a:latin typeface="Calibri"/>
                <a:ea typeface="Calibri"/>
                <a:cs typeface="Calibri"/>
                <a:sym typeface="Calibri"/>
              </a:rPr>
              <a:t>(3), 2109–2120. https://doi.org/10.1002/2013JC009270</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Price, J. F., &amp; Sundermeyer, M. A. (1999). Stratified Ekman layers. </a:t>
            </a:r>
            <a:r>
              <a:rPr b="0" i="1" lang="en-US" sz="1150" u="none" cap="none" strike="noStrike">
                <a:solidFill>
                  <a:srgbClr val="12263A"/>
                </a:solidFill>
                <a:latin typeface="Calibri"/>
                <a:ea typeface="Calibri"/>
                <a:cs typeface="Calibri"/>
                <a:sym typeface="Calibri"/>
              </a:rPr>
              <a:t>Journal of Geophysical Research: Oceans, 104</a:t>
            </a:r>
            <a:r>
              <a:rPr b="0" i="0" lang="en-US" sz="1150" u="none" cap="none" strike="noStrike">
                <a:solidFill>
                  <a:srgbClr val="12263A"/>
                </a:solidFill>
                <a:latin typeface="Calibri"/>
                <a:ea typeface="Calibri"/>
                <a:cs typeface="Calibri"/>
                <a:sym typeface="Calibri"/>
              </a:rPr>
              <a:t>(C9), 20467–20494. https://doi.org/10.1029/1999JC900164</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2263A"/>
              </a:buClr>
              <a:buSzPts val="1150"/>
              <a:buFont typeface="Calibri"/>
              <a:buNone/>
            </a:pPr>
            <a:r>
              <a:rPr b="0" i="0" lang="en-US" sz="1150" u="none" cap="none" strike="noStrike">
                <a:solidFill>
                  <a:srgbClr val="12263A"/>
                </a:solidFill>
                <a:latin typeface="Calibri"/>
                <a:ea typeface="Calibri"/>
                <a:cs typeface="Calibri"/>
                <a:sym typeface="Calibri"/>
              </a:rPr>
              <a:t>Romea, R. D., &amp; Smith, R. L. (1983). Further evidence for coastal trapped waves along the Peru coast. </a:t>
            </a:r>
            <a:r>
              <a:rPr b="0" i="1" lang="en-US" sz="1150" u="none" cap="none" strike="noStrike">
                <a:solidFill>
                  <a:srgbClr val="12263A"/>
                </a:solidFill>
                <a:latin typeface="Calibri"/>
                <a:ea typeface="Calibri"/>
                <a:cs typeface="Calibri"/>
                <a:sym typeface="Calibri"/>
              </a:rPr>
              <a:t>Journal of Physical Oceanography, 13</a:t>
            </a:r>
            <a:r>
              <a:rPr b="0" i="0" lang="en-US" sz="1150" u="none" cap="none" strike="noStrike">
                <a:solidFill>
                  <a:srgbClr val="12263A"/>
                </a:solidFill>
                <a:latin typeface="Calibri"/>
                <a:ea typeface="Calibri"/>
                <a:cs typeface="Calibri"/>
                <a:sym typeface="Calibri"/>
              </a:rPr>
              <a:t>(8), 1341–1356. https://doi.org/10.1175/1520-0485(1983)013&lt;1341:FEFCTW&gt;2.0.CO;2</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6" name="Shape 496"/>
        <p:cNvGrpSpPr/>
        <p:nvPr/>
      </p:nvGrpSpPr>
      <p:grpSpPr>
        <a:xfrm>
          <a:off x="0" y="0"/>
          <a:ext cx="0" cy="0"/>
          <a:chOff x="0" y="0"/>
          <a:chExt cx="0" cy="0"/>
        </a:xfrm>
      </p:grpSpPr>
      <p:sp>
        <p:nvSpPr>
          <p:cNvPr id="497" name="Google Shape;497;p24"/>
          <p:cNvSpPr/>
          <p:nvPr/>
        </p:nvSpPr>
        <p:spPr>
          <a:xfrm>
            <a:off x="548640" y="347472"/>
            <a:ext cx="960120" cy="310896"/>
          </a:xfrm>
          <a:prstGeom prst="roundRect">
            <a:avLst>
              <a:gd fmla="val 23529" name="adj"/>
            </a:avLst>
          </a:prstGeom>
          <a:solidFill>
            <a:srgbClr val="EAF3F4"/>
          </a:solidFill>
          <a:ln cap="flat" cmpd="sng" w="12700">
            <a:solidFill>
              <a:srgbClr val="EAF3F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4"/>
          <p:cNvSpPr txBox="1"/>
          <p:nvPr/>
        </p:nvSpPr>
        <p:spPr>
          <a:xfrm>
            <a:off x="548640" y="347472"/>
            <a:ext cx="960120"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6E7A"/>
              </a:buClr>
              <a:buSzPts val="1100"/>
              <a:buFont typeface="Calibri"/>
              <a:buNone/>
            </a:pPr>
            <a:r>
              <a:rPr b="1" i="0" lang="en-US" sz="1100" u="none" cap="none" strike="noStrike">
                <a:solidFill>
                  <a:srgbClr val="0F6E7A"/>
                </a:solidFill>
                <a:latin typeface="Calibri"/>
                <a:ea typeface="Calibri"/>
                <a:cs typeface="Calibri"/>
                <a:sym typeface="Calibri"/>
              </a:rPr>
              <a:t>ANEXO</a:t>
            </a:r>
            <a:endParaRPr b="0" i="0" sz="1100" u="none" cap="none" strike="noStrike">
              <a:solidFill>
                <a:schemeClr val="dk1"/>
              </a:solidFill>
              <a:latin typeface="Calibri"/>
              <a:ea typeface="Calibri"/>
              <a:cs typeface="Calibri"/>
              <a:sym typeface="Calibri"/>
            </a:endParaRPr>
          </a:p>
        </p:txBody>
      </p:sp>
      <p:sp>
        <p:nvSpPr>
          <p:cNvPr id="499" name="Google Shape;499;p24"/>
          <p:cNvSpPr txBox="1"/>
          <p:nvPr/>
        </p:nvSpPr>
        <p:spPr>
          <a:xfrm>
            <a:off x="548640" y="749808"/>
            <a:ext cx="110642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2263A"/>
              </a:buClr>
              <a:buSzPts val="3200"/>
              <a:buFont typeface="Cambria"/>
              <a:buNone/>
            </a:pPr>
            <a:r>
              <a:rPr b="1" i="0" lang="en-US" sz="3200" u="none" cap="none" strike="noStrike">
                <a:solidFill>
                  <a:srgbClr val="12263A"/>
                </a:solidFill>
                <a:latin typeface="Cambria"/>
                <a:ea typeface="Cambria"/>
                <a:cs typeface="Cambria"/>
                <a:sym typeface="Cambria"/>
              </a:rPr>
              <a:t>Tabla de tiempos de la exposición</a:t>
            </a:r>
            <a:endParaRPr b="0" i="0" sz="3200" u="none" cap="none" strike="noStrike">
              <a:solidFill>
                <a:schemeClr val="dk1"/>
              </a:solidFill>
              <a:latin typeface="Calibri"/>
              <a:ea typeface="Calibri"/>
              <a:cs typeface="Calibri"/>
              <a:sym typeface="Calibri"/>
            </a:endParaRPr>
          </a:p>
        </p:txBody>
      </p:sp>
      <p:sp>
        <p:nvSpPr>
          <p:cNvPr id="500" name="Google Shape;500;p24"/>
          <p:cNvSpPr txBox="1"/>
          <p:nvPr/>
        </p:nvSpPr>
        <p:spPr>
          <a:xfrm>
            <a:off x="11155680" y="6400800"/>
            <a:ext cx="502920" cy="27432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Clr>
                <a:srgbClr val="56636C"/>
              </a:buClr>
              <a:buSzPts val="1100"/>
              <a:buFont typeface="Calibri"/>
              <a:buNone/>
            </a:pPr>
            <a:r>
              <a:rPr b="0" i="0" lang="en-US" sz="1100" u="none" cap="none" strike="noStrike">
                <a:solidFill>
                  <a:srgbClr val="56636C"/>
                </a:solidFill>
                <a:latin typeface="Calibri"/>
                <a:ea typeface="Calibri"/>
                <a:cs typeface="Calibri"/>
                <a:sym typeface="Calibri"/>
              </a:rPr>
              <a:t>22</a:t>
            </a:r>
            <a:endParaRPr b="0" i="0" sz="1100" u="none" cap="none" strike="noStrike">
              <a:solidFill>
                <a:schemeClr val="dk1"/>
              </a:solidFill>
              <a:latin typeface="Calibri"/>
              <a:ea typeface="Calibri"/>
              <a:cs typeface="Calibri"/>
              <a:sym typeface="Calibri"/>
            </a:endParaRPr>
          </a:p>
        </p:txBody>
      </p:sp>
      <p:graphicFrame>
        <p:nvGraphicFramePr>
          <p:cNvPr id="501" name="Google Shape;501;p24"/>
          <p:cNvGraphicFramePr/>
          <p:nvPr/>
        </p:nvGraphicFramePr>
        <p:xfrm>
          <a:off x="548640" y="1554480"/>
          <a:ext cx="3000000" cy="3000000"/>
        </p:xfrm>
        <a:graphic>
          <a:graphicData uri="http://schemas.openxmlformats.org/drawingml/2006/table">
            <a:tbl>
              <a:tblPr>
                <a:noFill/>
                <a:tableStyleId>{AA92881A-C2CB-4D3E-B84A-95C91AE57FA1}</a:tableStyleId>
              </a:tblPr>
              <a:tblGrid>
                <a:gridCol w="640075"/>
                <a:gridCol w="2770625"/>
                <a:gridCol w="914400"/>
                <a:gridCol w="1097275"/>
              </a:tblGrid>
              <a:tr h="329175">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Diap.</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0F6E7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Contenido</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0F6E7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Tiempo</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0F6E7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Acumulado</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0F6E7A"/>
                    </a:solidFill>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Portada</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0:30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0:30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2</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¿Qué queríamos entender?</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0:50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1:20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3</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Pregunta, objetivo e hipótesis</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0:50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2:10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4</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Área y periodo</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0:50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3:00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5</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Datos</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0:50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3:50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6</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Diferencia vectorial D</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1:00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4:50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7</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Superficie ≠ 40 m</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0:50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5:40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8</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τ vs D (resultado central)</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1:40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7:20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9</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Robustez estadística</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1:30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8:50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Heterogeneidad N–C–S</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0:50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9:40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11</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¿Dónde están los 40 m? (MLD)</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1:00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10:40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bl>
          </a:graphicData>
        </a:graphic>
      </p:graphicFrame>
      <p:graphicFrame>
        <p:nvGraphicFramePr>
          <p:cNvPr id="502" name="Google Shape;502;p24"/>
          <p:cNvGraphicFramePr/>
          <p:nvPr/>
        </p:nvGraphicFramePr>
        <p:xfrm>
          <a:off x="6217920" y="1554480"/>
          <a:ext cx="3000000" cy="3000000"/>
        </p:xfrm>
        <a:graphic>
          <a:graphicData uri="http://schemas.openxmlformats.org/drawingml/2006/table">
            <a:tbl>
              <a:tblPr>
                <a:noFill/>
                <a:tableStyleId>{AA92881A-C2CB-4D3E-B84A-95C91AE57FA1}</a:tableStyleId>
              </a:tblPr>
              <a:tblGrid>
                <a:gridCol w="640075"/>
                <a:gridCol w="2770625"/>
                <a:gridCol w="914400"/>
                <a:gridCol w="1097275"/>
              </a:tblGrid>
              <a:tr h="329175">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Diap.</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0F6E7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Contenido</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0F6E7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Tiempo</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0F6E7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Acumulado</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solidFill>
                      <a:srgbClr val="0F6E7A"/>
                    </a:solidFill>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12</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MLD modula D</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1:50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12:30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13</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Geostrofía y residuo</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1:50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14:20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14</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Diagnóstico diferencial</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0:50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15:10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15</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CTW: evidencia ambigua</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1:10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16:20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16</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Esquema integrado</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1:40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18:00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17</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Evaluación de H1–H3</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0:50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18:50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18</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Limitaciones</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0:40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19:30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19</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Conclusiones</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1:00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20:30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20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Referencias 1</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0:05</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20:35</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r h="329175">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21</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Referencias 2</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0:05</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c>
                  <a:txBody>
                    <a:bodyPr/>
                    <a:lstStyle/>
                    <a:p>
                      <a:pPr indent="0" lvl="0" marL="0" marR="0" rtl="0" algn="l">
                        <a:spcBef>
                          <a:spcPts val="0"/>
                        </a:spcBef>
                        <a:spcAft>
                          <a:spcPts val="0"/>
                        </a:spcAft>
                        <a:buClr>
                          <a:srgbClr val="12263A"/>
                        </a:buClr>
                        <a:buSzPts val="1200"/>
                        <a:buFont typeface="Calibri"/>
                        <a:buNone/>
                      </a:pPr>
                      <a:r>
                        <a:rPr lang="en-US" sz="1200" u="none" cap="none" strike="noStrike">
                          <a:solidFill>
                            <a:srgbClr val="12263A"/>
                          </a:solidFill>
                          <a:latin typeface="Calibri"/>
                          <a:ea typeface="Calibri"/>
                          <a:cs typeface="Calibri"/>
                          <a:sym typeface="Calibri"/>
                        </a:rPr>
                        <a:t>20:40</a:t>
                      </a:r>
                      <a:endParaRPr sz="1200" u="none" cap="none" strike="noStrike">
                        <a:latin typeface="Calibri"/>
                        <a:ea typeface="Calibri"/>
                        <a:cs typeface="Calibri"/>
                        <a:sym typeface="Calibri"/>
                      </a:endParaRPr>
                    </a:p>
                  </a:txBody>
                  <a:tcPr marT="45725" marB="45725" marR="91450" marL="91450" anchor="ctr">
                    <a:lnL cap="flat" cmpd="sng" w="9525">
                      <a:solidFill>
                        <a:srgbClr val="C5D3D8"/>
                      </a:solidFill>
                      <a:prstDash val="solid"/>
                      <a:round/>
                      <a:headEnd len="sm" w="sm" type="none"/>
                      <a:tailEnd len="sm" w="sm" type="none"/>
                    </a:lnL>
                    <a:lnR cap="flat" cmpd="sng" w="9525">
                      <a:solidFill>
                        <a:srgbClr val="C5D3D8"/>
                      </a:solidFill>
                      <a:prstDash val="solid"/>
                      <a:round/>
                      <a:headEnd len="sm" w="sm" type="none"/>
                      <a:tailEnd len="sm" w="sm" type="none"/>
                    </a:lnR>
                    <a:lnT cap="flat" cmpd="sng" w="9525">
                      <a:solidFill>
                        <a:srgbClr val="C5D3D8"/>
                      </a:solidFill>
                      <a:prstDash val="solid"/>
                      <a:round/>
                      <a:headEnd len="sm" w="sm" type="none"/>
                      <a:tailEnd len="sm" w="sm" type="none"/>
                    </a:lnT>
                    <a:lnB cap="flat" cmpd="sng" w="9525">
                      <a:solidFill>
                        <a:srgbClr val="C5D3D8"/>
                      </a:solidFill>
                      <a:prstDash val="solid"/>
                      <a:round/>
                      <a:headEnd len="sm" w="sm" type="none"/>
                      <a:tailEnd len="sm" w="sm" type="none"/>
                    </a:lnB>
                  </a:tcPr>
                </a:tc>
              </a:tr>
            </a:tbl>
          </a:graphicData>
        </a:graphic>
      </p:graphicFrame>
      <p:sp>
        <p:nvSpPr>
          <p:cNvPr id="503" name="Google Shape;503;p24"/>
          <p:cNvSpPr txBox="1"/>
          <p:nvPr/>
        </p:nvSpPr>
        <p:spPr>
          <a:xfrm>
            <a:off x="548640" y="5897880"/>
            <a:ext cx="1106424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6E7A"/>
              </a:buClr>
              <a:buSzPts val="1500"/>
              <a:buFont typeface="Calibri"/>
              <a:buNone/>
            </a:pPr>
            <a:r>
              <a:rPr b="1" i="0" lang="en-US" sz="1500" u="none" cap="none" strike="noStrike">
                <a:solidFill>
                  <a:srgbClr val="0F6E7A"/>
                </a:solidFill>
                <a:latin typeface="Calibri"/>
                <a:ea typeface="Calibri"/>
                <a:cs typeface="Calibri"/>
                <a:sym typeface="Calibri"/>
              </a:rPr>
              <a:t>Total estimado: 20:40 (objetivo 18–22 min). Más tiempo en τ–D, robustez, MLD, geostrofía e interpretación integrada.</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