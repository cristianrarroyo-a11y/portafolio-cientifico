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78E6D0-FF2A-43DA-B687-0E977E7377D3}">
  <a:tblStyle styleId="{B678E6D0-FF2A-43DA-B687-0E977E7377D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acu_slide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acu_slide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20 s. Abrir con una pregunta práctica: si cambia el eco de cada pez, ¿cuánto cambia nuestra cuenta de peces? Presentar el alcance: una revisión de peces marinos y un análisis de sensibilidad. Los gráficos propios resumen o calculan evidencia publicada; no representan una campaña experimental nueva. Transición: la ecosonda observa ecos y el número de peces se infiere.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ACU-IND-01 · Acústica Submarina · UNFV</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acu_slide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acu_slide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45 s. Preguntar: si la señal se duplica, ¿se duplicó el número de peces? También podría haber cambiado el eco individual. Castillo et al. (2022) aporta contexto sobre los cardúmenes de anchoveta; Santivañez-Yuffra et al. (2025), sobre mediciones de TS durante la pesca. Este último se cita solo por título y metadatos, porque no se consultó su texto completo. Estas fuentes de contexto no pertenecen al núcleo de 18 estudios. Transición: necesitamos conocer el eco medio de un individuo.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Foote (1987); Castillo et al. (2022); Santivañez-Yuffra et al. (2025).</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acu_slide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acu_slide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Explicar la división con unidades: S es la suma de las secciones eficaces de retrodispersión atribuidas a los peces de la especie en el dominio estudiado, en m². No es la potencia eléctrica cruda de la ecosonda ni el NASC sin convertir. La sección eficaz media por pez también tiene m²; el cociente estima el número. La biomasa se obtiene con el peso medio y conserva el factor solo si la estructura de tallas y ese peso se mantienen. Transición: el TS expresa la sección eficaz en decibelios.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Elaboración propia a partir de Foote (1987). Modelo simplificado de ecointegración.</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acu_slide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acu_slide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La sección eficaz σbs es un área acústica equivalente, no el área anatómica del pez. El TS tiene unidades dB re 1 m²: un valor menos negativo indica mayor eco. +3 dB equivale a 1,995 veces; +6 dB, a 3,981; +10 dB, a diez. Para promediar, convertir primero a σbs: el promedio correcto de −30 y −40 dB es −32,60 dB, no −35 dB. Estas equivalencias son matemáticas. Transición: qué parte del pez produce ese eco.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Foote (1987). Fuente: Elaboración propia, ACU-IND-01 (2026); conversiones matemáticas.</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acu_slide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acu_slide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El gas de la vejiga contrasta fuertemente con los tejidos y puede dominar el eco. Las elipses representan vejigas idealizadas, sin escala. Girar la vejiga cambia su presentación al haz. Si no compensa el gas, mayor presión puede reducir el volumen; incluso con volumen constante, puede desplazar la resonancia. El máximo de TS no tiene por qué coincidir con el cuerpo horizontal: depende del eje y de la forma de la vejiga. Transición: esta física define la pregunta de la revisión.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Esquema conceptual propio a partir de Foote (1985), Gorska y Ona (2003) y Fujino et al. (2009).</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acu_slide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acu_slide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45 s. La pregunta integra dos factores físicos y una consecuencia para la estimación. El objetivo general es evaluar la evidencia de orientación y profundidad y cuantificar la sensibilidad asociada. Los objetivos específicos del artículo se agrupan aquí: caracterizar estudios; cuantificar orientación; evaluar profundidad y presión; comparar ecuaciones TS–longitud; traducir diferencias a factores de abundancia. No se supone una dirección universal del efecto. Transición: explicar cómo se seleccionó el núcleo.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Elaboración propia, ACU-IND-01 (2026). Artículo final y matriz B1.</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acu_slide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acu_slide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60 s. Presentar este esquema como el tramo documentado de selección, no como un diagrama PRISMA completo. De los 66 validados, 34 se confirmaron, 22 quedaron dudosos y 10 como apoyo. Entre los 34 confirmados se seleccionaron 18 esenciales, 15 complementarios y 1 fundamento. Los 804 son el marco exploratorio: la deduplicación y el cribado no pueden reconstruirse íntegramente. Otros 59 candidatos quedaron sin evaluar. OpenAlex fue el catálogo principal y Crossref verificó identidades. Se admitieron peces marinos, tanque marino o campo, y texto completo legal y gratuito. La selección consideró pertinencia, evidencia medible, solidez, utilidad y contribución no redundante.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ACU-IND-01 (2026), metodología. PRISMA 2020 como referencia: Page et al. (2021).</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acu_slide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acu_slide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45 s. Orientación y profundidad no son categorías excluyentes: 17 y 8 se solapan dentro de los 18 estudios. Los diseños combinan campo, tanque, experimentos ex situ y modelos. Las 561 filas son unidades de extracción, no observaciones experimentales independientes: 234 descriptivas, 127 ecuaciones y 200 resultados. El control registra 544 verificadas, 15 parciales y 2 derivadas. La heterogeneidad impide calcular un efecto agregado mediante metaanálisis. Transición: comenzar por la orientación, el factor mejor documentado.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ACU-IND-01 (2026), artículo final y matriz B1. Las categorías de variables se solapan.</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acu_slide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acu_slide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Los tres contrastes corresponden a 38 kHz, pero no al mismo diseño. En bacalao y arenque, el TS máximo medido se compara con el esperado que los autores calcularon usando distribuciones angulares. El intervalo de bacalao es 8–9 dB, no un valor medido de 8,5 dB. En merluza, 9,8 dB es la diferencia entre b20 máximo dorsal, −63,3 dB, y promedio ex situ, −73,1 dB. No promediar los contrastes. Usar un máximo como promedio eleva el eco supuesto por pez y reduce la abundancia estimada. Transición: observar la asociación en bacalao libre.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Elaboración propia a partir de Nakken y Olsen (1977) y Henderson y Horne (2007).</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acu_slid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acu_slid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65 s. Cada punto representa una de 12 muestras nocturnas, no un pez. B20 es el intercepto de TS = 20 log₁₀ L + B20, con longitud a la horquilla en cm. Los puntos son observaciones; la línea es el polinomio de cuarto grado publicado por los autores. Solo se aplica al rango positivo observado; el punto −0,58° queda fuera de su dominio. Entre 0° y 10° el ajuste cae 5,42 dB, un cálculo derivado; el rango de B20 observado es 6 dB. Las ondulaciones locales del polinomio no tienen interpretación física demostrada. No se dibujan errores que el estudio no reporta. Se midió trayectoria tridimensional, no postura corporal directamente.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Adaptación propia de F2, Bloque 2; McQuinn y Winger (2003), Tabla 1 y Figura 4.</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acu_slide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acu_slid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65 s. La curva continua se deriva de σbs(z) = σ0(1 + z/10)^γ, con γ = −0,23: ΔTS = 10γ log₁₀(1 + z/10). Corresponde a arenque de 32 cm a 38 kHz y usa superficie como referencia. A 300 m resulta −3,43 dB. Las mediciones citadas de Ona (2003), consultadas mediante Gorska y Ona (2003), indican una caída de 3–5 dB; no se consultó independientemente el trabajo original de Ona. La línea discontinua es un escenario de Boyle sin compensación, suponiendo σbs proporcional al área y exponente −2/3. No es una medición nueva ni una corrección transferible a anchoveta.</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Adaptación propia de F1, Bloque 2; Gorska y Ona (2003, Ec. 15). Dato citado: Ona (2003).</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acu_slide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acu_slide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65 s. Este es un modelo de resonancia con volumen de vejiga constante, sin mediciones acústicas propias de TS. La Tabla 4 de Fujino et al. (2009) expresa TS(50 m) − TS(z): se invierte el signo para mostrar profundo menos 50 m. Para 30 mm, los valores son 0, +1,49 y +3,15 dB a 50, 150 y 250 m; para 40 mm, 0, +0,74 y +1,53; para 50 mm, 0, +0,45 y +0,92. Las líneas conectan predicciones tabuladas. El escenario de 50 mm excede ligeramente el intervalo morfométrico de 30,4–46,8 mm. Las regresiones redondeadas de la Tabla 5 dan contrastes algo distintos: aquí se usa exclusivamente la Tabla 4. La conclusión es que el TS aumenta en estas condiciones modeladas.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Adaptación propia de F1, Bloque 2; Fujino et al. (2009, Tabla 4). Convención: TS(z) − TS(50 m).</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acu_slide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acu_slide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A la izquierda se mantiene el mismo pez modelado de 30 mm y el contraste de 50 a 250 m: +3,15 dB a 38 kHz y +0,28 dB a 120 kHz, según la Tabla 4. A la derecha, los interceptos del jurel proceden de mediciones de nado libre en tanque; no son cambios por presión. El intercepto b20 se define en TS = 20 log₁₀ L + b20. Gauthier y Horne (2004) muestran además diferencias entre especies con y sin vejiga en modelos. No existe una regla universal de TS basada solo en la frecuencia. Transición: traducir diferencias de TS a abundancia.</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Fujino et al. (2009); Kawauchi et al. (2019); Gauthier y Horne (2004). Fuente: Elaboración propia.</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acu_slide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acu_slide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65 s. Definir Δ = TSusado − TSreal. Con S constante, Nestimado/Nreal = 10^(−Δ/10). Si el TS real es −43 dB y se usa −40 dB, Δ = +3 dB y se estima 0,501 veces el número: 100 peces darían aproximadamente 50 estimados. Si se usa un TS 3 dB menor, el número se aproxima al doble. La curva es una función matemática, no un ajuste experimental. La biomasa conserva el factor solo si no cambian peso medio y estructura de tallas. Transición: aplicar la ecuación a tres contrastes documentados.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Elaboración propia, ACU-IND-01 (2026), a partir de las definiciones de Foote (1987). Sensibilidad matemática.</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acu_slide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acu_slide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En arenque, usar la referencia superficial cuando el TS a 300 m es 3,43 dB menor produce 10^(−3,43/10) ≈ 0,45. En Maurolicus de 30 mm, usar 50 m para el modelo a 250 m produce 10^(3,15/10) ≈ 2,07. En merluza, la diferencia entre el intercepto de Traynor citado por Henderson y Horne y el in situ es −5,8 dB: el factor es 0,26. Los autores documentan una discrepancia entre ecuaciones de uso operativo; esta tabla calcula sensibilidades con S fijo. No constituye una reestimación propia de biomasa de campaña ni demuestra un sesgo causado por presión.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Elaboración propia, ACU-IND-01 (2026), basada en Gorska y Ona (2003), Fujino et al. (2009) y Henderson y Horne (2007).</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acu_slide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acu_slide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55 s. Usar diagnóstico diferencial: un patrón de TS con profundidad puede reflejar cambios del pez o del sistema. Bertrand et al. (1999) observaron un patrón similar en atunes y en un blanco artificial de PVC de volumen constante; eso apunta a un origen no biológico, sin demostrar un mecanismo instrumental único. Ona et al. (2020) sustenta la calibración en la profundidad de operación; no mide presión sobre peces. Para separar causas se necesitan controles de calibración, orientación, talla, frecuencia y selección de ecos. Transición: distinguir lo respaldado de lo todavía incierto.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Bertrand et al. (1999); Ona et al. (2020). Fuente: Esquema propio, ACU-IND-01 (2026).</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acu_slide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acu_slide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60 s. La orientación tiene respaldo mediante mediciones y cálculos sobre funciones medidas, aunque trayectoria no equivale necesariamente a postura. Para presión en fisóclistos, el corpus carece de ensayos controlados de TS; el dato de arenque llega como evidencia citada. Tampoco se separan completamente orientación y profundidad en un mismo diseño. La revisión tiene 59 candidatos pendientes y un registro de identificación incompleto. Las métricas heterogéneas y la falta de errores comparables impiden un metaanálisis. Ningún estudio del corpus reestima una biomasa pesquera real corrigiendo TS por profundidad. Transición: formular conclusiones que respeten estos límites.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Fuente: ACU-IND-01 (2026), discusión y limitaciones; McQuinn y Winger (2003); Gorska y Ona (2003); Fujino et al. (2009).</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acu_slide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acu_slide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60 s. Responder los objetivos: la orientación modifica el TS con respaldo medido; profundidad y presión no tienen una dirección universal; y 3 dB de diferencia implican aproximadamente un factor dos en abundancia bajo los supuestos del cálculo. La recomendación es medir conjuntamente TS, postura, talla y profundidad, con calibración a la profundidad de trabajo. No se propone una corrección universal para anchoveta ni trasladar el ajuste de arenque a esa especie. La biomasa requiere además composición y pesos. Cerrar: interpretar el eco total exige conocer el eco individual y las condiciones que lo cambian.</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Fuentes y créditos: Foote (1987); McQuinn y Winger (2003); Gorska y Ona (2003); Fujino et al. (2009); Ona et al. (2020).</a:t>
            </a:r>
            <a:endParaRPr/>
          </a:p>
          <a:p>
            <a:pPr indent="0" lvl="0" marL="0" rtl="0" algn="l">
              <a:spcBef>
                <a:spcPts val="0"/>
              </a:spcBef>
              <a:spcAft>
                <a:spcPts val="0"/>
              </a:spcAft>
              <a:buNone/>
            </a:pPr>
            <a:r>
              <a:rPr lang="es-419"/>
              <a:t>Artículo principal: https://docs.google.com/document/d/1JPQ4sJQqHh7haRfZxnprodY0xz_9zLmF/edit</a:t>
            </a:r>
            <a:endParaRPr/>
          </a:p>
          <a:p>
            <a:pPr indent="0" lvl="0" marL="0" rtl="0" algn="l">
              <a:spcBef>
                <a:spcPts val="0"/>
              </a:spcBef>
              <a:spcAft>
                <a:spcPts val="0"/>
              </a:spcAft>
              <a:buNone/>
            </a:pPr>
            <a:r>
              <a:rPr lang="es-419"/>
              <a:t>Matriz de extracción: https://docs.google.com/spreadsheets/d/1kgothBVaTicEL3Q4QzDuQRYtMBLR5ZxYV-Rp-PAiCKw/edit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acu_slide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acu_slide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Referencias de consulta: no se leen durante la exposición. Se incluyen únicamente fuentes usadas en las diapositivas. Castillo et al. (2022), Ona et al. (2020) y Santivañez-Yuffra et al. (2025) son referencias de contexto asignadas y no integran el núcleo de 18 estudios. Santivañez-Yuffra et al. (2025) se utiliza solo por su título y metadatos, sin consulta del texto completo. Ona (2003) se menciona como cita secundaria mediante Gorska y Ona (2003); no se incorpora como una fuente consultada directamente.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acu_slide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acu_slide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Referencias de consulta: no se leen durante la exposición. Se incluyen únicamente fuentes usadas en las diapositivas. Castillo et al. (2022), Ona et al. (2020) y Santivañez-Yuffra et al. (2025) son referencias de contexto asignadas y no integran el núcleo de 18 estudios. Santivañez-Yuffra et al. (2025) se utiliza solo por su título y metadatos, sin consulta del texto completo. Ona (2003) se menciona como cita secundaria mediante Gorska y Ona (2003); no se incorpora como una fuente consultada directamente.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acu_slide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acu_slide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Referencias de consulta: no se leen durante la exposición. Se incluyen únicamente fuentes usadas en las diapositivas. Castillo et al. (2022), Ona et al. (2020) y Santivañez-Yuffra et al. (2025) son referencias de contexto asignadas y no integran el núcleo de 18 estudios. Santivañez-Yuffra et al. (2025) se utiliza solo por su título y metadatos, sin consulta del texto completo. Ona (2003) se menciona como cita secundaria mediante Gorska y Ona (2003); no se incorpora como una fuente consultada directamente.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acu_slide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acu_slide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Referencias de consulta: no se leen durante la exposición. Se incluyen únicamente fuentes usadas en las diapositivas. Castillo et al. (2022), Ona et al. (2020) y Santivañez-Yuffra et al. (2025) son referencias de contexto asignadas y no integran el núcleo de 18 estudios. Santivañez-Yuffra et al. (2025) se utiliza solo por su título y metadatos, sin consulta del texto completo. Ona (2003) se menciona como cita secundaria mediante Gorska y Ona (2003); no se incorpora como una fuente consultada directamente.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acu_slide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acu_slide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Referencias de consulta: no se leen durante la exposición. Se incluyen únicamente fuentes usadas en las diapositivas. Castillo et al. (2022), Ona et al. (2020) y Santivañez-Yuffra et al. (2025) son referencias de contexto asignadas y no integran el núcleo de 18 estudios. Santivañez-Yuffra et al. (2025) se utiliza solo por su título y metadatos, sin consulta del texto completo. Ona (2003) se menciona como cita secundaria mediante Gorska y Ona (2003); no se incorpora como una fuente consultada directamente.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hyperlink" Target="https://doi.org/10.1006/jmsc.1998.0430" TargetMode="External"/><Relationship Id="rId4" Type="http://schemas.openxmlformats.org/officeDocument/2006/relationships/hyperlink" Target="https://doi.org/10.1111/fog.12601" TargetMode="External"/><Relationship Id="rId5" Type="http://schemas.openxmlformats.org/officeDocument/2006/relationships/hyperlink" Target="https://doi.org/10.1121/1.38391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hyperlink" Target="https://doi.org/10.1121/1.392438" TargetMode="External"/><Relationship Id="rId4" Type="http://schemas.openxmlformats.org/officeDocument/2006/relationships/hyperlink" Target="https://doi.org/10.1121/1.395298" TargetMode="External"/><Relationship Id="rId5" Type="http://schemas.openxmlformats.org/officeDocument/2006/relationships/hyperlink" Target="https://doi.org/10.3135/jmasj.36.24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s://doi.org/10.1139/f04-117" TargetMode="External"/><Relationship Id="rId4" Type="http://schemas.openxmlformats.org/officeDocument/2006/relationships/hyperlink" Target="https://doi.org/10.1016/S1054-3139(03)00050-X" TargetMode="External"/><Relationship Id="rId5" Type="http://schemas.openxmlformats.org/officeDocument/2006/relationships/hyperlink" Target="https://doi.org/10.1139/F07-13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hyperlink" Target="https://doi.org/10.2331/suisan.18-00008" TargetMode="External"/><Relationship Id="rId4" Type="http://schemas.openxmlformats.org/officeDocument/2006/relationships/hyperlink" Target="https://doi.org/10.1016/S1054-3139(03)00039-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hyperlink" Target="https://doi.org/10.1093/icesjms/fsaa177" TargetMode="External"/><Relationship Id="rId4" Type="http://schemas.openxmlformats.org/officeDocument/2006/relationships/hyperlink" Target="https://doi.org/10.1136/bmj.n71" TargetMode="External"/><Relationship Id="rId5" Type="http://schemas.openxmlformats.org/officeDocument/2006/relationships/hyperlink" Target="https://doi.org/10.1016/j.fishres.2025.10753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cxnSp>
        <p:nvCxnSpPr>
          <p:cNvPr id="54" name="Google Shape;54;p13"/>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5" name="Google Shape;55;p13"/>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ACU-IND-01 · Acústica Submarina · UNFV</a:t>
            </a:r>
            <a:endParaRPr sz="980">
              <a:solidFill>
                <a:srgbClr val="53616D"/>
              </a:solidFill>
            </a:endParaRPr>
          </a:p>
        </p:txBody>
      </p:sp>
      <p:sp>
        <p:nvSpPr>
          <p:cNvPr id="56" name="Google Shape;56;p13"/>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a:t>
            </a:r>
            <a:endParaRPr sz="1000">
              <a:solidFill>
                <a:srgbClr val="53616D"/>
              </a:solidFill>
            </a:endParaRPr>
          </a:p>
        </p:txBody>
      </p:sp>
      <p:sp>
        <p:nvSpPr>
          <p:cNvPr id="57" name="Google Shape;57;p13"/>
          <p:cNvSpPr txBox="1"/>
          <p:nvPr/>
        </p:nvSpPr>
        <p:spPr>
          <a:xfrm>
            <a:off x="495300" y="457200"/>
            <a:ext cx="81279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300">
                <a:solidFill>
                  <a:srgbClr val="147D88"/>
                </a:solidFill>
              </a:rPr>
              <a:t>TRABAJO INDIVIDUAL DE INVESTIGACIÓN</a:t>
            </a:r>
            <a:endParaRPr b="1" sz="1300">
              <a:solidFill>
                <a:srgbClr val="147D88"/>
              </a:solidFill>
            </a:endParaRPr>
          </a:p>
        </p:txBody>
      </p:sp>
      <p:sp>
        <p:nvSpPr>
          <p:cNvPr id="58" name="Google Shape;58;p13"/>
          <p:cNvSpPr txBox="1"/>
          <p:nvPr/>
        </p:nvSpPr>
        <p:spPr>
          <a:xfrm>
            <a:off x="482600" y="1270000"/>
            <a:ext cx="8255100" cy="1574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3800">
                <a:solidFill>
                  <a:srgbClr val="16324F"/>
                </a:solidFill>
              </a:rPr>
              <a:t>Profundidad, orientación</a:t>
            </a:r>
            <a:endParaRPr b="1" sz="3800">
              <a:solidFill>
                <a:srgbClr val="16324F"/>
              </a:solidFill>
            </a:endParaRPr>
          </a:p>
          <a:p>
            <a:pPr indent="0" lvl="0" marL="0" rtl="0" algn="l">
              <a:lnSpc>
                <a:spcPct val="110000"/>
              </a:lnSpc>
              <a:spcBef>
                <a:spcPts val="0"/>
              </a:spcBef>
              <a:spcAft>
                <a:spcPts val="0"/>
              </a:spcAft>
              <a:buNone/>
            </a:pPr>
            <a:r>
              <a:rPr b="1" lang="es-419" sz="3800">
                <a:solidFill>
                  <a:srgbClr val="16324F"/>
                </a:solidFill>
              </a:rPr>
              <a:t>y Target Strength</a:t>
            </a:r>
            <a:endParaRPr b="1" sz="3800">
              <a:solidFill>
                <a:srgbClr val="16324F"/>
              </a:solidFill>
            </a:endParaRPr>
          </a:p>
        </p:txBody>
      </p:sp>
      <p:sp>
        <p:nvSpPr>
          <p:cNvPr id="59" name="Google Shape;59;p13"/>
          <p:cNvSpPr txBox="1"/>
          <p:nvPr/>
        </p:nvSpPr>
        <p:spPr>
          <a:xfrm>
            <a:off x="495300" y="3022600"/>
            <a:ext cx="7746900" cy="838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53616D"/>
                </a:solidFill>
              </a:rPr>
              <a:t>Variación del eco individual y sensibilidad de las estimaciones de abundancia y biomasa</a:t>
            </a:r>
            <a:endParaRPr sz="2100">
              <a:solidFill>
                <a:srgbClr val="53616D"/>
              </a:solidFill>
            </a:endParaRPr>
          </a:p>
        </p:txBody>
      </p:sp>
      <p:sp>
        <p:nvSpPr>
          <p:cNvPr id="60" name="Google Shape;60;p13"/>
          <p:cNvSpPr txBox="1"/>
          <p:nvPr/>
        </p:nvSpPr>
        <p:spPr>
          <a:xfrm>
            <a:off x="495300" y="4089400"/>
            <a:ext cx="8001000" cy="533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300">
                <a:solidFill>
                  <a:srgbClr val="243744"/>
                </a:solidFill>
              </a:rPr>
              <a:t>Cristian Rafael Huamani Arroyo</a:t>
            </a:r>
            <a:endParaRPr sz="1300">
              <a:solidFill>
                <a:srgbClr val="243744"/>
              </a:solidFill>
            </a:endParaRPr>
          </a:p>
          <a:p>
            <a:pPr indent="0" lvl="0" marL="0" rtl="0" algn="l">
              <a:lnSpc>
                <a:spcPct val="110000"/>
              </a:lnSpc>
              <a:spcBef>
                <a:spcPts val="0"/>
              </a:spcBef>
              <a:spcAft>
                <a:spcPts val="0"/>
              </a:spcAft>
              <a:buNone/>
            </a:pPr>
            <a:r>
              <a:rPr lang="es-419" sz="1300">
                <a:solidFill>
                  <a:srgbClr val="243744"/>
                </a:solidFill>
              </a:rPr>
              <a:t>Ingeniería Pesquera · Universidad Nacional Federico Villarreal</a:t>
            </a:r>
            <a:endParaRPr sz="1300">
              <a:solidFill>
                <a:srgbClr val="24374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4"/>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El eco total no cuenta peces por sí solo</a:t>
            </a:r>
            <a:endParaRPr b="1" sz="2900">
              <a:solidFill>
                <a:srgbClr val="16324F"/>
              </a:solidFill>
            </a:endParaRPr>
          </a:p>
        </p:txBody>
      </p:sp>
      <p:cxnSp>
        <p:nvCxnSpPr>
          <p:cNvPr id="66" name="Google Shape;66;p14"/>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67" name="Google Shape;67;p14"/>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Foote (1987); Castillo et al. (2022); Santivañez-Yuffra et al. (2025).</a:t>
            </a:r>
            <a:endParaRPr sz="980">
              <a:solidFill>
                <a:srgbClr val="53616D"/>
              </a:solidFill>
            </a:endParaRPr>
          </a:p>
        </p:txBody>
      </p:sp>
      <p:sp>
        <p:nvSpPr>
          <p:cNvPr id="68" name="Google Shape;68;p14"/>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2</a:t>
            </a:r>
            <a:endParaRPr sz="1000">
              <a:solidFill>
                <a:srgbClr val="53616D"/>
              </a:solidFill>
            </a:endParaRPr>
          </a:p>
        </p:txBody>
      </p:sp>
      <p:sp>
        <p:nvSpPr>
          <p:cNvPr id="69" name="Google Shape;69;p14"/>
          <p:cNvSpPr txBox="1"/>
          <p:nvPr/>
        </p:nvSpPr>
        <p:spPr>
          <a:xfrm>
            <a:off x="469900" y="1308100"/>
            <a:ext cx="8191500" cy="876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800">
                <a:solidFill>
                  <a:srgbClr val="16324F"/>
                </a:solidFill>
              </a:rPr>
              <a:t>¿La misma señal puede representar cantidades distintas de peces?</a:t>
            </a:r>
            <a:endParaRPr b="1" sz="2800">
              <a:solidFill>
                <a:srgbClr val="16324F"/>
              </a:solidFill>
            </a:endParaRPr>
          </a:p>
        </p:txBody>
      </p:sp>
      <p:sp>
        <p:nvSpPr>
          <p:cNvPr id="70" name="Google Shape;70;p14"/>
          <p:cNvSpPr txBox="1"/>
          <p:nvPr/>
        </p:nvSpPr>
        <p:spPr>
          <a:xfrm>
            <a:off x="508000" y="2514600"/>
            <a:ext cx="3848100" cy="1663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243744"/>
                </a:solidFill>
              </a:rPr>
              <a:t>La ecosonda registra retrodispersión.</a:t>
            </a:r>
            <a:endParaRPr sz="2100">
              <a:solidFill>
                <a:srgbClr val="243744"/>
              </a:solidFill>
            </a:endParaRPr>
          </a:p>
          <a:p>
            <a:pPr indent="0" lvl="0" marL="0" rtl="0" algn="l">
              <a:lnSpc>
                <a:spcPct val="110000"/>
              </a:lnSpc>
              <a:spcBef>
                <a:spcPts val="0"/>
              </a:spcBef>
              <a:spcAft>
                <a:spcPts val="0"/>
              </a:spcAft>
              <a:buNone/>
            </a:pPr>
            <a:r>
              <a:t/>
            </a:r>
            <a:endParaRPr sz="2100">
              <a:solidFill>
                <a:srgbClr val="243744"/>
              </a:solidFill>
            </a:endParaRPr>
          </a:p>
          <a:p>
            <a:pPr indent="0" lvl="0" marL="0" rtl="0" algn="l">
              <a:lnSpc>
                <a:spcPct val="110000"/>
              </a:lnSpc>
              <a:spcBef>
                <a:spcPts val="0"/>
              </a:spcBef>
              <a:spcAft>
                <a:spcPts val="0"/>
              </a:spcAft>
              <a:buNone/>
            </a:pPr>
            <a:r>
              <a:rPr lang="es-419" sz="2100">
                <a:solidFill>
                  <a:srgbClr val="243744"/>
                </a:solidFill>
              </a:rPr>
              <a:t>El número se infiere usando un eco individual medio.</a:t>
            </a:r>
            <a:endParaRPr sz="2100">
              <a:solidFill>
                <a:srgbClr val="243744"/>
              </a:solidFill>
            </a:endParaRPr>
          </a:p>
        </p:txBody>
      </p:sp>
      <p:cxnSp>
        <p:nvCxnSpPr>
          <p:cNvPr id="71" name="Google Shape;71;p14"/>
          <p:cNvCxnSpPr/>
          <p:nvPr/>
        </p:nvCxnSpPr>
        <p:spPr>
          <a:xfrm>
            <a:off x="4635500" y="2489200"/>
            <a:ext cx="0" cy="1650900"/>
          </a:xfrm>
          <a:prstGeom prst="straightConnector1">
            <a:avLst/>
          </a:prstGeom>
          <a:noFill/>
          <a:ln cap="flat" cmpd="sng" w="12700">
            <a:solidFill>
              <a:srgbClr val="DCE4E8"/>
            </a:solidFill>
            <a:prstDash val="solid"/>
            <a:round/>
            <a:headEnd len="med" w="med" type="none"/>
            <a:tailEnd len="med" w="med" type="none"/>
          </a:ln>
        </p:spPr>
      </p:cxnSp>
      <p:sp>
        <p:nvSpPr>
          <p:cNvPr id="72" name="Google Shape;72;p14"/>
          <p:cNvSpPr txBox="1"/>
          <p:nvPr/>
        </p:nvSpPr>
        <p:spPr>
          <a:xfrm>
            <a:off x="4953000" y="2514600"/>
            <a:ext cx="3708300" cy="1663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243744"/>
                </a:solidFill>
              </a:rPr>
              <a:t>En anchoveta, el contexto es real: cardúmenes variables y mediciones de TS durante la pesca.</a:t>
            </a:r>
            <a:endParaRPr sz="2100">
              <a:solidFill>
                <a:srgbClr val="24374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15"/>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De la retrodispersión a la abundancia</a:t>
            </a:r>
            <a:endParaRPr b="1" sz="2900">
              <a:solidFill>
                <a:srgbClr val="16324F"/>
              </a:solidFill>
            </a:endParaRPr>
          </a:p>
        </p:txBody>
      </p:sp>
      <p:cxnSp>
        <p:nvCxnSpPr>
          <p:cNvPr id="78" name="Google Shape;78;p15"/>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79" name="Google Shape;79;p15"/>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Elaboración propia a partir de Foote (1987). Modelo simplificado de ecointegración.</a:t>
            </a:r>
            <a:endParaRPr sz="980">
              <a:solidFill>
                <a:srgbClr val="53616D"/>
              </a:solidFill>
            </a:endParaRPr>
          </a:p>
        </p:txBody>
      </p:sp>
      <p:sp>
        <p:nvSpPr>
          <p:cNvPr id="80" name="Google Shape;80;p15"/>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3</a:t>
            </a:r>
            <a:endParaRPr sz="1000">
              <a:solidFill>
                <a:srgbClr val="53616D"/>
              </a:solidFill>
            </a:endParaRPr>
          </a:p>
        </p:txBody>
      </p:sp>
      <p:sp>
        <p:nvSpPr>
          <p:cNvPr id="81" name="Google Shape;81;p15"/>
          <p:cNvSpPr txBox="1"/>
          <p:nvPr/>
        </p:nvSpPr>
        <p:spPr>
          <a:xfrm>
            <a:off x="647700" y="1358900"/>
            <a:ext cx="7810500" cy="825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4100">
                <a:solidFill>
                  <a:srgbClr val="147D88"/>
                </a:solidFill>
              </a:rPr>
              <a:t>N = S / ⟨σbs⟩</a:t>
            </a:r>
            <a:endParaRPr b="1" sz="4100">
              <a:solidFill>
                <a:srgbClr val="147D88"/>
              </a:solidFill>
            </a:endParaRPr>
          </a:p>
        </p:txBody>
      </p:sp>
      <p:sp>
        <p:nvSpPr>
          <p:cNvPr id="82" name="Google Shape;82;p15"/>
          <p:cNvSpPr txBox="1"/>
          <p:nvPr/>
        </p:nvSpPr>
        <p:spPr>
          <a:xfrm>
            <a:off x="622300" y="2451100"/>
            <a:ext cx="2412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200">
                <a:solidFill>
                  <a:srgbClr val="16324F"/>
                </a:solidFill>
              </a:rPr>
              <a:t>S · eco total</a:t>
            </a:r>
            <a:endParaRPr b="1" sz="2200">
              <a:solidFill>
                <a:srgbClr val="16324F"/>
              </a:solidFill>
            </a:endParaRPr>
          </a:p>
        </p:txBody>
      </p:sp>
      <p:sp>
        <p:nvSpPr>
          <p:cNvPr id="83" name="Google Shape;83;p15"/>
          <p:cNvSpPr txBox="1"/>
          <p:nvPr/>
        </p:nvSpPr>
        <p:spPr>
          <a:xfrm>
            <a:off x="3543300" y="2451100"/>
            <a:ext cx="21591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200">
                <a:solidFill>
                  <a:srgbClr val="16324F"/>
                </a:solidFill>
              </a:rPr>
              <a:t>⟨σbs⟩ · por pez</a:t>
            </a:r>
            <a:endParaRPr b="1" sz="2200">
              <a:solidFill>
                <a:srgbClr val="16324F"/>
              </a:solidFill>
            </a:endParaRPr>
          </a:p>
        </p:txBody>
      </p:sp>
      <p:sp>
        <p:nvSpPr>
          <p:cNvPr id="84" name="Google Shape;84;p15"/>
          <p:cNvSpPr txBox="1"/>
          <p:nvPr/>
        </p:nvSpPr>
        <p:spPr>
          <a:xfrm>
            <a:off x="6756400" y="2451100"/>
            <a:ext cx="19050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200">
                <a:solidFill>
                  <a:srgbClr val="16324F"/>
                </a:solidFill>
              </a:rPr>
              <a:t>N · número</a:t>
            </a:r>
            <a:endParaRPr b="1" sz="2200">
              <a:solidFill>
                <a:srgbClr val="16324F"/>
              </a:solidFill>
            </a:endParaRPr>
          </a:p>
        </p:txBody>
      </p:sp>
      <p:sp>
        <p:nvSpPr>
          <p:cNvPr id="85" name="Google Shape;85;p15"/>
          <p:cNvSpPr txBox="1"/>
          <p:nvPr/>
        </p:nvSpPr>
        <p:spPr>
          <a:xfrm>
            <a:off x="622300" y="2921000"/>
            <a:ext cx="23622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800">
                <a:solidFill>
                  <a:srgbClr val="243744"/>
                </a:solidFill>
              </a:rPr>
              <a:t>Suma de secciones eficaces (m²)</a:t>
            </a:r>
            <a:endParaRPr sz="1800">
              <a:solidFill>
                <a:srgbClr val="243744"/>
              </a:solidFill>
            </a:endParaRPr>
          </a:p>
        </p:txBody>
      </p:sp>
      <p:sp>
        <p:nvSpPr>
          <p:cNvPr id="86" name="Google Shape;86;p15"/>
          <p:cNvSpPr txBox="1"/>
          <p:nvPr/>
        </p:nvSpPr>
        <p:spPr>
          <a:xfrm>
            <a:off x="3543300" y="2921000"/>
            <a:ext cx="22734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800">
                <a:solidFill>
                  <a:srgbClr val="243744"/>
                </a:solidFill>
              </a:rPr>
              <a:t>Sección eficaz media (m²)</a:t>
            </a:r>
            <a:endParaRPr sz="1800">
              <a:solidFill>
                <a:srgbClr val="243744"/>
              </a:solidFill>
            </a:endParaRPr>
          </a:p>
        </p:txBody>
      </p:sp>
      <p:sp>
        <p:nvSpPr>
          <p:cNvPr id="87" name="Google Shape;87;p15"/>
          <p:cNvSpPr txBox="1"/>
          <p:nvPr/>
        </p:nvSpPr>
        <p:spPr>
          <a:xfrm>
            <a:off x="6756400" y="2921000"/>
            <a:ext cx="19557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800">
                <a:solidFill>
                  <a:srgbClr val="243744"/>
                </a:solidFill>
              </a:rPr>
              <a:t>Cantidad estimada de peces</a:t>
            </a:r>
            <a:endParaRPr sz="1800">
              <a:solidFill>
                <a:srgbClr val="243744"/>
              </a:solidFill>
            </a:endParaRPr>
          </a:p>
        </p:txBody>
      </p:sp>
      <p:cxnSp>
        <p:nvCxnSpPr>
          <p:cNvPr id="88" name="Google Shape;88;p15"/>
          <p:cNvCxnSpPr/>
          <p:nvPr/>
        </p:nvCxnSpPr>
        <p:spPr>
          <a:xfrm>
            <a:off x="3048000" y="2895600"/>
            <a:ext cx="355500" cy="0"/>
          </a:xfrm>
          <a:prstGeom prst="straightConnector1">
            <a:avLst/>
          </a:prstGeom>
          <a:noFill/>
          <a:ln cap="flat" cmpd="sng" w="22850">
            <a:solidFill>
              <a:srgbClr val="147D88"/>
            </a:solidFill>
            <a:prstDash val="solid"/>
            <a:round/>
            <a:headEnd len="med" w="med" type="none"/>
            <a:tailEnd len="med" w="med" type="triangle"/>
          </a:ln>
        </p:spPr>
      </p:cxnSp>
      <p:cxnSp>
        <p:nvCxnSpPr>
          <p:cNvPr id="89" name="Google Shape;89;p15"/>
          <p:cNvCxnSpPr/>
          <p:nvPr/>
        </p:nvCxnSpPr>
        <p:spPr>
          <a:xfrm>
            <a:off x="5994400" y="2895600"/>
            <a:ext cx="609600" cy="0"/>
          </a:xfrm>
          <a:prstGeom prst="straightConnector1">
            <a:avLst/>
          </a:prstGeom>
          <a:noFill/>
          <a:ln cap="flat" cmpd="sng" w="22850">
            <a:solidFill>
              <a:srgbClr val="147D88"/>
            </a:solidFill>
            <a:prstDash val="solid"/>
            <a:round/>
            <a:headEnd len="med" w="med" type="none"/>
            <a:tailEnd len="med" w="med" type="triangle"/>
          </a:ln>
        </p:spPr>
      </p:cxnSp>
      <p:sp>
        <p:nvSpPr>
          <p:cNvPr id="90" name="Google Shape;90;p15"/>
          <p:cNvSpPr txBox="1"/>
          <p:nvPr/>
        </p:nvSpPr>
        <p:spPr>
          <a:xfrm>
            <a:off x="571500" y="4064000"/>
            <a:ext cx="8191500" cy="431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2000">
                <a:solidFill>
                  <a:srgbClr val="16324F"/>
                </a:solidFill>
              </a:rPr>
              <a:t>Biomasa = N × peso medio</a:t>
            </a:r>
            <a:endParaRPr sz="2000">
              <a:solidFill>
                <a:srgbClr val="16324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6"/>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El TS expresa el eco individual en decibelios</a:t>
            </a:r>
            <a:endParaRPr b="1" sz="2900">
              <a:solidFill>
                <a:srgbClr val="16324F"/>
              </a:solidFill>
            </a:endParaRPr>
          </a:p>
        </p:txBody>
      </p:sp>
      <p:cxnSp>
        <p:nvCxnSpPr>
          <p:cNvPr id="96" name="Google Shape;96;p16"/>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97" name="Google Shape;97;p16"/>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Foote (1980, 1987). Fuente: Elaboración propia, ACU-IND-01 (2026); conversiones matemáticas.</a:t>
            </a:r>
            <a:endParaRPr sz="980">
              <a:solidFill>
                <a:srgbClr val="53616D"/>
              </a:solidFill>
            </a:endParaRPr>
          </a:p>
        </p:txBody>
      </p:sp>
      <p:sp>
        <p:nvSpPr>
          <p:cNvPr id="98" name="Google Shape;98;p16"/>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4</a:t>
            </a:r>
            <a:endParaRPr sz="1000">
              <a:solidFill>
                <a:srgbClr val="53616D"/>
              </a:solidFill>
            </a:endParaRPr>
          </a:p>
        </p:txBody>
      </p:sp>
      <p:sp>
        <p:nvSpPr>
          <p:cNvPr id="99" name="Google Shape;99;p16"/>
          <p:cNvSpPr txBox="1"/>
          <p:nvPr/>
        </p:nvSpPr>
        <p:spPr>
          <a:xfrm>
            <a:off x="508000" y="1333500"/>
            <a:ext cx="8178900" cy="711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3000">
                <a:solidFill>
                  <a:srgbClr val="147D88"/>
                </a:solidFill>
              </a:rPr>
              <a:t>TS = 10 log₁₀(σbs / 1 m²)</a:t>
            </a:r>
            <a:endParaRPr b="1" sz="3000">
              <a:solidFill>
                <a:srgbClr val="147D88"/>
              </a:solidFill>
            </a:endParaRPr>
          </a:p>
        </p:txBody>
      </p:sp>
      <p:sp>
        <p:nvSpPr>
          <p:cNvPr id="100" name="Google Shape;100;p16"/>
          <p:cNvSpPr txBox="1"/>
          <p:nvPr/>
        </p:nvSpPr>
        <p:spPr>
          <a:xfrm>
            <a:off x="635000" y="2146300"/>
            <a:ext cx="7899300" cy="381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600">
                <a:solidFill>
                  <a:srgbClr val="53616D"/>
                </a:solidFill>
              </a:rPr>
              <a:t>σbs: sección eficaz de retrodispersión · TS: dB re 1 m²</a:t>
            </a:r>
            <a:endParaRPr sz="1600">
              <a:solidFill>
                <a:srgbClr val="53616D"/>
              </a:solidFill>
            </a:endParaRPr>
          </a:p>
        </p:txBody>
      </p:sp>
      <p:sp>
        <p:nvSpPr>
          <p:cNvPr id="101" name="Google Shape;101;p16"/>
          <p:cNvSpPr txBox="1"/>
          <p:nvPr/>
        </p:nvSpPr>
        <p:spPr>
          <a:xfrm>
            <a:off x="889000" y="2794000"/>
            <a:ext cx="2031900" cy="584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800">
                <a:solidFill>
                  <a:srgbClr val="16324F"/>
                </a:solidFill>
              </a:rPr>
              <a:t>+3 dB</a:t>
            </a:r>
            <a:endParaRPr b="1" sz="2800">
              <a:solidFill>
                <a:srgbClr val="16324F"/>
              </a:solidFill>
            </a:endParaRPr>
          </a:p>
        </p:txBody>
      </p:sp>
      <p:sp>
        <p:nvSpPr>
          <p:cNvPr id="102" name="Google Shape;102;p16"/>
          <p:cNvSpPr txBox="1"/>
          <p:nvPr/>
        </p:nvSpPr>
        <p:spPr>
          <a:xfrm>
            <a:off x="889000" y="3441700"/>
            <a:ext cx="2031900" cy="558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900">
                <a:solidFill>
                  <a:srgbClr val="147D88"/>
                </a:solidFill>
              </a:rPr>
              <a:t>≈ ×2</a:t>
            </a:r>
            <a:endParaRPr b="1" sz="2900">
              <a:solidFill>
                <a:srgbClr val="147D88"/>
              </a:solidFill>
            </a:endParaRPr>
          </a:p>
        </p:txBody>
      </p:sp>
      <p:sp>
        <p:nvSpPr>
          <p:cNvPr id="103" name="Google Shape;103;p16"/>
          <p:cNvSpPr txBox="1"/>
          <p:nvPr/>
        </p:nvSpPr>
        <p:spPr>
          <a:xfrm>
            <a:off x="3556000" y="2794000"/>
            <a:ext cx="2031900" cy="584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800">
                <a:solidFill>
                  <a:srgbClr val="16324F"/>
                </a:solidFill>
              </a:rPr>
              <a:t>+6 dB</a:t>
            </a:r>
            <a:endParaRPr b="1" sz="2800">
              <a:solidFill>
                <a:srgbClr val="16324F"/>
              </a:solidFill>
            </a:endParaRPr>
          </a:p>
        </p:txBody>
      </p:sp>
      <p:sp>
        <p:nvSpPr>
          <p:cNvPr id="104" name="Google Shape;104;p16"/>
          <p:cNvSpPr txBox="1"/>
          <p:nvPr/>
        </p:nvSpPr>
        <p:spPr>
          <a:xfrm>
            <a:off x="3556000" y="3441700"/>
            <a:ext cx="2031900" cy="558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900">
                <a:solidFill>
                  <a:srgbClr val="147D88"/>
                </a:solidFill>
              </a:rPr>
              <a:t>≈ ×4</a:t>
            </a:r>
            <a:endParaRPr b="1" sz="2900">
              <a:solidFill>
                <a:srgbClr val="147D88"/>
              </a:solidFill>
            </a:endParaRPr>
          </a:p>
        </p:txBody>
      </p:sp>
      <p:sp>
        <p:nvSpPr>
          <p:cNvPr id="105" name="Google Shape;105;p16"/>
          <p:cNvSpPr txBox="1"/>
          <p:nvPr/>
        </p:nvSpPr>
        <p:spPr>
          <a:xfrm>
            <a:off x="6223000" y="2794000"/>
            <a:ext cx="2031900" cy="584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800">
                <a:solidFill>
                  <a:srgbClr val="16324F"/>
                </a:solidFill>
              </a:rPr>
              <a:t>+10 dB</a:t>
            </a:r>
            <a:endParaRPr b="1" sz="2800">
              <a:solidFill>
                <a:srgbClr val="16324F"/>
              </a:solidFill>
            </a:endParaRPr>
          </a:p>
        </p:txBody>
      </p:sp>
      <p:sp>
        <p:nvSpPr>
          <p:cNvPr id="106" name="Google Shape;106;p16"/>
          <p:cNvSpPr txBox="1"/>
          <p:nvPr/>
        </p:nvSpPr>
        <p:spPr>
          <a:xfrm>
            <a:off x="6223000" y="3441700"/>
            <a:ext cx="2031900" cy="558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900">
                <a:solidFill>
                  <a:srgbClr val="147D88"/>
                </a:solidFill>
              </a:rPr>
              <a:t>×10</a:t>
            </a:r>
            <a:endParaRPr b="1" sz="2900">
              <a:solidFill>
                <a:srgbClr val="147D88"/>
              </a:solidFill>
            </a:endParaRPr>
          </a:p>
        </p:txBody>
      </p:sp>
      <p:sp>
        <p:nvSpPr>
          <p:cNvPr id="107" name="Google Shape;107;p16"/>
          <p:cNvSpPr txBox="1"/>
          <p:nvPr/>
        </p:nvSpPr>
        <p:spPr>
          <a:xfrm>
            <a:off x="571500" y="4140200"/>
            <a:ext cx="8127900" cy="431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1900">
                <a:solidFill>
                  <a:srgbClr val="16324F"/>
                </a:solidFill>
              </a:rPr>
              <a:t>Promediar σbs primero; convertir a dB después</a:t>
            </a:r>
            <a:endParaRPr b="1" sz="1900">
              <a:solidFill>
                <a:srgbClr val="16324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17"/>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La orientación y la presión modifican la vejiga</a:t>
            </a:r>
            <a:endParaRPr b="1" sz="2900">
              <a:solidFill>
                <a:srgbClr val="16324F"/>
              </a:solidFill>
            </a:endParaRPr>
          </a:p>
        </p:txBody>
      </p:sp>
      <p:cxnSp>
        <p:nvCxnSpPr>
          <p:cNvPr id="113" name="Google Shape;113;p17"/>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114" name="Google Shape;114;p17"/>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Esquema conceptual propio a partir de Foote (1985), Gorska y Ona (2003) y Fujino et al. (2009).</a:t>
            </a:r>
            <a:endParaRPr sz="980">
              <a:solidFill>
                <a:srgbClr val="53616D"/>
              </a:solidFill>
            </a:endParaRPr>
          </a:p>
        </p:txBody>
      </p:sp>
      <p:sp>
        <p:nvSpPr>
          <p:cNvPr id="115" name="Google Shape;115;p17"/>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5</a:t>
            </a:r>
            <a:endParaRPr sz="1000">
              <a:solidFill>
                <a:srgbClr val="53616D"/>
              </a:solidFill>
            </a:endParaRPr>
          </a:p>
        </p:txBody>
      </p:sp>
      <p:sp>
        <p:nvSpPr>
          <p:cNvPr id="116" name="Google Shape;116;p17"/>
          <p:cNvSpPr txBox="1"/>
          <p:nvPr/>
        </p:nvSpPr>
        <p:spPr>
          <a:xfrm>
            <a:off x="546100" y="1270000"/>
            <a:ext cx="3886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900">
                <a:solidFill>
                  <a:srgbClr val="16324F"/>
                </a:solidFill>
              </a:rPr>
              <a:t>Orientación respecto del haz</a:t>
            </a:r>
            <a:endParaRPr b="1" sz="1900">
              <a:solidFill>
                <a:srgbClr val="16324F"/>
              </a:solidFill>
            </a:endParaRPr>
          </a:p>
        </p:txBody>
      </p:sp>
      <p:sp>
        <p:nvSpPr>
          <p:cNvPr id="117" name="Google Shape;117;p17"/>
          <p:cNvSpPr txBox="1"/>
          <p:nvPr/>
        </p:nvSpPr>
        <p:spPr>
          <a:xfrm>
            <a:off x="4991100" y="1270000"/>
            <a:ext cx="3555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900">
                <a:solidFill>
                  <a:srgbClr val="16324F"/>
                </a:solidFill>
              </a:rPr>
              <a:t>Presión y estado del gas</a:t>
            </a:r>
            <a:endParaRPr b="1" sz="1900">
              <a:solidFill>
                <a:srgbClr val="16324F"/>
              </a:solidFill>
            </a:endParaRPr>
          </a:p>
        </p:txBody>
      </p:sp>
      <p:cxnSp>
        <p:nvCxnSpPr>
          <p:cNvPr id="118" name="Google Shape;118;p17"/>
          <p:cNvCxnSpPr/>
          <p:nvPr/>
        </p:nvCxnSpPr>
        <p:spPr>
          <a:xfrm>
            <a:off x="2286000" y="1803400"/>
            <a:ext cx="0" cy="660300"/>
          </a:xfrm>
          <a:prstGeom prst="straightConnector1">
            <a:avLst/>
          </a:prstGeom>
          <a:noFill/>
          <a:ln cap="flat" cmpd="sng" w="25400">
            <a:solidFill>
              <a:srgbClr val="376DA5"/>
            </a:solidFill>
            <a:prstDash val="solid"/>
            <a:round/>
            <a:headEnd len="med" w="med" type="none"/>
            <a:tailEnd len="med" w="med" type="triangle"/>
          </a:ln>
        </p:spPr>
      </p:cxnSp>
      <p:sp>
        <p:nvSpPr>
          <p:cNvPr id="119" name="Google Shape;119;p17"/>
          <p:cNvSpPr/>
          <p:nvPr/>
        </p:nvSpPr>
        <p:spPr>
          <a:xfrm>
            <a:off x="1320800" y="2603500"/>
            <a:ext cx="1968600" cy="406500"/>
          </a:xfrm>
          <a:prstGeom prst="ellipse">
            <a:avLst/>
          </a:prstGeom>
          <a:solidFill>
            <a:srgbClr val="E7F1F3"/>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7"/>
          <p:cNvSpPr/>
          <p:nvPr/>
        </p:nvSpPr>
        <p:spPr>
          <a:xfrm rot="-780030">
            <a:off x="1379424" y="3418283"/>
            <a:ext cx="1968353" cy="406434"/>
          </a:xfrm>
          <a:prstGeom prst="ellipse">
            <a:avLst/>
          </a:prstGeom>
          <a:solidFill>
            <a:srgbClr val="E7F1F3"/>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7"/>
          <p:cNvSpPr txBox="1"/>
          <p:nvPr/>
        </p:nvSpPr>
        <p:spPr>
          <a:xfrm>
            <a:off x="3454400" y="2603500"/>
            <a:ext cx="9525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a:solidFill>
                  <a:srgbClr val="53616D"/>
                </a:solidFill>
              </a:rPr>
              <a:t>θ = 0°</a:t>
            </a:r>
            <a:endParaRPr>
              <a:solidFill>
                <a:srgbClr val="53616D"/>
              </a:solidFill>
            </a:endParaRPr>
          </a:p>
        </p:txBody>
      </p:sp>
      <p:sp>
        <p:nvSpPr>
          <p:cNvPr id="122" name="Google Shape;122;p17"/>
          <p:cNvSpPr txBox="1"/>
          <p:nvPr/>
        </p:nvSpPr>
        <p:spPr>
          <a:xfrm>
            <a:off x="3454400" y="3619500"/>
            <a:ext cx="9525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a:solidFill>
                  <a:srgbClr val="53616D"/>
                </a:solidFill>
              </a:rPr>
              <a:t>θ ≠ 0°</a:t>
            </a:r>
            <a:endParaRPr>
              <a:solidFill>
                <a:srgbClr val="53616D"/>
              </a:solidFill>
            </a:endParaRPr>
          </a:p>
        </p:txBody>
      </p:sp>
      <p:cxnSp>
        <p:nvCxnSpPr>
          <p:cNvPr id="123" name="Google Shape;123;p17"/>
          <p:cNvCxnSpPr/>
          <p:nvPr/>
        </p:nvCxnSpPr>
        <p:spPr>
          <a:xfrm>
            <a:off x="4673600" y="1625600"/>
            <a:ext cx="0" cy="2540100"/>
          </a:xfrm>
          <a:prstGeom prst="straightConnector1">
            <a:avLst/>
          </a:prstGeom>
          <a:noFill/>
          <a:ln cap="flat" cmpd="sng" w="12700">
            <a:solidFill>
              <a:srgbClr val="DCE4E8"/>
            </a:solidFill>
            <a:prstDash val="solid"/>
            <a:round/>
            <a:headEnd len="med" w="med" type="none"/>
            <a:tailEnd len="med" w="med" type="none"/>
          </a:ln>
        </p:spPr>
      </p:cxnSp>
      <p:sp>
        <p:nvSpPr>
          <p:cNvPr id="124" name="Google Shape;124;p17"/>
          <p:cNvSpPr txBox="1"/>
          <p:nvPr/>
        </p:nvSpPr>
        <p:spPr>
          <a:xfrm>
            <a:off x="5080000" y="1841500"/>
            <a:ext cx="3492600" cy="97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000">
                <a:solidFill>
                  <a:srgbClr val="243744"/>
                </a:solidFill>
              </a:rPr>
              <a:t>Sin compensación:</a:t>
            </a:r>
            <a:endParaRPr sz="2000">
              <a:solidFill>
                <a:srgbClr val="243744"/>
              </a:solidFill>
            </a:endParaRPr>
          </a:p>
          <a:p>
            <a:pPr indent="0" lvl="0" marL="0" rtl="0" algn="l">
              <a:lnSpc>
                <a:spcPct val="110000"/>
              </a:lnSpc>
              <a:spcBef>
                <a:spcPts val="0"/>
              </a:spcBef>
              <a:spcAft>
                <a:spcPts val="0"/>
              </a:spcAft>
              <a:buNone/>
            </a:pPr>
            <a:r>
              <a:rPr lang="es-419" sz="2000">
                <a:solidFill>
                  <a:srgbClr val="243744"/>
                </a:solidFill>
              </a:rPr>
              <a:t>mayor presión → menor volumen</a:t>
            </a:r>
            <a:endParaRPr sz="2000">
              <a:solidFill>
                <a:srgbClr val="243744"/>
              </a:solidFill>
            </a:endParaRPr>
          </a:p>
        </p:txBody>
      </p:sp>
      <p:sp>
        <p:nvSpPr>
          <p:cNvPr id="125" name="Google Shape;125;p17"/>
          <p:cNvSpPr txBox="1"/>
          <p:nvPr/>
        </p:nvSpPr>
        <p:spPr>
          <a:xfrm>
            <a:off x="5080000" y="3098800"/>
            <a:ext cx="3492600" cy="1143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000">
                <a:solidFill>
                  <a:srgbClr val="243744"/>
                </a:solidFill>
              </a:rPr>
              <a:t>Volumen constante:</a:t>
            </a:r>
            <a:endParaRPr sz="2000">
              <a:solidFill>
                <a:srgbClr val="243744"/>
              </a:solidFill>
            </a:endParaRPr>
          </a:p>
          <a:p>
            <a:pPr indent="0" lvl="0" marL="0" rtl="0" algn="l">
              <a:lnSpc>
                <a:spcPct val="110000"/>
              </a:lnSpc>
              <a:spcBef>
                <a:spcPts val="0"/>
              </a:spcBef>
              <a:spcAft>
                <a:spcPts val="0"/>
              </a:spcAft>
              <a:buNone/>
            </a:pPr>
            <a:r>
              <a:rPr lang="es-419" sz="2000">
                <a:solidFill>
                  <a:srgbClr val="243744"/>
                </a:solidFill>
              </a:rPr>
              <a:t>la resonancia también puede cambiar</a:t>
            </a:r>
            <a:endParaRPr sz="2000">
              <a:solidFill>
                <a:srgbClr val="243744"/>
              </a:solidFill>
            </a:endParaRPr>
          </a:p>
        </p:txBody>
      </p:sp>
      <p:sp>
        <p:nvSpPr>
          <p:cNvPr id="126" name="Google Shape;126;p17"/>
          <p:cNvSpPr txBox="1"/>
          <p:nvPr/>
        </p:nvSpPr>
        <p:spPr>
          <a:xfrm>
            <a:off x="495300" y="4203700"/>
            <a:ext cx="81279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a:solidFill>
                  <a:srgbClr val="53616D"/>
                </a:solidFill>
              </a:rPr>
              <a:t>Vejigas idealizadas, sin escala; el máximo depende de su forma y su eje</a:t>
            </a:r>
            <a:endParaRPr>
              <a:solidFill>
                <a:srgbClr val="53616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8"/>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Pregunta y objetivos de la revisión</a:t>
            </a:r>
            <a:endParaRPr b="1" sz="2900">
              <a:solidFill>
                <a:srgbClr val="16324F"/>
              </a:solidFill>
            </a:endParaRPr>
          </a:p>
        </p:txBody>
      </p:sp>
      <p:cxnSp>
        <p:nvCxnSpPr>
          <p:cNvPr id="132" name="Google Shape;132;p18"/>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133" name="Google Shape;133;p18"/>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Elaboración propia, ACU-IND-01 (2026). Artículo final y matriz B1.</a:t>
            </a:r>
            <a:endParaRPr sz="980">
              <a:solidFill>
                <a:srgbClr val="53616D"/>
              </a:solidFill>
            </a:endParaRPr>
          </a:p>
        </p:txBody>
      </p:sp>
      <p:sp>
        <p:nvSpPr>
          <p:cNvPr id="134" name="Google Shape;134;p18"/>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6</a:t>
            </a:r>
            <a:endParaRPr sz="1000">
              <a:solidFill>
                <a:srgbClr val="53616D"/>
              </a:solidFill>
            </a:endParaRPr>
          </a:p>
        </p:txBody>
      </p:sp>
      <p:sp>
        <p:nvSpPr>
          <p:cNvPr id="135" name="Google Shape;135;p18"/>
          <p:cNvSpPr txBox="1"/>
          <p:nvPr/>
        </p:nvSpPr>
        <p:spPr>
          <a:xfrm>
            <a:off x="508000" y="1282700"/>
            <a:ext cx="80898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700">
                <a:solidFill>
                  <a:srgbClr val="16324F"/>
                </a:solidFill>
              </a:rPr>
              <a:t>¿Cómo cambian el TS la orientación y la profundidad de peces marinos?</a:t>
            </a:r>
            <a:endParaRPr b="1" sz="2700">
              <a:solidFill>
                <a:srgbClr val="16324F"/>
              </a:solidFill>
            </a:endParaRPr>
          </a:p>
        </p:txBody>
      </p:sp>
      <p:sp>
        <p:nvSpPr>
          <p:cNvPr id="136" name="Google Shape;136;p18"/>
          <p:cNvSpPr txBox="1"/>
          <p:nvPr/>
        </p:nvSpPr>
        <p:spPr>
          <a:xfrm>
            <a:off x="508000" y="2438400"/>
            <a:ext cx="8127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300">
                <a:solidFill>
                  <a:srgbClr val="147D88"/>
                </a:solidFill>
              </a:rPr>
              <a:t>Evaluar la evidencia y cuantificar su sensibilidad</a:t>
            </a:r>
            <a:endParaRPr b="1" sz="2300">
              <a:solidFill>
                <a:srgbClr val="147D88"/>
              </a:solidFill>
            </a:endParaRPr>
          </a:p>
        </p:txBody>
      </p:sp>
      <p:sp>
        <p:nvSpPr>
          <p:cNvPr id="137" name="Google Shape;137;p18"/>
          <p:cNvSpPr txBox="1"/>
          <p:nvPr/>
        </p:nvSpPr>
        <p:spPr>
          <a:xfrm>
            <a:off x="546100" y="3048000"/>
            <a:ext cx="3810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900">
                <a:solidFill>
                  <a:srgbClr val="243744"/>
                </a:solidFill>
              </a:rPr>
              <a:t>Caracterizar estudios y ecuaciones TS–longitud</a:t>
            </a:r>
            <a:endParaRPr sz="1900">
              <a:solidFill>
                <a:srgbClr val="243744"/>
              </a:solidFill>
            </a:endParaRPr>
          </a:p>
          <a:p>
            <a:pPr indent="0" lvl="0" marL="0" rtl="0" algn="l">
              <a:lnSpc>
                <a:spcPct val="110000"/>
              </a:lnSpc>
              <a:spcBef>
                <a:spcPts val="0"/>
              </a:spcBef>
              <a:spcAft>
                <a:spcPts val="0"/>
              </a:spcAft>
              <a:buNone/>
            </a:pPr>
            <a:r>
              <a:t/>
            </a:r>
            <a:endParaRPr sz="1900">
              <a:solidFill>
                <a:srgbClr val="243744"/>
              </a:solidFill>
            </a:endParaRPr>
          </a:p>
          <a:p>
            <a:pPr indent="0" lvl="0" marL="0" rtl="0" algn="l">
              <a:lnSpc>
                <a:spcPct val="110000"/>
              </a:lnSpc>
              <a:spcBef>
                <a:spcPts val="0"/>
              </a:spcBef>
              <a:spcAft>
                <a:spcPts val="0"/>
              </a:spcAft>
              <a:buNone/>
            </a:pPr>
            <a:r>
              <a:rPr lang="es-419" sz="1900">
                <a:solidFill>
                  <a:srgbClr val="243744"/>
                </a:solidFill>
              </a:rPr>
              <a:t>Cuantificar la orientación</a:t>
            </a:r>
            <a:endParaRPr sz="1900">
              <a:solidFill>
                <a:srgbClr val="243744"/>
              </a:solidFill>
            </a:endParaRPr>
          </a:p>
        </p:txBody>
      </p:sp>
      <p:sp>
        <p:nvSpPr>
          <p:cNvPr id="138" name="Google Shape;138;p18"/>
          <p:cNvSpPr txBox="1"/>
          <p:nvPr/>
        </p:nvSpPr>
        <p:spPr>
          <a:xfrm>
            <a:off x="4851400" y="3048000"/>
            <a:ext cx="37464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900">
                <a:solidFill>
                  <a:srgbClr val="243744"/>
                </a:solidFill>
              </a:rPr>
              <a:t>Separar profundidad, presión y modelos</a:t>
            </a:r>
            <a:endParaRPr sz="1900">
              <a:solidFill>
                <a:srgbClr val="243744"/>
              </a:solidFill>
            </a:endParaRPr>
          </a:p>
          <a:p>
            <a:pPr indent="0" lvl="0" marL="0" rtl="0" algn="l">
              <a:lnSpc>
                <a:spcPct val="110000"/>
              </a:lnSpc>
              <a:spcBef>
                <a:spcPts val="0"/>
              </a:spcBef>
              <a:spcAft>
                <a:spcPts val="0"/>
              </a:spcAft>
              <a:buNone/>
            </a:pPr>
            <a:r>
              <a:t/>
            </a:r>
            <a:endParaRPr sz="1900">
              <a:solidFill>
                <a:srgbClr val="243744"/>
              </a:solidFill>
            </a:endParaRPr>
          </a:p>
          <a:p>
            <a:pPr indent="0" lvl="0" marL="0" rtl="0" algn="l">
              <a:lnSpc>
                <a:spcPct val="110000"/>
              </a:lnSpc>
              <a:spcBef>
                <a:spcPts val="0"/>
              </a:spcBef>
              <a:spcAft>
                <a:spcPts val="0"/>
              </a:spcAft>
              <a:buNone/>
            </a:pPr>
            <a:r>
              <a:rPr lang="es-419" sz="1900">
                <a:solidFill>
                  <a:srgbClr val="243744"/>
                </a:solidFill>
              </a:rPr>
              <a:t>Traducir ΔTS a abundancia</a:t>
            </a:r>
            <a:endParaRPr sz="1900">
              <a:solidFill>
                <a:srgbClr val="24374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9"/>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Selección documentada del núcleo científico</a:t>
            </a:r>
            <a:endParaRPr b="1" sz="2900">
              <a:solidFill>
                <a:srgbClr val="16324F"/>
              </a:solidFill>
            </a:endParaRPr>
          </a:p>
        </p:txBody>
      </p:sp>
      <p:cxnSp>
        <p:nvCxnSpPr>
          <p:cNvPr id="144" name="Google Shape;144;p19"/>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145" name="Google Shape;145;p19"/>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ACU-IND-01 (2026), metodología. PRISMA 2020 como referencia: Page et al. (2021).</a:t>
            </a:r>
            <a:endParaRPr sz="980">
              <a:solidFill>
                <a:srgbClr val="53616D"/>
              </a:solidFill>
            </a:endParaRPr>
          </a:p>
        </p:txBody>
      </p:sp>
      <p:sp>
        <p:nvSpPr>
          <p:cNvPr id="146" name="Google Shape;146;p19"/>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7</a:t>
            </a:r>
            <a:endParaRPr sz="1000">
              <a:solidFill>
                <a:srgbClr val="53616D"/>
              </a:solidFill>
            </a:endParaRPr>
          </a:p>
        </p:txBody>
      </p:sp>
      <p:sp>
        <p:nvSpPr>
          <p:cNvPr id="147" name="Google Shape;147;p19"/>
          <p:cNvSpPr txBox="1"/>
          <p:nvPr/>
        </p:nvSpPr>
        <p:spPr>
          <a:xfrm>
            <a:off x="571500" y="1625600"/>
            <a:ext cx="2031900" cy="723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4300">
                <a:solidFill>
                  <a:srgbClr val="147D88"/>
                </a:solidFill>
              </a:rPr>
              <a:t>66</a:t>
            </a:r>
            <a:endParaRPr b="1" sz="4300">
              <a:solidFill>
                <a:srgbClr val="147D88"/>
              </a:solidFill>
            </a:endParaRPr>
          </a:p>
        </p:txBody>
      </p:sp>
      <p:sp>
        <p:nvSpPr>
          <p:cNvPr id="148" name="Google Shape;148;p19"/>
          <p:cNvSpPr txBox="1"/>
          <p:nvPr/>
        </p:nvSpPr>
        <p:spPr>
          <a:xfrm>
            <a:off x="571500" y="2400300"/>
            <a:ext cx="2031900" cy="393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1900">
                <a:solidFill>
                  <a:srgbClr val="16324F"/>
                </a:solidFill>
              </a:rPr>
              <a:t>Validados</a:t>
            </a:r>
            <a:endParaRPr b="1" sz="1900">
              <a:solidFill>
                <a:srgbClr val="16324F"/>
              </a:solidFill>
            </a:endParaRPr>
          </a:p>
        </p:txBody>
      </p:sp>
      <p:sp>
        <p:nvSpPr>
          <p:cNvPr id="149" name="Google Shape;149;p19"/>
          <p:cNvSpPr txBox="1"/>
          <p:nvPr/>
        </p:nvSpPr>
        <p:spPr>
          <a:xfrm>
            <a:off x="3492500" y="1625600"/>
            <a:ext cx="2031900" cy="723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4300">
                <a:solidFill>
                  <a:srgbClr val="147D88"/>
                </a:solidFill>
              </a:rPr>
              <a:t>34</a:t>
            </a:r>
            <a:endParaRPr b="1" sz="4300">
              <a:solidFill>
                <a:srgbClr val="147D88"/>
              </a:solidFill>
            </a:endParaRPr>
          </a:p>
        </p:txBody>
      </p:sp>
      <p:sp>
        <p:nvSpPr>
          <p:cNvPr id="150" name="Google Shape;150;p19"/>
          <p:cNvSpPr txBox="1"/>
          <p:nvPr/>
        </p:nvSpPr>
        <p:spPr>
          <a:xfrm>
            <a:off x="3492500" y="2400300"/>
            <a:ext cx="2031900" cy="393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1900">
                <a:solidFill>
                  <a:srgbClr val="16324F"/>
                </a:solidFill>
              </a:rPr>
              <a:t>Confirmados</a:t>
            </a:r>
            <a:endParaRPr b="1" sz="1900">
              <a:solidFill>
                <a:srgbClr val="16324F"/>
              </a:solidFill>
            </a:endParaRPr>
          </a:p>
        </p:txBody>
      </p:sp>
      <p:sp>
        <p:nvSpPr>
          <p:cNvPr id="151" name="Google Shape;151;p19"/>
          <p:cNvSpPr txBox="1"/>
          <p:nvPr/>
        </p:nvSpPr>
        <p:spPr>
          <a:xfrm>
            <a:off x="6527800" y="1625600"/>
            <a:ext cx="2031900" cy="723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4300">
                <a:solidFill>
                  <a:srgbClr val="147D88"/>
                </a:solidFill>
              </a:rPr>
              <a:t>18</a:t>
            </a:r>
            <a:endParaRPr b="1" sz="4300">
              <a:solidFill>
                <a:srgbClr val="147D88"/>
              </a:solidFill>
            </a:endParaRPr>
          </a:p>
        </p:txBody>
      </p:sp>
      <p:sp>
        <p:nvSpPr>
          <p:cNvPr id="152" name="Google Shape;152;p19"/>
          <p:cNvSpPr txBox="1"/>
          <p:nvPr/>
        </p:nvSpPr>
        <p:spPr>
          <a:xfrm>
            <a:off x="6527800" y="2400300"/>
            <a:ext cx="2031900" cy="393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1900">
                <a:solidFill>
                  <a:srgbClr val="16324F"/>
                </a:solidFill>
              </a:rPr>
              <a:t>Núcleo</a:t>
            </a:r>
            <a:endParaRPr b="1" sz="1900">
              <a:solidFill>
                <a:srgbClr val="16324F"/>
              </a:solidFill>
            </a:endParaRPr>
          </a:p>
        </p:txBody>
      </p:sp>
      <p:cxnSp>
        <p:nvCxnSpPr>
          <p:cNvPr id="153" name="Google Shape;153;p19"/>
          <p:cNvCxnSpPr/>
          <p:nvPr/>
        </p:nvCxnSpPr>
        <p:spPr>
          <a:xfrm>
            <a:off x="2679700" y="2057400"/>
            <a:ext cx="711300" cy="0"/>
          </a:xfrm>
          <a:prstGeom prst="straightConnector1">
            <a:avLst/>
          </a:prstGeom>
          <a:noFill/>
          <a:ln cap="flat" cmpd="sng" w="22850">
            <a:solidFill>
              <a:srgbClr val="147D88"/>
            </a:solidFill>
            <a:prstDash val="solid"/>
            <a:round/>
            <a:headEnd len="med" w="med" type="none"/>
            <a:tailEnd len="med" w="med" type="triangle"/>
          </a:ln>
        </p:spPr>
      </p:cxnSp>
      <p:cxnSp>
        <p:nvCxnSpPr>
          <p:cNvPr id="154" name="Google Shape;154;p19"/>
          <p:cNvCxnSpPr/>
          <p:nvPr/>
        </p:nvCxnSpPr>
        <p:spPr>
          <a:xfrm>
            <a:off x="5626100" y="2057400"/>
            <a:ext cx="812700" cy="0"/>
          </a:xfrm>
          <a:prstGeom prst="straightConnector1">
            <a:avLst/>
          </a:prstGeom>
          <a:noFill/>
          <a:ln cap="flat" cmpd="sng" w="22850">
            <a:solidFill>
              <a:srgbClr val="147D88"/>
            </a:solidFill>
            <a:prstDash val="solid"/>
            <a:round/>
            <a:headEnd len="med" w="med" type="none"/>
            <a:tailEnd len="med" w="med" type="triangle"/>
          </a:ln>
        </p:spPr>
      </p:cxnSp>
      <p:sp>
        <p:nvSpPr>
          <p:cNvPr id="155" name="Google Shape;155;p19"/>
          <p:cNvSpPr txBox="1"/>
          <p:nvPr/>
        </p:nvSpPr>
        <p:spPr>
          <a:xfrm>
            <a:off x="546100" y="3213100"/>
            <a:ext cx="3873600" cy="82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700">
                <a:solidFill>
                  <a:srgbClr val="243744"/>
                </a:solidFill>
              </a:rPr>
              <a:t>22 dudosos + 10 de apoyo</a:t>
            </a:r>
            <a:endParaRPr sz="1700">
              <a:solidFill>
                <a:srgbClr val="243744"/>
              </a:solidFill>
            </a:endParaRPr>
          </a:p>
          <a:p>
            <a:pPr indent="0" lvl="0" marL="0" rtl="0" algn="l">
              <a:lnSpc>
                <a:spcPct val="110000"/>
              </a:lnSpc>
              <a:spcBef>
                <a:spcPts val="0"/>
              </a:spcBef>
              <a:spcAft>
                <a:spcPts val="0"/>
              </a:spcAft>
              <a:buNone/>
            </a:pPr>
            <a:r>
              <a:rPr lang="es-419" sz="1700">
                <a:solidFill>
                  <a:srgbClr val="243744"/>
                </a:solidFill>
              </a:rPr>
              <a:t>completan los 66 validados</a:t>
            </a:r>
            <a:endParaRPr sz="1700">
              <a:solidFill>
                <a:srgbClr val="243744"/>
              </a:solidFill>
            </a:endParaRPr>
          </a:p>
        </p:txBody>
      </p:sp>
      <p:sp>
        <p:nvSpPr>
          <p:cNvPr id="156" name="Google Shape;156;p19"/>
          <p:cNvSpPr txBox="1"/>
          <p:nvPr/>
        </p:nvSpPr>
        <p:spPr>
          <a:xfrm>
            <a:off x="4851400" y="3213100"/>
            <a:ext cx="3848100" cy="82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700">
                <a:solidFill>
                  <a:srgbClr val="243744"/>
                </a:solidFill>
              </a:rPr>
              <a:t>15 complementarios + 1 fundamento</a:t>
            </a:r>
            <a:endParaRPr sz="1700">
              <a:solidFill>
                <a:srgbClr val="243744"/>
              </a:solidFill>
            </a:endParaRPr>
          </a:p>
          <a:p>
            <a:pPr indent="0" lvl="0" marL="0" rtl="0" algn="l">
              <a:lnSpc>
                <a:spcPct val="110000"/>
              </a:lnSpc>
              <a:spcBef>
                <a:spcPts val="0"/>
              </a:spcBef>
              <a:spcAft>
                <a:spcPts val="0"/>
              </a:spcAft>
              <a:buNone/>
            </a:pPr>
            <a:r>
              <a:rPr lang="es-419" sz="1700">
                <a:solidFill>
                  <a:srgbClr val="243744"/>
                </a:solidFill>
              </a:rPr>
              <a:t>completan los 34 confirmados</a:t>
            </a:r>
            <a:endParaRPr sz="1700">
              <a:solidFill>
                <a:srgbClr val="243744"/>
              </a:solidFill>
            </a:endParaRPr>
          </a:p>
        </p:txBody>
      </p:sp>
      <p:sp>
        <p:nvSpPr>
          <p:cNvPr id="157" name="Google Shape;157;p19"/>
          <p:cNvSpPr txBox="1"/>
          <p:nvPr/>
        </p:nvSpPr>
        <p:spPr>
          <a:xfrm>
            <a:off x="533400" y="4152900"/>
            <a:ext cx="81534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500">
                <a:solidFill>
                  <a:srgbClr val="53616D"/>
                </a:solidFill>
              </a:rPr>
              <a:t>Marco exploratorio: 804 registros · 59 candidatos adicionales sin evaluar</a:t>
            </a:r>
            <a:endParaRPr sz="1500">
              <a:solidFill>
                <a:srgbClr val="53616D"/>
              </a:solidFill>
            </a:endParaRPr>
          </a:p>
        </p:txBody>
      </p:sp>
      <p:sp>
        <p:nvSpPr>
          <p:cNvPr id="158" name="Google Shape;158;p19"/>
          <p:cNvSpPr txBox="1"/>
          <p:nvPr/>
        </p:nvSpPr>
        <p:spPr>
          <a:xfrm>
            <a:off x="546100" y="1219200"/>
            <a:ext cx="8127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rgbClr val="53616D"/>
                </a:solidFill>
              </a:rPr>
              <a:t>OpenAlex + Crossref · peces marinos · texto completo legal y gratuito</a:t>
            </a:r>
            <a:endParaRPr>
              <a:solidFill>
                <a:srgbClr val="53616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20"/>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18 estudios y 561 filas de extracción</a:t>
            </a:r>
            <a:endParaRPr b="1" sz="2900">
              <a:solidFill>
                <a:srgbClr val="16324F"/>
              </a:solidFill>
            </a:endParaRPr>
          </a:p>
        </p:txBody>
      </p:sp>
      <p:cxnSp>
        <p:nvCxnSpPr>
          <p:cNvPr id="164" name="Google Shape;164;p20"/>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165" name="Google Shape;165;p20"/>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ACU-IND-01 (2026), artículo final y matriz B1. Las categorías de variables se solapan.</a:t>
            </a:r>
            <a:endParaRPr sz="980">
              <a:solidFill>
                <a:srgbClr val="53616D"/>
              </a:solidFill>
            </a:endParaRPr>
          </a:p>
        </p:txBody>
      </p:sp>
      <p:sp>
        <p:nvSpPr>
          <p:cNvPr id="166" name="Google Shape;166;p20"/>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8</a:t>
            </a:r>
            <a:endParaRPr sz="1000">
              <a:solidFill>
                <a:srgbClr val="53616D"/>
              </a:solidFill>
            </a:endParaRPr>
          </a:p>
        </p:txBody>
      </p:sp>
      <p:sp>
        <p:nvSpPr>
          <p:cNvPr id="167" name="Google Shape;167;p20"/>
          <p:cNvSpPr txBox="1"/>
          <p:nvPr/>
        </p:nvSpPr>
        <p:spPr>
          <a:xfrm>
            <a:off x="571500" y="1346200"/>
            <a:ext cx="2412900" cy="863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4400">
                <a:solidFill>
                  <a:srgbClr val="147D88"/>
                </a:solidFill>
              </a:rPr>
              <a:t>18</a:t>
            </a:r>
            <a:endParaRPr b="1" sz="4400">
              <a:solidFill>
                <a:srgbClr val="147D88"/>
              </a:solidFill>
            </a:endParaRPr>
          </a:p>
        </p:txBody>
      </p:sp>
      <p:sp>
        <p:nvSpPr>
          <p:cNvPr id="168" name="Google Shape;168;p20"/>
          <p:cNvSpPr txBox="1"/>
          <p:nvPr/>
        </p:nvSpPr>
        <p:spPr>
          <a:xfrm>
            <a:off x="571500" y="2235200"/>
            <a:ext cx="2476500" cy="901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16324F"/>
                </a:solidFill>
              </a:rPr>
              <a:t>estudios marinos</a:t>
            </a:r>
            <a:endParaRPr sz="2100">
              <a:solidFill>
                <a:srgbClr val="16324F"/>
              </a:solidFill>
            </a:endParaRPr>
          </a:p>
          <a:p>
            <a:pPr indent="0" lvl="0" marL="0" rtl="0" algn="l">
              <a:lnSpc>
                <a:spcPct val="110000"/>
              </a:lnSpc>
              <a:spcBef>
                <a:spcPts val="0"/>
              </a:spcBef>
              <a:spcAft>
                <a:spcPts val="0"/>
              </a:spcAft>
              <a:buNone/>
            </a:pPr>
            <a:r>
              <a:rPr lang="es-419" sz="2100">
                <a:solidFill>
                  <a:srgbClr val="16324F"/>
                </a:solidFill>
              </a:rPr>
              <a:t>1977–2022</a:t>
            </a:r>
            <a:endParaRPr sz="2100">
              <a:solidFill>
                <a:srgbClr val="16324F"/>
              </a:solidFill>
            </a:endParaRPr>
          </a:p>
        </p:txBody>
      </p:sp>
      <p:sp>
        <p:nvSpPr>
          <p:cNvPr id="169" name="Google Shape;169;p20"/>
          <p:cNvSpPr txBox="1"/>
          <p:nvPr/>
        </p:nvSpPr>
        <p:spPr>
          <a:xfrm>
            <a:off x="3302000" y="1422400"/>
            <a:ext cx="50799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200">
                <a:solidFill>
                  <a:srgbClr val="16324F"/>
                </a:solidFill>
              </a:rPr>
              <a:t>17 evalúan orientación</a:t>
            </a:r>
            <a:endParaRPr b="1" sz="2200">
              <a:solidFill>
                <a:srgbClr val="16324F"/>
              </a:solidFill>
            </a:endParaRPr>
          </a:p>
          <a:p>
            <a:pPr indent="0" lvl="0" marL="0" rtl="0" algn="l">
              <a:lnSpc>
                <a:spcPct val="110000"/>
              </a:lnSpc>
              <a:spcBef>
                <a:spcPts val="0"/>
              </a:spcBef>
              <a:spcAft>
                <a:spcPts val="0"/>
              </a:spcAft>
              <a:buNone/>
            </a:pPr>
            <a:r>
              <a:rPr b="1" lang="es-419" sz="2200">
                <a:solidFill>
                  <a:srgbClr val="16324F"/>
                </a:solidFill>
              </a:rPr>
              <a:t>8, profundidad o presión</a:t>
            </a:r>
            <a:endParaRPr b="1" sz="2200">
              <a:solidFill>
                <a:srgbClr val="16324F"/>
              </a:solidFill>
            </a:endParaRPr>
          </a:p>
        </p:txBody>
      </p:sp>
      <p:sp>
        <p:nvSpPr>
          <p:cNvPr id="170" name="Google Shape;170;p20"/>
          <p:cNvSpPr txBox="1"/>
          <p:nvPr/>
        </p:nvSpPr>
        <p:spPr>
          <a:xfrm>
            <a:off x="3302000" y="2565400"/>
            <a:ext cx="5079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600">
                <a:solidFill>
                  <a:srgbClr val="147D88"/>
                </a:solidFill>
              </a:rPr>
              <a:t>561 filas trazables</a:t>
            </a:r>
            <a:endParaRPr b="1" sz="2600">
              <a:solidFill>
                <a:srgbClr val="147D88"/>
              </a:solidFill>
            </a:endParaRPr>
          </a:p>
        </p:txBody>
      </p:sp>
      <p:sp>
        <p:nvSpPr>
          <p:cNvPr id="171" name="Google Shape;171;p20"/>
          <p:cNvSpPr txBox="1"/>
          <p:nvPr/>
        </p:nvSpPr>
        <p:spPr>
          <a:xfrm>
            <a:off x="3302000" y="3149600"/>
            <a:ext cx="5079900" cy="850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900">
                <a:solidFill>
                  <a:srgbClr val="243744"/>
                </a:solidFill>
              </a:rPr>
              <a:t>234 descriptivas · 127 ecuaciones</a:t>
            </a:r>
            <a:endParaRPr sz="1900">
              <a:solidFill>
                <a:srgbClr val="243744"/>
              </a:solidFill>
            </a:endParaRPr>
          </a:p>
          <a:p>
            <a:pPr indent="0" lvl="0" marL="0" rtl="0" algn="l">
              <a:lnSpc>
                <a:spcPct val="110000"/>
              </a:lnSpc>
              <a:spcBef>
                <a:spcPts val="0"/>
              </a:spcBef>
              <a:spcAft>
                <a:spcPts val="0"/>
              </a:spcAft>
              <a:buNone/>
            </a:pPr>
            <a:r>
              <a:rPr lang="es-419" sz="1900">
                <a:solidFill>
                  <a:srgbClr val="243744"/>
                </a:solidFill>
              </a:rPr>
              <a:t>200 resultados</a:t>
            </a:r>
            <a:endParaRPr sz="1900">
              <a:solidFill>
                <a:srgbClr val="243744"/>
              </a:solidFill>
            </a:endParaRPr>
          </a:p>
        </p:txBody>
      </p:sp>
      <p:sp>
        <p:nvSpPr>
          <p:cNvPr id="172" name="Google Shape;172;p20"/>
          <p:cNvSpPr txBox="1"/>
          <p:nvPr/>
        </p:nvSpPr>
        <p:spPr>
          <a:xfrm>
            <a:off x="558800" y="4152900"/>
            <a:ext cx="81279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700">
                <a:solidFill>
                  <a:srgbClr val="53616D"/>
                </a:solidFill>
              </a:rPr>
              <a:t>Control: 544 verificadas · 15 parciales · 2 derivadas</a:t>
            </a:r>
            <a:endParaRPr sz="1700">
              <a:solidFill>
                <a:srgbClr val="53616D"/>
              </a:solidFill>
            </a:endParaRPr>
          </a:p>
        </p:txBody>
      </p:sp>
      <p:sp>
        <p:nvSpPr>
          <p:cNvPr id="173" name="Google Shape;173;p20"/>
          <p:cNvSpPr txBox="1"/>
          <p:nvPr/>
        </p:nvSpPr>
        <p:spPr>
          <a:xfrm>
            <a:off x="571500" y="3327400"/>
            <a:ext cx="2412900" cy="7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rgbClr val="53616D"/>
                </a:solidFill>
              </a:rPr>
              <a:t>Campo marino,</a:t>
            </a:r>
            <a:endParaRPr sz="1600">
              <a:solidFill>
                <a:srgbClr val="53616D"/>
              </a:solidFill>
            </a:endParaRPr>
          </a:p>
          <a:p>
            <a:pPr indent="0" lvl="0" marL="0" rtl="0" algn="l">
              <a:spcBef>
                <a:spcPts val="0"/>
              </a:spcBef>
              <a:spcAft>
                <a:spcPts val="0"/>
              </a:spcAft>
              <a:buNone/>
            </a:pPr>
            <a:r>
              <a:rPr lang="es-419" sz="1600">
                <a:solidFill>
                  <a:srgbClr val="53616D"/>
                </a:solidFill>
              </a:rPr>
              <a:t>tanques y modelos</a:t>
            </a:r>
            <a:endParaRPr sz="1600">
              <a:solidFill>
                <a:srgbClr val="53616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21"/>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El TS máximo supera al promedio</a:t>
            </a:r>
            <a:endParaRPr b="1" sz="2900">
              <a:solidFill>
                <a:srgbClr val="16324F"/>
              </a:solidFill>
            </a:endParaRPr>
          </a:p>
        </p:txBody>
      </p:sp>
      <p:cxnSp>
        <p:nvCxnSpPr>
          <p:cNvPr id="179" name="Google Shape;179;p21"/>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180" name="Google Shape;180;p21"/>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Elaboración propia a partir de Nakken y Olsen (1977) y Henderson y Horne (2007).</a:t>
            </a:r>
            <a:endParaRPr sz="980">
              <a:solidFill>
                <a:srgbClr val="53616D"/>
              </a:solidFill>
            </a:endParaRPr>
          </a:p>
        </p:txBody>
      </p:sp>
      <p:sp>
        <p:nvSpPr>
          <p:cNvPr id="181" name="Google Shape;181;p21"/>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9</a:t>
            </a:r>
            <a:endParaRPr sz="1000">
              <a:solidFill>
                <a:srgbClr val="53616D"/>
              </a:solidFill>
            </a:endParaRPr>
          </a:p>
        </p:txBody>
      </p:sp>
      <p:sp>
        <p:nvSpPr>
          <p:cNvPr id="182" name="Google Shape;182;p21"/>
          <p:cNvSpPr txBox="1"/>
          <p:nvPr/>
        </p:nvSpPr>
        <p:spPr>
          <a:xfrm>
            <a:off x="584200" y="1244600"/>
            <a:ext cx="76200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600">
                <a:solidFill>
                  <a:srgbClr val="53616D"/>
                </a:solidFill>
              </a:rPr>
              <a:t>Diferencia máximo − promedio / esperado · 38 kHz</a:t>
            </a:r>
            <a:endParaRPr sz="1600">
              <a:solidFill>
                <a:srgbClr val="53616D"/>
              </a:solidFill>
            </a:endParaRPr>
          </a:p>
        </p:txBody>
      </p:sp>
      <p:sp>
        <p:nvSpPr>
          <p:cNvPr id="183" name="Google Shape;183;p21"/>
          <p:cNvSpPr txBox="1"/>
          <p:nvPr/>
        </p:nvSpPr>
        <p:spPr>
          <a:xfrm>
            <a:off x="558800" y="1968500"/>
            <a:ext cx="2349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16324F"/>
                </a:solidFill>
              </a:rPr>
              <a:t>Bacalao</a:t>
            </a:r>
            <a:endParaRPr sz="2100">
              <a:solidFill>
                <a:srgbClr val="16324F"/>
              </a:solidFill>
            </a:endParaRPr>
          </a:p>
        </p:txBody>
      </p:sp>
      <p:sp>
        <p:nvSpPr>
          <p:cNvPr id="184" name="Google Shape;184;p21"/>
          <p:cNvSpPr/>
          <p:nvPr/>
        </p:nvSpPr>
        <p:spPr>
          <a:xfrm>
            <a:off x="3111500" y="2019300"/>
            <a:ext cx="3911700" cy="292200"/>
          </a:xfrm>
          <a:prstGeom prst="rect">
            <a:avLst/>
          </a:prstGeom>
          <a:solidFill>
            <a:srgbClr val="376DA5"/>
          </a:solidFill>
          <a:ln cap="flat" cmpd="sng" w="12700">
            <a:solidFill>
              <a:srgbClr val="376D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1"/>
          <p:cNvSpPr txBox="1"/>
          <p:nvPr/>
        </p:nvSpPr>
        <p:spPr>
          <a:xfrm>
            <a:off x="7620000" y="1981200"/>
            <a:ext cx="3000000" cy="3000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700">
                <a:solidFill>
                  <a:srgbClr val="16324F"/>
                </a:solidFill>
              </a:rPr>
              <a:t>8–9 dB</a:t>
            </a:r>
            <a:endParaRPr b="1" sz="1700">
              <a:solidFill>
                <a:srgbClr val="16324F"/>
              </a:solidFill>
            </a:endParaRPr>
          </a:p>
        </p:txBody>
      </p:sp>
      <p:sp>
        <p:nvSpPr>
          <p:cNvPr id="186" name="Google Shape;186;p21"/>
          <p:cNvSpPr txBox="1"/>
          <p:nvPr/>
        </p:nvSpPr>
        <p:spPr>
          <a:xfrm>
            <a:off x="558800" y="2692400"/>
            <a:ext cx="2349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16324F"/>
                </a:solidFill>
              </a:rPr>
              <a:t>Arenque</a:t>
            </a:r>
            <a:endParaRPr sz="2100">
              <a:solidFill>
                <a:srgbClr val="16324F"/>
              </a:solidFill>
            </a:endParaRPr>
          </a:p>
        </p:txBody>
      </p:sp>
      <p:sp>
        <p:nvSpPr>
          <p:cNvPr id="187" name="Google Shape;187;p21"/>
          <p:cNvSpPr/>
          <p:nvPr/>
        </p:nvSpPr>
        <p:spPr>
          <a:xfrm>
            <a:off x="3111500" y="2743200"/>
            <a:ext cx="2933700" cy="292200"/>
          </a:xfrm>
          <a:prstGeom prst="rect">
            <a:avLst/>
          </a:prstGeom>
          <a:solidFill>
            <a:srgbClr val="376DA5"/>
          </a:solidFill>
          <a:ln cap="flat" cmpd="sng" w="12700">
            <a:solidFill>
              <a:srgbClr val="376D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1"/>
          <p:cNvSpPr txBox="1"/>
          <p:nvPr/>
        </p:nvSpPr>
        <p:spPr>
          <a:xfrm>
            <a:off x="6146800" y="2705100"/>
            <a:ext cx="888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700">
                <a:solidFill>
                  <a:srgbClr val="16324F"/>
                </a:solidFill>
              </a:rPr>
              <a:t>6 dB</a:t>
            </a:r>
            <a:endParaRPr b="1" sz="1700">
              <a:solidFill>
                <a:srgbClr val="16324F"/>
              </a:solidFill>
            </a:endParaRPr>
          </a:p>
        </p:txBody>
      </p:sp>
      <p:sp>
        <p:nvSpPr>
          <p:cNvPr id="189" name="Google Shape;189;p21"/>
          <p:cNvSpPr txBox="1"/>
          <p:nvPr/>
        </p:nvSpPr>
        <p:spPr>
          <a:xfrm>
            <a:off x="558800" y="3416300"/>
            <a:ext cx="2349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16324F"/>
                </a:solidFill>
              </a:rPr>
              <a:t>Merluza</a:t>
            </a:r>
            <a:endParaRPr sz="2100">
              <a:solidFill>
                <a:srgbClr val="16324F"/>
              </a:solidFill>
            </a:endParaRPr>
          </a:p>
        </p:txBody>
      </p:sp>
      <p:sp>
        <p:nvSpPr>
          <p:cNvPr id="190" name="Google Shape;190;p21"/>
          <p:cNvSpPr/>
          <p:nvPr/>
        </p:nvSpPr>
        <p:spPr>
          <a:xfrm>
            <a:off x="3111500" y="3467100"/>
            <a:ext cx="4791600" cy="292200"/>
          </a:xfrm>
          <a:prstGeom prst="rect">
            <a:avLst/>
          </a:prstGeom>
          <a:solidFill>
            <a:srgbClr val="147D88"/>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1"/>
          <p:cNvSpPr txBox="1"/>
          <p:nvPr/>
        </p:nvSpPr>
        <p:spPr>
          <a:xfrm>
            <a:off x="8004810" y="3429000"/>
            <a:ext cx="888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700">
                <a:solidFill>
                  <a:srgbClr val="16324F"/>
                </a:solidFill>
              </a:rPr>
              <a:t>9,8 dB</a:t>
            </a:r>
            <a:endParaRPr b="1" sz="1700">
              <a:solidFill>
                <a:srgbClr val="16324F"/>
              </a:solidFill>
            </a:endParaRPr>
          </a:p>
        </p:txBody>
      </p:sp>
      <p:sp>
        <p:nvSpPr>
          <p:cNvPr id="192" name="Google Shape;192;p21"/>
          <p:cNvSpPr txBox="1"/>
          <p:nvPr/>
        </p:nvSpPr>
        <p:spPr>
          <a:xfrm>
            <a:off x="571500" y="4152900"/>
            <a:ext cx="81915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800">
                <a:solidFill>
                  <a:srgbClr val="16324F"/>
                </a:solidFill>
              </a:rPr>
              <a:t>Un TS máximo usado como promedio subestima N</a:t>
            </a:r>
            <a:endParaRPr b="1" sz="1800">
              <a:solidFill>
                <a:srgbClr val="16324F"/>
              </a:solidFill>
            </a:endParaRPr>
          </a:p>
        </p:txBody>
      </p:sp>
      <p:cxnSp>
        <p:nvCxnSpPr>
          <p:cNvPr id="193" name="Google Shape;193;p21"/>
          <p:cNvCxnSpPr/>
          <p:nvPr/>
        </p:nvCxnSpPr>
        <p:spPr>
          <a:xfrm>
            <a:off x="7023100" y="2165350"/>
            <a:ext cx="489000" cy="0"/>
          </a:xfrm>
          <a:prstGeom prst="straightConnector1">
            <a:avLst/>
          </a:prstGeom>
          <a:noFill/>
          <a:ln cap="flat" cmpd="sng" w="25400">
            <a:solidFill>
              <a:srgbClr val="376DA5"/>
            </a:solidFill>
            <a:prstDash val="solid"/>
            <a:round/>
            <a:headEnd len="med" w="med" type="none"/>
            <a:tailEnd len="med" w="med" type="none"/>
          </a:ln>
        </p:spPr>
      </p:cxnSp>
      <p:cxnSp>
        <p:nvCxnSpPr>
          <p:cNvPr id="194" name="Google Shape;194;p21"/>
          <p:cNvCxnSpPr/>
          <p:nvPr/>
        </p:nvCxnSpPr>
        <p:spPr>
          <a:xfrm>
            <a:off x="7512050" y="2082800"/>
            <a:ext cx="0" cy="165000"/>
          </a:xfrm>
          <a:prstGeom prst="straightConnector1">
            <a:avLst/>
          </a:prstGeom>
          <a:noFill/>
          <a:ln cap="flat" cmpd="sng" w="25400">
            <a:solidFill>
              <a:srgbClr val="376DA5"/>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22"/>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Bacalao: trayectoria y TS a 38 kHz</a:t>
            </a:r>
            <a:endParaRPr b="1" sz="2900">
              <a:solidFill>
                <a:srgbClr val="16324F"/>
              </a:solidFill>
            </a:endParaRPr>
          </a:p>
        </p:txBody>
      </p:sp>
      <p:cxnSp>
        <p:nvCxnSpPr>
          <p:cNvPr id="200" name="Google Shape;200;p22"/>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201" name="Google Shape;201;p22"/>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Adaptación propia de F2, Bloque 2; McQuinn y Winger (2003), Tabla 1 y Figura 4.</a:t>
            </a:r>
            <a:endParaRPr sz="980">
              <a:solidFill>
                <a:srgbClr val="53616D"/>
              </a:solidFill>
            </a:endParaRPr>
          </a:p>
        </p:txBody>
      </p:sp>
      <p:sp>
        <p:nvSpPr>
          <p:cNvPr id="202" name="Google Shape;202;p22"/>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10</a:t>
            </a:r>
            <a:endParaRPr sz="1000">
              <a:solidFill>
                <a:srgbClr val="53616D"/>
              </a:solidFill>
            </a:endParaRPr>
          </a:p>
        </p:txBody>
      </p:sp>
      <p:cxnSp>
        <p:nvCxnSpPr>
          <p:cNvPr id="203" name="Google Shape;203;p22"/>
          <p:cNvCxnSpPr/>
          <p:nvPr/>
        </p:nvCxnSpPr>
        <p:spPr>
          <a:xfrm>
            <a:off x="990600" y="3595511"/>
            <a:ext cx="4927500" cy="0"/>
          </a:xfrm>
          <a:prstGeom prst="straightConnector1">
            <a:avLst/>
          </a:prstGeom>
          <a:noFill/>
          <a:ln cap="flat" cmpd="sng" w="8900">
            <a:solidFill>
              <a:srgbClr val="DCE4E8"/>
            </a:solidFill>
            <a:prstDash val="solid"/>
            <a:round/>
            <a:headEnd len="med" w="med" type="none"/>
            <a:tailEnd len="med" w="med" type="none"/>
          </a:ln>
        </p:spPr>
      </p:cxnSp>
      <p:sp>
        <p:nvSpPr>
          <p:cNvPr id="204" name="Google Shape;204;p22"/>
          <p:cNvSpPr txBox="1"/>
          <p:nvPr/>
        </p:nvSpPr>
        <p:spPr>
          <a:xfrm>
            <a:off x="431800" y="3481211"/>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-70</a:t>
            </a:r>
            <a:endParaRPr sz="1100">
              <a:solidFill>
                <a:srgbClr val="53616D"/>
              </a:solidFill>
            </a:endParaRPr>
          </a:p>
        </p:txBody>
      </p:sp>
      <p:cxnSp>
        <p:nvCxnSpPr>
          <p:cNvPr id="205" name="Google Shape;205;p22"/>
          <p:cNvCxnSpPr/>
          <p:nvPr/>
        </p:nvCxnSpPr>
        <p:spPr>
          <a:xfrm>
            <a:off x="990600" y="3115733"/>
            <a:ext cx="4927500" cy="0"/>
          </a:xfrm>
          <a:prstGeom prst="straightConnector1">
            <a:avLst/>
          </a:prstGeom>
          <a:noFill/>
          <a:ln cap="flat" cmpd="sng" w="8900">
            <a:solidFill>
              <a:srgbClr val="DCE4E8"/>
            </a:solidFill>
            <a:prstDash val="solid"/>
            <a:round/>
            <a:headEnd len="med" w="med" type="none"/>
            <a:tailEnd len="med" w="med" type="none"/>
          </a:ln>
        </p:spPr>
      </p:cxnSp>
      <p:sp>
        <p:nvSpPr>
          <p:cNvPr id="206" name="Google Shape;206;p22"/>
          <p:cNvSpPr txBox="1"/>
          <p:nvPr/>
        </p:nvSpPr>
        <p:spPr>
          <a:xfrm>
            <a:off x="431800" y="3001433"/>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-68</a:t>
            </a:r>
            <a:endParaRPr sz="1100">
              <a:solidFill>
                <a:srgbClr val="53616D"/>
              </a:solidFill>
            </a:endParaRPr>
          </a:p>
        </p:txBody>
      </p:sp>
      <p:cxnSp>
        <p:nvCxnSpPr>
          <p:cNvPr id="207" name="Google Shape;207;p22"/>
          <p:cNvCxnSpPr/>
          <p:nvPr/>
        </p:nvCxnSpPr>
        <p:spPr>
          <a:xfrm>
            <a:off x="990600" y="2635956"/>
            <a:ext cx="4927500" cy="0"/>
          </a:xfrm>
          <a:prstGeom prst="straightConnector1">
            <a:avLst/>
          </a:prstGeom>
          <a:noFill/>
          <a:ln cap="flat" cmpd="sng" w="8900">
            <a:solidFill>
              <a:srgbClr val="DCE4E8"/>
            </a:solidFill>
            <a:prstDash val="solid"/>
            <a:round/>
            <a:headEnd len="med" w="med" type="none"/>
            <a:tailEnd len="med" w="med" type="none"/>
          </a:ln>
        </p:spPr>
      </p:cxnSp>
      <p:sp>
        <p:nvSpPr>
          <p:cNvPr id="208" name="Google Shape;208;p22"/>
          <p:cNvSpPr txBox="1"/>
          <p:nvPr/>
        </p:nvSpPr>
        <p:spPr>
          <a:xfrm>
            <a:off x="431800" y="2521656"/>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-66</a:t>
            </a:r>
            <a:endParaRPr sz="1100">
              <a:solidFill>
                <a:srgbClr val="53616D"/>
              </a:solidFill>
            </a:endParaRPr>
          </a:p>
        </p:txBody>
      </p:sp>
      <p:cxnSp>
        <p:nvCxnSpPr>
          <p:cNvPr id="209" name="Google Shape;209;p22"/>
          <p:cNvCxnSpPr/>
          <p:nvPr/>
        </p:nvCxnSpPr>
        <p:spPr>
          <a:xfrm>
            <a:off x="990600" y="2156178"/>
            <a:ext cx="4927500" cy="0"/>
          </a:xfrm>
          <a:prstGeom prst="straightConnector1">
            <a:avLst/>
          </a:prstGeom>
          <a:noFill/>
          <a:ln cap="flat" cmpd="sng" w="8900">
            <a:solidFill>
              <a:srgbClr val="DCE4E8"/>
            </a:solidFill>
            <a:prstDash val="solid"/>
            <a:round/>
            <a:headEnd len="med" w="med" type="none"/>
            <a:tailEnd len="med" w="med" type="none"/>
          </a:ln>
        </p:spPr>
      </p:cxnSp>
      <p:sp>
        <p:nvSpPr>
          <p:cNvPr id="210" name="Google Shape;210;p22"/>
          <p:cNvSpPr txBox="1"/>
          <p:nvPr/>
        </p:nvSpPr>
        <p:spPr>
          <a:xfrm>
            <a:off x="431800" y="2041878"/>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-64</a:t>
            </a:r>
            <a:endParaRPr sz="1100">
              <a:solidFill>
                <a:srgbClr val="53616D"/>
              </a:solidFill>
            </a:endParaRPr>
          </a:p>
        </p:txBody>
      </p:sp>
      <p:cxnSp>
        <p:nvCxnSpPr>
          <p:cNvPr id="211" name="Google Shape;211;p22"/>
          <p:cNvCxnSpPr/>
          <p:nvPr/>
        </p:nvCxnSpPr>
        <p:spPr>
          <a:xfrm>
            <a:off x="990600" y="1676400"/>
            <a:ext cx="4927500" cy="0"/>
          </a:xfrm>
          <a:prstGeom prst="straightConnector1">
            <a:avLst/>
          </a:prstGeom>
          <a:noFill/>
          <a:ln cap="flat" cmpd="sng" w="8900">
            <a:solidFill>
              <a:srgbClr val="DCE4E8"/>
            </a:solidFill>
            <a:prstDash val="solid"/>
            <a:round/>
            <a:headEnd len="med" w="med" type="none"/>
            <a:tailEnd len="med" w="med" type="none"/>
          </a:ln>
        </p:spPr>
      </p:cxnSp>
      <p:sp>
        <p:nvSpPr>
          <p:cNvPr id="212" name="Google Shape;212;p22"/>
          <p:cNvSpPr txBox="1"/>
          <p:nvPr/>
        </p:nvSpPr>
        <p:spPr>
          <a:xfrm>
            <a:off x="431800" y="156210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-62</a:t>
            </a:r>
            <a:endParaRPr sz="1100">
              <a:solidFill>
                <a:srgbClr val="53616D"/>
              </a:solidFill>
            </a:endParaRPr>
          </a:p>
        </p:txBody>
      </p:sp>
      <p:cxnSp>
        <p:nvCxnSpPr>
          <p:cNvPr id="213" name="Google Shape;213;p22"/>
          <p:cNvCxnSpPr/>
          <p:nvPr/>
        </p:nvCxnSpPr>
        <p:spPr>
          <a:xfrm>
            <a:off x="990600" y="1676400"/>
            <a:ext cx="0" cy="2159100"/>
          </a:xfrm>
          <a:prstGeom prst="straightConnector1">
            <a:avLst/>
          </a:prstGeom>
          <a:noFill/>
          <a:ln cap="flat" cmpd="sng" w="12700">
            <a:solidFill>
              <a:srgbClr val="53616D"/>
            </a:solidFill>
            <a:prstDash val="solid"/>
            <a:round/>
            <a:headEnd len="med" w="med" type="none"/>
            <a:tailEnd len="med" w="med" type="none"/>
          </a:ln>
        </p:spPr>
      </p:cxnSp>
      <p:cxnSp>
        <p:nvCxnSpPr>
          <p:cNvPr id="214" name="Google Shape;214;p22"/>
          <p:cNvCxnSpPr/>
          <p:nvPr/>
        </p:nvCxnSpPr>
        <p:spPr>
          <a:xfrm>
            <a:off x="990600" y="3835400"/>
            <a:ext cx="4927500" cy="0"/>
          </a:xfrm>
          <a:prstGeom prst="straightConnector1">
            <a:avLst/>
          </a:prstGeom>
          <a:noFill/>
          <a:ln cap="flat" cmpd="sng" w="12700">
            <a:solidFill>
              <a:srgbClr val="53616D"/>
            </a:solidFill>
            <a:prstDash val="solid"/>
            <a:round/>
            <a:headEnd len="med" w="med" type="none"/>
            <a:tailEnd len="med" w="med" type="none"/>
          </a:ln>
        </p:spPr>
      </p:cxnSp>
      <p:cxnSp>
        <p:nvCxnSpPr>
          <p:cNvPr id="215" name="Google Shape;215;p22"/>
          <p:cNvCxnSpPr/>
          <p:nvPr/>
        </p:nvCxnSpPr>
        <p:spPr>
          <a:xfrm>
            <a:off x="990600"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16" name="Google Shape;216;p22"/>
          <p:cNvSpPr txBox="1"/>
          <p:nvPr/>
        </p:nvSpPr>
        <p:spPr>
          <a:xfrm>
            <a:off x="711200"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-2</a:t>
            </a:r>
            <a:endParaRPr sz="1100">
              <a:solidFill>
                <a:srgbClr val="53616D"/>
              </a:solidFill>
            </a:endParaRPr>
          </a:p>
        </p:txBody>
      </p:sp>
      <p:cxnSp>
        <p:nvCxnSpPr>
          <p:cNvPr id="217" name="Google Shape;217;p22"/>
          <p:cNvCxnSpPr/>
          <p:nvPr/>
        </p:nvCxnSpPr>
        <p:spPr>
          <a:xfrm>
            <a:off x="1694543"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18" name="Google Shape;218;p22"/>
          <p:cNvSpPr txBox="1"/>
          <p:nvPr/>
        </p:nvSpPr>
        <p:spPr>
          <a:xfrm>
            <a:off x="1415143"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0</a:t>
            </a:r>
            <a:endParaRPr sz="1100">
              <a:solidFill>
                <a:srgbClr val="53616D"/>
              </a:solidFill>
            </a:endParaRPr>
          </a:p>
        </p:txBody>
      </p:sp>
      <p:cxnSp>
        <p:nvCxnSpPr>
          <p:cNvPr id="219" name="Google Shape;219;p22"/>
          <p:cNvCxnSpPr/>
          <p:nvPr/>
        </p:nvCxnSpPr>
        <p:spPr>
          <a:xfrm>
            <a:off x="2398486"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20" name="Google Shape;220;p22"/>
          <p:cNvSpPr txBox="1"/>
          <p:nvPr/>
        </p:nvSpPr>
        <p:spPr>
          <a:xfrm>
            <a:off x="2119086"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2</a:t>
            </a:r>
            <a:endParaRPr sz="1100">
              <a:solidFill>
                <a:srgbClr val="53616D"/>
              </a:solidFill>
            </a:endParaRPr>
          </a:p>
        </p:txBody>
      </p:sp>
      <p:cxnSp>
        <p:nvCxnSpPr>
          <p:cNvPr id="221" name="Google Shape;221;p22"/>
          <p:cNvCxnSpPr/>
          <p:nvPr/>
        </p:nvCxnSpPr>
        <p:spPr>
          <a:xfrm>
            <a:off x="3102429"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22" name="Google Shape;222;p22"/>
          <p:cNvSpPr txBox="1"/>
          <p:nvPr/>
        </p:nvSpPr>
        <p:spPr>
          <a:xfrm>
            <a:off x="2823029"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4</a:t>
            </a:r>
            <a:endParaRPr sz="1100">
              <a:solidFill>
                <a:srgbClr val="53616D"/>
              </a:solidFill>
            </a:endParaRPr>
          </a:p>
        </p:txBody>
      </p:sp>
      <p:cxnSp>
        <p:nvCxnSpPr>
          <p:cNvPr id="223" name="Google Shape;223;p22"/>
          <p:cNvCxnSpPr/>
          <p:nvPr/>
        </p:nvCxnSpPr>
        <p:spPr>
          <a:xfrm>
            <a:off x="3806371"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24" name="Google Shape;224;p22"/>
          <p:cNvSpPr txBox="1"/>
          <p:nvPr/>
        </p:nvSpPr>
        <p:spPr>
          <a:xfrm>
            <a:off x="3526971"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6</a:t>
            </a:r>
            <a:endParaRPr sz="1100">
              <a:solidFill>
                <a:srgbClr val="53616D"/>
              </a:solidFill>
            </a:endParaRPr>
          </a:p>
        </p:txBody>
      </p:sp>
      <p:cxnSp>
        <p:nvCxnSpPr>
          <p:cNvPr id="225" name="Google Shape;225;p22"/>
          <p:cNvCxnSpPr/>
          <p:nvPr/>
        </p:nvCxnSpPr>
        <p:spPr>
          <a:xfrm>
            <a:off x="4510314"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26" name="Google Shape;226;p22"/>
          <p:cNvSpPr txBox="1"/>
          <p:nvPr/>
        </p:nvSpPr>
        <p:spPr>
          <a:xfrm>
            <a:off x="4230914"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8</a:t>
            </a:r>
            <a:endParaRPr sz="1100">
              <a:solidFill>
                <a:srgbClr val="53616D"/>
              </a:solidFill>
            </a:endParaRPr>
          </a:p>
        </p:txBody>
      </p:sp>
      <p:cxnSp>
        <p:nvCxnSpPr>
          <p:cNvPr id="227" name="Google Shape;227;p22"/>
          <p:cNvCxnSpPr/>
          <p:nvPr/>
        </p:nvCxnSpPr>
        <p:spPr>
          <a:xfrm>
            <a:off x="5214257"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28" name="Google Shape;228;p22"/>
          <p:cNvSpPr txBox="1"/>
          <p:nvPr/>
        </p:nvSpPr>
        <p:spPr>
          <a:xfrm>
            <a:off x="4934857"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10</a:t>
            </a:r>
            <a:endParaRPr sz="1100">
              <a:solidFill>
                <a:srgbClr val="53616D"/>
              </a:solidFill>
            </a:endParaRPr>
          </a:p>
        </p:txBody>
      </p:sp>
      <p:cxnSp>
        <p:nvCxnSpPr>
          <p:cNvPr id="229" name="Google Shape;229;p22"/>
          <p:cNvCxnSpPr/>
          <p:nvPr/>
        </p:nvCxnSpPr>
        <p:spPr>
          <a:xfrm>
            <a:off x="5918200"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230" name="Google Shape;230;p22"/>
          <p:cNvSpPr txBox="1"/>
          <p:nvPr/>
        </p:nvSpPr>
        <p:spPr>
          <a:xfrm>
            <a:off x="5638800"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12</a:t>
            </a:r>
            <a:endParaRPr sz="1100">
              <a:solidFill>
                <a:srgbClr val="53616D"/>
              </a:solidFill>
            </a:endParaRPr>
          </a:p>
        </p:txBody>
      </p:sp>
      <p:sp>
        <p:nvSpPr>
          <p:cNvPr id="231" name="Google Shape;231;p22"/>
          <p:cNvSpPr txBox="1"/>
          <p:nvPr/>
        </p:nvSpPr>
        <p:spPr>
          <a:xfrm>
            <a:off x="1422400" y="4203700"/>
            <a:ext cx="4064100" cy="342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200">
                <a:solidFill>
                  <a:srgbClr val="53616D"/>
                </a:solidFill>
              </a:rPr>
              <a:t>Ángulo medio de trayectoria (°)</a:t>
            </a:r>
            <a:endParaRPr sz="1200">
              <a:solidFill>
                <a:srgbClr val="53616D"/>
              </a:solidFill>
            </a:endParaRPr>
          </a:p>
        </p:txBody>
      </p:sp>
      <p:sp>
        <p:nvSpPr>
          <p:cNvPr id="232" name="Google Shape;232;p22"/>
          <p:cNvSpPr txBox="1"/>
          <p:nvPr/>
        </p:nvSpPr>
        <p:spPr>
          <a:xfrm>
            <a:off x="812800" y="1308100"/>
            <a:ext cx="51561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200">
                <a:solidFill>
                  <a:srgbClr val="53616D"/>
                </a:solidFill>
              </a:rPr>
              <a:t>B20 (dB re 1 m²)</a:t>
            </a:r>
            <a:endParaRPr sz="1200">
              <a:solidFill>
                <a:srgbClr val="53616D"/>
              </a:solidFill>
            </a:endParaRPr>
          </a:p>
        </p:txBody>
      </p:sp>
      <p:sp>
        <p:nvSpPr>
          <p:cNvPr id="233" name="Google Shape;233;p22"/>
          <p:cNvSpPr/>
          <p:nvPr/>
        </p:nvSpPr>
        <p:spPr>
          <a:xfrm>
            <a:off x="2075289" y="1998133"/>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2"/>
          <p:cNvSpPr/>
          <p:nvPr/>
        </p:nvSpPr>
        <p:spPr>
          <a:xfrm>
            <a:off x="1452299" y="2118078"/>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2"/>
          <p:cNvSpPr/>
          <p:nvPr/>
        </p:nvSpPr>
        <p:spPr>
          <a:xfrm>
            <a:off x="3993533" y="3029656"/>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2"/>
          <p:cNvSpPr/>
          <p:nvPr/>
        </p:nvSpPr>
        <p:spPr>
          <a:xfrm>
            <a:off x="3416300" y="3101622"/>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2"/>
          <p:cNvSpPr/>
          <p:nvPr/>
        </p:nvSpPr>
        <p:spPr>
          <a:xfrm>
            <a:off x="4451096" y="3101622"/>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2"/>
          <p:cNvSpPr/>
          <p:nvPr/>
        </p:nvSpPr>
        <p:spPr>
          <a:xfrm>
            <a:off x="2465977" y="2214033"/>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2"/>
          <p:cNvSpPr/>
          <p:nvPr/>
        </p:nvSpPr>
        <p:spPr>
          <a:xfrm>
            <a:off x="2842587" y="2621844"/>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2"/>
          <p:cNvSpPr/>
          <p:nvPr/>
        </p:nvSpPr>
        <p:spPr>
          <a:xfrm>
            <a:off x="2663081" y="2477911"/>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2"/>
          <p:cNvSpPr/>
          <p:nvPr/>
        </p:nvSpPr>
        <p:spPr>
          <a:xfrm>
            <a:off x="2152723" y="2118078"/>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22"/>
          <p:cNvSpPr/>
          <p:nvPr/>
        </p:nvSpPr>
        <p:spPr>
          <a:xfrm>
            <a:off x="2687719" y="2477911"/>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2"/>
          <p:cNvSpPr/>
          <p:nvPr/>
        </p:nvSpPr>
        <p:spPr>
          <a:xfrm>
            <a:off x="2487095" y="2621844"/>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2"/>
          <p:cNvSpPr/>
          <p:nvPr/>
        </p:nvSpPr>
        <p:spPr>
          <a:xfrm>
            <a:off x="5299347" y="3437467"/>
            <a:ext cx="76200" cy="762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5" name="Google Shape;245;p22"/>
          <p:cNvCxnSpPr/>
          <p:nvPr/>
        </p:nvCxnSpPr>
        <p:spPr>
          <a:xfrm flipH="1" rot="10800000">
            <a:off x="1694543" y="1994544"/>
            <a:ext cx="87900" cy="17700"/>
          </a:xfrm>
          <a:prstGeom prst="straightConnector1">
            <a:avLst/>
          </a:prstGeom>
          <a:noFill/>
          <a:ln cap="flat" cmpd="sng" w="20325">
            <a:solidFill>
              <a:srgbClr val="376DA5"/>
            </a:solidFill>
            <a:prstDash val="solid"/>
            <a:round/>
            <a:headEnd len="med" w="med" type="none"/>
            <a:tailEnd len="med" w="med" type="none"/>
          </a:ln>
        </p:spPr>
      </p:cxnSp>
      <p:cxnSp>
        <p:nvCxnSpPr>
          <p:cNvPr id="246" name="Google Shape;246;p22"/>
          <p:cNvCxnSpPr/>
          <p:nvPr/>
        </p:nvCxnSpPr>
        <p:spPr>
          <a:xfrm>
            <a:off x="1782536" y="1994518"/>
            <a:ext cx="87900" cy="2400"/>
          </a:xfrm>
          <a:prstGeom prst="straightConnector1">
            <a:avLst/>
          </a:prstGeom>
          <a:noFill/>
          <a:ln cap="flat" cmpd="sng" w="20325">
            <a:solidFill>
              <a:srgbClr val="376DA5"/>
            </a:solidFill>
            <a:prstDash val="solid"/>
            <a:round/>
            <a:headEnd len="med" w="med" type="none"/>
            <a:tailEnd len="med" w="med" type="none"/>
          </a:ln>
        </p:spPr>
      </p:cxnSp>
      <p:cxnSp>
        <p:nvCxnSpPr>
          <p:cNvPr id="247" name="Google Shape;247;p22"/>
          <p:cNvCxnSpPr/>
          <p:nvPr/>
        </p:nvCxnSpPr>
        <p:spPr>
          <a:xfrm>
            <a:off x="1870529" y="1996779"/>
            <a:ext cx="87900" cy="19500"/>
          </a:xfrm>
          <a:prstGeom prst="straightConnector1">
            <a:avLst/>
          </a:prstGeom>
          <a:noFill/>
          <a:ln cap="flat" cmpd="sng" w="20325">
            <a:solidFill>
              <a:srgbClr val="376DA5"/>
            </a:solidFill>
            <a:prstDash val="solid"/>
            <a:round/>
            <a:headEnd len="med" w="med" type="none"/>
            <a:tailEnd len="med" w="med" type="none"/>
          </a:ln>
        </p:spPr>
      </p:cxnSp>
      <p:cxnSp>
        <p:nvCxnSpPr>
          <p:cNvPr id="248" name="Google Shape;248;p22"/>
          <p:cNvCxnSpPr/>
          <p:nvPr/>
        </p:nvCxnSpPr>
        <p:spPr>
          <a:xfrm>
            <a:off x="1958521" y="2016302"/>
            <a:ext cx="87900" cy="34200"/>
          </a:xfrm>
          <a:prstGeom prst="straightConnector1">
            <a:avLst/>
          </a:prstGeom>
          <a:noFill/>
          <a:ln cap="flat" cmpd="sng" w="20325">
            <a:solidFill>
              <a:srgbClr val="376DA5"/>
            </a:solidFill>
            <a:prstDash val="solid"/>
            <a:round/>
            <a:headEnd len="med" w="med" type="none"/>
            <a:tailEnd len="med" w="med" type="none"/>
          </a:ln>
        </p:spPr>
      </p:cxnSp>
      <p:cxnSp>
        <p:nvCxnSpPr>
          <p:cNvPr id="249" name="Google Shape;249;p22"/>
          <p:cNvCxnSpPr/>
          <p:nvPr/>
        </p:nvCxnSpPr>
        <p:spPr>
          <a:xfrm>
            <a:off x="2046514" y="2050507"/>
            <a:ext cx="87900" cy="46500"/>
          </a:xfrm>
          <a:prstGeom prst="straightConnector1">
            <a:avLst/>
          </a:prstGeom>
          <a:noFill/>
          <a:ln cap="flat" cmpd="sng" w="20325">
            <a:solidFill>
              <a:srgbClr val="376DA5"/>
            </a:solidFill>
            <a:prstDash val="solid"/>
            <a:round/>
            <a:headEnd len="med" w="med" type="none"/>
            <a:tailEnd len="med" w="med" type="none"/>
          </a:ln>
        </p:spPr>
      </p:cxnSp>
      <p:cxnSp>
        <p:nvCxnSpPr>
          <p:cNvPr id="250" name="Google Shape;250;p22"/>
          <p:cNvCxnSpPr/>
          <p:nvPr/>
        </p:nvCxnSpPr>
        <p:spPr>
          <a:xfrm>
            <a:off x="2134507" y="2096958"/>
            <a:ext cx="87900" cy="56400"/>
          </a:xfrm>
          <a:prstGeom prst="straightConnector1">
            <a:avLst/>
          </a:prstGeom>
          <a:noFill/>
          <a:ln cap="flat" cmpd="sng" w="20325">
            <a:solidFill>
              <a:srgbClr val="376DA5"/>
            </a:solidFill>
            <a:prstDash val="solid"/>
            <a:round/>
            <a:headEnd len="med" w="med" type="none"/>
            <a:tailEnd len="med" w="med" type="none"/>
          </a:ln>
        </p:spPr>
      </p:cxnSp>
      <p:cxnSp>
        <p:nvCxnSpPr>
          <p:cNvPr id="251" name="Google Shape;251;p22"/>
          <p:cNvCxnSpPr/>
          <p:nvPr/>
        </p:nvCxnSpPr>
        <p:spPr>
          <a:xfrm>
            <a:off x="2222500" y="2153367"/>
            <a:ext cx="87900" cy="64200"/>
          </a:xfrm>
          <a:prstGeom prst="straightConnector1">
            <a:avLst/>
          </a:prstGeom>
          <a:noFill/>
          <a:ln cap="flat" cmpd="sng" w="20325">
            <a:solidFill>
              <a:srgbClr val="376DA5"/>
            </a:solidFill>
            <a:prstDash val="solid"/>
            <a:round/>
            <a:headEnd len="med" w="med" type="none"/>
            <a:tailEnd len="med" w="med" type="none"/>
          </a:ln>
        </p:spPr>
      </p:cxnSp>
      <p:cxnSp>
        <p:nvCxnSpPr>
          <p:cNvPr id="252" name="Google Shape;252;p22"/>
          <p:cNvCxnSpPr/>
          <p:nvPr/>
        </p:nvCxnSpPr>
        <p:spPr>
          <a:xfrm>
            <a:off x="2310493" y="2217592"/>
            <a:ext cx="87900" cy="69900"/>
          </a:xfrm>
          <a:prstGeom prst="straightConnector1">
            <a:avLst/>
          </a:prstGeom>
          <a:noFill/>
          <a:ln cap="flat" cmpd="sng" w="20325">
            <a:solidFill>
              <a:srgbClr val="376DA5"/>
            </a:solidFill>
            <a:prstDash val="solid"/>
            <a:round/>
            <a:headEnd len="med" w="med" type="none"/>
            <a:tailEnd len="med" w="med" type="none"/>
          </a:ln>
        </p:spPr>
      </p:cxnSp>
      <p:cxnSp>
        <p:nvCxnSpPr>
          <p:cNvPr id="253" name="Google Shape;253;p22"/>
          <p:cNvCxnSpPr/>
          <p:nvPr/>
        </p:nvCxnSpPr>
        <p:spPr>
          <a:xfrm>
            <a:off x="2398486" y="2287637"/>
            <a:ext cx="87900" cy="74100"/>
          </a:xfrm>
          <a:prstGeom prst="straightConnector1">
            <a:avLst/>
          </a:prstGeom>
          <a:noFill/>
          <a:ln cap="flat" cmpd="sng" w="20325">
            <a:solidFill>
              <a:srgbClr val="376DA5"/>
            </a:solidFill>
            <a:prstDash val="solid"/>
            <a:round/>
            <a:headEnd len="med" w="med" type="none"/>
            <a:tailEnd len="med" w="med" type="none"/>
          </a:ln>
        </p:spPr>
      </p:cxnSp>
      <p:cxnSp>
        <p:nvCxnSpPr>
          <p:cNvPr id="254" name="Google Shape;254;p22"/>
          <p:cNvCxnSpPr/>
          <p:nvPr/>
        </p:nvCxnSpPr>
        <p:spPr>
          <a:xfrm>
            <a:off x="2486479" y="2361652"/>
            <a:ext cx="87900" cy="76200"/>
          </a:xfrm>
          <a:prstGeom prst="straightConnector1">
            <a:avLst/>
          </a:prstGeom>
          <a:noFill/>
          <a:ln cap="flat" cmpd="sng" w="20325">
            <a:solidFill>
              <a:srgbClr val="376DA5"/>
            </a:solidFill>
            <a:prstDash val="solid"/>
            <a:round/>
            <a:headEnd len="med" w="med" type="none"/>
            <a:tailEnd len="med" w="med" type="none"/>
          </a:ln>
        </p:spPr>
      </p:cxnSp>
      <p:cxnSp>
        <p:nvCxnSpPr>
          <p:cNvPr id="255" name="Google Shape;255;p22"/>
          <p:cNvCxnSpPr/>
          <p:nvPr/>
        </p:nvCxnSpPr>
        <p:spPr>
          <a:xfrm>
            <a:off x="2574471" y="2437935"/>
            <a:ext cx="87900" cy="77100"/>
          </a:xfrm>
          <a:prstGeom prst="straightConnector1">
            <a:avLst/>
          </a:prstGeom>
          <a:noFill/>
          <a:ln cap="flat" cmpd="sng" w="20325">
            <a:solidFill>
              <a:srgbClr val="376DA5"/>
            </a:solidFill>
            <a:prstDash val="solid"/>
            <a:round/>
            <a:headEnd len="med" w="med" type="none"/>
            <a:tailEnd len="med" w="med" type="none"/>
          </a:ln>
        </p:spPr>
      </p:cxnSp>
      <p:cxnSp>
        <p:nvCxnSpPr>
          <p:cNvPr id="256" name="Google Shape;256;p22"/>
          <p:cNvCxnSpPr/>
          <p:nvPr/>
        </p:nvCxnSpPr>
        <p:spPr>
          <a:xfrm>
            <a:off x="2662464" y="2514926"/>
            <a:ext cx="87900" cy="76200"/>
          </a:xfrm>
          <a:prstGeom prst="straightConnector1">
            <a:avLst/>
          </a:prstGeom>
          <a:noFill/>
          <a:ln cap="flat" cmpd="sng" w="20325">
            <a:solidFill>
              <a:srgbClr val="376DA5"/>
            </a:solidFill>
            <a:prstDash val="solid"/>
            <a:round/>
            <a:headEnd len="med" w="med" type="none"/>
            <a:tailEnd len="med" w="med" type="none"/>
          </a:ln>
        </p:spPr>
      </p:cxnSp>
      <p:cxnSp>
        <p:nvCxnSpPr>
          <p:cNvPr id="257" name="Google Shape;257;p22"/>
          <p:cNvCxnSpPr/>
          <p:nvPr/>
        </p:nvCxnSpPr>
        <p:spPr>
          <a:xfrm>
            <a:off x="2750457" y="2591216"/>
            <a:ext cx="87900" cy="74400"/>
          </a:xfrm>
          <a:prstGeom prst="straightConnector1">
            <a:avLst/>
          </a:prstGeom>
          <a:noFill/>
          <a:ln cap="flat" cmpd="sng" w="20325">
            <a:solidFill>
              <a:srgbClr val="376DA5"/>
            </a:solidFill>
            <a:prstDash val="solid"/>
            <a:round/>
            <a:headEnd len="med" w="med" type="none"/>
            <a:tailEnd len="med" w="med" type="none"/>
          </a:ln>
        </p:spPr>
      </p:cxnSp>
      <p:cxnSp>
        <p:nvCxnSpPr>
          <p:cNvPr id="258" name="Google Shape;258;p22"/>
          <p:cNvCxnSpPr/>
          <p:nvPr/>
        </p:nvCxnSpPr>
        <p:spPr>
          <a:xfrm>
            <a:off x="2838450" y="2665539"/>
            <a:ext cx="87900" cy="71100"/>
          </a:xfrm>
          <a:prstGeom prst="straightConnector1">
            <a:avLst/>
          </a:prstGeom>
          <a:noFill/>
          <a:ln cap="flat" cmpd="sng" w="20325">
            <a:solidFill>
              <a:srgbClr val="376DA5"/>
            </a:solidFill>
            <a:prstDash val="solid"/>
            <a:round/>
            <a:headEnd len="med" w="med" type="none"/>
            <a:tailEnd len="med" w="med" type="none"/>
          </a:ln>
        </p:spPr>
      </p:cxnSp>
      <p:cxnSp>
        <p:nvCxnSpPr>
          <p:cNvPr id="259" name="Google Shape;259;p22"/>
          <p:cNvCxnSpPr/>
          <p:nvPr/>
        </p:nvCxnSpPr>
        <p:spPr>
          <a:xfrm>
            <a:off x="2926443" y="2736776"/>
            <a:ext cx="87900" cy="67200"/>
          </a:xfrm>
          <a:prstGeom prst="straightConnector1">
            <a:avLst/>
          </a:prstGeom>
          <a:noFill/>
          <a:ln cap="flat" cmpd="sng" w="20325">
            <a:solidFill>
              <a:srgbClr val="376DA5"/>
            </a:solidFill>
            <a:prstDash val="solid"/>
            <a:round/>
            <a:headEnd len="med" w="med" type="none"/>
            <a:tailEnd len="med" w="med" type="none"/>
          </a:ln>
        </p:spPr>
      </p:cxnSp>
      <p:cxnSp>
        <p:nvCxnSpPr>
          <p:cNvPr id="260" name="Google Shape;260;p22"/>
          <p:cNvCxnSpPr/>
          <p:nvPr/>
        </p:nvCxnSpPr>
        <p:spPr>
          <a:xfrm>
            <a:off x="3014436" y="2803955"/>
            <a:ext cx="87900" cy="62400"/>
          </a:xfrm>
          <a:prstGeom prst="straightConnector1">
            <a:avLst/>
          </a:prstGeom>
          <a:noFill/>
          <a:ln cap="flat" cmpd="sng" w="20325">
            <a:solidFill>
              <a:srgbClr val="376DA5"/>
            </a:solidFill>
            <a:prstDash val="solid"/>
            <a:round/>
            <a:headEnd len="med" w="med" type="none"/>
            <a:tailEnd len="med" w="med" type="none"/>
          </a:ln>
        </p:spPr>
      </p:cxnSp>
      <p:cxnSp>
        <p:nvCxnSpPr>
          <p:cNvPr id="261" name="Google Shape;261;p22"/>
          <p:cNvCxnSpPr/>
          <p:nvPr/>
        </p:nvCxnSpPr>
        <p:spPr>
          <a:xfrm>
            <a:off x="3102429" y="2866249"/>
            <a:ext cx="87900" cy="56700"/>
          </a:xfrm>
          <a:prstGeom prst="straightConnector1">
            <a:avLst/>
          </a:prstGeom>
          <a:noFill/>
          <a:ln cap="flat" cmpd="sng" w="20325">
            <a:solidFill>
              <a:srgbClr val="376DA5"/>
            </a:solidFill>
            <a:prstDash val="solid"/>
            <a:round/>
            <a:headEnd len="med" w="med" type="none"/>
            <a:tailEnd len="med" w="med" type="none"/>
          </a:ln>
        </p:spPr>
      </p:cxnSp>
      <p:cxnSp>
        <p:nvCxnSpPr>
          <p:cNvPr id="262" name="Google Shape;262;p22"/>
          <p:cNvCxnSpPr/>
          <p:nvPr/>
        </p:nvCxnSpPr>
        <p:spPr>
          <a:xfrm>
            <a:off x="3190421" y="2922977"/>
            <a:ext cx="87900" cy="50700"/>
          </a:xfrm>
          <a:prstGeom prst="straightConnector1">
            <a:avLst/>
          </a:prstGeom>
          <a:noFill/>
          <a:ln cap="flat" cmpd="sng" w="20325">
            <a:solidFill>
              <a:srgbClr val="376DA5"/>
            </a:solidFill>
            <a:prstDash val="solid"/>
            <a:round/>
            <a:headEnd len="med" w="med" type="none"/>
            <a:tailEnd len="med" w="med" type="none"/>
          </a:ln>
        </p:spPr>
      </p:cxnSp>
      <p:cxnSp>
        <p:nvCxnSpPr>
          <p:cNvPr id="263" name="Google Shape;263;p22"/>
          <p:cNvCxnSpPr/>
          <p:nvPr/>
        </p:nvCxnSpPr>
        <p:spPr>
          <a:xfrm>
            <a:off x="3278414" y="2973607"/>
            <a:ext cx="87900" cy="44100"/>
          </a:xfrm>
          <a:prstGeom prst="straightConnector1">
            <a:avLst/>
          </a:prstGeom>
          <a:noFill/>
          <a:ln cap="flat" cmpd="sng" w="20325">
            <a:solidFill>
              <a:srgbClr val="376DA5"/>
            </a:solidFill>
            <a:prstDash val="solid"/>
            <a:round/>
            <a:headEnd len="med" w="med" type="none"/>
            <a:tailEnd len="med" w="med" type="none"/>
          </a:ln>
        </p:spPr>
      </p:cxnSp>
      <p:cxnSp>
        <p:nvCxnSpPr>
          <p:cNvPr id="264" name="Google Shape;264;p22"/>
          <p:cNvCxnSpPr/>
          <p:nvPr/>
        </p:nvCxnSpPr>
        <p:spPr>
          <a:xfrm>
            <a:off x="3366407" y="3017749"/>
            <a:ext cx="87900" cy="37500"/>
          </a:xfrm>
          <a:prstGeom prst="straightConnector1">
            <a:avLst/>
          </a:prstGeom>
          <a:noFill/>
          <a:ln cap="flat" cmpd="sng" w="20325">
            <a:solidFill>
              <a:srgbClr val="376DA5"/>
            </a:solidFill>
            <a:prstDash val="solid"/>
            <a:round/>
            <a:headEnd len="med" w="med" type="none"/>
            <a:tailEnd len="med" w="med" type="none"/>
          </a:ln>
        </p:spPr>
      </p:cxnSp>
      <p:cxnSp>
        <p:nvCxnSpPr>
          <p:cNvPr id="265" name="Google Shape;265;p22"/>
          <p:cNvCxnSpPr/>
          <p:nvPr/>
        </p:nvCxnSpPr>
        <p:spPr>
          <a:xfrm>
            <a:off x="3454400" y="3055161"/>
            <a:ext cx="87900" cy="30600"/>
          </a:xfrm>
          <a:prstGeom prst="straightConnector1">
            <a:avLst/>
          </a:prstGeom>
          <a:noFill/>
          <a:ln cap="flat" cmpd="sng" w="20325">
            <a:solidFill>
              <a:srgbClr val="376DA5"/>
            </a:solidFill>
            <a:prstDash val="solid"/>
            <a:round/>
            <a:headEnd len="med" w="med" type="none"/>
            <a:tailEnd len="med" w="med" type="none"/>
          </a:ln>
        </p:spPr>
      </p:cxnSp>
      <p:cxnSp>
        <p:nvCxnSpPr>
          <p:cNvPr id="266" name="Google Shape;266;p22"/>
          <p:cNvCxnSpPr/>
          <p:nvPr/>
        </p:nvCxnSpPr>
        <p:spPr>
          <a:xfrm>
            <a:off x="3542393" y="3085750"/>
            <a:ext cx="87900" cy="23700"/>
          </a:xfrm>
          <a:prstGeom prst="straightConnector1">
            <a:avLst/>
          </a:prstGeom>
          <a:noFill/>
          <a:ln cap="flat" cmpd="sng" w="20325">
            <a:solidFill>
              <a:srgbClr val="376DA5"/>
            </a:solidFill>
            <a:prstDash val="solid"/>
            <a:round/>
            <a:headEnd len="med" w="med" type="none"/>
            <a:tailEnd len="med" w="med" type="none"/>
          </a:ln>
        </p:spPr>
      </p:cxnSp>
      <p:cxnSp>
        <p:nvCxnSpPr>
          <p:cNvPr id="267" name="Google Shape;267;p22"/>
          <p:cNvCxnSpPr/>
          <p:nvPr/>
        </p:nvCxnSpPr>
        <p:spPr>
          <a:xfrm>
            <a:off x="3630386" y="3109564"/>
            <a:ext cx="87900" cy="17100"/>
          </a:xfrm>
          <a:prstGeom prst="straightConnector1">
            <a:avLst/>
          </a:prstGeom>
          <a:noFill/>
          <a:ln cap="flat" cmpd="sng" w="20325">
            <a:solidFill>
              <a:srgbClr val="376DA5"/>
            </a:solidFill>
            <a:prstDash val="solid"/>
            <a:round/>
            <a:headEnd len="med" w="med" type="none"/>
            <a:tailEnd len="med" w="med" type="none"/>
          </a:ln>
        </p:spPr>
      </p:cxnSp>
      <p:cxnSp>
        <p:nvCxnSpPr>
          <p:cNvPr id="268" name="Google Shape;268;p22"/>
          <p:cNvCxnSpPr/>
          <p:nvPr/>
        </p:nvCxnSpPr>
        <p:spPr>
          <a:xfrm>
            <a:off x="3718379" y="3126801"/>
            <a:ext cx="87900" cy="11100"/>
          </a:xfrm>
          <a:prstGeom prst="straightConnector1">
            <a:avLst/>
          </a:prstGeom>
          <a:noFill/>
          <a:ln cap="flat" cmpd="sng" w="20325">
            <a:solidFill>
              <a:srgbClr val="376DA5"/>
            </a:solidFill>
            <a:prstDash val="solid"/>
            <a:round/>
            <a:headEnd len="med" w="med" type="none"/>
            <a:tailEnd len="med" w="med" type="none"/>
          </a:ln>
        </p:spPr>
      </p:cxnSp>
      <p:cxnSp>
        <p:nvCxnSpPr>
          <p:cNvPr id="269" name="Google Shape;269;p22"/>
          <p:cNvCxnSpPr/>
          <p:nvPr/>
        </p:nvCxnSpPr>
        <p:spPr>
          <a:xfrm>
            <a:off x="3806371" y="3137803"/>
            <a:ext cx="87900" cy="5400"/>
          </a:xfrm>
          <a:prstGeom prst="straightConnector1">
            <a:avLst/>
          </a:prstGeom>
          <a:noFill/>
          <a:ln cap="flat" cmpd="sng" w="20325">
            <a:solidFill>
              <a:srgbClr val="376DA5"/>
            </a:solidFill>
            <a:prstDash val="solid"/>
            <a:round/>
            <a:headEnd len="med" w="med" type="none"/>
            <a:tailEnd len="med" w="med" type="none"/>
          </a:ln>
        </p:spPr>
      </p:cxnSp>
      <p:cxnSp>
        <p:nvCxnSpPr>
          <p:cNvPr id="270" name="Google Shape;270;p22"/>
          <p:cNvCxnSpPr/>
          <p:nvPr/>
        </p:nvCxnSpPr>
        <p:spPr>
          <a:xfrm>
            <a:off x="3894364" y="3143061"/>
            <a:ext cx="87900" cy="0"/>
          </a:xfrm>
          <a:prstGeom prst="straightConnector1">
            <a:avLst/>
          </a:prstGeom>
          <a:noFill/>
          <a:ln cap="flat" cmpd="sng" w="20325">
            <a:solidFill>
              <a:srgbClr val="376DA5"/>
            </a:solidFill>
            <a:prstDash val="solid"/>
            <a:round/>
            <a:headEnd len="med" w="med" type="none"/>
            <a:tailEnd len="med" w="med" type="none"/>
          </a:ln>
        </p:spPr>
      </p:cxnSp>
      <p:cxnSp>
        <p:nvCxnSpPr>
          <p:cNvPr id="271" name="Google Shape;271;p22"/>
          <p:cNvCxnSpPr/>
          <p:nvPr/>
        </p:nvCxnSpPr>
        <p:spPr>
          <a:xfrm flipH="1" rot="10800000">
            <a:off x="3982357" y="3139008"/>
            <a:ext cx="87900" cy="4200"/>
          </a:xfrm>
          <a:prstGeom prst="straightConnector1">
            <a:avLst/>
          </a:prstGeom>
          <a:noFill/>
          <a:ln cap="flat" cmpd="sng" w="20325">
            <a:solidFill>
              <a:srgbClr val="376DA5"/>
            </a:solidFill>
            <a:prstDash val="solid"/>
            <a:round/>
            <a:headEnd len="med" w="med" type="none"/>
            <a:tailEnd len="med" w="med" type="none"/>
          </a:ln>
        </p:spPr>
      </p:cxnSp>
      <p:cxnSp>
        <p:nvCxnSpPr>
          <p:cNvPr id="272" name="Google Shape;272;p22"/>
          <p:cNvCxnSpPr/>
          <p:nvPr/>
        </p:nvCxnSpPr>
        <p:spPr>
          <a:xfrm flipH="1" rot="10800000">
            <a:off x="4070350" y="3131527"/>
            <a:ext cx="87900" cy="7500"/>
          </a:xfrm>
          <a:prstGeom prst="straightConnector1">
            <a:avLst/>
          </a:prstGeom>
          <a:noFill/>
          <a:ln cap="flat" cmpd="sng" w="20325">
            <a:solidFill>
              <a:srgbClr val="376DA5"/>
            </a:solidFill>
            <a:prstDash val="solid"/>
            <a:round/>
            <a:headEnd len="med" w="med" type="none"/>
            <a:tailEnd len="med" w="med" type="none"/>
          </a:ln>
        </p:spPr>
      </p:cxnSp>
      <p:cxnSp>
        <p:nvCxnSpPr>
          <p:cNvPr id="273" name="Google Shape;273;p22"/>
          <p:cNvCxnSpPr/>
          <p:nvPr/>
        </p:nvCxnSpPr>
        <p:spPr>
          <a:xfrm flipH="1" rot="10800000">
            <a:off x="4158343" y="3121546"/>
            <a:ext cx="87900" cy="9900"/>
          </a:xfrm>
          <a:prstGeom prst="straightConnector1">
            <a:avLst/>
          </a:prstGeom>
          <a:noFill/>
          <a:ln cap="flat" cmpd="sng" w="20325">
            <a:solidFill>
              <a:srgbClr val="376DA5"/>
            </a:solidFill>
            <a:prstDash val="solid"/>
            <a:round/>
            <a:headEnd len="med" w="med" type="none"/>
            <a:tailEnd len="med" w="med" type="none"/>
          </a:ln>
        </p:spPr>
      </p:cxnSp>
      <p:cxnSp>
        <p:nvCxnSpPr>
          <p:cNvPr id="274" name="Google Shape;274;p22"/>
          <p:cNvCxnSpPr/>
          <p:nvPr/>
        </p:nvCxnSpPr>
        <p:spPr>
          <a:xfrm flipH="1" rot="10800000">
            <a:off x="4246336" y="3110438"/>
            <a:ext cx="87900" cy="11100"/>
          </a:xfrm>
          <a:prstGeom prst="straightConnector1">
            <a:avLst/>
          </a:prstGeom>
          <a:noFill/>
          <a:ln cap="flat" cmpd="sng" w="20325">
            <a:solidFill>
              <a:srgbClr val="376DA5"/>
            </a:solidFill>
            <a:prstDash val="solid"/>
            <a:round/>
            <a:headEnd len="med" w="med" type="none"/>
            <a:tailEnd len="med" w="med" type="none"/>
          </a:ln>
        </p:spPr>
      </p:cxnSp>
      <p:cxnSp>
        <p:nvCxnSpPr>
          <p:cNvPr id="275" name="Google Shape;275;p22"/>
          <p:cNvCxnSpPr/>
          <p:nvPr/>
        </p:nvCxnSpPr>
        <p:spPr>
          <a:xfrm flipH="1" rot="10800000">
            <a:off x="4334329" y="3099723"/>
            <a:ext cx="87900" cy="10800"/>
          </a:xfrm>
          <a:prstGeom prst="straightConnector1">
            <a:avLst/>
          </a:prstGeom>
          <a:noFill/>
          <a:ln cap="flat" cmpd="sng" w="20325">
            <a:solidFill>
              <a:srgbClr val="376DA5"/>
            </a:solidFill>
            <a:prstDash val="solid"/>
            <a:round/>
            <a:headEnd len="med" w="med" type="none"/>
            <a:tailEnd len="med" w="med" type="none"/>
          </a:ln>
        </p:spPr>
      </p:cxnSp>
      <p:cxnSp>
        <p:nvCxnSpPr>
          <p:cNvPr id="276" name="Google Shape;276;p22"/>
          <p:cNvCxnSpPr/>
          <p:nvPr/>
        </p:nvCxnSpPr>
        <p:spPr>
          <a:xfrm flipH="1" rot="10800000">
            <a:off x="4422321" y="3090768"/>
            <a:ext cx="87900" cy="9000"/>
          </a:xfrm>
          <a:prstGeom prst="straightConnector1">
            <a:avLst/>
          </a:prstGeom>
          <a:noFill/>
          <a:ln cap="flat" cmpd="sng" w="20325">
            <a:solidFill>
              <a:srgbClr val="376DA5"/>
            </a:solidFill>
            <a:prstDash val="solid"/>
            <a:round/>
            <a:headEnd len="med" w="med" type="none"/>
            <a:tailEnd len="med" w="med" type="none"/>
          </a:ln>
        </p:spPr>
      </p:cxnSp>
      <p:cxnSp>
        <p:nvCxnSpPr>
          <p:cNvPr id="277" name="Google Shape;277;p22"/>
          <p:cNvCxnSpPr/>
          <p:nvPr/>
        </p:nvCxnSpPr>
        <p:spPr>
          <a:xfrm flipH="1" rot="10800000">
            <a:off x="4510314" y="3085085"/>
            <a:ext cx="87900" cy="5700"/>
          </a:xfrm>
          <a:prstGeom prst="straightConnector1">
            <a:avLst/>
          </a:prstGeom>
          <a:noFill/>
          <a:ln cap="flat" cmpd="sng" w="20325">
            <a:solidFill>
              <a:srgbClr val="376DA5"/>
            </a:solidFill>
            <a:prstDash val="solid"/>
            <a:round/>
            <a:headEnd len="med" w="med" type="none"/>
            <a:tailEnd len="med" w="med" type="none"/>
          </a:ln>
        </p:spPr>
      </p:cxnSp>
      <p:cxnSp>
        <p:nvCxnSpPr>
          <p:cNvPr id="278" name="Google Shape;278;p22"/>
          <p:cNvCxnSpPr/>
          <p:nvPr/>
        </p:nvCxnSpPr>
        <p:spPr>
          <a:xfrm flipH="1" rot="10800000">
            <a:off x="4598307" y="3084932"/>
            <a:ext cx="87900" cy="300"/>
          </a:xfrm>
          <a:prstGeom prst="straightConnector1">
            <a:avLst/>
          </a:prstGeom>
          <a:noFill/>
          <a:ln cap="flat" cmpd="sng" w="20325">
            <a:solidFill>
              <a:srgbClr val="376DA5"/>
            </a:solidFill>
            <a:prstDash val="solid"/>
            <a:round/>
            <a:headEnd len="med" w="med" type="none"/>
            <a:tailEnd len="med" w="med" type="none"/>
          </a:ln>
        </p:spPr>
      </p:cxnSp>
      <p:cxnSp>
        <p:nvCxnSpPr>
          <p:cNvPr id="279" name="Google Shape;279;p22"/>
          <p:cNvCxnSpPr/>
          <p:nvPr/>
        </p:nvCxnSpPr>
        <p:spPr>
          <a:xfrm>
            <a:off x="4686300" y="3084915"/>
            <a:ext cx="87900" cy="6900"/>
          </a:xfrm>
          <a:prstGeom prst="straightConnector1">
            <a:avLst/>
          </a:prstGeom>
          <a:noFill/>
          <a:ln cap="flat" cmpd="sng" w="20325">
            <a:solidFill>
              <a:srgbClr val="376DA5"/>
            </a:solidFill>
            <a:prstDash val="solid"/>
            <a:round/>
            <a:headEnd len="med" w="med" type="none"/>
            <a:tailEnd len="med" w="med" type="none"/>
          </a:ln>
        </p:spPr>
      </p:cxnSp>
      <p:cxnSp>
        <p:nvCxnSpPr>
          <p:cNvPr id="280" name="Google Shape;280;p22"/>
          <p:cNvCxnSpPr/>
          <p:nvPr/>
        </p:nvCxnSpPr>
        <p:spPr>
          <a:xfrm>
            <a:off x="4774293" y="3091784"/>
            <a:ext cx="87900" cy="16200"/>
          </a:xfrm>
          <a:prstGeom prst="straightConnector1">
            <a:avLst/>
          </a:prstGeom>
          <a:noFill/>
          <a:ln cap="flat" cmpd="sng" w="20325">
            <a:solidFill>
              <a:srgbClr val="376DA5"/>
            </a:solidFill>
            <a:prstDash val="solid"/>
            <a:round/>
            <a:headEnd len="med" w="med" type="none"/>
            <a:tailEnd len="med" w="med" type="none"/>
          </a:ln>
        </p:spPr>
      </p:cxnSp>
      <p:cxnSp>
        <p:nvCxnSpPr>
          <p:cNvPr id="281" name="Google Shape;281;p22"/>
          <p:cNvCxnSpPr/>
          <p:nvPr/>
        </p:nvCxnSpPr>
        <p:spPr>
          <a:xfrm>
            <a:off x="4862286" y="3107937"/>
            <a:ext cx="87900" cy="27600"/>
          </a:xfrm>
          <a:prstGeom prst="straightConnector1">
            <a:avLst/>
          </a:prstGeom>
          <a:noFill/>
          <a:ln cap="flat" cmpd="sng" w="20325">
            <a:solidFill>
              <a:srgbClr val="376DA5"/>
            </a:solidFill>
            <a:prstDash val="solid"/>
            <a:round/>
            <a:headEnd len="med" w="med" type="none"/>
            <a:tailEnd len="med" w="med" type="none"/>
          </a:ln>
        </p:spPr>
      </p:cxnSp>
      <p:cxnSp>
        <p:nvCxnSpPr>
          <p:cNvPr id="282" name="Google Shape;282;p22"/>
          <p:cNvCxnSpPr/>
          <p:nvPr/>
        </p:nvCxnSpPr>
        <p:spPr>
          <a:xfrm>
            <a:off x="4950279" y="3135616"/>
            <a:ext cx="87900" cy="41700"/>
          </a:xfrm>
          <a:prstGeom prst="straightConnector1">
            <a:avLst/>
          </a:prstGeom>
          <a:noFill/>
          <a:ln cap="flat" cmpd="sng" w="20325">
            <a:solidFill>
              <a:srgbClr val="376DA5"/>
            </a:solidFill>
            <a:prstDash val="solid"/>
            <a:round/>
            <a:headEnd len="med" w="med" type="none"/>
            <a:tailEnd len="med" w="med" type="none"/>
          </a:ln>
        </p:spPr>
      </p:cxnSp>
      <p:cxnSp>
        <p:nvCxnSpPr>
          <p:cNvPr id="283" name="Google Shape;283;p22"/>
          <p:cNvCxnSpPr/>
          <p:nvPr/>
        </p:nvCxnSpPr>
        <p:spPr>
          <a:xfrm>
            <a:off x="5038271" y="3177212"/>
            <a:ext cx="87900" cy="57900"/>
          </a:xfrm>
          <a:prstGeom prst="straightConnector1">
            <a:avLst/>
          </a:prstGeom>
          <a:noFill/>
          <a:ln cap="flat" cmpd="sng" w="20325">
            <a:solidFill>
              <a:srgbClr val="376DA5"/>
            </a:solidFill>
            <a:prstDash val="solid"/>
            <a:round/>
            <a:headEnd len="med" w="med" type="none"/>
            <a:tailEnd len="med" w="med" type="none"/>
          </a:ln>
        </p:spPr>
      </p:cxnSp>
      <p:cxnSp>
        <p:nvCxnSpPr>
          <p:cNvPr id="284" name="Google Shape;284;p22"/>
          <p:cNvCxnSpPr/>
          <p:nvPr/>
        </p:nvCxnSpPr>
        <p:spPr>
          <a:xfrm>
            <a:off x="5126264" y="3235260"/>
            <a:ext cx="87900" cy="77100"/>
          </a:xfrm>
          <a:prstGeom prst="straightConnector1">
            <a:avLst/>
          </a:prstGeom>
          <a:noFill/>
          <a:ln cap="flat" cmpd="sng" w="20325">
            <a:solidFill>
              <a:srgbClr val="376DA5"/>
            </a:solidFill>
            <a:prstDash val="solid"/>
            <a:round/>
            <a:headEnd len="med" w="med" type="none"/>
            <a:tailEnd len="med" w="med" type="none"/>
          </a:ln>
        </p:spPr>
      </p:cxnSp>
      <p:cxnSp>
        <p:nvCxnSpPr>
          <p:cNvPr id="285" name="Google Shape;285;p22"/>
          <p:cNvCxnSpPr/>
          <p:nvPr/>
        </p:nvCxnSpPr>
        <p:spPr>
          <a:xfrm>
            <a:off x="5214257" y="3312442"/>
            <a:ext cx="87900" cy="99000"/>
          </a:xfrm>
          <a:prstGeom prst="straightConnector1">
            <a:avLst/>
          </a:prstGeom>
          <a:noFill/>
          <a:ln cap="flat" cmpd="sng" w="20325">
            <a:solidFill>
              <a:srgbClr val="376DA5"/>
            </a:solidFill>
            <a:prstDash val="solid"/>
            <a:round/>
            <a:headEnd len="med" w="med" type="none"/>
            <a:tailEnd len="med" w="med" type="none"/>
          </a:ln>
        </p:spPr>
      </p:cxnSp>
      <p:sp>
        <p:nvSpPr>
          <p:cNvPr id="286" name="Google Shape;286;p22"/>
          <p:cNvSpPr txBox="1"/>
          <p:nvPr/>
        </p:nvSpPr>
        <p:spPr>
          <a:xfrm>
            <a:off x="6235700" y="1612900"/>
            <a:ext cx="2336700" cy="67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700">
                <a:solidFill>
                  <a:srgbClr val="147D88"/>
                </a:solidFill>
              </a:rPr>
              <a:t>≈ −5,4 dB</a:t>
            </a:r>
            <a:endParaRPr b="1" sz="2700">
              <a:solidFill>
                <a:srgbClr val="147D88"/>
              </a:solidFill>
            </a:endParaRPr>
          </a:p>
        </p:txBody>
      </p:sp>
      <p:sp>
        <p:nvSpPr>
          <p:cNvPr id="287" name="Google Shape;287;p22"/>
          <p:cNvSpPr txBox="1"/>
          <p:nvPr/>
        </p:nvSpPr>
        <p:spPr>
          <a:xfrm>
            <a:off x="6235700" y="2413000"/>
            <a:ext cx="2336700" cy="1257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600">
                <a:solidFill>
                  <a:srgbClr val="243744"/>
                </a:solidFill>
              </a:rPr>
              <a:t>12 muestras observadas</a:t>
            </a:r>
            <a:endParaRPr sz="1600">
              <a:solidFill>
                <a:srgbClr val="243744"/>
              </a:solidFill>
            </a:endParaRPr>
          </a:p>
          <a:p>
            <a:pPr indent="0" lvl="0" marL="0" rtl="0" algn="l">
              <a:lnSpc>
                <a:spcPct val="110000"/>
              </a:lnSpc>
              <a:spcBef>
                <a:spcPts val="0"/>
              </a:spcBef>
              <a:spcAft>
                <a:spcPts val="0"/>
              </a:spcAft>
              <a:buNone/>
            </a:pPr>
            <a:r>
              <a:rPr lang="es-419" sz="1600">
                <a:solidFill>
                  <a:srgbClr val="243744"/>
                </a:solidFill>
              </a:rPr>
              <a:t>Línea: ajuste publicado</a:t>
            </a:r>
            <a:endParaRPr sz="1600">
              <a:solidFill>
                <a:srgbClr val="243744"/>
              </a:solidFill>
            </a:endParaRPr>
          </a:p>
          <a:p>
            <a:pPr indent="0" lvl="0" marL="0" rtl="0" algn="l">
              <a:lnSpc>
                <a:spcPct val="110000"/>
              </a:lnSpc>
              <a:spcBef>
                <a:spcPts val="0"/>
              </a:spcBef>
              <a:spcAft>
                <a:spcPts val="0"/>
              </a:spcAft>
              <a:buNone/>
            </a:pPr>
            <a:r>
              <a:rPr lang="es-419" sz="1600">
                <a:solidFill>
                  <a:srgbClr val="243744"/>
                </a:solidFill>
              </a:rPr>
              <a:t>Rango observado: 6 dB</a:t>
            </a:r>
            <a:endParaRPr sz="1600">
              <a:solidFill>
                <a:srgbClr val="243744"/>
              </a:solidFill>
            </a:endParaRPr>
          </a:p>
        </p:txBody>
      </p:sp>
      <p:sp>
        <p:nvSpPr>
          <p:cNvPr id="288" name="Google Shape;288;p22"/>
          <p:cNvSpPr txBox="1"/>
          <p:nvPr/>
        </p:nvSpPr>
        <p:spPr>
          <a:xfrm>
            <a:off x="6235700" y="3835400"/>
            <a:ext cx="2387700" cy="647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800">
                <a:solidFill>
                  <a:srgbClr val="16324F"/>
                </a:solidFill>
              </a:rPr>
              <a:t>Trayectoria ≠ postura corporal</a:t>
            </a:r>
            <a:endParaRPr b="1" sz="1800">
              <a:solidFill>
                <a:srgbClr val="16324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3"/>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Arenque: menor TS en profundidad</a:t>
            </a:r>
            <a:endParaRPr b="1" sz="2900">
              <a:solidFill>
                <a:srgbClr val="16324F"/>
              </a:solidFill>
            </a:endParaRPr>
          </a:p>
        </p:txBody>
      </p:sp>
      <p:cxnSp>
        <p:nvCxnSpPr>
          <p:cNvPr id="294" name="Google Shape;294;p23"/>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295" name="Google Shape;295;p23"/>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Adaptación de F1 (Bloque 2); Gorska y Ona (2003, Ec. 15). Ona (2003), como se citó en Gorska y Ona (2003).</a:t>
            </a:r>
            <a:endParaRPr sz="980">
              <a:solidFill>
                <a:srgbClr val="53616D"/>
              </a:solidFill>
            </a:endParaRPr>
          </a:p>
        </p:txBody>
      </p:sp>
      <p:sp>
        <p:nvSpPr>
          <p:cNvPr id="296" name="Google Shape;296;p23"/>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11</a:t>
            </a:r>
            <a:endParaRPr sz="1000">
              <a:solidFill>
                <a:srgbClr val="53616D"/>
              </a:solidFill>
            </a:endParaRPr>
          </a:p>
        </p:txBody>
      </p:sp>
      <p:cxnSp>
        <p:nvCxnSpPr>
          <p:cNvPr id="297" name="Google Shape;297;p23"/>
          <p:cNvCxnSpPr/>
          <p:nvPr/>
        </p:nvCxnSpPr>
        <p:spPr>
          <a:xfrm>
            <a:off x="977900" y="1638300"/>
            <a:ext cx="4965600" cy="0"/>
          </a:xfrm>
          <a:prstGeom prst="straightConnector1">
            <a:avLst/>
          </a:prstGeom>
          <a:noFill/>
          <a:ln cap="flat" cmpd="sng" w="8900">
            <a:solidFill>
              <a:srgbClr val="DCE4E8"/>
            </a:solidFill>
            <a:prstDash val="solid"/>
            <a:round/>
            <a:headEnd len="med" w="med" type="none"/>
            <a:tailEnd len="med" w="med" type="none"/>
          </a:ln>
        </p:spPr>
      </p:cxnSp>
      <p:sp>
        <p:nvSpPr>
          <p:cNvPr id="298" name="Google Shape;298;p23"/>
          <p:cNvSpPr txBox="1"/>
          <p:nvPr/>
        </p:nvSpPr>
        <p:spPr>
          <a:xfrm>
            <a:off x="419100" y="152400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0</a:t>
            </a:r>
            <a:endParaRPr sz="1100">
              <a:solidFill>
                <a:srgbClr val="53616D"/>
              </a:solidFill>
            </a:endParaRPr>
          </a:p>
        </p:txBody>
      </p:sp>
      <p:cxnSp>
        <p:nvCxnSpPr>
          <p:cNvPr id="299" name="Google Shape;299;p23"/>
          <p:cNvCxnSpPr/>
          <p:nvPr/>
        </p:nvCxnSpPr>
        <p:spPr>
          <a:xfrm>
            <a:off x="977900" y="2234045"/>
            <a:ext cx="4965600" cy="0"/>
          </a:xfrm>
          <a:prstGeom prst="straightConnector1">
            <a:avLst/>
          </a:prstGeom>
          <a:noFill/>
          <a:ln cap="flat" cmpd="sng" w="8900">
            <a:solidFill>
              <a:srgbClr val="DCE4E8"/>
            </a:solidFill>
            <a:prstDash val="solid"/>
            <a:round/>
            <a:headEnd len="med" w="med" type="none"/>
            <a:tailEnd len="med" w="med" type="none"/>
          </a:ln>
        </p:spPr>
      </p:cxnSp>
      <p:sp>
        <p:nvSpPr>
          <p:cNvPr id="300" name="Google Shape;300;p23"/>
          <p:cNvSpPr txBox="1"/>
          <p:nvPr/>
        </p:nvSpPr>
        <p:spPr>
          <a:xfrm>
            <a:off x="419100" y="2119745"/>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-3</a:t>
            </a:r>
            <a:endParaRPr sz="1100">
              <a:solidFill>
                <a:srgbClr val="53616D"/>
              </a:solidFill>
            </a:endParaRPr>
          </a:p>
        </p:txBody>
      </p:sp>
      <p:cxnSp>
        <p:nvCxnSpPr>
          <p:cNvPr id="301" name="Google Shape;301;p23"/>
          <p:cNvCxnSpPr/>
          <p:nvPr/>
        </p:nvCxnSpPr>
        <p:spPr>
          <a:xfrm>
            <a:off x="977900" y="2829791"/>
            <a:ext cx="4965600" cy="0"/>
          </a:xfrm>
          <a:prstGeom prst="straightConnector1">
            <a:avLst/>
          </a:prstGeom>
          <a:noFill/>
          <a:ln cap="flat" cmpd="sng" w="8900">
            <a:solidFill>
              <a:srgbClr val="DCE4E8"/>
            </a:solidFill>
            <a:prstDash val="solid"/>
            <a:round/>
            <a:headEnd len="med" w="med" type="none"/>
            <a:tailEnd len="med" w="med" type="none"/>
          </a:ln>
        </p:spPr>
      </p:cxnSp>
      <p:sp>
        <p:nvSpPr>
          <p:cNvPr id="302" name="Google Shape;302;p23"/>
          <p:cNvSpPr txBox="1"/>
          <p:nvPr/>
        </p:nvSpPr>
        <p:spPr>
          <a:xfrm>
            <a:off x="419100" y="2715491"/>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-6</a:t>
            </a:r>
            <a:endParaRPr sz="1100">
              <a:solidFill>
                <a:srgbClr val="53616D"/>
              </a:solidFill>
            </a:endParaRPr>
          </a:p>
        </p:txBody>
      </p:sp>
      <p:cxnSp>
        <p:nvCxnSpPr>
          <p:cNvPr id="303" name="Google Shape;303;p23"/>
          <p:cNvCxnSpPr/>
          <p:nvPr/>
        </p:nvCxnSpPr>
        <p:spPr>
          <a:xfrm>
            <a:off x="977900" y="3425536"/>
            <a:ext cx="4965600" cy="0"/>
          </a:xfrm>
          <a:prstGeom prst="straightConnector1">
            <a:avLst/>
          </a:prstGeom>
          <a:noFill/>
          <a:ln cap="flat" cmpd="sng" w="8900">
            <a:solidFill>
              <a:srgbClr val="DCE4E8"/>
            </a:solidFill>
            <a:prstDash val="solid"/>
            <a:round/>
            <a:headEnd len="med" w="med" type="none"/>
            <a:tailEnd len="med" w="med" type="none"/>
          </a:ln>
        </p:spPr>
      </p:cxnSp>
      <p:sp>
        <p:nvSpPr>
          <p:cNvPr id="304" name="Google Shape;304;p23"/>
          <p:cNvSpPr txBox="1"/>
          <p:nvPr/>
        </p:nvSpPr>
        <p:spPr>
          <a:xfrm>
            <a:off x="419100" y="3311236"/>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-9</a:t>
            </a:r>
            <a:endParaRPr sz="1100">
              <a:solidFill>
                <a:srgbClr val="53616D"/>
              </a:solidFill>
            </a:endParaRPr>
          </a:p>
        </p:txBody>
      </p:sp>
      <p:cxnSp>
        <p:nvCxnSpPr>
          <p:cNvPr id="305" name="Google Shape;305;p23"/>
          <p:cNvCxnSpPr/>
          <p:nvPr/>
        </p:nvCxnSpPr>
        <p:spPr>
          <a:xfrm>
            <a:off x="977900" y="1638300"/>
            <a:ext cx="0" cy="2184300"/>
          </a:xfrm>
          <a:prstGeom prst="straightConnector1">
            <a:avLst/>
          </a:prstGeom>
          <a:noFill/>
          <a:ln cap="flat" cmpd="sng" w="12700">
            <a:solidFill>
              <a:srgbClr val="53616D"/>
            </a:solidFill>
            <a:prstDash val="solid"/>
            <a:round/>
            <a:headEnd len="med" w="med" type="none"/>
            <a:tailEnd len="med" w="med" type="none"/>
          </a:ln>
        </p:spPr>
      </p:cxnSp>
      <p:cxnSp>
        <p:nvCxnSpPr>
          <p:cNvPr id="306" name="Google Shape;306;p23"/>
          <p:cNvCxnSpPr/>
          <p:nvPr/>
        </p:nvCxnSpPr>
        <p:spPr>
          <a:xfrm>
            <a:off x="977900" y="3822700"/>
            <a:ext cx="4965600" cy="0"/>
          </a:xfrm>
          <a:prstGeom prst="straightConnector1">
            <a:avLst/>
          </a:prstGeom>
          <a:noFill/>
          <a:ln cap="flat" cmpd="sng" w="12700">
            <a:solidFill>
              <a:srgbClr val="53616D"/>
            </a:solidFill>
            <a:prstDash val="solid"/>
            <a:round/>
            <a:headEnd len="med" w="med" type="none"/>
            <a:tailEnd len="med" w="med" type="none"/>
          </a:ln>
        </p:spPr>
      </p:cxnSp>
      <p:cxnSp>
        <p:nvCxnSpPr>
          <p:cNvPr id="307" name="Google Shape;307;p23"/>
          <p:cNvCxnSpPr/>
          <p:nvPr/>
        </p:nvCxnSpPr>
        <p:spPr>
          <a:xfrm>
            <a:off x="977900" y="3822700"/>
            <a:ext cx="0" cy="50700"/>
          </a:xfrm>
          <a:prstGeom prst="straightConnector1">
            <a:avLst/>
          </a:prstGeom>
          <a:noFill/>
          <a:ln cap="flat" cmpd="sng" w="12700">
            <a:solidFill>
              <a:srgbClr val="53616D"/>
            </a:solidFill>
            <a:prstDash val="solid"/>
            <a:round/>
            <a:headEnd len="med" w="med" type="none"/>
            <a:tailEnd len="med" w="med" type="none"/>
          </a:ln>
        </p:spPr>
      </p:cxnSp>
      <p:sp>
        <p:nvSpPr>
          <p:cNvPr id="308" name="Google Shape;308;p23"/>
          <p:cNvSpPr txBox="1"/>
          <p:nvPr/>
        </p:nvSpPr>
        <p:spPr>
          <a:xfrm>
            <a:off x="698500" y="38989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0</a:t>
            </a:r>
            <a:endParaRPr sz="1100">
              <a:solidFill>
                <a:srgbClr val="53616D"/>
              </a:solidFill>
            </a:endParaRPr>
          </a:p>
        </p:txBody>
      </p:sp>
      <p:cxnSp>
        <p:nvCxnSpPr>
          <p:cNvPr id="309" name="Google Shape;309;p23"/>
          <p:cNvCxnSpPr/>
          <p:nvPr/>
        </p:nvCxnSpPr>
        <p:spPr>
          <a:xfrm>
            <a:off x="2633133" y="3822700"/>
            <a:ext cx="0" cy="50700"/>
          </a:xfrm>
          <a:prstGeom prst="straightConnector1">
            <a:avLst/>
          </a:prstGeom>
          <a:noFill/>
          <a:ln cap="flat" cmpd="sng" w="12700">
            <a:solidFill>
              <a:srgbClr val="53616D"/>
            </a:solidFill>
            <a:prstDash val="solid"/>
            <a:round/>
            <a:headEnd len="med" w="med" type="none"/>
            <a:tailEnd len="med" w="med" type="none"/>
          </a:ln>
        </p:spPr>
      </p:cxnSp>
      <p:sp>
        <p:nvSpPr>
          <p:cNvPr id="310" name="Google Shape;310;p23"/>
          <p:cNvSpPr txBox="1"/>
          <p:nvPr/>
        </p:nvSpPr>
        <p:spPr>
          <a:xfrm>
            <a:off x="2353733" y="38989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100</a:t>
            </a:r>
            <a:endParaRPr sz="1100">
              <a:solidFill>
                <a:srgbClr val="53616D"/>
              </a:solidFill>
            </a:endParaRPr>
          </a:p>
        </p:txBody>
      </p:sp>
      <p:cxnSp>
        <p:nvCxnSpPr>
          <p:cNvPr id="311" name="Google Shape;311;p23"/>
          <p:cNvCxnSpPr/>
          <p:nvPr/>
        </p:nvCxnSpPr>
        <p:spPr>
          <a:xfrm>
            <a:off x="4288367" y="3822700"/>
            <a:ext cx="0" cy="50700"/>
          </a:xfrm>
          <a:prstGeom prst="straightConnector1">
            <a:avLst/>
          </a:prstGeom>
          <a:noFill/>
          <a:ln cap="flat" cmpd="sng" w="12700">
            <a:solidFill>
              <a:srgbClr val="53616D"/>
            </a:solidFill>
            <a:prstDash val="solid"/>
            <a:round/>
            <a:headEnd len="med" w="med" type="none"/>
            <a:tailEnd len="med" w="med" type="none"/>
          </a:ln>
        </p:spPr>
      </p:cxnSp>
      <p:sp>
        <p:nvSpPr>
          <p:cNvPr id="312" name="Google Shape;312;p23"/>
          <p:cNvSpPr txBox="1"/>
          <p:nvPr/>
        </p:nvSpPr>
        <p:spPr>
          <a:xfrm>
            <a:off x="4008967" y="38989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200</a:t>
            </a:r>
            <a:endParaRPr sz="1100">
              <a:solidFill>
                <a:srgbClr val="53616D"/>
              </a:solidFill>
            </a:endParaRPr>
          </a:p>
        </p:txBody>
      </p:sp>
      <p:cxnSp>
        <p:nvCxnSpPr>
          <p:cNvPr id="313" name="Google Shape;313;p23"/>
          <p:cNvCxnSpPr/>
          <p:nvPr/>
        </p:nvCxnSpPr>
        <p:spPr>
          <a:xfrm>
            <a:off x="5943600" y="3822700"/>
            <a:ext cx="0" cy="50700"/>
          </a:xfrm>
          <a:prstGeom prst="straightConnector1">
            <a:avLst/>
          </a:prstGeom>
          <a:noFill/>
          <a:ln cap="flat" cmpd="sng" w="12700">
            <a:solidFill>
              <a:srgbClr val="53616D"/>
            </a:solidFill>
            <a:prstDash val="solid"/>
            <a:round/>
            <a:headEnd len="med" w="med" type="none"/>
            <a:tailEnd len="med" w="med" type="none"/>
          </a:ln>
        </p:spPr>
      </p:cxnSp>
      <p:sp>
        <p:nvSpPr>
          <p:cNvPr id="314" name="Google Shape;314;p23"/>
          <p:cNvSpPr txBox="1"/>
          <p:nvPr/>
        </p:nvSpPr>
        <p:spPr>
          <a:xfrm>
            <a:off x="5664200" y="38989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300</a:t>
            </a:r>
            <a:endParaRPr sz="1100">
              <a:solidFill>
                <a:srgbClr val="53616D"/>
              </a:solidFill>
            </a:endParaRPr>
          </a:p>
        </p:txBody>
      </p:sp>
      <p:sp>
        <p:nvSpPr>
          <p:cNvPr id="315" name="Google Shape;315;p23"/>
          <p:cNvSpPr txBox="1"/>
          <p:nvPr/>
        </p:nvSpPr>
        <p:spPr>
          <a:xfrm>
            <a:off x="1428750" y="4191000"/>
            <a:ext cx="4064100" cy="342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200">
                <a:solidFill>
                  <a:srgbClr val="53616D"/>
                </a:solidFill>
              </a:rPr>
              <a:t>Profundidad z (m)</a:t>
            </a:r>
            <a:endParaRPr sz="1200">
              <a:solidFill>
                <a:srgbClr val="53616D"/>
              </a:solidFill>
            </a:endParaRPr>
          </a:p>
        </p:txBody>
      </p:sp>
      <p:sp>
        <p:nvSpPr>
          <p:cNvPr id="316" name="Google Shape;316;p23"/>
          <p:cNvSpPr txBox="1"/>
          <p:nvPr/>
        </p:nvSpPr>
        <p:spPr>
          <a:xfrm>
            <a:off x="800100" y="1270000"/>
            <a:ext cx="51942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200">
                <a:solidFill>
                  <a:srgbClr val="53616D"/>
                </a:solidFill>
              </a:rPr>
              <a:t>ΔTS respecto de superficie (dB)</a:t>
            </a:r>
            <a:endParaRPr sz="1200">
              <a:solidFill>
                <a:srgbClr val="53616D"/>
              </a:solidFill>
            </a:endParaRPr>
          </a:p>
        </p:txBody>
      </p:sp>
      <p:cxnSp>
        <p:nvCxnSpPr>
          <p:cNvPr id="317" name="Google Shape;317;p23"/>
          <p:cNvCxnSpPr/>
          <p:nvPr/>
        </p:nvCxnSpPr>
        <p:spPr>
          <a:xfrm>
            <a:off x="977900" y="1638300"/>
            <a:ext cx="165600" cy="137400"/>
          </a:xfrm>
          <a:prstGeom prst="straightConnector1">
            <a:avLst/>
          </a:prstGeom>
          <a:noFill/>
          <a:ln cap="flat" cmpd="sng" w="29200">
            <a:solidFill>
              <a:srgbClr val="376DA5"/>
            </a:solidFill>
            <a:prstDash val="solid"/>
            <a:round/>
            <a:headEnd len="med" w="med" type="none"/>
            <a:tailEnd len="med" w="med" type="none"/>
          </a:ln>
        </p:spPr>
      </p:cxnSp>
      <p:cxnSp>
        <p:nvCxnSpPr>
          <p:cNvPr id="318" name="Google Shape;318;p23"/>
          <p:cNvCxnSpPr/>
          <p:nvPr/>
        </p:nvCxnSpPr>
        <p:spPr>
          <a:xfrm>
            <a:off x="1143423" y="1775792"/>
            <a:ext cx="165600" cy="80400"/>
          </a:xfrm>
          <a:prstGeom prst="straightConnector1">
            <a:avLst/>
          </a:prstGeom>
          <a:noFill/>
          <a:ln cap="flat" cmpd="sng" w="29200">
            <a:solidFill>
              <a:srgbClr val="376DA5"/>
            </a:solidFill>
            <a:prstDash val="solid"/>
            <a:round/>
            <a:headEnd len="med" w="med" type="none"/>
            <a:tailEnd len="med" w="med" type="none"/>
          </a:ln>
        </p:spPr>
      </p:cxnSp>
      <p:cxnSp>
        <p:nvCxnSpPr>
          <p:cNvPr id="319" name="Google Shape;319;p23"/>
          <p:cNvCxnSpPr/>
          <p:nvPr/>
        </p:nvCxnSpPr>
        <p:spPr>
          <a:xfrm>
            <a:off x="1308947" y="1856219"/>
            <a:ext cx="165600" cy="57000"/>
          </a:xfrm>
          <a:prstGeom prst="straightConnector1">
            <a:avLst/>
          </a:prstGeom>
          <a:noFill/>
          <a:ln cap="flat" cmpd="sng" w="29200">
            <a:solidFill>
              <a:srgbClr val="376DA5"/>
            </a:solidFill>
            <a:prstDash val="solid"/>
            <a:round/>
            <a:headEnd len="med" w="med" type="none"/>
            <a:tailEnd len="med" w="med" type="none"/>
          </a:ln>
        </p:spPr>
      </p:cxnSp>
      <p:cxnSp>
        <p:nvCxnSpPr>
          <p:cNvPr id="320" name="Google Shape;320;p23"/>
          <p:cNvCxnSpPr/>
          <p:nvPr/>
        </p:nvCxnSpPr>
        <p:spPr>
          <a:xfrm>
            <a:off x="1474470" y="1913284"/>
            <a:ext cx="165600" cy="44400"/>
          </a:xfrm>
          <a:prstGeom prst="straightConnector1">
            <a:avLst/>
          </a:prstGeom>
          <a:noFill/>
          <a:ln cap="flat" cmpd="sng" w="29200">
            <a:solidFill>
              <a:srgbClr val="376DA5"/>
            </a:solidFill>
            <a:prstDash val="solid"/>
            <a:round/>
            <a:headEnd len="med" w="med" type="none"/>
            <a:tailEnd len="med" w="med" type="none"/>
          </a:ln>
        </p:spPr>
      </p:cxnSp>
      <p:cxnSp>
        <p:nvCxnSpPr>
          <p:cNvPr id="321" name="Google Shape;321;p23"/>
          <p:cNvCxnSpPr/>
          <p:nvPr/>
        </p:nvCxnSpPr>
        <p:spPr>
          <a:xfrm>
            <a:off x="1639993" y="1957546"/>
            <a:ext cx="165600" cy="36300"/>
          </a:xfrm>
          <a:prstGeom prst="straightConnector1">
            <a:avLst/>
          </a:prstGeom>
          <a:noFill/>
          <a:ln cap="flat" cmpd="sng" w="29200">
            <a:solidFill>
              <a:srgbClr val="376DA5"/>
            </a:solidFill>
            <a:prstDash val="solid"/>
            <a:round/>
            <a:headEnd len="med" w="med" type="none"/>
            <a:tailEnd len="med" w="med" type="none"/>
          </a:ln>
        </p:spPr>
      </p:cxnSp>
      <p:cxnSp>
        <p:nvCxnSpPr>
          <p:cNvPr id="322" name="Google Shape;322;p23"/>
          <p:cNvCxnSpPr/>
          <p:nvPr/>
        </p:nvCxnSpPr>
        <p:spPr>
          <a:xfrm>
            <a:off x="1805517" y="1993711"/>
            <a:ext cx="165600" cy="30600"/>
          </a:xfrm>
          <a:prstGeom prst="straightConnector1">
            <a:avLst/>
          </a:prstGeom>
          <a:noFill/>
          <a:ln cap="flat" cmpd="sng" w="29200">
            <a:solidFill>
              <a:srgbClr val="376DA5"/>
            </a:solidFill>
            <a:prstDash val="solid"/>
            <a:round/>
            <a:headEnd len="med" w="med" type="none"/>
            <a:tailEnd len="med" w="med" type="none"/>
          </a:ln>
        </p:spPr>
      </p:cxnSp>
      <p:cxnSp>
        <p:nvCxnSpPr>
          <p:cNvPr id="323" name="Google Shape;323;p23"/>
          <p:cNvCxnSpPr/>
          <p:nvPr/>
        </p:nvCxnSpPr>
        <p:spPr>
          <a:xfrm>
            <a:off x="1971040" y="2024289"/>
            <a:ext cx="165600" cy="26400"/>
          </a:xfrm>
          <a:prstGeom prst="straightConnector1">
            <a:avLst/>
          </a:prstGeom>
          <a:noFill/>
          <a:ln cap="flat" cmpd="sng" w="29200">
            <a:solidFill>
              <a:srgbClr val="376DA5"/>
            </a:solidFill>
            <a:prstDash val="solid"/>
            <a:round/>
            <a:headEnd len="med" w="med" type="none"/>
            <a:tailEnd len="med" w="med" type="none"/>
          </a:ln>
        </p:spPr>
      </p:cxnSp>
      <p:cxnSp>
        <p:nvCxnSpPr>
          <p:cNvPr id="324" name="Google Shape;324;p23"/>
          <p:cNvCxnSpPr/>
          <p:nvPr/>
        </p:nvCxnSpPr>
        <p:spPr>
          <a:xfrm>
            <a:off x="2136563" y="2050776"/>
            <a:ext cx="165600" cy="23400"/>
          </a:xfrm>
          <a:prstGeom prst="straightConnector1">
            <a:avLst/>
          </a:prstGeom>
          <a:noFill/>
          <a:ln cap="flat" cmpd="sng" w="29200">
            <a:solidFill>
              <a:srgbClr val="376DA5"/>
            </a:solidFill>
            <a:prstDash val="solid"/>
            <a:round/>
            <a:headEnd len="med" w="med" type="none"/>
            <a:tailEnd len="med" w="med" type="none"/>
          </a:ln>
        </p:spPr>
      </p:cxnSp>
      <p:cxnSp>
        <p:nvCxnSpPr>
          <p:cNvPr id="325" name="Google Shape;325;p23"/>
          <p:cNvCxnSpPr/>
          <p:nvPr/>
        </p:nvCxnSpPr>
        <p:spPr>
          <a:xfrm>
            <a:off x="2302087" y="2074139"/>
            <a:ext cx="165600" cy="21000"/>
          </a:xfrm>
          <a:prstGeom prst="straightConnector1">
            <a:avLst/>
          </a:prstGeom>
          <a:noFill/>
          <a:ln cap="flat" cmpd="sng" w="29200">
            <a:solidFill>
              <a:srgbClr val="376DA5"/>
            </a:solidFill>
            <a:prstDash val="solid"/>
            <a:round/>
            <a:headEnd len="med" w="med" type="none"/>
            <a:tailEnd len="med" w="med" type="none"/>
          </a:ln>
        </p:spPr>
      </p:cxnSp>
      <p:cxnSp>
        <p:nvCxnSpPr>
          <p:cNvPr id="326" name="Google Shape;326;p23"/>
          <p:cNvCxnSpPr/>
          <p:nvPr/>
        </p:nvCxnSpPr>
        <p:spPr>
          <a:xfrm>
            <a:off x="2467610" y="2095038"/>
            <a:ext cx="165600" cy="18900"/>
          </a:xfrm>
          <a:prstGeom prst="straightConnector1">
            <a:avLst/>
          </a:prstGeom>
          <a:noFill/>
          <a:ln cap="flat" cmpd="sng" w="29200">
            <a:solidFill>
              <a:srgbClr val="376DA5"/>
            </a:solidFill>
            <a:prstDash val="solid"/>
            <a:round/>
            <a:headEnd len="med" w="med" type="none"/>
            <a:tailEnd len="med" w="med" type="none"/>
          </a:ln>
        </p:spPr>
      </p:cxnSp>
      <p:cxnSp>
        <p:nvCxnSpPr>
          <p:cNvPr id="327" name="Google Shape;327;p23"/>
          <p:cNvCxnSpPr/>
          <p:nvPr/>
        </p:nvCxnSpPr>
        <p:spPr>
          <a:xfrm>
            <a:off x="2633133" y="2113944"/>
            <a:ext cx="165600" cy="17400"/>
          </a:xfrm>
          <a:prstGeom prst="straightConnector1">
            <a:avLst/>
          </a:prstGeom>
          <a:noFill/>
          <a:ln cap="flat" cmpd="sng" w="29200">
            <a:solidFill>
              <a:srgbClr val="376DA5"/>
            </a:solidFill>
            <a:prstDash val="solid"/>
            <a:round/>
            <a:headEnd len="med" w="med" type="none"/>
            <a:tailEnd len="med" w="med" type="none"/>
          </a:ln>
        </p:spPr>
      </p:cxnSp>
      <p:cxnSp>
        <p:nvCxnSpPr>
          <p:cNvPr id="328" name="Google Shape;328;p23"/>
          <p:cNvCxnSpPr/>
          <p:nvPr/>
        </p:nvCxnSpPr>
        <p:spPr>
          <a:xfrm>
            <a:off x="2798657" y="2131203"/>
            <a:ext cx="165600" cy="15900"/>
          </a:xfrm>
          <a:prstGeom prst="straightConnector1">
            <a:avLst/>
          </a:prstGeom>
          <a:noFill/>
          <a:ln cap="flat" cmpd="sng" w="29200">
            <a:solidFill>
              <a:srgbClr val="376DA5"/>
            </a:solidFill>
            <a:prstDash val="solid"/>
            <a:round/>
            <a:headEnd len="med" w="med" type="none"/>
            <a:tailEnd len="med" w="med" type="none"/>
          </a:ln>
        </p:spPr>
      </p:cxnSp>
      <p:cxnSp>
        <p:nvCxnSpPr>
          <p:cNvPr id="329" name="Google Shape;329;p23"/>
          <p:cNvCxnSpPr/>
          <p:nvPr/>
        </p:nvCxnSpPr>
        <p:spPr>
          <a:xfrm>
            <a:off x="2964180" y="2147080"/>
            <a:ext cx="165600" cy="14700"/>
          </a:xfrm>
          <a:prstGeom prst="straightConnector1">
            <a:avLst/>
          </a:prstGeom>
          <a:noFill/>
          <a:ln cap="flat" cmpd="sng" w="29200">
            <a:solidFill>
              <a:srgbClr val="376DA5"/>
            </a:solidFill>
            <a:prstDash val="solid"/>
            <a:round/>
            <a:headEnd len="med" w="med" type="none"/>
            <a:tailEnd len="med" w="med" type="none"/>
          </a:ln>
        </p:spPr>
      </p:cxnSp>
      <p:cxnSp>
        <p:nvCxnSpPr>
          <p:cNvPr id="330" name="Google Shape;330;p23"/>
          <p:cNvCxnSpPr/>
          <p:nvPr/>
        </p:nvCxnSpPr>
        <p:spPr>
          <a:xfrm>
            <a:off x="3129703" y="2161780"/>
            <a:ext cx="165600" cy="13800"/>
          </a:xfrm>
          <a:prstGeom prst="straightConnector1">
            <a:avLst/>
          </a:prstGeom>
          <a:noFill/>
          <a:ln cap="flat" cmpd="sng" w="29200">
            <a:solidFill>
              <a:srgbClr val="376DA5"/>
            </a:solidFill>
            <a:prstDash val="solid"/>
            <a:round/>
            <a:headEnd len="med" w="med" type="none"/>
            <a:tailEnd len="med" w="med" type="none"/>
          </a:ln>
        </p:spPr>
      </p:cxnSp>
      <p:cxnSp>
        <p:nvCxnSpPr>
          <p:cNvPr id="331" name="Google Shape;331;p23"/>
          <p:cNvCxnSpPr/>
          <p:nvPr/>
        </p:nvCxnSpPr>
        <p:spPr>
          <a:xfrm>
            <a:off x="3295227" y="2175466"/>
            <a:ext cx="165600" cy="12900"/>
          </a:xfrm>
          <a:prstGeom prst="straightConnector1">
            <a:avLst/>
          </a:prstGeom>
          <a:noFill/>
          <a:ln cap="flat" cmpd="sng" w="29200">
            <a:solidFill>
              <a:srgbClr val="376DA5"/>
            </a:solidFill>
            <a:prstDash val="solid"/>
            <a:round/>
            <a:headEnd len="med" w="med" type="none"/>
            <a:tailEnd len="med" w="med" type="none"/>
          </a:ln>
        </p:spPr>
      </p:cxnSp>
      <p:cxnSp>
        <p:nvCxnSpPr>
          <p:cNvPr id="332" name="Google Shape;332;p23"/>
          <p:cNvCxnSpPr/>
          <p:nvPr/>
        </p:nvCxnSpPr>
        <p:spPr>
          <a:xfrm>
            <a:off x="3460750" y="2188268"/>
            <a:ext cx="165600" cy="12000"/>
          </a:xfrm>
          <a:prstGeom prst="straightConnector1">
            <a:avLst/>
          </a:prstGeom>
          <a:noFill/>
          <a:ln cap="flat" cmpd="sng" w="29200">
            <a:solidFill>
              <a:srgbClr val="376DA5"/>
            </a:solidFill>
            <a:prstDash val="solid"/>
            <a:round/>
            <a:headEnd len="med" w="med" type="none"/>
            <a:tailEnd len="med" w="med" type="none"/>
          </a:ln>
        </p:spPr>
      </p:cxnSp>
      <p:cxnSp>
        <p:nvCxnSpPr>
          <p:cNvPr id="333" name="Google Shape;333;p23"/>
          <p:cNvCxnSpPr/>
          <p:nvPr/>
        </p:nvCxnSpPr>
        <p:spPr>
          <a:xfrm>
            <a:off x="3626273" y="2200293"/>
            <a:ext cx="165600" cy="11400"/>
          </a:xfrm>
          <a:prstGeom prst="straightConnector1">
            <a:avLst/>
          </a:prstGeom>
          <a:noFill/>
          <a:ln cap="flat" cmpd="sng" w="29200">
            <a:solidFill>
              <a:srgbClr val="376DA5"/>
            </a:solidFill>
            <a:prstDash val="solid"/>
            <a:round/>
            <a:headEnd len="med" w="med" type="none"/>
            <a:tailEnd len="med" w="med" type="none"/>
          </a:ln>
        </p:spPr>
      </p:cxnSp>
      <p:cxnSp>
        <p:nvCxnSpPr>
          <p:cNvPr id="334" name="Google Shape;334;p23"/>
          <p:cNvCxnSpPr/>
          <p:nvPr/>
        </p:nvCxnSpPr>
        <p:spPr>
          <a:xfrm>
            <a:off x="3791797" y="2211631"/>
            <a:ext cx="165600" cy="10800"/>
          </a:xfrm>
          <a:prstGeom prst="straightConnector1">
            <a:avLst/>
          </a:prstGeom>
          <a:noFill/>
          <a:ln cap="flat" cmpd="sng" w="29200">
            <a:solidFill>
              <a:srgbClr val="376DA5"/>
            </a:solidFill>
            <a:prstDash val="solid"/>
            <a:round/>
            <a:headEnd len="med" w="med" type="none"/>
            <a:tailEnd len="med" w="med" type="none"/>
          </a:ln>
        </p:spPr>
      </p:cxnSp>
      <p:cxnSp>
        <p:nvCxnSpPr>
          <p:cNvPr id="335" name="Google Shape;335;p23"/>
          <p:cNvCxnSpPr/>
          <p:nvPr/>
        </p:nvCxnSpPr>
        <p:spPr>
          <a:xfrm>
            <a:off x="3957320" y="2222356"/>
            <a:ext cx="165600" cy="10200"/>
          </a:xfrm>
          <a:prstGeom prst="straightConnector1">
            <a:avLst/>
          </a:prstGeom>
          <a:noFill/>
          <a:ln cap="flat" cmpd="sng" w="29200">
            <a:solidFill>
              <a:srgbClr val="376DA5"/>
            </a:solidFill>
            <a:prstDash val="solid"/>
            <a:round/>
            <a:headEnd len="med" w="med" type="none"/>
            <a:tailEnd len="med" w="med" type="none"/>
          </a:ln>
        </p:spPr>
      </p:cxnSp>
      <p:cxnSp>
        <p:nvCxnSpPr>
          <p:cNvPr id="336" name="Google Shape;336;p23"/>
          <p:cNvCxnSpPr/>
          <p:nvPr/>
        </p:nvCxnSpPr>
        <p:spPr>
          <a:xfrm>
            <a:off x="4122843" y="2232530"/>
            <a:ext cx="165600" cy="9600"/>
          </a:xfrm>
          <a:prstGeom prst="straightConnector1">
            <a:avLst/>
          </a:prstGeom>
          <a:noFill/>
          <a:ln cap="flat" cmpd="sng" w="29200">
            <a:solidFill>
              <a:srgbClr val="376DA5"/>
            </a:solidFill>
            <a:prstDash val="solid"/>
            <a:round/>
            <a:headEnd len="med" w="med" type="none"/>
            <a:tailEnd len="med" w="med" type="none"/>
          </a:ln>
        </p:spPr>
      </p:cxnSp>
      <p:cxnSp>
        <p:nvCxnSpPr>
          <p:cNvPr id="337" name="Google Shape;337;p23"/>
          <p:cNvCxnSpPr/>
          <p:nvPr/>
        </p:nvCxnSpPr>
        <p:spPr>
          <a:xfrm>
            <a:off x="4288367" y="2242208"/>
            <a:ext cx="165600" cy="9300"/>
          </a:xfrm>
          <a:prstGeom prst="straightConnector1">
            <a:avLst/>
          </a:prstGeom>
          <a:noFill/>
          <a:ln cap="flat" cmpd="sng" w="29200">
            <a:solidFill>
              <a:srgbClr val="376DA5"/>
            </a:solidFill>
            <a:prstDash val="solid"/>
            <a:round/>
            <a:headEnd len="med" w="med" type="none"/>
            <a:tailEnd len="med" w="med" type="none"/>
          </a:ln>
        </p:spPr>
      </p:cxnSp>
      <p:cxnSp>
        <p:nvCxnSpPr>
          <p:cNvPr id="338" name="Google Shape;338;p23"/>
          <p:cNvCxnSpPr/>
          <p:nvPr/>
        </p:nvCxnSpPr>
        <p:spPr>
          <a:xfrm>
            <a:off x="4453890" y="2251436"/>
            <a:ext cx="165600" cy="8700"/>
          </a:xfrm>
          <a:prstGeom prst="straightConnector1">
            <a:avLst/>
          </a:prstGeom>
          <a:noFill/>
          <a:ln cap="flat" cmpd="sng" w="29200">
            <a:solidFill>
              <a:srgbClr val="376DA5"/>
            </a:solidFill>
            <a:prstDash val="solid"/>
            <a:round/>
            <a:headEnd len="med" w="med" type="none"/>
            <a:tailEnd len="med" w="med" type="none"/>
          </a:ln>
        </p:spPr>
      </p:cxnSp>
      <p:cxnSp>
        <p:nvCxnSpPr>
          <p:cNvPr id="339" name="Google Shape;339;p23"/>
          <p:cNvCxnSpPr/>
          <p:nvPr/>
        </p:nvCxnSpPr>
        <p:spPr>
          <a:xfrm>
            <a:off x="4619413" y="2260253"/>
            <a:ext cx="165600" cy="8400"/>
          </a:xfrm>
          <a:prstGeom prst="straightConnector1">
            <a:avLst/>
          </a:prstGeom>
          <a:noFill/>
          <a:ln cap="flat" cmpd="sng" w="29200">
            <a:solidFill>
              <a:srgbClr val="376DA5"/>
            </a:solidFill>
            <a:prstDash val="solid"/>
            <a:round/>
            <a:headEnd len="med" w="med" type="none"/>
            <a:tailEnd len="med" w="med" type="none"/>
          </a:ln>
        </p:spPr>
      </p:cxnSp>
      <p:cxnSp>
        <p:nvCxnSpPr>
          <p:cNvPr id="340" name="Google Shape;340;p23"/>
          <p:cNvCxnSpPr/>
          <p:nvPr/>
        </p:nvCxnSpPr>
        <p:spPr>
          <a:xfrm>
            <a:off x="4784937" y="2268695"/>
            <a:ext cx="165600" cy="8100"/>
          </a:xfrm>
          <a:prstGeom prst="straightConnector1">
            <a:avLst/>
          </a:prstGeom>
          <a:noFill/>
          <a:ln cap="flat" cmpd="sng" w="29200">
            <a:solidFill>
              <a:srgbClr val="376DA5"/>
            </a:solidFill>
            <a:prstDash val="solid"/>
            <a:round/>
            <a:headEnd len="med" w="med" type="none"/>
            <a:tailEnd len="med" w="med" type="none"/>
          </a:ln>
        </p:spPr>
      </p:cxnSp>
      <p:cxnSp>
        <p:nvCxnSpPr>
          <p:cNvPr id="341" name="Google Shape;341;p23"/>
          <p:cNvCxnSpPr/>
          <p:nvPr/>
        </p:nvCxnSpPr>
        <p:spPr>
          <a:xfrm>
            <a:off x="4950460" y="2276793"/>
            <a:ext cx="165600" cy="7800"/>
          </a:xfrm>
          <a:prstGeom prst="straightConnector1">
            <a:avLst/>
          </a:prstGeom>
          <a:noFill/>
          <a:ln cap="flat" cmpd="sng" w="29200">
            <a:solidFill>
              <a:srgbClr val="376DA5"/>
            </a:solidFill>
            <a:prstDash val="solid"/>
            <a:round/>
            <a:headEnd len="med" w="med" type="none"/>
            <a:tailEnd len="med" w="med" type="none"/>
          </a:ln>
        </p:spPr>
      </p:cxnSp>
      <p:cxnSp>
        <p:nvCxnSpPr>
          <p:cNvPr id="342" name="Google Shape;342;p23"/>
          <p:cNvCxnSpPr/>
          <p:nvPr/>
        </p:nvCxnSpPr>
        <p:spPr>
          <a:xfrm>
            <a:off x="5115983" y="2284572"/>
            <a:ext cx="165600" cy="7500"/>
          </a:xfrm>
          <a:prstGeom prst="straightConnector1">
            <a:avLst/>
          </a:prstGeom>
          <a:noFill/>
          <a:ln cap="flat" cmpd="sng" w="29200">
            <a:solidFill>
              <a:srgbClr val="376DA5"/>
            </a:solidFill>
            <a:prstDash val="solid"/>
            <a:round/>
            <a:headEnd len="med" w="med" type="none"/>
            <a:tailEnd len="med" w="med" type="none"/>
          </a:ln>
        </p:spPr>
      </p:cxnSp>
      <p:cxnSp>
        <p:nvCxnSpPr>
          <p:cNvPr id="343" name="Google Shape;343;p23"/>
          <p:cNvCxnSpPr/>
          <p:nvPr/>
        </p:nvCxnSpPr>
        <p:spPr>
          <a:xfrm>
            <a:off x="5281507" y="2292058"/>
            <a:ext cx="165600" cy="7200"/>
          </a:xfrm>
          <a:prstGeom prst="straightConnector1">
            <a:avLst/>
          </a:prstGeom>
          <a:noFill/>
          <a:ln cap="flat" cmpd="sng" w="29200">
            <a:solidFill>
              <a:srgbClr val="376DA5"/>
            </a:solidFill>
            <a:prstDash val="solid"/>
            <a:round/>
            <a:headEnd len="med" w="med" type="none"/>
            <a:tailEnd len="med" w="med" type="none"/>
          </a:ln>
        </p:spPr>
      </p:cxnSp>
      <p:cxnSp>
        <p:nvCxnSpPr>
          <p:cNvPr id="344" name="Google Shape;344;p23"/>
          <p:cNvCxnSpPr/>
          <p:nvPr/>
        </p:nvCxnSpPr>
        <p:spPr>
          <a:xfrm>
            <a:off x="5447030" y="2299272"/>
            <a:ext cx="165600" cy="6900"/>
          </a:xfrm>
          <a:prstGeom prst="straightConnector1">
            <a:avLst/>
          </a:prstGeom>
          <a:noFill/>
          <a:ln cap="flat" cmpd="sng" w="29200">
            <a:solidFill>
              <a:srgbClr val="376DA5"/>
            </a:solidFill>
            <a:prstDash val="solid"/>
            <a:round/>
            <a:headEnd len="med" w="med" type="none"/>
            <a:tailEnd len="med" w="med" type="none"/>
          </a:ln>
        </p:spPr>
      </p:cxnSp>
      <p:cxnSp>
        <p:nvCxnSpPr>
          <p:cNvPr id="345" name="Google Shape;345;p23"/>
          <p:cNvCxnSpPr/>
          <p:nvPr/>
        </p:nvCxnSpPr>
        <p:spPr>
          <a:xfrm>
            <a:off x="5612553" y="2306233"/>
            <a:ext cx="165600" cy="6600"/>
          </a:xfrm>
          <a:prstGeom prst="straightConnector1">
            <a:avLst/>
          </a:prstGeom>
          <a:noFill/>
          <a:ln cap="flat" cmpd="sng" w="29200">
            <a:solidFill>
              <a:srgbClr val="376DA5"/>
            </a:solidFill>
            <a:prstDash val="solid"/>
            <a:round/>
            <a:headEnd len="med" w="med" type="none"/>
            <a:tailEnd len="med" w="med" type="none"/>
          </a:ln>
        </p:spPr>
      </p:cxnSp>
      <p:cxnSp>
        <p:nvCxnSpPr>
          <p:cNvPr id="346" name="Google Shape;346;p23"/>
          <p:cNvCxnSpPr/>
          <p:nvPr/>
        </p:nvCxnSpPr>
        <p:spPr>
          <a:xfrm>
            <a:off x="5778077" y="2312958"/>
            <a:ext cx="165600" cy="6600"/>
          </a:xfrm>
          <a:prstGeom prst="straightConnector1">
            <a:avLst/>
          </a:prstGeom>
          <a:noFill/>
          <a:ln cap="flat" cmpd="sng" w="29200">
            <a:solidFill>
              <a:srgbClr val="376DA5"/>
            </a:solidFill>
            <a:prstDash val="solid"/>
            <a:round/>
            <a:headEnd len="med" w="med" type="none"/>
            <a:tailEnd len="med" w="med" type="none"/>
          </a:ln>
        </p:spPr>
      </p:cxnSp>
      <p:cxnSp>
        <p:nvCxnSpPr>
          <p:cNvPr id="347" name="Google Shape;347;p23"/>
          <p:cNvCxnSpPr/>
          <p:nvPr/>
        </p:nvCxnSpPr>
        <p:spPr>
          <a:xfrm>
            <a:off x="977900" y="1638300"/>
            <a:ext cx="165600" cy="398400"/>
          </a:xfrm>
          <a:prstGeom prst="straightConnector1">
            <a:avLst/>
          </a:prstGeom>
          <a:noFill/>
          <a:ln cap="flat" cmpd="sng" w="19050">
            <a:solidFill>
              <a:srgbClr val="53616D"/>
            </a:solidFill>
            <a:prstDash val="dash"/>
            <a:round/>
            <a:headEnd len="med" w="med" type="none"/>
            <a:tailEnd len="med" w="med" type="none"/>
          </a:ln>
        </p:spPr>
      </p:cxnSp>
      <p:cxnSp>
        <p:nvCxnSpPr>
          <p:cNvPr id="348" name="Google Shape;348;p23"/>
          <p:cNvCxnSpPr/>
          <p:nvPr/>
        </p:nvCxnSpPr>
        <p:spPr>
          <a:xfrm>
            <a:off x="1143423" y="2036827"/>
            <a:ext cx="165600" cy="233100"/>
          </a:xfrm>
          <a:prstGeom prst="straightConnector1">
            <a:avLst/>
          </a:prstGeom>
          <a:noFill/>
          <a:ln cap="flat" cmpd="sng" w="19050">
            <a:solidFill>
              <a:srgbClr val="53616D"/>
            </a:solidFill>
            <a:prstDash val="dash"/>
            <a:round/>
            <a:headEnd len="med" w="med" type="none"/>
            <a:tailEnd len="med" w="med" type="none"/>
          </a:ln>
        </p:spPr>
      </p:cxnSp>
      <p:cxnSp>
        <p:nvCxnSpPr>
          <p:cNvPr id="349" name="Google Shape;349;p23"/>
          <p:cNvCxnSpPr/>
          <p:nvPr/>
        </p:nvCxnSpPr>
        <p:spPr>
          <a:xfrm>
            <a:off x="1308947" y="2269951"/>
            <a:ext cx="165600" cy="165300"/>
          </a:xfrm>
          <a:prstGeom prst="straightConnector1">
            <a:avLst/>
          </a:prstGeom>
          <a:noFill/>
          <a:ln cap="flat" cmpd="sng" w="19050">
            <a:solidFill>
              <a:srgbClr val="53616D"/>
            </a:solidFill>
            <a:prstDash val="dash"/>
            <a:round/>
            <a:headEnd len="med" w="med" type="none"/>
            <a:tailEnd len="med" w="med" type="none"/>
          </a:ln>
        </p:spPr>
      </p:cxnSp>
      <p:cxnSp>
        <p:nvCxnSpPr>
          <p:cNvPr id="350" name="Google Shape;350;p23"/>
          <p:cNvCxnSpPr/>
          <p:nvPr/>
        </p:nvCxnSpPr>
        <p:spPr>
          <a:xfrm>
            <a:off x="1474470" y="2435354"/>
            <a:ext cx="165600" cy="128400"/>
          </a:xfrm>
          <a:prstGeom prst="straightConnector1">
            <a:avLst/>
          </a:prstGeom>
          <a:noFill/>
          <a:ln cap="flat" cmpd="sng" w="19050">
            <a:solidFill>
              <a:srgbClr val="53616D"/>
            </a:solidFill>
            <a:prstDash val="dash"/>
            <a:round/>
            <a:headEnd len="med" w="med" type="none"/>
            <a:tailEnd len="med" w="med" type="none"/>
          </a:ln>
        </p:spPr>
      </p:cxnSp>
      <p:cxnSp>
        <p:nvCxnSpPr>
          <p:cNvPr id="351" name="Google Shape;351;p23"/>
          <p:cNvCxnSpPr/>
          <p:nvPr/>
        </p:nvCxnSpPr>
        <p:spPr>
          <a:xfrm>
            <a:off x="1639993" y="2563652"/>
            <a:ext cx="165600" cy="104700"/>
          </a:xfrm>
          <a:prstGeom prst="straightConnector1">
            <a:avLst/>
          </a:prstGeom>
          <a:noFill/>
          <a:ln cap="flat" cmpd="sng" w="19050">
            <a:solidFill>
              <a:srgbClr val="53616D"/>
            </a:solidFill>
            <a:prstDash val="dash"/>
            <a:round/>
            <a:headEnd len="med" w="med" type="none"/>
            <a:tailEnd len="med" w="med" type="none"/>
          </a:ln>
        </p:spPr>
      </p:cxnSp>
      <p:cxnSp>
        <p:nvCxnSpPr>
          <p:cNvPr id="352" name="Google Shape;352;p23"/>
          <p:cNvCxnSpPr/>
          <p:nvPr/>
        </p:nvCxnSpPr>
        <p:spPr>
          <a:xfrm>
            <a:off x="1805517" y="2668478"/>
            <a:ext cx="165600" cy="88500"/>
          </a:xfrm>
          <a:prstGeom prst="straightConnector1">
            <a:avLst/>
          </a:prstGeom>
          <a:noFill/>
          <a:ln cap="flat" cmpd="sng" w="19050">
            <a:solidFill>
              <a:srgbClr val="53616D"/>
            </a:solidFill>
            <a:prstDash val="dash"/>
            <a:round/>
            <a:headEnd len="med" w="med" type="none"/>
            <a:tailEnd len="med" w="med" type="none"/>
          </a:ln>
        </p:spPr>
      </p:cxnSp>
      <p:cxnSp>
        <p:nvCxnSpPr>
          <p:cNvPr id="353" name="Google Shape;353;p23"/>
          <p:cNvCxnSpPr/>
          <p:nvPr/>
        </p:nvCxnSpPr>
        <p:spPr>
          <a:xfrm>
            <a:off x="1971040" y="2757107"/>
            <a:ext cx="165600" cy="76800"/>
          </a:xfrm>
          <a:prstGeom prst="straightConnector1">
            <a:avLst/>
          </a:prstGeom>
          <a:noFill/>
          <a:ln cap="flat" cmpd="sng" w="19050">
            <a:solidFill>
              <a:srgbClr val="53616D"/>
            </a:solidFill>
            <a:prstDash val="dash"/>
            <a:round/>
            <a:headEnd len="med" w="med" type="none"/>
            <a:tailEnd len="med" w="med" type="none"/>
          </a:ln>
        </p:spPr>
      </p:cxnSp>
      <p:cxnSp>
        <p:nvCxnSpPr>
          <p:cNvPr id="354" name="Google Shape;354;p23"/>
          <p:cNvCxnSpPr/>
          <p:nvPr/>
        </p:nvCxnSpPr>
        <p:spPr>
          <a:xfrm>
            <a:off x="2136563" y="2833882"/>
            <a:ext cx="165600" cy="67800"/>
          </a:xfrm>
          <a:prstGeom prst="straightConnector1">
            <a:avLst/>
          </a:prstGeom>
          <a:noFill/>
          <a:ln cap="flat" cmpd="sng" w="19050">
            <a:solidFill>
              <a:srgbClr val="53616D"/>
            </a:solidFill>
            <a:prstDash val="dash"/>
            <a:round/>
            <a:headEnd len="med" w="med" type="none"/>
            <a:tailEnd len="med" w="med" type="none"/>
          </a:ln>
        </p:spPr>
      </p:cxnSp>
      <p:cxnSp>
        <p:nvCxnSpPr>
          <p:cNvPr id="355" name="Google Shape;355;p23"/>
          <p:cNvCxnSpPr/>
          <p:nvPr/>
        </p:nvCxnSpPr>
        <p:spPr>
          <a:xfrm>
            <a:off x="2302087" y="2901601"/>
            <a:ext cx="165600" cy="60600"/>
          </a:xfrm>
          <a:prstGeom prst="straightConnector1">
            <a:avLst/>
          </a:prstGeom>
          <a:noFill/>
          <a:ln cap="flat" cmpd="sng" w="19050">
            <a:solidFill>
              <a:srgbClr val="53616D"/>
            </a:solidFill>
            <a:prstDash val="dash"/>
            <a:round/>
            <a:headEnd len="med" w="med" type="none"/>
            <a:tailEnd len="med" w="med" type="none"/>
          </a:ln>
        </p:spPr>
      </p:cxnSp>
      <p:cxnSp>
        <p:nvCxnSpPr>
          <p:cNvPr id="356" name="Google Shape;356;p23"/>
          <p:cNvCxnSpPr/>
          <p:nvPr/>
        </p:nvCxnSpPr>
        <p:spPr>
          <a:xfrm>
            <a:off x="2467610" y="2962179"/>
            <a:ext cx="165600" cy="54900"/>
          </a:xfrm>
          <a:prstGeom prst="straightConnector1">
            <a:avLst/>
          </a:prstGeom>
          <a:noFill/>
          <a:ln cap="flat" cmpd="sng" w="19050">
            <a:solidFill>
              <a:srgbClr val="53616D"/>
            </a:solidFill>
            <a:prstDash val="dash"/>
            <a:round/>
            <a:headEnd len="med" w="med" type="none"/>
            <a:tailEnd len="med" w="med" type="none"/>
          </a:ln>
        </p:spPr>
      </p:cxnSp>
      <p:cxnSp>
        <p:nvCxnSpPr>
          <p:cNvPr id="357" name="Google Shape;357;p23"/>
          <p:cNvCxnSpPr/>
          <p:nvPr/>
        </p:nvCxnSpPr>
        <p:spPr>
          <a:xfrm>
            <a:off x="2633133" y="3016978"/>
            <a:ext cx="165600" cy="50100"/>
          </a:xfrm>
          <a:prstGeom prst="straightConnector1">
            <a:avLst/>
          </a:prstGeom>
          <a:noFill/>
          <a:ln cap="flat" cmpd="sng" w="19050">
            <a:solidFill>
              <a:srgbClr val="53616D"/>
            </a:solidFill>
            <a:prstDash val="dash"/>
            <a:round/>
            <a:headEnd len="med" w="med" type="none"/>
            <a:tailEnd len="med" w="med" type="none"/>
          </a:ln>
        </p:spPr>
      </p:cxnSp>
      <p:cxnSp>
        <p:nvCxnSpPr>
          <p:cNvPr id="358" name="Google Shape;358;p23"/>
          <p:cNvCxnSpPr/>
          <p:nvPr/>
        </p:nvCxnSpPr>
        <p:spPr>
          <a:xfrm>
            <a:off x="2798657" y="3067005"/>
            <a:ext cx="165600" cy="45900"/>
          </a:xfrm>
          <a:prstGeom prst="straightConnector1">
            <a:avLst/>
          </a:prstGeom>
          <a:noFill/>
          <a:ln cap="flat" cmpd="sng" w="19050">
            <a:solidFill>
              <a:srgbClr val="53616D"/>
            </a:solidFill>
            <a:prstDash val="dash"/>
            <a:round/>
            <a:headEnd len="med" w="med" type="none"/>
            <a:tailEnd len="med" w="med" type="none"/>
          </a:ln>
        </p:spPr>
      </p:cxnSp>
      <p:cxnSp>
        <p:nvCxnSpPr>
          <p:cNvPr id="359" name="Google Shape;359;p23"/>
          <p:cNvCxnSpPr/>
          <p:nvPr/>
        </p:nvCxnSpPr>
        <p:spPr>
          <a:xfrm>
            <a:off x="2964180" y="3113026"/>
            <a:ext cx="165600" cy="42600"/>
          </a:xfrm>
          <a:prstGeom prst="straightConnector1">
            <a:avLst/>
          </a:prstGeom>
          <a:noFill/>
          <a:ln cap="flat" cmpd="sng" w="19050">
            <a:solidFill>
              <a:srgbClr val="53616D"/>
            </a:solidFill>
            <a:prstDash val="dash"/>
            <a:round/>
            <a:headEnd len="med" w="med" type="none"/>
            <a:tailEnd len="med" w="med" type="none"/>
          </a:ln>
        </p:spPr>
      </p:cxnSp>
      <p:cxnSp>
        <p:nvCxnSpPr>
          <p:cNvPr id="360" name="Google Shape;360;p23"/>
          <p:cNvCxnSpPr/>
          <p:nvPr/>
        </p:nvCxnSpPr>
        <p:spPr>
          <a:xfrm>
            <a:off x="3129703" y="3155635"/>
            <a:ext cx="165600" cy="39600"/>
          </a:xfrm>
          <a:prstGeom prst="straightConnector1">
            <a:avLst/>
          </a:prstGeom>
          <a:noFill/>
          <a:ln cap="flat" cmpd="sng" w="19050">
            <a:solidFill>
              <a:srgbClr val="53616D"/>
            </a:solidFill>
            <a:prstDash val="dash"/>
            <a:round/>
            <a:headEnd len="med" w="med" type="none"/>
            <a:tailEnd len="med" w="med" type="none"/>
          </a:ln>
        </p:spPr>
      </p:cxnSp>
      <p:cxnSp>
        <p:nvCxnSpPr>
          <p:cNvPr id="361" name="Google Shape;361;p23"/>
          <p:cNvCxnSpPr/>
          <p:nvPr/>
        </p:nvCxnSpPr>
        <p:spPr>
          <a:xfrm>
            <a:off x="3295227" y="3195302"/>
            <a:ext cx="165600" cy="37200"/>
          </a:xfrm>
          <a:prstGeom prst="straightConnector1">
            <a:avLst/>
          </a:prstGeom>
          <a:noFill/>
          <a:ln cap="flat" cmpd="sng" w="19050">
            <a:solidFill>
              <a:srgbClr val="53616D"/>
            </a:solidFill>
            <a:prstDash val="dash"/>
            <a:round/>
            <a:headEnd len="med" w="med" type="none"/>
            <a:tailEnd len="med" w="med" type="none"/>
          </a:ln>
        </p:spPr>
      </p:cxnSp>
      <p:cxnSp>
        <p:nvCxnSpPr>
          <p:cNvPr id="362" name="Google Shape;362;p23"/>
          <p:cNvCxnSpPr/>
          <p:nvPr/>
        </p:nvCxnSpPr>
        <p:spPr>
          <a:xfrm>
            <a:off x="3460750" y="3232409"/>
            <a:ext cx="165600" cy="34800"/>
          </a:xfrm>
          <a:prstGeom prst="straightConnector1">
            <a:avLst/>
          </a:prstGeom>
          <a:noFill/>
          <a:ln cap="flat" cmpd="sng" w="19050">
            <a:solidFill>
              <a:srgbClr val="53616D"/>
            </a:solidFill>
            <a:prstDash val="dash"/>
            <a:round/>
            <a:headEnd len="med" w="med" type="none"/>
            <a:tailEnd len="med" w="med" type="none"/>
          </a:ln>
        </p:spPr>
      </p:cxnSp>
      <p:cxnSp>
        <p:nvCxnSpPr>
          <p:cNvPr id="363" name="Google Shape;363;p23"/>
          <p:cNvCxnSpPr/>
          <p:nvPr/>
        </p:nvCxnSpPr>
        <p:spPr>
          <a:xfrm>
            <a:off x="3626273" y="3267265"/>
            <a:ext cx="165600" cy="33000"/>
          </a:xfrm>
          <a:prstGeom prst="straightConnector1">
            <a:avLst/>
          </a:prstGeom>
          <a:noFill/>
          <a:ln cap="flat" cmpd="sng" w="19050">
            <a:solidFill>
              <a:srgbClr val="53616D"/>
            </a:solidFill>
            <a:prstDash val="dash"/>
            <a:round/>
            <a:headEnd len="med" w="med" type="none"/>
            <a:tailEnd len="med" w="med" type="none"/>
          </a:ln>
        </p:spPr>
      </p:cxnSp>
      <p:cxnSp>
        <p:nvCxnSpPr>
          <p:cNvPr id="364" name="Google Shape;364;p23"/>
          <p:cNvCxnSpPr/>
          <p:nvPr/>
        </p:nvCxnSpPr>
        <p:spPr>
          <a:xfrm>
            <a:off x="3791797" y="3300129"/>
            <a:ext cx="165600" cy="31200"/>
          </a:xfrm>
          <a:prstGeom prst="straightConnector1">
            <a:avLst/>
          </a:prstGeom>
          <a:noFill/>
          <a:ln cap="flat" cmpd="sng" w="19050">
            <a:solidFill>
              <a:srgbClr val="53616D"/>
            </a:solidFill>
            <a:prstDash val="dash"/>
            <a:round/>
            <a:headEnd len="med" w="med" type="none"/>
            <a:tailEnd len="med" w="med" type="none"/>
          </a:ln>
        </p:spPr>
      </p:cxnSp>
      <p:cxnSp>
        <p:nvCxnSpPr>
          <p:cNvPr id="365" name="Google Shape;365;p23"/>
          <p:cNvCxnSpPr/>
          <p:nvPr/>
        </p:nvCxnSpPr>
        <p:spPr>
          <a:xfrm>
            <a:off x="3957320" y="3331215"/>
            <a:ext cx="165600" cy="29400"/>
          </a:xfrm>
          <a:prstGeom prst="straightConnector1">
            <a:avLst/>
          </a:prstGeom>
          <a:noFill/>
          <a:ln cap="flat" cmpd="sng" w="19050">
            <a:solidFill>
              <a:srgbClr val="53616D"/>
            </a:solidFill>
            <a:prstDash val="dash"/>
            <a:round/>
            <a:headEnd len="med" w="med" type="none"/>
            <a:tailEnd len="med" w="med" type="none"/>
          </a:ln>
        </p:spPr>
      </p:cxnSp>
      <p:cxnSp>
        <p:nvCxnSpPr>
          <p:cNvPr id="366" name="Google Shape;366;p23"/>
          <p:cNvCxnSpPr/>
          <p:nvPr/>
        </p:nvCxnSpPr>
        <p:spPr>
          <a:xfrm>
            <a:off x="4122843" y="3360706"/>
            <a:ext cx="165600" cy="28200"/>
          </a:xfrm>
          <a:prstGeom prst="straightConnector1">
            <a:avLst/>
          </a:prstGeom>
          <a:noFill/>
          <a:ln cap="flat" cmpd="sng" w="19050">
            <a:solidFill>
              <a:srgbClr val="53616D"/>
            </a:solidFill>
            <a:prstDash val="dash"/>
            <a:round/>
            <a:headEnd len="med" w="med" type="none"/>
            <a:tailEnd len="med" w="med" type="none"/>
          </a:ln>
        </p:spPr>
      </p:cxnSp>
      <p:cxnSp>
        <p:nvCxnSpPr>
          <p:cNvPr id="367" name="Google Shape;367;p23"/>
          <p:cNvCxnSpPr/>
          <p:nvPr/>
        </p:nvCxnSpPr>
        <p:spPr>
          <a:xfrm>
            <a:off x="4288367" y="3388758"/>
            <a:ext cx="165600" cy="26700"/>
          </a:xfrm>
          <a:prstGeom prst="straightConnector1">
            <a:avLst/>
          </a:prstGeom>
          <a:noFill/>
          <a:ln cap="flat" cmpd="sng" w="19050">
            <a:solidFill>
              <a:srgbClr val="53616D"/>
            </a:solidFill>
            <a:prstDash val="dash"/>
            <a:round/>
            <a:headEnd len="med" w="med" type="none"/>
            <a:tailEnd len="med" w="med" type="none"/>
          </a:ln>
        </p:spPr>
      </p:cxnSp>
      <p:cxnSp>
        <p:nvCxnSpPr>
          <p:cNvPr id="368" name="Google Shape;368;p23"/>
          <p:cNvCxnSpPr/>
          <p:nvPr/>
        </p:nvCxnSpPr>
        <p:spPr>
          <a:xfrm>
            <a:off x="4453890" y="3415505"/>
            <a:ext cx="165600" cy="25500"/>
          </a:xfrm>
          <a:prstGeom prst="straightConnector1">
            <a:avLst/>
          </a:prstGeom>
          <a:noFill/>
          <a:ln cap="flat" cmpd="sng" w="19050">
            <a:solidFill>
              <a:srgbClr val="53616D"/>
            </a:solidFill>
            <a:prstDash val="dash"/>
            <a:round/>
            <a:headEnd len="med" w="med" type="none"/>
            <a:tailEnd len="med" w="med" type="none"/>
          </a:ln>
        </p:spPr>
      </p:cxnSp>
      <p:cxnSp>
        <p:nvCxnSpPr>
          <p:cNvPr id="369" name="Google Shape;369;p23"/>
          <p:cNvCxnSpPr/>
          <p:nvPr/>
        </p:nvCxnSpPr>
        <p:spPr>
          <a:xfrm>
            <a:off x="4619413" y="3441063"/>
            <a:ext cx="165600" cy="24600"/>
          </a:xfrm>
          <a:prstGeom prst="straightConnector1">
            <a:avLst/>
          </a:prstGeom>
          <a:noFill/>
          <a:ln cap="flat" cmpd="sng" w="19050">
            <a:solidFill>
              <a:srgbClr val="53616D"/>
            </a:solidFill>
            <a:prstDash val="dash"/>
            <a:round/>
            <a:headEnd len="med" w="med" type="none"/>
            <a:tailEnd len="med" w="med" type="none"/>
          </a:ln>
        </p:spPr>
      </p:cxnSp>
      <p:cxnSp>
        <p:nvCxnSpPr>
          <p:cNvPr id="370" name="Google Shape;370;p23"/>
          <p:cNvCxnSpPr/>
          <p:nvPr/>
        </p:nvCxnSpPr>
        <p:spPr>
          <a:xfrm>
            <a:off x="4784937" y="3465532"/>
            <a:ext cx="165600" cy="23400"/>
          </a:xfrm>
          <a:prstGeom prst="straightConnector1">
            <a:avLst/>
          </a:prstGeom>
          <a:noFill/>
          <a:ln cap="flat" cmpd="sng" w="19050">
            <a:solidFill>
              <a:srgbClr val="53616D"/>
            </a:solidFill>
            <a:prstDash val="dash"/>
            <a:round/>
            <a:headEnd len="med" w="med" type="none"/>
            <a:tailEnd len="med" w="med" type="none"/>
          </a:ln>
        </p:spPr>
      </p:cxnSp>
      <p:cxnSp>
        <p:nvCxnSpPr>
          <p:cNvPr id="371" name="Google Shape;371;p23"/>
          <p:cNvCxnSpPr/>
          <p:nvPr/>
        </p:nvCxnSpPr>
        <p:spPr>
          <a:xfrm>
            <a:off x="4950460" y="3489003"/>
            <a:ext cx="165600" cy="22500"/>
          </a:xfrm>
          <a:prstGeom prst="straightConnector1">
            <a:avLst/>
          </a:prstGeom>
          <a:noFill/>
          <a:ln cap="flat" cmpd="sng" w="19050">
            <a:solidFill>
              <a:srgbClr val="53616D"/>
            </a:solidFill>
            <a:prstDash val="dash"/>
            <a:round/>
            <a:headEnd len="med" w="med" type="none"/>
            <a:tailEnd len="med" w="med" type="none"/>
          </a:ln>
        </p:spPr>
      </p:cxnSp>
      <p:cxnSp>
        <p:nvCxnSpPr>
          <p:cNvPr id="372" name="Google Shape;372;p23"/>
          <p:cNvCxnSpPr/>
          <p:nvPr/>
        </p:nvCxnSpPr>
        <p:spPr>
          <a:xfrm>
            <a:off x="5115983" y="3511553"/>
            <a:ext cx="165600" cy="21600"/>
          </a:xfrm>
          <a:prstGeom prst="straightConnector1">
            <a:avLst/>
          </a:prstGeom>
          <a:noFill/>
          <a:ln cap="flat" cmpd="sng" w="19050">
            <a:solidFill>
              <a:srgbClr val="53616D"/>
            </a:solidFill>
            <a:prstDash val="dash"/>
            <a:round/>
            <a:headEnd len="med" w="med" type="none"/>
            <a:tailEnd len="med" w="med" type="none"/>
          </a:ln>
        </p:spPr>
      </p:cxnSp>
      <p:cxnSp>
        <p:nvCxnSpPr>
          <p:cNvPr id="373" name="Google Shape;373;p23"/>
          <p:cNvCxnSpPr/>
          <p:nvPr/>
        </p:nvCxnSpPr>
        <p:spPr>
          <a:xfrm>
            <a:off x="5281507" y="3533252"/>
            <a:ext cx="165600" cy="21000"/>
          </a:xfrm>
          <a:prstGeom prst="straightConnector1">
            <a:avLst/>
          </a:prstGeom>
          <a:noFill/>
          <a:ln cap="flat" cmpd="sng" w="19050">
            <a:solidFill>
              <a:srgbClr val="53616D"/>
            </a:solidFill>
            <a:prstDash val="dash"/>
            <a:round/>
            <a:headEnd len="med" w="med" type="none"/>
            <a:tailEnd len="med" w="med" type="none"/>
          </a:ln>
        </p:spPr>
      </p:cxnSp>
      <p:cxnSp>
        <p:nvCxnSpPr>
          <p:cNvPr id="374" name="Google Shape;374;p23"/>
          <p:cNvCxnSpPr/>
          <p:nvPr/>
        </p:nvCxnSpPr>
        <p:spPr>
          <a:xfrm>
            <a:off x="5447030" y="3554162"/>
            <a:ext cx="165600" cy="20100"/>
          </a:xfrm>
          <a:prstGeom prst="straightConnector1">
            <a:avLst/>
          </a:prstGeom>
          <a:noFill/>
          <a:ln cap="flat" cmpd="sng" w="19050">
            <a:solidFill>
              <a:srgbClr val="53616D"/>
            </a:solidFill>
            <a:prstDash val="dash"/>
            <a:round/>
            <a:headEnd len="med" w="med" type="none"/>
            <a:tailEnd len="med" w="med" type="none"/>
          </a:ln>
        </p:spPr>
      </p:cxnSp>
      <p:cxnSp>
        <p:nvCxnSpPr>
          <p:cNvPr id="375" name="Google Shape;375;p23"/>
          <p:cNvCxnSpPr/>
          <p:nvPr/>
        </p:nvCxnSpPr>
        <p:spPr>
          <a:xfrm>
            <a:off x="5612553" y="3574338"/>
            <a:ext cx="165600" cy="19500"/>
          </a:xfrm>
          <a:prstGeom prst="straightConnector1">
            <a:avLst/>
          </a:prstGeom>
          <a:noFill/>
          <a:ln cap="flat" cmpd="sng" w="19050">
            <a:solidFill>
              <a:srgbClr val="53616D"/>
            </a:solidFill>
            <a:prstDash val="dash"/>
            <a:round/>
            <a:headEnd len="med" w="med" type="none"/>
            <a:tailEnd len="med" w="med" type="none"/>
          </a:ln>
        </p:spPr>
      </p:cxnSp>
      <p:cxnSp>
        <p:nvCxnSpPr>
          <p:cNvPr id="376" name="Google Shape;376;p23"/>
          <p:cNvCxnSpPr/>
          <p:nvPr/>
        </p:nvCxnSpPr>
        <p:spPr>
          <a:xfrm>
            <a:off x="5778077" y="3593829"/>
            <a:ext cx="165600" cy="18900"/>
          </a:xfrm>
          <a:prstGeom prst="straightConnector1">
            <a:avLst/>
          </a:prstGeom>
          <a:noFill/>
          <a:ln cap="flat" cmpd="sng" w="19050">
            <a:solidFill>
              <a:srgbClr val="53616D"/>
            </a:solidFill>
            <a:prstDash val="dash"/>
            <a:round/>
            <a:headEnd len="med" w="med" type="none"/>
            <a:tailEnd len="med" w="med" type="none"/>
          </a:ln>
        </p:spPr>
      </p:cxnSp>
      <p:sp>
        <p:nvSpPr>
          <p:cNvPr id="377" name="Google Shape;377;p23"/>
          <p:cNvSpPr txBox="1"/>
          <p:nvPr/>
        </p:nvSpPr>
        <p:spPr>
          <a:xfrm>
            <a:off x="6223000" y="1612900"/>
            <a:ext cx="2349600" cy="609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800">
                <a:solidFill>
                  <a:srgbClr val="376DA5"/>
                </a:solidFill>
              </a:rPr>
              <a:t>−3,43 dB</a:t>
            </a:r>
            <a:endParaRPr b="1" sz="2800">
              <a:solidFill>
                <a:srgbClr val="376DA5"/>
              </a:solidFill>
            </a:endParaRPr>
          </a:p>
        </p:txBody>
      </p:sp>
      <p:sp>
        <p:nvSpPr>
          <p:cNvPr id="378" name="Google Shape;378;p23"/>
          <p:cNvSpPr txBox="1"/>
          <p:nvPr/>
        </p:nvSpPr>
        <p:spPr>
          <a:xfrm>
            <a:off x="6223000" y="2273300"/>
            <a:ext cx="2349600" cy="81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700">
                <a:solidFill>
                  <a:srgbClr val="243744"/>
                </a:solidFill>
              </a:rPr>
              <a:t>A 300 m · 38 kHz</a:t>
            </a:r>
            <a:endParaRPr sz="1700">
              <a:solidFill>
                <a:srgbClr val="243744"/>
              </a:solidFill>
            </a:endParaRPr>
          </a:p>
          <a:p>
            <a:pPr indent="0" lvl="0" marL="0" rtl="0" algn="l">
              <a:lnSpc>
                <a:spcPct val="110000"/>
              </a:lnSpc>
              <a:spcBef>
                <a:spcPts val="0"/>
              </a:spcBef>
              <a:spcAft>
                <a:spcPts val="0"/>
              </a:spcAft>
              <a:buNone/>
            </a:pPr>
            <a:r>
              <a:rPr lang="es-419" sz="1700">
                <a:solidFill>
                  <a:srgbClr val="243744"/>
                </a:solidFill>
              </a:rPr>
              <a:t>Ajuste a datos citados</a:t>
            </a:r>
            <a:endParaRPr sz="1700">
              <a:solidFill>
                <a:srgbClr val="243744"/>
              </a:solidFill>
            </a:endParaRPr>
          </a:p>
        </p:txBody>
      </p:sp>
      <p:sp>
        <p:nvSpPr>
          <p:cNvPr id="379" name="Google Shape;379;p23"/>
          <p:cNvSpPr txBox="1"/>
          <p:nvPr/>
        </p:nvSpPr>
        <p:spPr>
          <a:xfrm>
            <a:off x="6223000" y="3187700"/>
            <a:ext cx="2400300" cy="116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600">
                <a:solidFill>
                  <a:srgbClr val="53616D"/>
                </a:solidFill>
              </a:rPr>
              <a:t>Línea discontinua:</a:t>
            </a:r>
            <a:endParaRPr sz="1600">
              <a:solidFill>
                <a:srgbClr val="53616D"/>
              </a:solidFill>
            </a:endParaRPr>
          </a:p>
          <a:p>
            <a:pPr indent="0" lvl="0" marL="0" rtl="0" algn="l">
              <a:lnSpc>
                <a:spcPct val="110000"/>
              </a:lnSpc>
              <a:spcBef>
                <a:spcPts val="0"/>
              </a:spcBef>
              <a:spcAft>
                <a:spcPts val="0"/>
              </a:spcAft>
              <a:buNone/>
            </a:pPr>
            <a:r>
              <a:rPr lang="es-419" sz="1600">
                <a:solidFill>
                  <a:srgbClr val="53616D"/>
                </a:solidFill>
              </a:rPr>
              <a:t>Boyle sin compensación</a:t>
            </a:r>
            <a:endParaRPr sz="1600">
              <a:solidFill>
                <a:srgbClr val="53616D"/>
              </a:solidFill>
            </a:endParaRPr>
          </a:p>
          <a:p>
            <a:pPr indent="0" lvl="0" marL="0" rtl="0" algn="l">
              <a:lnSpc>
                <a:spcPct val="110000"/>
              </a:lnSpc>
              <a:spcBef>
                <a:spcPts val="0"/>
              </a:spcBef>
              <a:spcAft>
                <a:spcPts val="0"/>
              </a:spcAft>
              <a:buNone/>
            </a:pPr>
            <a:r>
              <a:rPr lang="es-419" sz="1600">
                <a:solidFill>
                  <a:srgbClr val="53616D"/>
                </a:solidFill>
              </a:rPr>
              <a:t>(σbs ∝ área)</a:t>
            </a:r>
            <a:endParaRPr sz="1600">
              <a:solidFill>
                <a:srgbClr val="53616D"/>
              </a:solidFill>
            </a:endParaRPr>
          </a:p>
          <a:p>
            <a:pPr indent="0" lvl="0" marL="0" rtl="0" algn="l">
              <a:lnSpc>
                <a:spcPct val="110000"/>
              </a:lnSpc>
              <a:spcBef>
                <a:spcPts val="0"/>
              </a:spcBef>
              <a:spcAft>
                <a:spcPts val="0"/>
              </a:spcAft>
              <a:buNone/>
            </a:pPr>
            <a:r>
              <a:rPr lang="es-419" sz="1600">
                <a:solidFill>
                  <a:srgbClr val="53616D"/>
                </a:solidFill>
              </a:rPr>
              <a:t>Escenario, no medición</a:t>
            </a:r>
            <a:endParaRPr sz="1600">
              <a:solidFill>
                <a:srgbClr val="53616D"/>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4"/>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A79: el TS modelado aumenta a 38 kHz</a:t>
            </a:r>
            <a:endParaRPr b="1" sz="2900">
              <a:solidFill>
                <a:srgbClr val="16324F"/>
              </a:solidFill>
            </a:endParaRPr>
          </a:p>
        </p:txBody>
      </p:sp>
      <p:cxnSp>
        <p:nvCxnSpPr>
          <p:cNvPr id="385" name="Google Shape;385;p24"/>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386" name="Google Shape;386;p24"/>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Adaptación propia de F1, Bloque 2; Fujino et al. (2009, Tabla 4). Convención: TS(z) − TS(50 m).</a:t>
            </a:r>
            <a:endParaRPr sz="980">
              <a:solidFill>
                <a:srgbClr val="53616D"/>
              </a:solidFill>
            </a:endParaRPr>
          </a:p>
        </p:txBody>
      </p:sp>
      <p:sp>
        <p:nvSpPr>
          <p:cNvPr id="387" name="Google Shape;387;p24"/>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12</a:t>
            </a:r>
            <a:endParaRPr sz="1000">
              <a:solidFill>
                <a:srgbClr val="53616D"/>
              </a:solidFill>
            </a:endParaRPr>
          </a:p>
        </p:txBody>
      </p:sp>
      <p:cxnSp>
        <p:nvCxnSpPr>
          <p:cNvPr id="388" name="Google Shape;388;p24"/>
          <p:cNvCxnSpPr/>
          <p:nvPr/>
        </p:nvCxnSpPr>
        <p:spPr>
          <a:xfrm>
            <a:off x="977900" y="3835400"/>
            <a:ext cx="4978500" cy="0"/>
          </a:xfrm>
          <a:prstGeom prst="straightConnector1">
            <a:avLst/>
          </a:prstGeom>
          <a:noFill/>
          <a:ln cap="flat" cmpd="sng" w="8900">
            <a:solidFill>
              <a:srgbClr val="DCE4E8"/>
            </a:solidFill>
            <a:prstDash val="solid"/>
            <a:round/>
            <a:headEnd len="med" w="med" type="none"/>
            <a:tailEnd len="med" w="med" type="none"/>
          </a:ln>
        </p:spPr>
      </p:cxnSp>
      <p:sp>
        <p:nvSpPr>
          <p:cNvPr id="389" name="Google Shape;389;p24"/>
          <p:cNvSpPr txBox="1"/>
          <p:nvPr/>
        </p:nvSpPr>
        <p:spPr>
          <a:xfrm>
            <a:off x="419100" y="372110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0</a:t>
            </a:r>
            <a:endParaRPr sz="1100">
              <a:solidFill>
                <a:srgbClr val="53616D"/>
              </a:solidFill>
            </a:endParaRPr>
          </a:p>
        </p:txBody>
      </p:sp>
      <p:cxnSp>
        <p:nvCxnSpPr>
          <p:cNvPr id="390" name="Google Shape;390;p24"/>
          <p:cNvCxnSpPr/>
          <p:nvPr/>
        </p:nvCxnSpPr>
        <p:spPr>
          <a:xfrm>
            <a:off x="977900" y="3221567"/>
            <a:ext cx="4978500" cy="0"/>
          </a:xfrm>
          <a:prstGeom prst="straightConnector1">
            <a:avLst/>
          </a:prstGeom>
          <a:noFill/>
          <a:ln cap="flat" cmpd="sng" w="8900">
            <a:solidFill>
              <a:srgbClr val="DCE4E8"/>
            </a:solidFill>
            <a:prstDash val="solid"/>
            <a:round/>
            <a:headEnd len="med" w="med" type="none"/>
            <a:tailEnd len="med" w="med" type="none"/>
          </a:ln>
        </p:spPr>
      </p:cxnSp>
      <p:sp>
        <p:nvSpPr>
          <p:cNvPr id="391" name="Google Shape;391;p24"/>
          <p:cNvSpPr txBox="1"/>
          <p:nvPr/>
        </p:nvSpPr>
        <p:spPr>
          <a:xfrm>
            <a:off x="419100" y="3107267"/>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1</a:t>
            </a:r>
            <a:endParaRPr sz="1100">
              <a:solidFill>
                <a:srgbClr val="53616D"/>
              </a:solidFill>
            </a:endParaRPr>
          </a:p>
        </p:txBody>
      </p:sp>
      <p:cxnSp>
        <p:nvCxnSpPr>
          <p:cNvPr id="392" name="Google Shape;392;p24"/>
          <p:cNvCxnSpPr/>
          <p:nvPr/>
        </p:nvCxnSpPr>
        <p:spPr>
          <a:xfrm>
            <a:off x="977900" y="2607733"/>
            <a:ext cx="4978500" cy="0"/>
          </a:xfrm>
          <a:prstGeom prst="straightConnector1">
            <a:avLst/>
          </a:prstGeom>
          <a:noFill/>
          <a:ln cap="flat" cmpd="sng" w="8900">
            <a:solidFill>
              <a:srgbClr val="DCE4E8"/>
            </a:solidFill>
            <a:prstDash val="solid"/>
            <a:round/>
            <a:headEnd len="med" w="med" type="none"/>
            <a:tailEnd len="med" w="med" type="none"/>
          </a:ln>
        </p:spPr>
      </p:cxnSp>
      <p:sp>
        <p:nvSpPr>
          <p:cNvPr id="393" name="Google Shape;393;p24"/>
          <p:cNvSpPr txBox="1"/>
          <p:nvPr/>
        </p:nvSpPr>
        <p:spPr>
          <a:xfrm>
            <a:off x="419100" y="2493433"/>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2</a:t>
            </a:r>
            <a:endParaRPr sz="1100">
              <a:solidFill>
                <a:srgbClr val="53616D"/>
              </a:solidFill>
            </a:endParaRPr>
          </a:p>
        </p:txBody>
      </p:sp>
      <p:cxnSp>
        <p:nvCxnSpPr>
          <p:cNvPr id="394" name="Google Shape;394;p24"/>
          <p:cNvCxnSpPr/>
          <p:nvPr/>
        </p:nvCxnSpPr>
        <p:spPr>
          <a:xfrm>
            <a:off x="977900" y="1993900"/>
            <a:ext cx="4978500" cy="0"/>
          </a:xfrm>
          <a:prstGeom prst="straightConnector1">
            <a:avLst/>
          </a:prstGeom>
          <a:noFill/>
          <a:ln cap="flat" cmpd="sng" w="8900">
            <a:solidFill>
              <a:srgbClr val="DCE4E8"/>
            </a:solidFill>
            <a:prstDash val="solid"/>
            <a:round/>
            <a:headEnd len="med" w="med" type="none"/>
            <a:tailEnd len="med" w="med" type="none"/>
          </a:ln>
        </p:spPr>
      </p:cxnSp>
      <p:sp>
        <p:nvSpPr>
          <p:cNvPr id="395" name="Google Shape;395;p24"/>
          <p:cNvSpPr txBox="1"/>
          <p:nvPr/>
        </p:nvSpPr>
        <p:spPr>
          <a:xfrm>
            <a:off x="419100" y="187960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3</a:t>
            </a:r>
            <a:endParaRPr sz="1100">
              <a:solidFill>
                <a:srgbClr val="53616D"/>
              </a:solidFill>
            </a:endParaRPr>
          </a:p>
        </p:txBody>
      </p:sp>
      <p:cxnSp>
        <p:nvCxnSpPr>
          <p:cNvPr id="396" name="Google Shape;396;p24"/>
          <p:cNvCxnSpPr/>
          <p:nvPr/>
        </p:nvCxnSpPr>
        <p:spPr>
          <a:xfrm>
            <a:off x="977900" y="1625600"/>
            <a:ext cx="0" cy="2209800"/>
          </a:xfrm>
          <a:prstGeom prst="straightConnector1">
            <a:avLst/>
          </a:prstGeom>
          <a:noFill/>
          <a:ln cap="flat" cmpd="sng" w="12700">
            <a:solidFill>
              <a:srgbClr val="53616D"/>
            </a:solidFill>
            <a:prstDash val="solid"/>
            <a:round/>
            <a:headEnd len="med" w="med" type="none"/>
            <a:tailEnd len="med" w="med" type="none"/>
          </a:ln>
        </p:spPr>
      </p:cxnSp>
      <p:cxnSp>
        <p:nvCxnSpPr>
          <p:cNvPr id="397" name="Google Shape;397;p24"/>
          <p:cNvCxnSpPr/>
          <p:nvPr/>
        </p:nvCxnSpPr>
        <p:spPr>
          <a:xfrm>
            <a:off x="977900" y="3835400"/>
            <a:ext cx="4978500" cy="0"/>
          </a:xfrm>
          <a:prstGeom prst="straightConnector1">
            <a:avLst/>
          </a:prstGeom>
          <a:noFill/>
          <a:ln cap="flat" cmpd="sng" w="12700">
            <a:solidFill>
              <a:srgbClr val="53616D"/>
            </a:solidFill>
            <a:prstDash val="solid"/>
            <a:round/>
            <a:headEnd len="med" w="med" type="none"/>
            <a:tailEnd len="med" w="med" type="none"/>
          </a:ln>
        </p:spPr>
      </p:cxnSp>
      <p:cxnSp>
        <p:nvCxnSpPr>
          <p:cNvPr id="398" name="Google Shape;398;p24"/>
          <p:cNvCxnSpPr/>
          <p:nvPr/>
        </p:nvCxnSpPr>
        <p:spPr>
          <a:xfrm>
            <a:off x="977900"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399" name="Google Shape;399;p24"/>
          <p:cNvSpPr txBox="1"/>
          <p:nvPr/>
        </p:nvSpPr>
        <p:spPr>
          <a:xfrm>
            <a:off x="698500"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50</a:t>
            </a:r>
            <a:endParaRPr sz="1100">
              <a:solidFill>
                <a:srgbClr val="53616D"/>
              </a:solidFill>
            </a:endParaRPr>
          </a:p>
        </p:txBody>
      </p:sp>
      <p:cxnSp>
        <p:nvCxnSpPr>
          <p:cNvPr id="400" name="Google Shape;400;p24"/>
          <p:cNvCxnSpPr/>
          <p:nvPr/>
        </p:nvCxnSpPr>
        <p:spPr>
          <a:xfrm>
            <a:off x="3467100"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401" name="Google Shape;401;p24"/>
          <p:cNvSpPr txBox="1"/>
          <p:nvPr/>
        </p:nvSpPr>
        <p:spPr>
          <a:xfrm>
            <a:off x="3187700"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150</a:t>
            </a:r>
            <a:endParaRPr sz="1100">
              <a:solidFill>
                <a:srgbClr val="53616D"/>
              </a:solidFill>
            </a:endParaRPr>
          </a:p>
        </p:txBody>
      </p:sp>
      <p:cxnSp>
        <p:nvCxnSpPr>
          <p:cNvPr id="402" name="Google Shape;402;p24"/>
          <p:cNvCxnSpPr/>
          <p:nvPr/>
        </p:nvCxnSpPr>
        <p:spPr>
          <a:xfrm>
            <a:off x="5956300" y="3835400"/>
            <a:ext cx="0" cy="50700"/>
          </a:xfrm>
          <a:prstGeom prst="straightConnector1">
            <a:avLst/>
          </a:prstGeom>
          <a:noFill/>
          <a:ln cap="flat" cmpd="sng" w="12700">
            <a:solidFill>
              <a:srgbClr val="53616D"/>
            </a:solidFill>
            <a:prstDash val="solid"/>
            <a:round/>
            <a:headEnd len="med" w="med" type="none"/>
            <a:tailEnd len="med" w="med" type="none"/>
          </a:ln>
        </p:spPr>
      </p:cxnSp>
      <p:sp>
        <p:nvSpPr>
          <p:cNvPr id="403" name="Google Shape;403;p24"/>
          <p:cNvSpPr txBox="1"/>
          <p:nvPr/>
        </p:nvSpPr>
        <p:spPr>
          <a:xfrm>
            <a:off x="5676900" y="39116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250</a:t>
            </a:r>
            <a:endParaRPr sz="1100">
              <a:solidFill>
                <a:srgbClr val="53616D"/>
              </a:solidFill>
            </a:endParaRPr>
          </a:p>
        </p:txBody>
      </p:sp>
      <p:sp>
        <p:nvSpPr>
          <p:cNvPr id="404" name="Google Shape;404;p24"/>
          <p:cNvSpPr txBox="1"/>
          <p:nvPr/>
        </p:nvSpPr>
        <p:spPr>
          <a:xfrm>
            <a:off x="1435100" y="4203700"/>
            <a:ext cx="4064100" cy="342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200">
                <a:solidFill>
                  <a:srgbClr val="53616D"/>
                </a:solidFill>
              </a:rPr>
              <a:t>Profundidad z (m)</a:t>
            </a:r>
            <a:endParaRPr sz="1200">
              <a:solidFill>
                <a:srgbClr val="53616D"/>
              </a:solidFill>
            </a:endParaRPr>
          </a:p>
        </p:txBody>
      </p:sp>
      <p:sp>
        <p:nvSpPr>
          <p:cNvPr id="405" name="Google Shape;405;p24"/>
          <p:cNvSpPr txBox="1"/>
          <p:nvPr/>
        </p:nvSpPr>
        <p:spPr>
          <a:xfrm>
            <a:off x="800100" y="1257300"/>
            <a:ext cx="52071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200">
                <a:solidFill>
                  <a:srgbClr val="53616D"/>
                </a:solidFill>
              </a:rPr>
              <a:t>ΔTS respecto de 50 m (dB)</a:t>
            </a:r>
            <a:endParaRPr sz="1200">
              <a:solidFill>
                <a:srgbClr val="53616D"/>
              </a:solidFill>
            </a:endParaRPr>
          </a:p>
        </p:txBody>
      </p:sp>
      <p:cxnSp>
        <p:nvCxnSpPr>
          <p:cNvPr id="406" name="Google Shape;406;p24"/>
          <p:cNvCxnSpPr/>
          <p:nvPr/>
        </p:nvCxnSpPr>
        <p:spPr>
          <a:xfrm flipH="1" rot="10800000">
            <a:off x="977900" y="2920700"/>
            <a:ext cx="2489100" cy="914700"/>
          </a:xfrm>
          <a:prstGeom prst="straightConnector1">
            <a:avLst/>
          </a:prstGeom>
          <a:noFill/>
          <a:ln cap="flat" cmpd="sng" w="25400">
            <a:solidFill>
              <a:srgbClr val="147D88"/>
            </a:solidFill>
            <a:prstDash val="solid"/>
            <a:round/>
            <a:headEnd len="med" w="med" type="none"/>
            <a:tailEnd len="med" w="med" type="none"/>
          </a:ln>
        </p:spPr>
      </p:cxnSp>
      <p:cxnSp>
        <p:nvCxnSpPr>
          <p:cNvPr id="407" name="Google Shape;407;p24"/>
          <p:cNvCxnSpPr/>
          <p:nvPr/>
        </p:nvCxnSpPr>
        <p:spPr>
          <a:xfrm flipH="1" rot="10800000">
            <a:off x="3467100" y="1901688"/>
            <a:ext cx="2489100" cy="1019100"/>
          </a:xfrm>
          <a:prstGeom prst="straightConnector1">
            <a:avLst/>
          </a:prstGeom>
          <a:noFill/>
          <a:ln cap="flat" cmpd="sng" w="25400">
            <a:solidFill>
              <a:srgbClr val="147D88"/>
            </a:solidFill>
            <a:prstDash val="solid"/>
            <a:round/>
            <a:headEnd len="med" w="med" type="none"/>
            <a:tailEnd len="med" w="med" type="none"/>
          </a:ln>
        </p:spPr>
      </p:cxnSp>
      <p:sp>
        <p:nvSpPr>
          <p:cNvPr id="408" name="Google Shape;408;p24"/>
          <p:cNvSpPr/>
          <p:nvPr/>
        </p:nvSpPr>
        <p:spPr>
          <a:xfrm>
            <a:off x="943610" y="3801110"/>
            <a:ext cx="68700" cy="68700"/>
          </a:xfrm>
          <a:prstGeom prst="ellipse">
            <a:avLst/>
          </a:prstGeom>
          <a:solidFill>
            <a:srgbClr val="147D88"/>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24"/>
          <p:cNvSpPr/>
          <p:nvPr/>
        </p:nvSpPr>
        <p:spPr>
          <a:xfrm>
            <a:off x="3432810" y="2886498"/>
            <a:ext cx="68700" cy="68700"/>
          </a:xfrm>
          <a:prstGeom prst="ellipse">
            <a:avLst/>
          </a:prstGeom>
          <a:solidFill>
            <a:srgbClr val="147D88"/>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24"/>
          <p:cNvSpPr/>
          <p:nvPr/>
        </p:nvSpPr>
        <p:spPr>
          <a:xfrm>
            <a:off x="5922010" y="1867535"/>
            <a:ext cx="68700" cy="68700"/>
          </a:xfrm>
          <a:prstGeom prst="ellipse">
            <a:avLst/>
          </a:prstGeom>
          <a:solidFill>
            <a:srgbClr val="147D88"/>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24"/>
          <p:cNvSpPr txBox="1"/>
          <p:nvPr/>
        </p:nvSpPr>
        <p:spPr>
          <a:xfrm>
            <a:off x="6286500" y="3048000"/>
            <a:ext cx="22860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600">
                <a:solidFill>
                  <a:srgbClr val="147D88"/>
                </a:solidFill>
              </a:rPr>
              <a:t>30 mm</a:t>
            </a:r>
            <a:endParaRPr b="1" sz="1600">
              <a:solidFill>
                <a:srgbClr val="147D88"/>
              </a:solidFill>
            </a:endParaRPr>
          </a:p>
        </p:txBody>
      </p:sp>
      <p:cxnSp>
        <p:nvCxnSpPr>
          <p:cNvPr id="412" name="Google Shape;412;p24"/>
          <p:cNvCxnSpPr/>
          <p:nvPr/>
        </p:nvCxnSpPr>
        <p:spPr>
          <a:xfrm flipH="1" rot="10800000">
            <a:off x="977900" y="3381200"/>
            <a:ext cx="2489100" cy="454200"/>
          </a:xfrm>
          <a:prstGeom prst="straightConnector1">
            <a:avLst/>
          </a:prstGeom>
          <a:noFill/>
          <a:ln cap="flat" cmpd="sng" w="25400">
            <a:solidFill>
              <a:srgbClr val="376DA5"/>
            </a:solidFill>
            <a:prstDash val="solid"/>
            <a:round/>
            <a:headEnd len="med" w="med" type="none"/>
            <a:tailEnd len="med" w="med" type="none"/>
          </a:ln>
        </p:spPr>
      </p:cxnSp>
      <p:cxnSp>
        <p:nvCxnSpPr>
          <p:cNvPr id="413" name="Google Shape;413;p24"/>
          <p:cNvCxnSpPr/>
          <p:nvPr/>
        </p:nvCxnSpPr>
        <p:spPr>
          <a:xfrm flipH="1" rot="10800000">
            <a:off x="3467100" y="2896363"/>
            <a:ext cx="2489100" cy="484800"/>
          </a:xfrm>
          <a:prstGeom prst="straightConnector1">
            <a:avLst/>
          </a:prstGeom>
          <a:noFill/>
          <a:ln cap="flat" cmpd="sng" w="25400">
            <a:solidFill>
              <a:srgbClr val="376DA5"/>
            </a:solidFill>
            <a:prstDash val="solid"/>
            <a:round/>
            <a:headEnd len="med" w="med" type="none"/>
            <a:tailEnd len="med" w="med" type="none"/>
          </a:ln>
        </p:spPr>
      </p:cxnSp>
      <p:sp>
        <p:nvSpPr>
          <p:cNvPr id="414" name="Google Shape;414;p24"/>
          <p:cNvSpPr/>
          <p:nvPr/>
        </p:nvSpPr>
        <p:spPr>
          <a:xfrm>
            <a:off x="943610" y="3801110"/>
            <a:ext cx="68700" cy="68700"/>
          </a:xfrm>
          <a:prstGeom prst="ellipse">
            <a:avLst/>
          </a:prstGeom>
          <a:solidFill>
            <a:srgbClr val="376DA5"/>
          </a:solidFill>
          <a:ln cap="flat" cmpd="sng" w="12700">
            <a:solidFill>
              <a:srgbClr val="376D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24"/>
          <p:cNvSpPr/>
          <p:nvPr/>
        </p:nvSpPr>
        <p:spPr>
          <a:xfrm>
            <a:off x="3432810" y="3346873"/>
            <a:ext cx="68700" cy="68700"/>
          </a:xfrm>
          <a:prstGeom prst="ellipse">
            <a:avLst/>
          </a:prstGeom>
          <a:solidFill>
            <a:srgbClr val="376DA5"/>
          </a:solidFill>
          <a:ln cap="flat" cmpd="sng" w="12700">
            <a:solidFill>
              <a:srgbClr val="376D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24"/>
          <p:cNvSpPr/>
          <p:nvPr/>
        </p:nvSpPr>
        <p:spPr>
          <a:xfrm>
            <a:off x="5922010" y="2861945"/>
            <a:ext cx="68700" cy="68700"/>
          </a:xfrm>
          <a:prstGeom prst="ellipse">
            <a:avLst/>
          </a:prstGeom>
          <a:solidFill>
            <a:srgbClr val="376DA5"/>
          </a:solidFill>
          <a:ln cap="flat" cmpd="sng" w="12700">
            <a:solidFill>
              <a:srgbClr val="376D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24"/>
          <p:cNvSpPr txBox="1"/>
          <p:nvPr/>
        </p:nvSpPr>
        <p:spPr>
          <a:xfrm>
            <a:off x="6286500" y="3390900"/>
            <a:ext cx="22860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600">
                <a:solidFill>
                  <a:srgbClr val="376DA5"/>
                </a:solidFill>
              </a:rPr>
              <a:t>40 mm</a:t>
            </a:r>
            <a:endParaRPr b="1" sz="1600">
              <a:solidFill>
                <a:srgbClr val="376DA5"/>
              </a:solidFill>
            </a:endParaRPr>
          </a:p>
        </p:txBody>
      </p:sp>
      <p:cxnSp>
        <p:nvCxnSpPr>
          <p:cNvPr id="418" name="Google Shape;418;p24"/>
          <p:cNvCxnSpPr/>
          <p:nvPr/>
        </p:nvCxnSpPr>
        <p:spPr>
          <a:xfrm flipH="1" rot="10800000">
            <a:off x="977900" y="3559100"/>
            <a:ext cx="2489100" cy="276300"/>
          </a:xfrm>
          <a:prstGeom prst="straightConnector1">
            <a:avLst/>
          </a:prstGeom>
          <a:noFill/>
          <a:ln cap="flat" cmpd="sng" w="25400">
            <a:solidFill>
              <a:srgbClr val="53616D"/>
            </a:solidFill>
            <a:prstDash val="solid"/>
            <a:round/>
            <a:headEnd len="med" w="med" type="none"/>
            <a:tailEnd len="med" w="med" type="none"/>
          </a:ln>
        </p:spPr>
      </p:cxnSp>
      <p:cxnSp>
        <p:nvCxnSpPr>
          <p:cNvPr id="419" name="Google Shape;419;p24"/>
          <p:cNvCxnSpPr/>
          <p:nvPr/>
        </p:nvCxnSpPr>
        <p:spPr>
          <a:xfrm flipH="1" rot="10800000">
            <a:off x="3467100" y="3270575"/>
            <a:ext cx="2489100" cy="288600"/>
          </a:xfrm>
          <a:prstGeom prst="straightConnector1">
            <a:avLst/>
          </a:prstGeom>
          <a:noFill/>
          <a:ln cap="flat" cmpd="sng" w="25400">
            <a:solidFill>
              <a:srgbClr val="53616D"/>
            </a:solidFill>
            <a:prstDash val="solid"/>
            <a:round/>
            <a:headEnd len="med" w="med" type="none"/>
            <a:tailEnd len="med" w="med" type="none"/>
          </a:ln>
        </p:spPr>
      </p:cxnSp>
      <p:sp>
        <p:nvSpPr>
          <p:cNvPr id="420" name="Google Shape;420;p24"/>
          <p:cNvSpPr/>
          <p:nvPr/>
        </p:nvSpPr>
        <p:spPr>
          <a:xfrm>
            <a:off x="943610" y="3801110"/>
            <a:ext cx="68700" cy="68700"/>
          </a:xfrm>
          <a:prstGeom prst="ellipse">
            <a:avLst/>
          </a:prstGeom>
          <a:solidFill>
            <a:srgbClr val="53616D"/>
          </a:solidFill>
          <a:ln cap="flat" cmpd="sng" w="12700">
            <a:solidFill>
              <a:srgbClr val="5361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24"/>
          <p:cNvSpPr/>
          <p:nvPr/>
        </p:nvSpPr>
        <p:spPr>
          <a:xfrm>
            <a:off x="3432810" y="3524885"/>
            <a:ext cx="68700" cy="68700"/>
          </a:xfrm>
          <a:prstGeom prst="ellipse">
            <a:avLst/>
          </a:prstGeom>
          <a:solidFill>
            <a:srgbClr val="53616D"/>
          </a:solidFill>
          <a:ln cap="flat" cmpd="sng" w="12700">
            <a:solidFill>
              <a:srgbClr val="5361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24"/>
          <p:cNvSpPr/>
          <p:nvPr/>
        </p:nvSpPr>
        <p:spPr>
          <a:xfrm>
            <a:off x="5922010" y="3236383"/>
            <a:ext cx="68700" cy="68700"/>
          </a:xfrm>
          <a:prstGeom prst="ellipse">
            <a:avLst/>
          </a:prstGeom>
          <a:solidFill>
            <a:srgbClr val="53616D"/>
          </a:solidFill>
          <a:ln cap="flat" cmpd="sng" w="12700">
            <a:solidFill>
              <a:srgbClr val="5361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24"/>
          <p:cNvSpPr txBox="1"/>
          <p:nvPr/>
        </p:nvSpPr>
        <p:spPr>
          <a:xfrm>
            <a:off x="6286500" y="3733800"/>
            <a:ext cx="22860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600">
                <a:solidFill>
                  <a:srgbClr val="53616D"/>
                </a:solidFill>
              </a:rPr>
              <a:t>50 mm</a:t>
            </a:r>
            <a:endParaRPr b="1" sz="1600">
              <a:solidFill>
                <a:srgbClr val="53616D"/>
              </a:solidFill>
            </a:endParaRPr>
          </a:p>
        </p:txBody>
      </p:sp>
      <p:sp>
        <p:nvSpPr>
          <p:cNvPr id="424" name="Google Shape;424;p24"/>
          <p:cNvSpPr txBox="1"/>
          <p:nvPr/>
        </p:nvSpPr>
        <p:spPr>
          <a:xfrm>
            <a:off x="6248400" y="1612900"/>
            <a:ext cx="2336700" cy="584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800">
                <a:solidFill>
                  <a:srgbClr val="147D88"/>
                </a:solidFill>
              </a:rPr>
              <a:t>+3,15 dB</a:t>
            </a:r>
            <a:endParaRPr b="1" sz="2800">
              <a:solidFill>
                <a:srgbClr val="147D88"/>
              </a:solidFill>
            </a:endParaRPr>
          </a:p>
        </p:txBody>
      </p:sp>
      <p:sp>
        <p:nvSpPr>
          <p:cNvPr id="425" name="Google Shape;425;p24"/>
          <p:cNvSpPr txBox="1"/>
          <p:nvPr/>
        </p:nvSpPr>
        <p:spPr>
          <a:xfrm>
            <a:off x="6248400" y="2260600"/>
            <a:ext cx="2324100" cy="78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i="1" lang="es-419" sz="1600">
                <a:solidFill>
                  <a:srgbClr val="243744"/>
                </a:solidFill>
              </a:rPr>
              <a:t>M. japonicus</a:t>
            </a:r>
            <a:r>
              <a:rPr lang="es-419" sz="1600">
                <a:solidFill>
                  <a:srgbClr val="243744"/>
                </a:solidFill>
              </a:rPr>
              <a:t> · 30 mm</a:t>
            </a:r>
            <a:endParaRPr sz="1600">
              <a:solidFill>
                <a:srgbClr val="243744"/>
              </a:solidFill>
            </a:endParaRPr>
          </a:p>
          <a:p>
            <a:pPr indent="0" lvl="0" marL="0" rtl="0" algn="l">
              <a:lnSpc>
                <a:spcPct val="110000"/>
              </a:lnSpc>
              <a:spcBef>
                <a:spcPts val="0"/>
              </a:spcBef>
              <a:spcAft>
                <a:spcPts val="0"/>
              </a:spcAft>
              <a:buNone/>
            </a:pPr>
            <a:r>
              <a:rPr lang="es-419" sz="1600">
                <a:solidFill>
                  <a:srgbClr val="243744"/>
                </a:solidFill>
              </a:rPr>
              <a:t>Volumen constante</a:t>
            </a:r>
            <a:endParaRPr sz="1600">
              <a:solidFill>
                <a:srgbClr val="24374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25"/>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La especie y la frecuencia condicionan el TS</a:t>
            </a:r>
            <a:endParaRPr b="1" sz="2900">
              <a:solidFill>
                <a:srgbClr val="16324F"/>
              </a:solidFill>
            </a:endParaRPr>
          </a:p>
        </p:txBody>
      </p:sp>
      <p:cxnSp>
        <p:nvCxnSpPr>
          <p:cNvPr id="431" name="Google Shape;431;p25"/>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432" name="Google Shape;432;p25"/>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Fujino et al. (2009); Kawauchi et al. (2019); Gauthier y Horne (2004). Fuente: Elaboración propia.</a:t>
            </a:r>
            <a:endParaRPr sz="980">
              <a:solidFill>
                <a:srgbClr val="53616D"/>
              </a:solidFill>
            </a:endParaRPr>
          </a:p>
        </p:txBody>
      </p:sp>
      <p:sp>
        <p:nvSpPr>
          <p:cNvPr id="433" name="Google Shape;433;p25"/>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13</a:t>
            </a:r>
            <a:endParaRPr sz="1000">
              <a:solidFill>
                <a:srgbClr val="53616D"/>
              </a:solidFill>
            </a:endParaRPr>
          </a:p>
        </p:txBody>
      </p:sp>
      <p:sp>
        <p:nvSpPr>
          <p:cNvPr id="434" name="Google Shape;434;p25"/>
          <p:cNvSpPr txBox="1"/>
          <p:nvPr/>
        </p:nvSpPr>
        <p:spPr>
          <a:xfrm>
            <a:off x="508000" y="1282700"/>
            <a:ext cx="43815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700">
                <a:solidFill>
                  <a:srgbClr val="16324F"/>
                </a:solidFill>
              </a:rPr>
              <a:t>Maurolicus · modelo de profundidad</a:t>
            </a:r>
            <a:endParaRPr b="1" sz="1700">
              <a:solidFill>
                <a:srgbClr val="16324F"/>
              </a:solidFill>
            </a:endParaRPr>
          </a:p>
        </p:txBody>
      </p:sp>
      <p:sp>
        <p:nvSpPr>
          <p:cNvPr id="435" name="Google Shape;435;p25"/>
          <p:cNvSpPr txBox="1"/>
          <p:nvPr/>
        </p:nvSpPr>
        <p:spPr>
          <a:xfrm>
            <a:off x="5334000" y="1282700"/>
            <a:ext cx="3390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700">
                <a:solidFill>
                  <a:srgbClr val="16324F"/>
                </a:solidFill>
              </a:rPr>
              <a:t>Jurel · nado libre en tanque</a:t>
            </a:r>
            <a:endParaRPr b="1" sz="1700">
              <a:solidFill>
                <a:srgbClr val="16324F"/>
              </a:solidFill>
            </a:endParaRPr>
          </a:p>
        </p:txBody>
      </p:sp>
      <p:sp>
        <p:nvSpPr>
          <p:cNvPr id="436" name="Google Shape;436;p25"/>
          <p:cNvSpPr txBox="1"/>
          <p:nvPr/>
        </p:nvSpPr>
        <p:spPr>
          <a:xfrm>
            <a:off x="533400" y="1739900"/>
            <a:ext cx="4254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a:solidFill>
                  <a:srgbClr val="53616D"/>
                </a:solidFill>
              </a:rPr>
              <a:t>ΔTS de 50 a 250 m · 30 mm</a:t>
            </a:r>
            <a:endParaRPr>
              <a:solidFill>
                <a:srgbClr val="53616D"/>
              </a:solidFill>
            </a:endParaRPr>
          </a:p>
        </p:txBody>
      </p:sp>
      <p:sp>
        <p:nvSpPr>
          <p:cNvPr id="437" name="Google Shape;437;p25"/>
          <p:cNvSpPr txBox="1"/>
          <p:nvPr/>
        </p:nvSpPr>
        <p:spPr>
          <a:xfrm>
            <a:off x="546100" y="2400300"/>
            <a:ext cx="1155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700">
                <a:solidFill>
                  <a:srgbClr val="16324F"/>
                </a:solidFill>
              </a:rPr>
              <a:t>38 kHz</a:t>
            </a:r>
            <a:endParaRPr sz="1700">
              <a:solidFill>
                <a:srgbClr val="16324F"/>
              </a:solidFill>
            </a:endParaRPr>
          </a:p>
        </p:txBody>
      </p:sp>
      <p:sp>
        <p:nvSpPr>
          <p:cNvPr id="438" name="Google Shape;438;p25"/>
          <p:cNvSpPr/>
          <p:nvPr/>
        </p:nvSpPr>
        <p:spPr>
          <a:xfrm>
            <a:off x="1803400" y="2425700"/>
            <a:ext cx="2297400" cy="279300"/>
          </a:xfrm>
          <a:prstGeom prst="rect">
            <a:avLst/>
          </a:prstGeom>
          <a:solidFill>
            <a:srgbClr val="147D88"/>
          </a:solidFill>
          <a:ln cap="flat" cmpd="sng" w="12700">
            <a:solidFill>
              <a:srgbClr val="147D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25"/>
          <p:cNvSpPr txBox="1"/>
          <p:nvPr/>
        </p:nvSpPr>
        <p:spPr>
          <a:xfrm>
            <a:off x="4138930" y="2387600"/>
            <a:ext cx="990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500">
                <a:solidFill>
                  <a:srgbClr val="147D88"/>
                </a:solidFill>
              </a:rPr>
              <a:t>+3,15 dB</a:t>
            </a:r>
            <a:endParaRPr b="1" sz="1500">
              <a:solidFill>
                <a:srgbClr val="147D88"/>
              </a:solidFill>
            </a:endParaRPr>
          </a:p>
        </p:txBody>
      </p:sp>
      <p:sp>
        <p:nvSpPr>
          <p:cNvPr id="440" name="Google Shape;440;p25"/>
          <p:cNvSpPr txBox="1"/>
          <p:nvPr/>
        </p:nvSpPr>
        <p:spPr>
          <a:xfrm>
            <a:off x="546100" y="3263900"/>
            <a:ext cx="1155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700">
                <a:solidFill>
                  <a:srgbClr val="16324F"/>
                </a:solidFill>
              </a:rPr>
              <a:t>120 kHz</a:t>
            </a:r>
            <a:endParaRPr sz="1700">
              <a:solidFill>
                <a:srgbClr val="16324F"/>
              </a:solidFill>
            </a:endParaRPr>
          </a:p>
        </p:txBody>
      </p:sp>
      <p:sp>
        <p:nvSpPr>
          <p:cNvPr id="441" name="Google Shape;441;p25"/>
          <p:cNvSpPr/>
          <p:nvPr/>
        </p:nvSpPr>
        <p:spPr>
          <a:xfrm>
            <a:off x="1803400" y="3289300"/>
            <a:ext cx="204300" cy="279300"/>
          </a:xfrm>
          <a:prstGeom prst="rect">
            <a:avLst/>
          </a:prstGeom>
          <a:solidFill>
            <a:srgbClr val="376DA5"/>
          </a:solidFill>
          <a:ln cap="flat" cmpd="sng" w="12700">
            <a:solidFill>
              <a:srgbClr val="376D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25"/>
          <p:cNvSpPr txBox="1"/>
          <p:nvPr/>
        </p:nvSpPr>
        <p:spPr>
          <a:xfrm>
            <a:off x="2045716" y="3251200"/>
            <a:ext cx="9906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500">
                <a:solidFill>
                  <a:srgbClr val="376DA5"/>
                </a:solidFill>
              </a:rPr>
              <a:t>+0,28 dB</a:t>
            </a:r>
            <a:endParaRPr b="1" sz="1500">
              <a:solidFill>
                <a:srgbClr val="376DA5"/>
              </a:solidFill>
            </a:endParaRPr>
          </a:p>
        </p:txBody>
      </p:sp>
      <p:sp>
        <p:nvSpPr>
          <p:cNvPr id="443" name="Google Shape;443;p25"/>
          <p:cNvSpPr txBox="1"/>
          <p:nvPr/>
        </p:nvSpPr>
        <p:spPr>
          <a:xfrm>
            <a:off x="5346700" y="2006600"/>
            <a:ext cx="3302100" cy="1320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000">
                <a:solidFill>
                  <a:srgbClr val="16324F"/>
                </a:solidFill>
              </a:rPr>
              <a:t>b20 a 38 kHz: −67,7 dB</a:t>
            </a:r>
            <a:endParaRPr sz="2000">
              <a:solidFill>
                <a:srgbClr val="16324F"/>
              </a:solidFill>
            </a:endParaRPr>
          </a:p>
          <a:p>
            <a:pPr indent="0" lvl="0" marL="0" rtl="0" algn="l">
              <a:lnSpc>
                <a:spcPct val="110000"/>
              </a:lnSpc>
              <a:spcBef>
                <a:spcPts val="0"/>
              </a:spcBef>
              <a:spcAft>
                <a:spcPts val="0"/>
              </a:spcAft>
              <a:buNone/>
            </a:pPr>
            <a:r>
              <a:t/>
            </a:r>
            <a:endParaRPr sz="2000">
              <a:solidFill>
                <a:srgbClr val="16324F"/>
              </a:solidFill>
            </a:endParaRPr>
          </a:p>
          <a:p>
            <a:pPr indent="0" lvl="0" marL="0" rtl="0" algn="l">
              <a:lnSpc>
                <a:spcPct val="110000"/>
              </a:lnSpc>
              <a:spcBef>
                <a:spcPts val="0"/>
              </a:spcBef>
              <a:spcAft>
                <a:spcPts val="0"/>
              </a:spcAft>
              <a:buNone/>
            </a:pPr>
            <a:r>
              <a:rPr lang="es-419" sz="2000">
                <a:solidFill>
                  <a:srgbClr val="16324F"/>
                </a:solidFill>
              </a:rPr>
              <a:t>b20 a 120 kHz: −69,5 dB</a:t>
            </a:r>
            <a:endParaRPr sz="2000">
              <a:solidFill>
                <a:srgbClr val="16324F"/>
              </a:solidFill>
            </a:endParaRPr>
          </a:p>
        </p:txBody>
      </p:sp>
      <p:sp>
        <p:nvSpPr>
          <p:cNvPr id="444" name="Google Shape;444;p25"/>
          <p:cNvSpPr txBox="1"/>
          <p:nvPr/>
        </p:nvSpPr>
        <p:spPr>
          <a:xfrm>
            <a:off x="5334000" y="3594100"/>
            <a:ext cx="3340200" cy="77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800">
                <a:solidFill>
                  <a:srgbClr val="53616D"/>
                </a:solidFill>
              </a:rPr>
              <a:t>La anatomía de la vejiga también condiciona el eco</a:t>
            </a:r>
            <a:endParaRPr sz="1800">
              <a:solidFill>
                <a:srgbClr val="53616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26"/>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Un TS mayor reduce la abundancia estimada</a:t>
            </a:r>
            <a:endParaRPr b="1" sz="2900">
              <a:solidFill>
                <a:srgbClr val="16324F"/>
              </a:solidFill>
            </a:endParaRPr>
          </a:p>
        </p:txBody>
      </p:sp>
      <p:cxnSp>
        <p:nvCxnSpPr>
          <p:cNvPr id="450" name="Google Shape;450;p26"/>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451" name="Google Shape;451;p26"/>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Elaboración propia, ACU-IND-01 (2026), a partir de las definiciones de Foote (1987). Sensibilidad matemática.</a:t>
            </a:r>
            <a:endParaRPr sz="980">
              <a:solidFill>
                <a:srgbClr val="53616D"/>
              </a:solidFill>
            </a:endParaRPr>
          </a:p>
        </p:txBody>
      </p:sp>
      <p:sp>
        <p:nvSpPr>
          <p:cNvPr id="452" name="Google Shape;452;p26"/>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14</a:t>
            </a:r>
            <a:endParaRPr sz="1000">
              <a:solidFill>
                <a:srgbClr val="53616D"/>
              </a:solidFill>
            </a:endParaRPr>
          </a:p>
        </p:txBody>
      </p:sp>
      <p:sp>
        <p:nvSpPr>
          <p:cNvPr id="453" name="Google Shape;453;p26"/>
          <p:cNvSpPr txBox="1"/>
          <p:nvPr/>
        </p:nvSpPr>
        <p:spPr>
          <a:xfrm>
            <a:off x="495300" y="1282700"/>
            <a:ext cx="8153400" cy="609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s-419" sz="2300">
                <a:solidFill>
                  <a:srgbClr val="147D88"/>
                </a:solidFill>
              </a:rPr>
              <a:t>Nestimado / Nreal = 10</a:t>
            </a:r>
            <a:r>
              <a:rPr b="1" baseline="30000" lang="es-419" sz="1700">
                <a:solidFill>
                  <a:srgbClr val="147D88"/>
                </a:solidFill>
              </a:rPr>
              <a:t>(TSreal − TSusado) / 10</a:t>
            </a:r>
            <a:endParaRPr b="1" baseline="30000" sz="1700">
              <a:solidFill>
                <a:srgbClr val="147D88"/>
              </a:solidFill>
            </a:endParaRPr>
          </a:p>
        </p:txBody>
      </p:sp>
      <p:cxnSp>
        <p:nvCxnSpPr>
          <p:cNvPr id="454" name="Google Shape;454;p26"/>
          <p:cNvCxnSpPr/>
          <p:nvPr/>
        </p:nvCxnSpPr>
        <p:spPr>
          <a:xfrm>
            <a:off x="1054100" y="3911600"/>
            <a:ext cx="4660800" cy="0"/>
          </a:xfrm>
          <a:prstGeom prst="straightConnector1">
            <a:avLst/>
          </a:prstGeom>
          <a:noFill/>
          <a:ln cap="flat" cmpd="sng" w="8900">
            <a:solidFill>
              <a:srgbClr val="DCE4E8"/>
            </a:solidFill>
            <a:prstDash val="solid"/>
            <a:round/>
            <a:headEnd len="med" w="med" type="none"/>
            <a:tailEnd len="med" w="med" type="none"/>
          </a:ln>
        </p:spPr>
      </p:cxnSp>
      <p:sp>
        <p:nvSpPr>
          <p:cNvPr id="455" name="Google Shape;455;p26"/>
          <p:cNvSpPr txBox="1"/>
          <p:nvPr/>
        </p:nvSpPr>
        <p:spPr>
          <a:xfrm>
            <a:off x="495300" y="379730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0</a:t>
            </a:r>
            <a:endParaRPr sz="1100">
              <a:solidFill>
                <a:srgbClr val="53616D"/>
              </a:solidFill>
            </a:endParaRPr>
          </a:p>
        </p:txBody>
      </p:sp>
      <p:cxnSp>
        <p:nvCxnSpPr>
          <p:cNvPr id="456" name="Google Shape;456;p26"/>
          <p:cNvCxnSpPr/>
          <p:nvPr/>
        </p:nvCxnSpPr>
        <p:spPr>
          <a:xfrm>
            <a:off x="1054100" y="3559175"/>
            <a:ext cx="4660800" cy="0"/>
          </a:xfrm>
          <a:prstGeom prst="straightConnector1">
            <a:avLst/>
          </a:prstGeom>
          <a:noFill/>
          <a:ln cap="flat" cmpd="sng" w="8900">
            <a:solidFill>
              <a:srgbClr val="DCE4E8"/>
            </a:solidFill>
            <a:prstDash val="solid"/>
            <a:round/>
            <a:headEnd len="med" w="med" type="none"/>
            <a:tailEnd len="med" w="med" type="none"/>
          </a:ln>
        </p:spPr>
      </p:cxnSp>
      <p:sp>
        <p:nvSpPr>
          <p:cNvPr id="457" name="Google Shape;457;p26"/>
          <p:cNvSpPr txBox="1"/>
          <p:nvPr/>
        </p:nvSpPr>
        <p:spPr>
          <a:xfrm>
            <a:off x="495300" y="3444875"/>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1</a:t>
            </a:r>
            <a:endParaRPr sz="1100">
              <a:solidFill>
                <a:srgbClr val="53616D"/>
              </a:solidFill>
            </a:endParaRPr>
          </a:p>
        </p:txBody>
      </p:sp>
      <p:cxnSp>
        <p:nvCxnSpPr>
          <p:cNvPr id="458" name="Google Shape;458;p26"/>
          <p:cNvCxnSpPr/>
          <p:nvPr/>
        </p:nvCxnSpPr>
        <p:spPr>
          <a:xfrm>
            <a:off x="1054100" y="3206750"/>
            <a:ext cx="4660800" cy="0"/>
          </a:xfrm>
          <a:prstGeom prst="straightConnector1">
            <a:avLst/>
          </a:prstGeom>
          <a:noFill/>
          <a:ln cap="flat" cmpd="sng" w="8900">
            <a:solidFill>
              <a:srgbClr val="DCE4E8"/>
            </a:solidFill>
            <a:prstDash val="solid"/>
            <a:round/>
            <a:headEnd len="med" w="med" type="none"/>
            <a:tailEnd len="med" w="med" type="none"/>
          </a:ln>
        </p:spPr>
      </p:cxnSp>
      <p:sp>
        <p:nvSpPr>
          <p:cNvPr id="459" name="Google Shape;459;p26"/>
          <p:cNvSpPr txBox="1"/>
          <p:nvPr/>
        </p:nvSpPr>
        <p:spPr>
          <a:xfrm>
            <a:off x="495300" y="309245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2</a:t>
            </a:r>
            <a:endParaRPr sz="1100">
              <a:solidFill>
                <a:srgbClr val="53616D"/>
              </a:solidFill>
            </a:endParaRPr>
          </a:p>
        </p:txBody>
      </p:sp>
      <p:cxnSp>
        <p:nvCxnSpPr>
          <p:cNvPr id="460" name="Google Shape;460;p26"/>
          <p:cNvCxnSpPr/>
          <p:nvPr/>
        </p:nvCxnSpPr>
        <p:spPr>
          <a:xfrm>
            <a:off x="1054100" y="2854325"/>
            <a:ext cx="4660800" cy="0"/>
          </a:xfrm>
          <a:prstGeom prst="straightConnector1">
            <a:avLst/>
          </a:prstGeom>
          <a:noFill/>
          <a:ln cap="flat" cmpd="sng" w="8900">
            <a:solidFill>
              <a:srgbClr val="DCE4E8"/>
            </a:solidFill>
            <a:prstDash val="solid"/>
            <a:round/>
            <a:headEnd len="med" w="med" type="none"/>
            <a:tailEnd len="med" w="med" type="none"/>
          </a:ln>
        </p:spPr>
      </p:cxnSp>
      <p:sp>
        <p:nvSpPr>
          <p:cNvPr id="461" name="Google Shape;461;p26"/>
          <p:cNvSpPr txBox="1"/>
          <p:nvPr/>
        </p:nvSpPr>
        <p:spPr>
          <a:xfrm>
            <a:off x="495300" y="2740025"/>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3</a:t>
            </a:r>
            <a:endParaRPr sz="1100">
              <a:solidFill>
                <a:srgbClr val="53616D"/>
              </a:solidFill>
            </a:endParaRPr>
          </a:p>
        </p:txBody>
      </p:sp>
      <p:cxnSp>
        <p:nvCxnSpPr>
          <p:cNvPr id="462" name="Google Shape;462;p26"/>
          <p:cNvCxnSpPr/>
          <p:nvPr/>
        </p:nvCxnSpPr>
        <p:spPr>
          <a:xfrm>
            <a:off x="1054100" y="2501900"/>
            <a:ext cx="4660800" cy="0"/>
          </a:xfrm>
          <a:prstGeom prst="straightConnector1">
            <a:avLst/>
          </a:prstGeom>
          <a:noFill/>
          <a:ln cap="flat" cmpd="sng" w="8900">
            <a:solidFill>
              <a:srgbClr val="DCE4E8"/>
            </a:solidFill>
            <a:prstDash val="solid"/>
            <a:round/>
            <a:headEnd len="med" w="med" type="none"/>
            <a:tailEnd len="med" w="med" type="none"/>
          </a:ln>
        </p:spPr>
      </p:cxnSp>
      <p:sp>
        <p:nvSpPr>
          <p:cNvPr id="463" name="Google Shape;463;p26"/>
          <p:cNvSpPr txBox="1"/>
          <p:nvPr/>
        </p:nvSpPr>
        <p:spPr>
          <a:xfrm>
            <a:off x="495300" y="2387600"/>
            <a:ext cx="4698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100">
                <a:solidFill>
                  <a:srgbClr val="53616D"/>
                </a:solidFill>
              </a:rPr>
              <a:t>4</a:t>
            </a:r>
            <a:endParaRPr sz="1100">
              <a:solidFill>
                <a:srgbClr val="53616D"/>
              </a:solidFill>
            </a:endParaRPr>
          </a:p>
        </p:txBody>
      </p:sp>
      <p:cxnSp>
        <p:nvCxnSpPr>
          <p:cNvPr id="464" name="Google Shape;464;p26"/>
          <p:cNvCxnSpPr/>
          <p:nvPr/>
        </p:nvCxnSpPr>
        <p:spPr>
          <a:xfrm>
            <a:off x="1054100" y="2501900"/>
            <a:ext cx="0" cy="1409700"/>
          </a:xfrm>
          <a:prstGeom prst="straightConnector1">
            <a:avLst/>
          </a:prstGeom>
          <a:noFill/>
          <a:ln cap="flat" cmpd="sng" w="12700">
            <a:solidFill>
              <a:srgbClr val="53616D"/>
            </a:solidFill>
            <a:prstDash val="solid"/>
            <a:round/>
            <a:headEnd len="med" w="med" type="none"/>
            <a:tailEnd len="med" w="med" type="none"/>
          </a:ln>
        </p:spPr>
      </p:cxnSp>
      <p:cxnSp>
        <p:nvCxnSpPr>
          <p:cNvPr id="465" name="Google Shape;465;p26"/>
          <p:cNvCxnSpPr/>
          <p:nvPr/>
        </p:nvCxnSpPr>
        <p:spPr>
          <a:xfrm>
            <a:off x="1054100" y="3911600"/>
            <a:ext cx="4660800" cy="0"/>
          </a:xfrm>
          <a:prstGeom prst="straightConnector1">
            <a:avLst/>
          </a:prstGeom>
          <a:noFill/>
          <a:ln cap="flat" cmpd="sng" w="12700">
            <a:solidFill>
              <a:srgbClr val="53616D"/>
            </a:solidFill>
            <a:prstDash val="solid"/>
            <a:round/>
            <a:headEnd len="med" w="med" type="none"/>
            <a:tailEnd len="med" w="med" type="none"/>
          </a:ln>
        </p:spPr>
      </p:cxnSp>
      <p:cxnSp>
        <p:nvCxnSpPr>
          <p:cNvPr id="466" name="Google Shape;466;p26"/>
          <p:cNvCxnSpPr/>
          <p:nvPr/>
        </p:nvCxnSpPr>
        <p:spPr>
          <a:xfrm>
            <a:off x="1054100" y="3911600"/>
            <a:ext cx="0" cy="50700"/>
          </a:xfrm>
          <a:prstGeom prst="straightConnector1">
            <a:avLst/>
          </a:prstGeom>
          <a:noFill/>
          <a:ln cap="flat" cmpd="sng" w="12700">
            <a:solidFill>
              <a:srgbClr val="53616D"/>
            </a:solidFill>
            <a:prstDash val="solid"/>
            <a:round/>
            <a:headEnd len="med" w="med" type="none"/>
            <a:tailEnd len="med" w="med" type="none"/>
          </a:ln>
        </p:spPr>
      </p:cxnSp>
      <p:sp>
        <p:nvSpPr>
          <p:cNvPr id="467" name="Google Shape;467;p26"/>
          <p:cNvSpPr txBox="1"/>
          <p:nvPr/>
        </p:nvSpPr>
        <p:spPr>
          <a:xfrm>
            <a:off x="774700" y="39878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-6</a:t>
            </a:r>
            <a:endParaRPr sz="1100">
              <a:solidFill>
                <a:srgbClr val="53616D"/>
              </a:solidFill>
            </a:endParaRPr>
          </a:p>
        </p:txBody>
      </p:sp>
      <p:cxnSp>
        <p:nvCxnSpPr>
          <p:cNvPr id="468" name="Google Shape;468;p26"/>
          <p:cNvCxnSpPr/>
          <p:nvPr/>
        </p:nvCxnSpPr>
        <p:spPr>
          <a:xfrm>
            <a:off x="2219325" y="3911600"/>
            <a:ext cx="0" cy="50700"/>
          </a:xfrm>
          <a:prstGeom prst="straightConnector1">
            <a:avLst/>
          </a:prstGeom>
          <a:noFill/>
          <a:ln cap="flat" cmpd="sng" w="12700">
            <a:solidFill>
              <a:srgbClr val="53616D"/>
            </a:solidFill>
            <a:prstDash val="solid"/>
            <a:round/>
            <a:headEnd len="med" w="med" type="none"/>
            <a:tailEnd len="med" w="med" type="none"/>
          </a:ln>
        </p:spPr>
      </p:cxnSp>
      <p:sp>
        <p:nvSpPr>
          <p:cNvPr id="469" name="Google Shape;469;p26"/>
          <p:cNvSpPr txBox="1"/>
          <p:nvPr/>
        </p:nvSpPr>
        <p:spPr>
          <a:xfrm>
            <a:off x="1939925" y="39878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-3</a:t>
            </a:r>
            <a:endParaRPr sz="1100">
              <a:solidFill>
                <a:srgbClr val="53616D"/>
              </a:solidFill>
            </a:endParaRPr>
          </a:p>
        </p:txBody>
      </p:sp>
      <p:cxnSp>
        <p:nvCxnSpPr>
          <p:cNvPr id="470" name="Google Shape;470;p26"/>
          <p:cNvCxnSpPr/>
          <p:nvPr/>
        </p:nvCxnSpPr>
        <p:spPr>
          <a:xfrm>
            <a:off x="3384550" y="3911600"/>
            <a:ext cx="0" cy="50700"/>
          </a:xfrm>
          <a:prstGeom prst="straightConnector1">
            <a:avLst/>
          </a:prstGeom>
          <a:noFill/>
          <a:ln cap="flat" cmpd="sng" w="12700">
            <a:solidFill>
              <a:srgbClr val="53616D"/>
            </a:solidFill>
            <a:prstDash val="solid"/>
            <a:round/>
            <a:headEnd len="med" w="med" type="none"/>
            <a:tailEnd len="med" w="med" type="none"/>
          </a:ln>
        </p:spPr>
      </p:cxnSp>
      <p:sp>
        <p:nvSpPr>
          <p:cNvPr id="471" name="Google Shape;471;p26"/>
          <p:cNvSpPr txBox="1"/>
          <p:nvPr/>
        </p:nvSpPr>
        <p:spPr>
          <a:xfrm>
            <a:off x="3105150" y="39878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0</a:t>
            </a:r>
            <a:endParaRPr sz="1100">
              <a:solidFill>
                <a:srgbClr val="53616D"/>
              </a:solidFill>
            </a:endParaRPr>
          </a:p>
        </p:txBody>
      </p:sp>
      <p:cxnSp>
        <p:nvCxnSpPr>
          <p:cNvPr id="472" name="Google Shape;472;p26"/>
          <p:cNvCxnSpPr/>
          <p:nvPr/>
        </p:nvCxnSpPr>
        <p:spPr>
          <a:xfrm>
            <a:off x="4549775" y="3911600"/>
            <a:ext cx="0" cy="50700"/>
          </a:xfrm>
          <a:prstGeom prst="straightConnector1">
            <a:avLst/>
          </a:prstGeom>
          <a:noFill/>
          <a:ln cap="flat" cmpd="sng" w="12700">
            <a:solidFill>
              <a:srgbClr val="53616D"/>
            </a:solidFill>
            <a:prstDash val="solid"/>
            <a:round/>
            <a:headEnd len="med" w="med" type="none"/>
            <a:tailEnd len="med" w="med" type="none"/>
          </a:ln>
        </p:spPr>
      </p:cxnSp>
      <p:sp>
        <p:nvSpPr>
          <p:cNvPr id="473" name="Google Shape;473;p26"/>
          <p:cNvSpPr txBox="1"/>
          <p:nvPr/>
        </p:nvSpPr>
        <p:spPr>
          <a:xfrm>
            <a:off x="4270375" y="39878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3</a:t>
            </a:r>
            <a:endParaRPr sz="1100">
              <a:solidFill>
                <a:srgbClr val="53616D"/>
              </a:solidFill>
            </a:endParaRPr>
          </a:p>
        </p:txBody>
      </p:sp>
      <p:cxnSp>
        <p:nvCxnSpPr>
          <p:cNvPr id="474" name="Google Shape;474;p26"/>
          <p:cNvCxnSpPr/>
          <p:nvPr/>
        </p:nvCxnSpPr>
        <p:spPr>
          <a:xfrm>
            <a:off x="5715000" y="3911600"/>
            <a:ext cx="0" cy="50700"/>
          </a:xfrm>
          <a:prstGeom prst="straightConnector1">
            <a:avLst/>
          </a:prstGeom>
          <a:noFill/>
          <a:ln cap="flat" cmpd="sng" w="12700">
            <a:solidFill>
              <a:srgbClr val="53616D"/>
            </a:solidFill>
            <a:prstDash val="solid"/>
            <a:round/>
            <a:headEnd len="med" w="med" type="none"/>
            <a:tailEnd len="med" w="med" type="none"/>
          </a:ln>
        </p:spPr>
      </p:cxnSp>
      <p:sp>
        <p:nvSpPr>
          <p:cNvPr id="475" name="Google Shape;475;p26"/>
          <p:cNvSpPr txBox="1"/>
          <p:nvPr/>
        </p:nvSpPr>
        <p:spPr>
          <a:xfrm>
            <a:off x="5435600" y="3987800"/>
            <a:ext cx="558900" cy="279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100">
                <a:solidFill>
                  <a:srgbClr val="53616D"/>
                </a:solidFill>
              </a:rPr>
              <a:t>6</a:t>
            </a:r>
            <a:endParaRPr sz="1100">
              <a:solidFill>
                <a:srgbClr val="53616D"/>
              </a:solidFill>
            </a:endParaRPr>
          </a:p>
        </p:txBody>
      </p:sp>
      <p:sp>
        <p:nvSpPr>
          <p:cNvPr id="476" name="Google Shape;476;p26"/>
          <p:cNvSpPr txBox="1"/>
          <p:nvPr/>
        </p:nvSpPr>
        <p:spPr>
          <a:xfrm>
            <a:off x="1352550" y="4279900"/>
            <a:ext cx="4064100" cy="342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s-419" sz="1200">
                <a:solidFill>
                  <a:srgbClr val="53616D"/>
                </a:solidFill>
              </a:rPr>
              <a:t>Δ = TSusado − TSreal (dB)</a:t>
            </a:r>
            <a:endParaRPr sz="1200">
              <a:solidFill>
                <a:srgbClr val="53616D"/>
              </a:solidFill>
            </a:endParaRPr>
          </a:p>
        </p:txBody>
      </p:sp>
      <p:sp>
        <p:nvSpPr>
          <p:cNvPr id="477" name="Google Shape;477;p26"/>
          <p:cNvSpPr txBox="1"/>
          <p:nvPr/>
        </p:nvSpPr>
        <p:spPr>
          <a:xfrm>
            <a:off x="876300" y="2133600"/>
            <a:ext cx="48894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200">
                <a:solidFill>
                  <a:srgbClr val="53616D"/>
                </a:solidFill>
              </a:rPr>
              <a:t>Factor de abundancia</a:t>
            </a:r>
            <a:endParaRPr sz="1200">
              <a:solidFill>
                <a:srgbClr val="53616D"/>
              </a:solidFill>
            </a:endParaRPr>
          </a:p>
        </p:txBody>
      </p:sp>
      <p:cxnSp>
        <p:nvCxnSpPr>
          <p:cNvPr id="478" name="Google Shape;478;p26"/>
          <p:cNvCxnSpPr/>
          <p:nvPr/>
        </p:nvCxnSpPr>
        <p:spPr>
          <a:xfrm>
            <a:off x="1054100" y="2508571"/>
            <a:ext cx="97200" cy="78600"/>
          </a:xfrm>
          <a:prstGeom prst="straightConnector1">
            <a:avLst/>
          </a:prstGeom>
          <a:noFill/>
          <a:ln cap="flat" cmpd="sng" w="25400">
            <a:solidFill>
              <a:srgbClr val="147D88"/>
            </a:solidFill>
            <a:prstDash val="solid"/>
            <a:round/>
            <a:headEnd len="med" w="med" type="none"/>
            <a:tailEnd len="med" w="med" type="none"/>
          </a:ln>
        </p:spPr>
      </p:cxnSp>
      <p:cxnSp>
        <p:nvCxnSpPr>
          <p:cNvPr id="479" name="Google Shape;479;p26"/>
          <p:cNvCxnSpPr/>
          <p:nvPr/>
        </p:nvCxnSpPr>
        <p:spPr>
          <a:xfrm>
            <a:off x="1151202" y="2587055"/>
            <a:ext cx="97200" cy="74100"/>
          </a:xfrm>
          <a:prstGeom prst="straightConnector1">
            <a:avLst/>
          </a:prstGeom>
          <a:noFill/>
          <a:ln cap="flat" cmpd="sng" w="25400">
            <a:solidFill>
              <a:srgbClr val="147D88"/>
            </a:solidFill>
            <a:prstDash val="solid"/>
            <a:round/>
            <a:headEnd len="med" w="med" type="none"/>
            <a:tailEnd len="med" w="med" type="none"/>
          </a:ln>
        </p:spPr>
      </p:cxnSp>
      <p:cxnSp>
        <p:nvCxnSpPr>
          <p:cNvPr id="480" name="Google Shape;480;p26"/>
          <p:cNvCxnSpPr/>
          <p:nvPr/>
        </p:nvCxnSpPr>
        <p:spPr>
          <a:xfrm>
            <a:off x="1248304" y="2661149"/>
            <a:ext cx="97200" cy="69900"/>
          </a:xfrm>
          <a:prstGeom prst="straightConnector1">
            <a:avLst/>
          </a:prstGeom>
          <a:noFill/>
          <a:ln cap="flat" cmpd="sng" w="25400">
            <a:solidFill>
              <a:srgbClr val="147D88"/>
            </a:solidFill>
            <a:prstDash val="solid"/>
            <a:round/>
            <a:headEnd len="med" w="med" type="none"/>
            <a:tailEnd len="med" w="med" type="none"/>
          </a:ln>
        </p:spPr>
      </p:cxnSp>
      <p:cxnSp>
        <p:nvCxnSpPr>
          <p:cNvPr id="481" name="Google Shape;481;p26"/>
          <p:cNvCxnSpPr/>
          <p:nvPr/>
        </p:nvCxnSpPr>
        <p:spPr>
          <a:xfrm>
            <a:off x="1345406" y="2731098"/>
            <a:ext cx="97200" cy="66000"/>
          </a:xfrm>
          <a:prstGeom prst="straightConnector1">
            <a:avLst/>
          </a:prstGeom>
          <a:noFill/>
          <a:ln cap="flat" cmpd="sng" w="25400">
            <a:solidFill>
              <a:srgbClr val="147D88"/>
            </a:solidFill>
            <a:prstDash val="solid"/>
            <a:round/>
            <a:headEnd len="med" w="med" type="none"/>
            <a:tailEnd len="med" w="med" type="none"/>
          </a:ln>
        </p:spPr>
      </p:cxnSp>
      <p:cxnSp>
        <p:nvCxnSpPr>
          <p:cNvPr id="482" name="Google Shape;482;p26"/>
          <p:cNvCxnSpPr/>
          <p:nvPr/>
        </p:nvCxnSpPr>
        <p:spPr>
          <a:xfrm>
            <a:off x="1442508" y="2797134"/>
            <a:ext cx="97200" cy="62400"/>
          </a:xfrm>
          <a:prstGeom prst="straightConnector1">
            <a:avLst/>
          </a:prstGeom>
          <a:noFill/>
          <a:ln cap="flat" cmpd="sng" w="25400">
            <a:solidFill>
              <a:srgbClr val="147D88"/>
            </a:solidFill>
            <a:prstDash val="solid"/>
            <a:round/>
            <a:headEnd len="med" w="med" type="none"/>
            <a:tailEnd len="med" w="med" type="none"/>
          </a:ln>
        </p:spPr>
      </p:cxnSp>
      <p:cxnSp>
        <p:nvCxnSpPr>
          <p:cNvPr id="483" name="Google Shape;483;p26"/>
          <p:cNvCxnSpPr/>
          <p:nvPr/>
        </p:nvCxnSpPr>
        <p:spPr>
          <a:xfrm>
            <a:off x="1539610" y="2859477"/>
            <a:ext cx="97200" cy="58800"/>
          </a:xfrm>
          <a:prstGeom prst="straightConnector1">
            <a:avLst/>
          </a:prstGeom>
          <a:noFill/>
          <a:ln cap="flat" cmpd="sng" w="25400">
            <a:solidFill>
              <a:srgbClr val="147D88"/>
            </a:solidFill>
            <a:prstDash val="solid"/>
            <a:round/>
            <a:headEnd len="med" w="med" type="none"/>
            <a:tailEnd len="med" w="med" type="none"/>
          </a:ln>
        </p:spPr>
      </p:cxnSp>
      <p:cxnSp>
        <p:nvCxnSpPr>
          <p:cNvPr id="484" name="Google Shape;484;p26"/>
          <p:cNvCxnSpPr/>
          <p:nvPr/>
        </p:nvCxnSpPr>
        <p:spPr>
          <a:xfrm>
            <a:off x="1636713" y="2918331"/>
            <a:ext cx="97200" cy="55500"/>
          </a:xfrm>
          <a:prstGeom prst="straightConnector1">
            <a:avLst/>
          </a:prstGeom>
          <a:noFill/>
          <a:ln cap="flat" cmpd="sng" w="25400">
            <a:solidFill>
              <a:srgbClr val="147D88"/>
            </a:solidFill>
            <a:prstDash val="solid"/>
            <a:round/>
            <a:headEnd len="med" w="med" type="none"/>
            <a:tailEnd len="med" w="med" type="none"/>
          </a:ln>
        </p:spPr>
      </p:cxnSp>
      <p:cxnSp>
        <p:nvCxnSpPr>
          <p:cNvPr id="485" name="Google Shape;485;p26"/>
          <p:cNvCxnSpPr/>
          <p:nvPr/>
        </p:nvCxnSpPr>
        <p:spPr>
          <a:xfrm>
            <a:off x="1733815" y="2973894"/>
            <a:ext cx="97200" cy="52500"/>
          </a:xfrm>
          <a:prstGeom prst="straightConnector1">
            <a:avLst/>
          </a:prstGeom>
          <a:noFill/>
          <a:ln cap="flat" cmpd="sng" w="25400">
            <a:solidFill>
              <a:srgbClr val="147D88"/>
            </a:solidFill>
            <a:prstDash val="solid"/>
            <a:round/>
            <a:headEnd len="med" w="med" type="none"/>
            <a:tailEnd len="med" w="med" type="none"/>
          </a:ln>
        </p:spPr>
      </p:cxnSp>
      <p:cxnSp>
        <p:nvCxnSpPr>
          <p:cNvPr id="486" name="Google Shape;486;p26"/>
          <p:cNvCxnSpPr/>
          <p:nvPr/>
        </p:nvCxnSpPr>
        <p:spPr>
          <a:xfrm>
            <a:off x="1830917" y="3026348"/>
            <a:ext cx="97200" cy="49500"/>
          </a:xfrm>
          <a:prstGeom prst="straightConnector1">
            <a:avLst/>
          </a:prstGeom>
          <a:noFill/>
          <a:ln cap="flat" cmpd="sng" w="25400">
            <a:solidFill>
              <a:srgbClr val="147D88"/>
            </a:solidFill>
            <a:prstDash val="solid"/>
            <a:round/>
            <a:headEnd len="med" w="med" type="none"/>
            <a:tailEnd len="med" w="med" type="none"/>
          </a:ln>
        </p:spPr>
      </p:cxnSp>
      <p:cxnSp>
        <p:nvCxnSpPr>
          <p:cNvPr id="487" name="Google Shape;487;p26"/>
          <p:cNvCxnSpPr/>
          <p:nvPr/>
        </p:nvCxnSpPr>
        <p:spPr>
          <a:xfrm>
            <a:off x="1928019" y="3075869"/>
            <a:ext cx="97200" cy="46800"/>
          </a:xfrm>
          <a:prstGeom prst="straightConnector1">
            <a:avLst/>
          </a:prstGeom>
          <a:noFill/>
          <a:ln cap="flat" cmpd="sng" w="25400">
            <a:solidFill>
              <a:srgbClr val="147D88"/>
            </a:solidFill>
            <a:prstDash val="solid"/>
            <a:round/>
            <a:headEnd len="med" w="med" type="none"/>
            <a:tailEnd len="med" w="med" type="none"/>
          </a:ln>
        </p:spPr>
      </p:cxnSp>
      <p:cxnSp>
        <p:nvCxnSpPr>
          <p:cNvPr id="488" name="Google Shape;488;p26"/>
          <p:cNvCxnSpPr/>
          <p:nvPr/>
        </p:nvCxnSpPr>
        <p:spPr>
          <a:xfrm>
            <a:off x="2025121" y="3122619"/>
            <a:ext cx="97200" cy="44100"/>
          </a:xfrm>
          <a:prstGeom prst="straightConnector1">
            <a:avLst/>
          </a:prstGeom>
          <a:noFill/>
          <a:ln cap="flat" cmpd="sng" w="25400">
            <a:solidFill>
              <a:srgbClr val="147D88"/>
            </a:solidFill>
            <a:prstDash val="solid"/>
            <a:round/>
            <a:headEnd len="med" w="med" type="none"/>
            <a:tailEnd len="med" w="med" type="none"/>
          </a:ln>
        </p:spPr>
      </p:cxnSp>
      <p:cxnSp>
        <p:nvCxnSpPr>
          <p:cNvPr id="489" name="Google Shape;489;p26"/>
          <p:cNvCxnSpPr/>
          <p:nvPr/>
        </p:nvCxnSpPr>
        <p:spPr>
          <a:xfrm>
            <a:off x="2122223" y="3166754"/>
            <a:ext cx="97200" cy="41700"/>
          </a:xfrm>
          <a:prstGeom prst="straightConnector1">
            <a:avLst/>
          </a:prstGeom>
          <a:noFill/>
          <a:ln cap="flat" cmpd="sng" w="25400">
            <a:solidFill>
              <a:srgbClr val="147D88"/>
            </a:solidFill>
            <a:prstDash val="solid"/>
            <a:round/>
            <a:headEnd len="med" w="med" type="none"/>
            <a:tailEnd len="med" w="med" type="none"/>
          </a:ln>
        </p:spPr>
      </p:cxnSp>
      <p:cxnSp>
        <p:nvCxnSpPr>
          <p:cNvPr id="490" name="Google Shape;490;p26"/>
          <p:cNvCxnSpPr/>
          <p:nvPr/>
        </p:nvCxnSpPr>
        <p:spPr>
          <a:xfrm>
            <a:off x="2219325" y="3208420"/>
            <a:ext cx="97200" cy="39300"/>
          </a:xfrm>
          <a:prstGeom prst="straightConnector1">
            <a:avLst/>
          </a:prstGeom>
          <a:noFill/>
          <a:ln cap="flat" cmpd="sng" w="25400">
            <a:solidFill>
              <a:srgbClr val="147D88"/>
            </a:solidFill>
            <a:prstDash val="solid"/>
            <a:round/>
            <a:headEnd len="med" w="med" type="none"/>
            <a:tailEnd len="med" w="med" type="none"/>
          </a:ln>
        </p:spPr>
      </p:cxnSp>
      <p:cxnSp>
        <p:nvCxnSpPr>
          <p:cNvPr id="491" name="Google Shape;491;p26"/>
          <p:cNvCxnSpPr/>
          <p:nvPr/>
        </p:nvCxnSpPr>
        <p:spPr>
          <a:xfrm>
            <a:off x="2316427" y="3247755"/>
            <a:ext cx="97200" cy="37200"/>
          </a:xfrm>
          <a:prstGeom prst="straightConnector1">
            <a:avLst/>
          </a:prstGeom>
          <a:noFill/>
          <a:ln cap="flat" cmpd="sng" w="25400">
            <a:solidFill>
              <a:srgbClr val="147D88"/>
            </a:solidFill>
            <a:prstDash val="solid"/>
            <a:round/>
            <a:headEnd len="med" w="med" type="none"/>
            <a:tailEnd len="med" w="med" type="none"/>
          </a:ln>
        </p:spPr>
      </p:cxnSp>
      <p:cxnSp>
        <p:nvCxnSpPr>
          <p:cNvPr id="492" name="Google Shape;492;p26"/>
          <p:cNvCxnSpPr/>
          <p:nvPr/>
        </p:nvCxnSpPr>
        <p:spPr>
          <a:xfrm>
            <a:off x="2413529" y="3284890"/>
            <a:ext cx="97200" cy="35100"/>
          </a:xfrm>
          <a:prstGeom prst="straightConnector1">
            <a:avLst/>
          </a:prstGeom>
          <a:noFill/>
          <a:ln cap="flat" cmpd="sng" w="25400">
            <a:solidFill>
              <a:srgbClr val="147D88"/>
            </a:solidFill>
            <a:prstDash val="solid"/>
            <a:round/>
            <a:headEnd len="med" w="med" type="none"/>
            <a:tailEnd len="med" w="med" type="none"/>
          </a:ln>
        </p:spPr>
      </p:cxnSp>
      <p:cxnSp>
        <p:nvCxnSpPr>
          <p:cNvPr id="493" name="Google Shape;493;p26"/>
          <p:cNvCxnSpPr/>
          <p:nvPr/>
        </p:nvCxnSpPr>
        <p:spPr>
          <a:xfrm>
            <a:off x="2510631" y="3319947"/>
            <a:ext cx="97200" cy="33000"/>
          </a:xfrm>
          <a:prstGeom prst="straightConnector1">
            <a:avLst/>
          </a:prstGeom>
          <a:noFill/>
          <a:ln cap="flat" cmpd="sng" w="25400">
            <a:solidFill>
              <a:srgbClr val="147D88"/>
            </a:solidFill>
            <a:prstDash val="solid"/>
            <a:round/>
            <a:headEnd len="med" w="med" type="none"/>
            <a:tailEnd len="med" w="med" type="none"/>
          </a:ln>
        </p:spPr>
      </p:cxnSp>
      <p:cxnSp>
        <p:nvCxnSpPr>
          <p:cNvPr id="494" name="Google Shape;494;p26"/>
          <p:cNvCxnSpPr/>
          <p:nvPr/>
        </p:nvCxnSpPr>
        <p:spPr>
          <a:xfrm>
            <a:off x="2607733" y="3353044"/>
            <a:ext cx="97200" cy="31200"/>
          </a:xfrm>
          <a:prstGeom prst="straightConnector1">
            <a:avLst/>
          </a:prstGeom>
          <a:noFill/>
          <a:ln cap="flat" cmpd="sng" w="25400">
            <a:solidFill>
              <a:srgbClr val="147D88"/>
            </a:solidFill>
            <a:prstDash val="solid"/>
            <a:round/>
            <a:headEnd len="med" w="med" type="none"/>
            <a:tailEnd len="med" w="med" type="none"/>
          </a:ln>
        </p:spPr>
      </p:cxnSp>
      <p:cxnSp>
        <p:nvCxnSpPr>
          <p:cNvPr id="495" name="Google Shape;495;p26"/>
          <p:cNvCxnSpPr/>
          <p:nvPr/>
        </p:nvCxnSpPr>
        <p:spPr>
          <a:xfrm>
            <a:off x="2704835" y="3384289"/>
            <a:ext cx="97200" cy="29400"/>
          </a:xfrm>
          <a:prstGeom prst="straightConnector1">
            <a:avLst/>
          </a:prstGeom>
          <a:noFill/>
          <a:ln cap="flat" cmpd="sng" w="25400">
            <a:solidFill>
              <a:srgbClr val="147D88"/>
            </a:solidFill>
            <a:prstDash val="solid"/>
            <a:round/>
            <a:headEnd len="med" w="med" type="none"/>
            <a:tailEnd len="med" w="med" type="none"/>
          </a:ln>
        </p:spPr>
      </p:cxnSp>
      <p:cxnSp>
        <p:nvCxnSpPr>
          <p:cNvPr id="496" name="Google Shape;496;p26"/>
          <p:cNvCxnSpPr/>
          <p:nvPr/>
        </p:nvCxnSpPr>
        <p:spPr>
          <a:xfrm>
            <a:off x="2801938" y="3413786"/>
            <a:ext cx="97200" cy="27900"/>
          </a:xfrm>
          <a:prstGeom prst="straightConnector1">
            <a:avLst/>
          </a:prstGeom>
          <a:noFill/>
          <a:ln cap="flat" cmpd="sng" w="25400">
            <a:solidFill>
              <a:srgbClr val="147D88"/>
            </a:solidFill>
            <a:prstDash val="solid"/>
            <a:round/>
            <a:headEnd len="med" w="med" type="none"/>
            <a:tailEnd len="med" w="med" type="none"/>
          </a:ln>
        </p:spPr>
      </p:cxnSp>
      <p:cxnSp>
        <p:nvCxnSpPr>
          <p:cNvPr id="497" name="Google Shape;497;p26"/>
          <p:cNvCxnSpPr/>
          <p:nvPr/>
        </p:nvCxnSpPr>
        <p:spPr>
          <a:xfrm>
            <a:off x="2899040" y="3441634"/>
            <a:ext cx="97200" cy="26400"/>
          </a:xfrm>
          <a:prstGeom prst="straightConnector1">
            <a:avLst/>
          </a:prstGeom>
          <a:noFill/>
          <a:ln cap="flat" cmpd="sng" w="25400">
            <a:solidFill>
              <a:srgbClr val="147D88"/>
            </a:solidFill>
            <a:prstDash val="solid"/>
            <a:round/>
            <a:headEnd len="med" w="med" type="none"/>
            <a:tailEnd len="med" w="med" type="none"/>
          </a:ln>
        </p:spPr>
      </p:cxnSp>
      <p:cxnSp>
        <p:nvCxnSpPr>
          <p:cNvPr id="498" name="Google Shape;498;p26"/>
          <p:cNvCxnSpPr/>
          <p:nvPr/>
        </p:nvCxnSpPr>
        <p:spPr>
          <a:xfrm>
            <a:off x="2996142" y="3467923"/>
            <a:ext cx="97200" cy="24900"/>
          </a:xfrm>
          <a:prstGeom prst="straightConnector1">
            <a:avLst/>
          </a:prstGeom>
          <a:noFill/>
          <a:ln cap="flat" cmpd="sng" w="25400">
            <a:solidFill>
              <a:srgbClr val="147D88"/>
            </a:solidFill>
            <a:prstDash val="solid"/>
            <a:round/>
            <a:headEnd len="med" w="med" type="none"/>
            <a:tailEnd len="med" w="med" type="none"/>
          </a:ln>
        </p:spPr>
      </p:cxnSp>
      <p:cxnSp>
        <p:nvCxnSpPr>
          <p:cNvPr id="499" name="Google Shape;499;p26"/>
          <p:cNvCxnSpPr/>
          <p:nvPr/>
        </p:nvCxnSpPr>
        <p:spPr>
          <a:xfrm>
            <a:off x="3093244" y="3492742"/>
            <a:ext cx="97200" cy="23400"/>
          </a:xfrm>
          <a:prstGeom prst="straightConnector1">
            <a:avLst/>
          </a:prstGeom>
          <a:noFill/>
          <a:ln cap="flat" cmpd="sng" w="25400">
            <a:solidFill>
              <a:srgbClr val="147D88"/>
            </a:solidFill>
            <a:prstDash val="solid"/>
            <a:round/>
            <a:headEnd len="med" w="med" type="none"/>
            <a:tailEnd len="med" w="med" type="none"/>
          </a:ln>
        </p:spPr>
      </p:cxnSp>
      <p:cxnSp>
        <p:nvCxnSpPr>
          <p:cNvPr id="500" name="Google Shape;500;p26"/>
          <p:cNvCxnSpPr/>
          <p:nvPr/>
        </p:nvCxnSpPr>
        <p:spPr>
          <a:xfrm>
            <a:off x="3190346" y="3516173"/>
            <a:ext cx="97200" cy="22200"/>
          </a:xfrm>
          <a:prstGeom prst="straightConnector1">
            <a:avLst/>
          </a:prstGeom>
          <a:noFill/>
          <a:ln cap="flat" cmpd="sng" w="25400">
            <a:solidFill>
              <a:srgbClr val="147D88"/>
            </a:solidFill>
            <a:prstDash val="solid"/>
            <a:round/>
            <a:headEnd len="med" w="med" type="none"/>
            <a:tailEnd len="med" w="med" type="none"/>
          </a:ln>
        </p:spPr>
      </p:cxnSp>
      <p:cxnSp>
        <p:nvCxnSpPr>
          <p:cNvPr id="501" name="Google Shape;501;p26"/>
          <p:cNvCxnSpPr/>
          <p:nvPr/>
        </p:nvCxnSpPr>
        <p:spPr>
          <a:xfrm>
            <a:off x="3287448" y="3538293"/>
            <a:ext cx="97200" cy="21000"/>
          </a:xfrm>
          <a:prstGeom prst="straightConnector1">
            <a:avLst/>
          </a:prstGeom>
          <a:noFill/>
          <a:ln cap="flat" cmpd="sng" w="25400">
            <a:solidFill>
              <a:srgbClr val="147D88"/>
            </a:solidFill>
            <a:prstDash val="solid"/>
            <a:round/>
            <a:headEnd len="med" w="med" type="none"/>
            <a:tailEnd len="med" w="med" type="none"/>
          </a:ln>
        </p:spPr>
      </p:cxnSp>
      <p:cxnSp>
        <p:nvCxnSpPr>
          <p:cNvPr id="502" name="Google Shape;502;p26"/>
          <p:cNvCxnSpPr/>
          <p:nvPr/>
        </p:nvCxnSpPr>
        <p:spPr>
          <a:xfrm>
            <a:off x="3384550" y="3559175"/>
            <a:ext cx="97200" cy="19800"/>
          </a:xfrm>
          <a:prstGeom prst="straightConnector1">
            <a:avLst/>
          </a:prstGeom>
          <a:noFill/>
          <a:ln cap="flat" cmpd="sng" w="25400">
            <a:solidFill>
              <a:srgbClr val="147D88"/>
            </a:solidFill>
            <a:prstDash val="solid"/>
            <a:round/>
            <a:headEnd len="med" w="med" type="none"/>
            <a:tailEnd len="med" w="med" type="none"/>
          </a:ln>
        </p:spPr>
      </p:cxnSp>
      <p:cxnSp>
        <p:nvCxnSpPr>
          <p:cNvPr id="503" name="Google Shape;503;p26"/>
          <p:cNvCxnSpPr/>
          <p:nvPr/>
        </p:nvCxnSpPr>
        <p:spPr>
          <a:xfrm>
            <a:off x="3481652" y="3578889"/>
            <a:ext cx="97200" cy="18600"/>
          </a:xfrm>
          <a:prstGeom prst="straightConnector1">
            <a:avLst/>
          </a:prstGeom>
          <a:noFill/>
          <a:ln cap="flat" cmpd="sng" w="25400">
            <a:solidFill>
              <a:srgbClr val="147D88"/>
            </a:solidFill>
            <a:prstDash val="solid"/>
            <a:round/>
            <a:headEnd len="med" w="med" type="none"/>
            <a:tailEnd len="med" w="med" type="none"/>
          </a:ln>
        </p:spPr>
      </p:cxnSp>
      <p:cxnSp>
        <p:nvCxnSpPr>
          <p:cNvPr id="504" name="Google Shape;504;p26"/>
          <p:cNvCxnSpPr/>
          <p:nvPr/>
        </p:nvCxnSpPr>
        <p:spPr>
          <a:xfrm>
            <a:off x="3578754" y="3597501"/>
            <a:ext cx="97200" cy="17700"/>
          </a:xfrm>
          <a:prstGeom prst="straightConnector1">
            <a:avLst/>
          </a:prstGeom>
          <a:noFill/>
          <a:ln cap="flat" cmpd="sng" w="25400">
            <a:solidFill>
              <a:srgbClr val="147D88"/>
            </a:solidFill>
            <a:prstDash val="solid"/>
            <a:round/>
            <a:headEnd len="med" w="med" type="none"/>
            <a:tailEnd len="med" w="med" type="none"/>
          </a:ln>
        </p:spPr>
      </p:cxnSp>
      <p:cxnSp>
        <p:nvCxnSpPr>
          <p:cNvPr id="505" name="Google Shape;505;p26"/>
          <p:cNvCxnSpPr/>
          <p:nvPr/>
        </p:nvCxnSpPr>
        <p:spPr>
          <a:xfrm>
            <a:off x="3675856" y="3615071"/>
            <a:ext cx="97200" cy="16500"/>
          </a:xfrm>
          <a:prstGeom prst="straightConnector1">
            <a:avLst/>
          </a:prstGeom>
          <a:noFill/>
          <a:ln cap="flat" cmpd="sng" w="25400">
            <a:solidFill>
              <a:srgbClr val="147D88"/>
            </a:solidFill>
            <a:prstDash val="solid"/>
            <a:round/>
            <a:headEnd len="med" w="med" type="none"/>
            <a:tailEnd len="med" w="med" type="none"/>
          </a:ln>
        </p:spPr>
      </p:cxnSp>
      <p:cxnSp>
        <p:nvCxnSpPr>
          <p:cNvPr id="506" name="Google Shape;506;p26"/>
          <p:cNvCxnSpPr/>
          <p:nvPr/>
        </p:nvCxnSpPr>
        <p:spPr>
          <a:xfrm>
            <a:off x="3772958" y="3631659"/>
            <a:ext cx="97200" cy="15600"/>
          </a:xfrm>
          <a:prstGeom prst="straightConnector1">
            <a:avLst/>
          </a:prstGeom>
          <a:noFill/>
          <a:ln cap="flat" cmpd="sng" w="25400">
            <a:solidFill>
              <a:srgbClr val="147D88"/>
            </a:solidFill>
            <a:prstDash val="solid"/>
            <a:round/>
            <a:headEnd len="med" w="med" type="none"/>
            <a:tailEnd len="med" w="med" type="none"/>
          </a:ln>
        </p:spPr>
      </p:cxnSp>
      <p:cxnSp>
        <p:nvCxnSpPr>
          <p:cNvPr id="507" name="Google Shape;507;p26"/>
          <p:cNvCxnSpPr/>
          <p:nvPr/>
        </p:nvCxnSpPr>
        <p:spPr>
          <a:xfrm>
            <a:off x="3870060" y="3647319"/>
            <a:ext cx="97200" cy="14700"/>
          </a:xfrm>
          <a:prstGeom prst="straightConnector1">
            <a:avLst/>
          </a:prstGeom>
          <a:noFill/>
          <a:ln cap="flat" cmpd="sng" w="25400">
            <a:solidFill>
              <a:srgbClr val="147D88"/>
            </a:solidFill>
            <a:prstDash val="solid"/>
            <a:round/>
            <a:headEnd len="med" w="med" type="none"/>
            <a:tailEnd len="med" w="med" type="none"/>
          </a:ln>
        </p:spPr>
      </p:cxnSp>
      <p:cxnSp>
        <p:nvCxnSpPr>
          <p:cNvPr id="508" name="Google Shape;508;p26"/>
          <p:cNvCxnSpPr/>
          <p:nvPr/>
        </p:nvCxnSpPr>
        <p:spPr>
          <a:xfrm>
            <a:off x="3967163" y="3662102"/>
            <a:ext cx="97200" cy="14100"/>
          </a:xfrm>
          <a:prstGeom prst="straightConnector1">
            <a:avLst/>
          </a:prstGeom>
          <a:noFill/>
          <a:ln cap="flat" cmpd="sng" w="25400">
            <a:solidFill>
              <a:srgbClr val="147D88"/>
            </a:solidFill>
            <a:prstDash val="solid"/>
            <a:round/>
            <a:headEnd len="med" w="med" type="none"/>
            <a:tailEnd len="med" w="med" type="none"/>
          </a:ln>
        </p:spPr>
      </p:cxnSp>
      <p:cxnSp>
        <p:nvCxnSpPr>
          <p:cNvPr id="509" name="Google Shape;509;p26"/>
          <p:cNvCxnSpPr/>
          <p:nvPr/>
        </p:nvCxnSpPr>
        <p:spPr>
          <a:xfrm>
            <a:off x="4064265" y="3676059"/>
            <a:ext cx="97200" cy="13200"/>
          </a:xfrm>
          <a:prstGeom prst="straightConnector1">
            <a:avLst/>
          </a:prstGeom>
          <a:noFill/>
          <a:ln cap="flat" cmpd="sng" w="25400">
            <a:solidFill>
              <a:srgbClr val="147D88"/>
            </a:solidFill>
            <a:prstDash val="solid"/>
            <a:round/>
            <a:headEnd len="med" w="med" type="none"/>
            <a:tailEnd len="med" w="med" type="none"/>
          </a:ln>
        </p:spPr>
      </p:cxnSp>
      <p:cxnSp>
        <p:nvCxnSpPr>
          <p:cNvPr id="510" name="Google Shape;510;p26"/>
          <p:cNvCxnSpPr/>
          <p:nvPr/>
        </p:nvCxnSpPr>
        <p:spPr>
          <a:xfrm>
            <a:off x="4161367" y="3689235"/>
            <a:ext cx="97200" cy="12300"/>
          </a:xfrm>
          <a:prstGeom prst="straightConnector1">
            <a:avLst/>
          </a:prstGeom>
          <a:noFill/>
          <a:ln cap="flat" cmpd="sng" w="25400">
            <a:solidFill>
              <a:srgbClr val="147D88"/>
            </a:solidFill>
            <a:prstDash val="solid"/>
            <a:round/>
            <a:headEnd len="med" w="med" type="none"/>
            <a:tailEnd len="med" w="med" type="none"/>
          </a:ln>
        </p:spPr>
      </p:cxnSp>
      <p:cxnSp>
        <p:nvCxnSpPr>
          <p:cNvPr id="511" name="Google Shape;511;p26"/>
          <p:cNvCxnSpPr/>
          <p:nvPr/>
        </p:nvCxnSpPr>
        <p:spPr>
          <a:xfrm>
            <a:off x="4258469" y="3701674"/>
            <a:ext cx="97200" cy="11700"/>
          </a:xfrm>
          <a:prstGeom prst="straightConnector1">
            <a:avLst/>
          </a:prstGeom>
          <a:noFill/>
          <a:ln cap="flat" cmpd="sng" w="25400">
            <a:solidFill>
              <a:srgbClr val="147D88"/>
            </a:solidFill>
            <a:prstDash val="solid"/>
            <a:round/>
            <a:headEnd len="med" w="med" type="none"/>
            <a:tailEnd len="med" w="med" type="none"/>
          </a:ln>
        </p:spPr>
      </p:cxnSp>
      <p:cxnSp>
        <p:nvCxnSpPr>
          <p:cNvPr id="512" name="Google Shape;512;p26"/>
          <p:cNvCxnSpPr/>
          <p:nvPr/>
        </p:nvCxnSpPr>
        <p:spPr>
          <a:xfrm>
            <a:off x="4355571" y="3713417"/>
            <a:ext cx="97200" cy="11100"/>
          </a:xfrm>
          <a:prstGeom prst="straightConnector1">
            <a:avLst/>
          </a:prstGeom>
          <a:noFill/>
          <a:ln cap="flat" cmpd="sng" w="25400">
            <a:solidFill>
              <a:srgbClr val="147D88"/>
            </a:solidFill>
            <a:prstDash val="solid"/>
            <a:round/>
            <a:headEnd len="med" w="med" type="none"/>
            <a:tailEnd len="med" w="med" type="none"/>
          </a:ln>
        </p:spPr>
      </p:cxnSp>
      <p:cxnSp>
        <p:nvCxnSpPr>
          <p:cNvPr id="513" name="Google Shape;513;p26"/>
          <p:cNvCxnSpPr/>
          <p:nvPr/>
        </p:nvCxnSpPr>
        <p:spPr>
          <a:xfrm>
            <a:off x="4452673" y="3724503"/>
            <a:ext cx="97200" cy="10500"/>
          </a:xfrm>
          <a:prstGeom prst="straightConnector1">
            <a:avLst/>
          </a:prstGeom>
          <a:noFill/>
          <a:ln cap="flat" cmpd="sng" w="25400">
            <a:solidFill>
              <a:srgbClr val="147D88"/>
            </a:solidFill>
            <a:prstDash val="solid"/>
            <a:round/>
            <a:headEnd len="med" w="med" type="none"/>
            <a:tailEnd len="med" w="med" type="none"/>
          </a:ln>
        </p:spPr>
      </p:cxnSp>
      <p:cxnSp>
        <p:nvCxnSpPr>
          <p:cNvPr id="514" name="Google Shape;514;p26"/>
          <p:cNvCxnSpPr/>
          <p:nvPr/>
        </p:nvCxnSpPr>
        <p:spPr>
          <a:xfrm>
            <a:off x="4549775" y="3734969"/>
            <a:ext cx="97200" cy="9900"/>
          </a:xfrm>
          <a:prstGeom prst="straightConnector1">
            <a:avLst/>
          </a:prstGeom>
          <a:noFill/>
          <a:ln cap="flat" cmpd="sng" w="25400">
            <a:solidFill>
              <a:srgbClr val="147D88"/>
            </a:solidFill>
            <a:prstDash val="solid"/>
            <a:round/>
            <a:headEnd len="med" w="med" type="none"/>
            <a:tailEnd len="med" w="med" type="none"/>
          </a:ln>
        </p:spPr>
      </p:cxnSp>
      <p:cxnSp>
        <p:nvCxnSpPr>
          <p:cNvPr id="515" name="Google Shape;515;p26"/>
          <p:cNvCxnSpPr/>
          <p:nvPr/>
        </p:nvCxnSpPr>
        <p:spPr>
          <a:xfrm>
            <a:off x="4646877" y="3744850"/>
            <a:ext cx="97200" cy="9300"/>
          </a:xfrm>
          <a:prstGeom prst="straightConnector1">
            <a:avLst/>
          </a:prstGeom>
          <a:noFill/>
          <a:ln cap="flat" cmpd="sng" w="25400">
            <a:solidFill>
              <a:srgbClr val="147D88"/>
            </a:solidFill>
            <a:prstDash val="solid"/>
            <a:round/>
            <a:headEnd len="med" w="med" type="none"/>
            <a:tailEnd len="med" w="med" type="none"/>
          </a:ln>
        </p:spPr>
      </p:cxnSp>
      <p:cxnSp>
        <p:nvCxnSpPr>
          <p:cNvPr id="516" name="Google Shape;516;p26"/>
          <p:cNvCxnSpPr/>
          <p:nvPr/>
        </p:nvCxnSpPr>
        <p:spPr>
          <a:xfrm>
            <a:off x="4743979" y="3754178"/>
            <a:ext cx="97200" cy="8700"/>
          </a:xfrm>
          <a:prstGeom prst="straightConnector1">
            <a:avLst/>
          </a:prstGeom>
          <a:noFill/>
          <a:ln cap="flat" cmpd="sng" w="25400">
            <a:solidFill>
              <a:srgbClr val="147D88"/>
            </a:solidFill>
            <a:prstDash val="solid"/>
            <a:round/>
            <a:headEnd len="med" w="med" type="none"/>
            <a:tailEnd len="med" w="med" type="none"/>
          </a:ln>
        </p:spPr>
      </p:cxnSp>
      <p:cxnSp>
        <p:nvCxnSpPr>
          <p:cNvPr id="517" name="Google Shape;517;p26"/>
          <p:cNvCxnSpPr/>
          <p:nvPr/>
        </p:nvCxnSpPr>
        <p:spPr>
          <a:xfrm>
            <a:off x="4841081" y="3762984"/>
            <a:ext cx="97200" cy="8400"/>
          </a:xfrm>
          <a:prstGeom prst="straightConnector1">
            <a:avLst/>
          </a:prstGeom>
          <a:noFill/>
          <a:ln cap="flat" cmpd="sng" w="25400">
            <a:solidFill>
              <a:srgbClr val="147D88"/>
            </a:solidFill>
            <a:prstDash val="solid"/>
            <a:round/>
            <a:headEnd len="med" w="med" type="none"/>
            <a:tailEnd len="med" w="med" type="none"/>
          </a:ln>
        </p:spPr>
      </p:cxnSp>
      <p:cxnSp>
        <p:nvCxnSpPr>
          <p:cNvPr id="518" name="Google Shape;518;p26"/>
          <p:cNvCxnSpPr/>
          <p:nvPr/>
        </p:nvCxnSpPr>
        <p:spPr>
          <a:xfrm>
            <a:off x="4938183" y="3771297"/>
            <a:ext cx="97200" cy="7800"/>
          </a:xfrm>
          <a:prstGeom prst="straightConnector1">
            <a:avLst/>
          </a:prstGeom>
          <a:noFill/>
          <a:ln cap="flat" cmpd="sng" w="25400">
            <a:solidFill>
              <a:srgbClr val="147D88"/>
            </a:solidFill>
            <a:prstDash val="solid"/>
            <a:round/>
            <a:headEnd len="med" w="med" type="none"/>
            <a:tailEnd len="med" w="med" type="none"/>
          </a:ln>
        </p:spPr>
      </p:cxnSp>
      <p:cxnSp>
        <p:nvCxnSpPr>
          <p:cNvPr id="519" name="Google Shape;519;p26"/>
          <p:cNvCxnSpPr/>
          <p:nvPr/>
        </p:nvCxnSpPr>
        <p:spPr>
          <a:xfrm>
            <a:off x="5035285" y="3779146"/>
            <a:ext cx="97200" cy="7500"/>
          </a:xfrm>
          <a:prstGeom prst="straightConnector1">
            <a:avLst/>
          </a:prstGeom>
          <a:noFill/>
          <a:ln cap="flat" cmpd="sng" w="25400">
            <a:solidFill>
              <a:srgbClr val="147D88"/>
            </a:solidFill>
            <a:prstDash val="solid"/>
            <a:round/>
            <a:headEnd len="med" w="med" type="none"/>
            <a:tailEnd len="med" w="med" type="none"/>
          </a:ln>
        </p:spPr>
      </p:cxnSp>
      <p:cxnSp>
        <p:nvCxnSpPr>
          <p:cNvPr id="520" name="Google Shape;520;p26"/>
          <p:cNvCxnSpPr/>
          <p:nvPr/>
        </p:nvCxnSpPr>
        <p:spPr>
          <a:xfrm>
            <a:off x="5132388" y="3786555"/>
            <a:ext cx="97200" cy="6900"/>
          </a:xfrm>
          <a:prstGeom prst="straightConnector1">
            <a:avLst/>
          </a:prstGeom>
          <a:noFill/>
          <a:ln cap="flat" cmpd="sng" w="25400">
            <a:solidFill>
              <a:srgbClr val="147D88"/>
            </a:solidFill>
            <a:prstDash val="solid"/>
            <a:round/>
            <a:headEnd len="med" w="med" type="none"/>
            <a:tailEnd len="med" w="med" type="none"/>
          </a:ln>
        </p:spPr>
      </p:cxnSp>
      <p:cxnSp>
        <p:nvCxnSpPr>
          <p:cNvPr id="521" name="Google Shape;521;p26"/>
          <p:cNvCxnSpPr/>
          <p:nvPr/>
        </p:nvCxnSpPr>
        <p:spPr>
          <a:xfrm>
            <a:off x="5229490" y="3793550"/>
            <a:ext cx="97200" cy="6600"/>
          </a:xfrm>
          <a:prstGeom prst="straightConnector1">
            <a:avLst/>
          </a:prstGeom>
          <a:noFill/>
          <a:ln cap="flat" cmpd="sng" w="25400">
            <a:solidFill>
              <a:srgbClr val="147D88"/>
            </a:solidFill>
            <a:prstDash val="solid"/>
            <a:round/>
            <a:headEnd len="med" w="med" type="none"/>
            <a:tailEnd len="med" w="med" type="none"/>
          </a:ln>
        </p:spPr>
      </p:cxnSp>
      <p:cxnSp>
        <p:nvCxnSpPr>
          <p:cNvPr id="522" name="Google Shape;522;p26"/>
          <p:cNvCxnSpPr/>
          <p:nvPr/>
        </p:nvCxnSpPr>
        <p:spPr>
          <a:xfrm>
            <a:off x="5326592" y="3800153"/>
            <a:ext cx="97200" cy="6300"/>
          </a:xfrm>
          <a:prstGeom prst="straightConnector1">
            <a:avLst/>
          </a:prstGeom>
          <a:noFill/>
          <a:ln cap="flat" cmpd="sng" w="25400">
            <a:solidFill>
              <a:srgbClr val="147D88"/>
            </a:solidFill>
            <a:prstDash val="solid"/>
            <a:round/>
            <a:headEnd len="med" w="med" type="none"/>
            <a:tailEnd len="med" w="med" type="none"/>
          </a:ln>
        </p:spPr>
      </p:cxnSp>
      <p:cxnSp>
        <p:nvCxnSpPr>
          <p:cNvPr id="523" name="Google Shape;523;p26"/>
          <p:cNvCxnSpPr/>
          <p:nvPr/>
        </p:nvCxnSpPr>
        <p:spPr>
          <a:xfrm>
            <a:off x="5423694" y="3806388"/>
            <a:ext cx="97200" cy="6000"/>
          </a:xfrm>
          <a:prstGeom prst="straightConnector1">
            <a:avLst/>
          </a:prstGeom>
          <a:noFill/>
          <a:ln cap="flat" cmpd="sng" w="25400">
            <a:solidFill>
              <a:srgbClr val="147D88"/>
            </a:solidFill>
            <a:prstDash val="solid"/>
            <a:round/>
            <a:headEnd len="med" w="med" type="none"/>
            <a:tailEnd len="med" w="med" type="none"/>
          </a:ln>
        </p:spPr>
      </p:cxnSp>
      <p:cxnSp>
        <p:nvCxnSpPr>
          <p:cNvPr id="524" name="Google Shape;524;p26"/>
          <p:cNvCxnSpPr/>
          <p:nvPr/>
        </p:nvCxnSpPr>
        <p:spPr>
          <a:xfrm>
            <a:off x="5520796" y="3812273"/>
            <a:ext cx="97200" cy="5700"/>
          </a:xfrm>
          <a:prstGeom prst="straightConnector1">
            <a:avLst/>
          </a:prstGeom>
          <a:noFill/>
          <a:ln cap="flat" cmpd="sng" w="25400">
            <a:solidFill>
              <a:srgbClr val="147D88"/>
            </a:solidFill>
            <a:prstDash val="solid"/>
            <a:round/>
            <a:headEnd len="med" w="med" type="none"/>
            <a:tailEnd len="med" w="med" type="none"/>
          </a:ln>
        </p:spPr>
      </p:cxnSp>
      <p:cxnSp>
        <p:nvCxnSpPr>
          <p:cNvPr id="525" name="Google Shape;525;p26"/>
          <p:cNvCxnSpPr/>
          <p:nvPr/>
        </p:nvCxnSpPr>
        <p:spPr>
          <a:xfrm>
            <a:off x="5617898" y="3817829"/>
            <a:ext cx="97200" cy="5100"/>
          </a:xfrm>
          <a:prstGeom prst="straightConnector1">
            <a:avLst/>
          </a:prstGeom>
          <a:noFill/>
          <a:ln cap="flat" cmpd="sng" w="25400">
            <a:solidFill>
              <a:srgbClr val="147D88"/>
            </a:solidFill>
            <a:prstDash val="solid"/>
            <a:round/>
            <a:headEnd len="med" w="med" type="none"/>
            <a:tailEnd len="med" w="med" type="none"/>
          </a:ln>
        </p:spPr>
      </p:cxnSp>
      <p:sp>
        <p:nvSpPr>
          <p:cNvPr id="526" name="Google Shape;526;p26"/>
          <p:cNvSpPr/>
          <p:nvPr/>
        </p:nvSpPr>
        <p:spPr>
          <a:xfrm>
            <a:off x="4506595" y="3691789"/>
            <a:ext cx="86400" cy="86400"/>
          </a:xfrm>
          <a:prstGeom prst="ellipse">
            <a:avLst/>
          </a:prstGeom>
          <a:solidFill>
            <a:srgbClr val="BC6B20"/>
          </a:solidFill>
          <a:ln cap="flat" cmpd="sng" w="12700">
            <a:solidFill>
              <a:srgbClr val="BC6B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26"/>
          <p:cNvSpPr txBox="1"/>
          <p:nvPr/>
        </p:nvSpPr>
        <p:spPr>
          <a:xfrm>
            <a:off x="6223000" y="2374900"/>
            <a:ext cx="2324100" cy="139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900">
                <a:solidFill>
                  <a:srgbClr val="16324F"/>
                </a:solidFill>
              </a:rPr>
              <a:t>TS real: −43 dB</a:t>
            </a:r>
            <a:endParaRPr b="1" sz="1900">
              <a:solidFill>
                <a:srgbClr val="16324F"/>
              </a:solidFill>
            </a:endParaRPr>
          </a:p>
          <a:p>
            <a:pPr indent="0" lvl="0" marL="0" rtl="0" algn="l">
              <a:lnSpc>
                <a:spcPct val="110000"/>
              </a:lnSpc>
              <a:spcBef>
                <a:spcPts val="0"/>
              </a:spcBef>
              <a:spcAft>
                <a:spcPts val="0"/>
              </a:spcAft>
              <a:buNone/>
            </a:pPr>
            <a:r>
              <a:rPr b="1" lang="es-419" sz="1900">
                <a:solidFill>
                  <a:srgbClr val="16324F"/>
                </a:solidFill>
              </a:rPr>
              <a:t>TS usado: −40 dB</a:t>
            </a:r>
            <a:endParaRPr b="1" sz="1900">
              <a:solidFill>
                <a:srgbClr val="16324F"/>
              </a:solidFill>
            </a:endParaRPr>
          </a:p>
          <a:p>
            <a:pPr indent="0" lvl="0" marL="0" rtl="0" algn="l">
              <a:lnSpc>
                <a:spcPct val="110000"/>
              </a:lnSpc>
              <a:spcBef>
                <a:spcPts val="0"/>
              </a:spcBef>
              <a:spcAft>
                <a:spcPts val="0"/>
              </a:spcAft>
              <a:buNone/>
            </a:pPr>
            <a:r>
              <a:t/>
            </a:r>
            <a:endParaRPr b="1" sz="1900">
              <a:solidFill>
                <a:srgbClr val="16324F"/>
              </a:solidFill>
            </a:endParaRPr>
          </a:p>
          <a:p>
            <a:pPr indent="0" lvl="0" marL="0" rtl="0" algn="l">
              <a:lnSpc>
                <a:spcPct val="110000"/>
              </a:lnSpc>
              <a:spcBef>
                <a:spcPts val="0"/>
              </a:spcBef>
              <a:spcAft>
                <a:spcPts val="0"/>
              </a:spcAft>
              <a:buNone/>
            </a:pPr>
            <a:r>
              <a:rPr b="1" lang="es-419" sz="1900">
                <a:solidFill>
                  <a:srgbClr val="16324F"/>
                </a:solidFill>
              </a:rPr>
              <a:t>100 → ≈ 50 peces</a:t>
            </a:r>
            <a:endParaRPr b="1" sz="1900">
              <a:solidFill>
                <a:srgbClr val="16324F"/>
              </a:solidFill>
            </a:endParaRPr>
          </a:p>
        </p:txBody>
      </p:sp>
      <p:sp>
        <p:nvSpPr>
          <p:cNvPr id="528" name="Google Shape;528;p26"/>
          <p:cNvSpPr txBox="1"/>
          <p:nvPr/>
        </p:nvSpPr>
        <p:spPr>
          <a:xfrm>
            <a:off x="6210300" y="3924300"/>
            <a:ext cx="24129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a:solidFill>
                  <a:srgbClr val="53616D"/>
                </a:solidFill>
              </a:rPr>
              <a:t>S y peso medio constantes</a:t>
            </a:r>
            <a:endParaRPr>
              <a:solidFill>
                <a:srgbClr val="53616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2" name="Shape 532"/>
        <p:cNvGrpSpPr/>
        <p:nvPr/>
      </p:nvGrpSpPr>
      <p:grpSpPr>
        <a:xfrm>
          <a:off x="0" y="0"/>
          <a:ext cx="0" cy="0"/>
          <a:chOff x="0" y="0"/>
          <a:chExt cx="0" cy="0"/>
        </a:xfrm>
      </p:grpSpPr>
      <p:sp>
        <p:nvSpPr>
          <p:cNvPr id="533" name="Google Shape;533;p27"/>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Sensibilidad de tres contrastes de TS</a:t>
            </a:r>
            <a:endParaRPr b="1" sz="2900">
              <a:solidFill>
                <a:srgbClr val="16324F"/>
              </a:solidFill>
            </a:endParaRPr>
          </a:p>
        </p:txBody>
      </p:sp>
      <p:cxnSp>
        <p:nvCxnSpPr>
          <p:cNvPr id="534" name="Google Shape;534;p27"/>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35" name="Google Shape;535;p27"/>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Elaboración propia, ACU-IND-01 (2026), basada en Gorska y Ona (2003), Fujino et al. (2009) y Henderson y Horne (2007).</a:t>
            </a:r>
            <a:endParaRPr sz="980">
              <a:solidFill>
                <a:srgbClr val="53616D"/>
              </a:solidFill>
            </a:endParaRPr>
          </a:p>
        </p:txBody>
      </p:sp>
      <p:sp>
        <p:nvSpPr>
          <p:cNvPr id="536" name="Google Shape;536;p27"/>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15</a:t>
            </a:r>
            <a:endParaRPr sz="1000">
              <a:solidFill>
                <a:srgbClr val="53616D"/>
              </a:solidFill>
            </a:endParaRPr>
          </a:p>
        </p:txBody>
      </p:sp>
      <p:graphicFrame>
        <p:nvGraphicFramePr>
          <p:cNvPr id="537" name="Google Shape;537;p27"/>
          <p:cNvGraphicFramePr/>
          <p:nvPr/>
        </p:nvGraphicFramePr>
        <p:xfrm>
          <a:off x="482600" y="1409700"/>
          <a:ext cx="3000000" cy="3000000"/>
        </p:xfrm>
        <a:graphic>
          <a:graphicData uri="http://schemas.openxmlformats.org/drawingml/2006/table">
            <a:tbl>
              <a:tblPr>
                <a:noFill/>
                <a:tableStyleId>{B678E6D0-FF2A-43DA-B687-0E977E7377D3}</a:tableStyleId>
              </a:tblPr>
              <a:tblGrid>
                <a:gridCol w="3213100"/>
                <a:gridCol w="2921000"/>
                <a:gridCol w="2057400"/>
              </a:tblGrid>
              <a:tr h="673100">
                <a:tc>
                  <a:txBody>
                    <a:bodyPr/>
                    <a:lstStyle/>
                    <a:p>
                      <a:pPr indent="0" lvl="0" marL="0" rtl="0" algn="l">
                        <a:lnSpc>
                          <a:spcPct val="105000"/>
                        </a:lnSpc>
                        <a:spcBef>
                          <a:spcPts val="0"/>
                        </a:spcBef>
                        <a:spcAft>
                          <a:spcPts val="0"/>
                        </a:spcAft>
                        <a:buNone/>
                      </a:pPr>
                      <a:r>
                        <a:rPr b="1" lang="es-419">
                          <a:solidFill>
                            <a:srgbClr val="16324F"/>
                          </a:solidFill>
                        </a:rPr>
                        <a:t>TS usado frente al de referencia</a:t>
                      </a:r>
                      <a:endParaRPr b="1">
                        <a:solidFill>
                          <a:srgbClr val="16324F"/>
                        </a:solidFill>
                      </a:endParaRPr>
                    </a:p>
                  </a:txBody>
                  <a:tcPr marT="91425" marB="91425" marR="91425" marL="91425">
                    <a:solidFill>
                      <a:srgbClr val="F1F6F8"/>
                    </a:solidFill>
                  </a:tcPr>
                </a:tc>
                <a:tc>
                  <a:txBody>
                    <a:bodyPr/>
                    <a:lstStyle/>
                    <a:p>
                      <a:pPr indent="0" lvl="0" marL="0" rtl="0" algn="l">
                        <a:lnSpc>
                          <a:spcPct val="105000"/>
                        </a:lnSpc>
                        <a:spcBef>
                          <a:spcPts val="0"/>
                        </a:spcBef>
                        <a:spcAft>
                          <a:spcPts val="0"/>
                        </a:spcAft>
                        <a:buNone/>
                      </a:pPr>
                      <a:r>
                        <a:rPr b="1" lang="es-419">
                          <a:solidFill>
                            <a:srgbClr val="16324F"/>
                          </a:solidFill>
                        </a:rPr>
                        <a:t>Base del contraste</a:t>
                      </a:r>
                      <a:endParaRPr b="1">
                        <a:solidFill>
                          <a:srgbClr val="16324F"/>
                        </a:solidFill>
                      </a:endParaRPr>
                    </a:p>
                  </a:txBody>
                  <a:tcPr marT="91425" marB="91425" marR="91425" marL="91425">
                    <a:solidFill>
                      <a:srgbClr val="F1F6F8"/>
                    </a:solidFill>
                  </a:tcPr>
                </a:tc>
                <a:tc>
                  <a:txBody>
                    <a:bodyPr/>
                    <a:lstStyle/>
                    <a:p>
                      <a:pPr indent="0" lvl="0" marL="0" rtl="0" algn="l">
                        <a:lnSpc>
                          <a:spcPct val="105000"/>
                        </a:lnSpc>
                        <a:spcBef>
                          <a:spcPts val="0"/>
                        </a:spcBef>
                        <a:spcAft>
                          <a:spcPts val="0"/>
                        </a:spcAft>
                        <a:buNone/>
                      </a:pPr>
                      <a:r>
                        <a:rPr b="1" lang="es-419">
                          <a:solidFill>
                            <a:srgbClr val="16324F"/>
                          </a:solidFill>
                        </a:rPr>
                        <a:t>Nestimado / Nreal</a:t>
                      </a:r>
                      <a:endParaRPr b="1">
                        <a:solidFill>
                          <a:srgbClr val="16324F"/>
                        </a:solidFill>
                      </a:endParaRPr>
                    </a:p>
                  </a:txBody>
                  <a:tcPr marT="91425" marB="91425" marR="91425" marL="91425">
                    <a:solidFill>
                      <a:srgbClr val="F1F6F8"/>
                    </a:solidFill>
                  </a:tcPr>
                </a:tc>
              </a:tr>
              <a:tr h="673100">
                <a:tc>
                  <a:txBody>
                    <a:bodyPr/>
                    <a:lstStyle/>
                    <a:p>
                      <a:pPr indent="0" lvl="0" marL="0" rtl="0" algn="l">
                        <a:lnSpc>
                          <a:spcPct val="105000"/>
                        </a:lnSpc>
                        <a:spcBef>
                          <a:spcPts val="0"/>
                        </a:spcBef>
                        <a:spcAft>
                          <a:spcPts val="0"/>
                        </a:spcAft>
                        <a:buNone/>
                      </a:pPr>
                      <a:r>
                        <a:rPr lang="es-419" sz="1500">
                          <a:solidFill>
                            <a:srgbClr val="243744"/>
                          </a:solidFill>
                        </a:rPr>
                        <a:t>Arenque: superficie → 300 m</a:t>
                      </a:r>
                      <a:endParaRPr sz="1500">
                        <a:solidFill>
                          <a:srgbClr val="243744"/>
                        </a:solidFill>
                      </a:endParaRPr>
                    </a:p>
                  </a:txBody>
                  <a:tcPr marT="91425" marB="91425" marR="91425" marL="91425"/>
                </a:tc>
                <a:tc>
                  <a:txBody>
                    <a:bodyPr/>
                    <a:lstStyle/>
                    <a:p>
                      <a:pPr indent="0" lvl="0" marL="0" rtl="0" algn="l">
                        <a:lnSpc>
                          <a:spcPct val="105000"/>
                        </a:lnSpc>
                        <a:spcBef>
                          <a:spcPts val="0"/>
                        </a:spcBef>
                        <a:spcAft>
                          <a:spcPts val="0"/>
                        </a:spcAft>
                        <a:buNone/>
                      </a:pPr>
                      <a:r>
                        <a:rPr lang="es-419" sz="1500">
                          <a:solidFill>
                            <a:srgbClr val="243744"/>
                          </a:solidFill>
                        </a:rPr>
                        <a:t>Ajuste a datos citados</a:t>
                      </a:r>
                      <a:endParaRPr sz="1500">
                        <a:solidFill>
                          <a:srgbClr val="243744"/>
                        </a:solidFill>
                      </a:endParaRPr>
                    </a:p>
                    <a:p>
                      <a:pPr indent="0" lvl="0" marL="0" rtl="0" algn="l">
                        <a:lnSpc>
                          <a:spcPct val="105000"/>
                        </a:lnSpc>
                        <a:spcBef>
                          <a:spcPts val="0"/>
                        </a:spcBef>
                        <a:spcAft>
                          <a:spcPts val="0"/>
                        </a:spcAft>
                        <a:buNone/>
                      </a:pPr>
                      <a:r>
                        <a:rPr lang="es-419" sz="1500">
                          <a:solidFill>
                            <a:srgbClr val="243744"/>
                          </a:solidFill>
                        </a:rPr>
                        <a:t>−3,43 dB</a:t>
                      </a:r>
                      <a:endParaRPr sz="1500">
                        <a:solidFill>
                          <a:srgbClr val="243744"/>
                        </a:solidFill>
                      </a:endParaRPr>
                    </a:p>
                  </a:txBody>
                  <a:tcPr marT="91425" marB="91425" marR="91425" marL="91425"/>
                </a:tc>
                <a:tc>
                  <a:txBody>
                    <a:bodyPr/>
                    <a:lstStyle/>
                    <a:p>
                      <a:pPr indent="0" lvl="0" marL="0" rtl="0" algn="l">
                        <a:lnSpc>
                          <a:spcPct val="105000"/>
                        </a:lnSpc>
                        <a:spcBef>
                          <a:spcPts val="0"/>
                        </a:spcBef>
                        <a:spcAft>
                          <a:spcPts val="0"/>
                        </a:spcAft>
                        <a:buNone/>
                      </a:pPr>
                      <a:r>
                        <a:rPr lang="es-419" sz="1500">
                          <a:solidFill>
                            <a:srgbClr val="243744"/>
                          </a:solidFill>
                        </a:rPr>
                        <a:t>0,45</a:t>
                      </a:r>
                      <a:endParaRPr sz="1500">
                        <a:solidFill>
                          <a:srgbClr val="243744"/>
                        </a:solidFill>
                      </a:endParaRPr>
                    </a:p>
                    <a:p>
                      <a:pPr indent="0" lvl="0" marL="0" rtl="0" algn="l">
                        <a:lnSpc>
                          <a:spcPct val="105000"/>
                        </a:lnSpc>
                        <a:spcBef>
                          <a:spcPts val="0"/>
                        </a:spcBef>
                        <a:spcAft>
                          <a:spcPts val="0"/>
                        </a:spcAft>
                        <a:buNone/>
                      </a:pPr>
                      <a:r>
                        <a:rPr lang="es-419" sz="1500">
                          <a:solidFill>
                            <a:srgbClr val="243744"/>
                          </a:solidFill>
                        </a:rPr>
                        <a:t>Subestimación</a:t>
                      </a:r>
                      <a:endParaRPr sz="1500">
                        <a:solidFill>
                          <a:srgbClr val="243744"/>
                        </a:solidFill>
                      </a:endParaRPr>
                    </a:p>
                  </a:txBody>
                  <a:tcPr marT="91425" marB="91425" marR="91425" marL="91425"/>
                </a:tc>
              </a:tr>
              <a:tr h="673100">
                <a:tc>
                  <a:txBody>
                    <a:bodyPr/>
                    <a:lstStyle/>
                    <a:p>
                      <a:pPr indent="0" lvl="0" marL="0" rtl="0" algn="l">
                        <a:lnSpc>
                          <a:spcPct val="105000"/>
                        </a:lnSpc>
                        <a:spcBef>
                          <a:spcPts val="0"/>
                        </a:spcBef>
                        <a:spcAft>
                          <a:spcPts val="0"/>
                        </a:spcAft>
                        <a:buNone/>
                      </a:pPr>
                      <a:r>
                        <a:rPr lang="es-419" sz="1500">
                          <a:solidFill>
                            <a:srgbClr val="243744"/>
                          </a:solidFill>
                        </a:rPr>
                        <a:t>Maurolicus: 50 → 250 m</a:t>
                      </a:r>
                      <a:endParaRPr sz="1500">
                        <a:solidFill>
                          <a:srgbClr val="243744"/>
                        </a:solidFill>
                      </a:endParaRPr>
                    </a:p>
                  </a:txBody>
                  <a:tcPr marT="91425" marB="91425" marR="91425" marL="91425"/>
                </a:tc>
                <a:tc>
                  <a:txBody>
                    <a:bodyPr/>
                    <a:lstStyle/>
                    <a:p>
                      <a:pPr indent="0" lvl="0" marL="0" rtl="0" algn="l">
                        <a:lnSpc>
                          <a:spcPct val="105000"/>
                        </a:lnSpc>
                        <a:spcBef>
                          <a:spcPts val="0"/>
                        </a:spcBef>
                        <a:spcAft>
                          <a:spcPts val="0"/>
                        </a:spcAft>
                        <a:buNone/>
                      </a:pPr>
                      <a:r>
                        <a:rPr lang="es-419" sz="1500">
                          <a:solidFill>
                            <a:srgbClr val="243744"/>
                          </a:solidFill>
                        </a:rPr>
                        <a:t>Modelo · 30 mm · 38 kHz</a:t>
                      </a:r>
                      <a:endParaRPr sz="1500">
                        <a:solidFill>
                          <a:srgbClr val="243744"/>
                        </a:solidFill>
                      </a:endParaRPr>
                    </a:p>
                    <a:p>
                      <a:pPr indent="0" lvl="0" marL="0" rtl="0" algn="l">
                        <a:lnSpc>
                          <a:spcPct val="105000"/>
                        </a:lnSpc>
                        <a:spcBef>
                          <a:spcPts val="0"/>
                        </a:spcBef>
                        <a:spcAft>
                          <a:spcPts val="0"/>
                        </a:spcAft>
                        <a:buNone/>
                      </a:pPr>
                      <a:r>
                        <a:rPr lang="es-419" sz="1500">
                          <a:solidFill>
                            <a:srgbClr val="243744"/>
                          </a:solidFill>
                        </a:rPr>
                        <a:t>+3,15 dB</a:t>
                      </a:r>
                      <a:endParaRPr sz="1500">
                        <a:solidFill>
                          <a:srgbClr val="243744"/>
                        </a:solidFill>
                      </a:endParaRPr>
                    </a:p>
                  </a:txBody>
                  <a:tcPr marT="91425" marB="91425" marR="91425" marL="91425"/>
                </a:tc>
                <a:tc>
                  <a:txBody>
                    <a:bodyPr/>
                    <a:lstStyle/>
                    <a:p>
                      <a:pPr indent="0" lvl="0" marL="0" rtl="0" algn="l">
                        <a:lnSpc>
                          <a:spcPct val="105000"/>
                        </a:lnSpc>
                        <a:spcBef>
                          <a:spcPts val="0"/>
                        </a:spcBef>
                        <a:spcAft>
                          <a:spcPts val="0"/>
                        </a:spcAft>
                        <a:buNone/>
                      </a:pPr>
                      <a:r>
                        <a:rPr lang="es-419" sz="1500">
                          <a:solidFill>
                            <a:srgbClr val="243744"/>
                          </a:solidFill>
                        </a:rPr>
                        <a:t>2,07</a:t>
                      </a:r>
                      <a:endParaRPr sz="1500">
                        <a:solidFill>
                          <a:srgbClr val="243744"/>
                        </a:solidFill>
                      </a:endParaRPr>
                    </a:p>
                    <a:p>
                      <a:pPr indent="0" lvl="0" marL="0" rtl="0" algn="l">
                        <a:lnSpc>
                          <a:spcPct val="105000"/>
                        </a:lnSpc>
                        <a:spcBef>
                          <a:spcPts val="0"/>
                        </a:spcBef>
                        <a:spcAft>
                          <a:spcPts val="0"/>
                        </a:spcAft>
                        <a:buNone/>
                      </a:pPr>
                      <a:r>
                        <a:rPr lang="es-419" sz="1500">
                          <a:solidFill>
                            <a:srgbClr val="243744"/>
                          </a:solidFill>
                        </a:rPr>
                        <a:t>Sobrestimación</a:t>
                      </a:r>
                      <a:endParaRPr sz="1500">
                        <a:solidFill>
                          <a:srgbClr val="243744"/>
                        </a:solidFill>
                      </a:endParaRPr>
                    </a:p>
                  </a:txBody>
                  <a:tcPr marT="91425" marB="91425" marR="91425" marL="91425"/>
                </a:tc>
              </a:tr>
              <a:tr h="673100">
                <a:tc>
                  <a:txBody>
                    <a:bodyPr/>
                    <a:lstStyle/>
                    <a:p>
                      <a:pPr indent="0" lvl="0" marL="0" rtl="0" algn="l">
                        <a:lnSpc>
                          <a:spcPct val="105000"/>
                        </a:lnSpc>
                        <a:spcBef>
                          <a:spcPts val="0"/>
                        </a:spcBef>
                        <a:spcAft>
                          <a:spcPts val="0"/>
                        </a:spcAft>
                        <a:buNone/>
                      </a:pPr>
                      <a:r>
                        <a:rPr lang="es-419" sz="1500">
                          <a:solidFill>
                            <a:srgbClr val="243744"/>
                          </a:solidFill>
                        </a:rPr>
                        <a:t>Merluza: Traynor → in situ</a:t>
                      </a:r>
                      <a:endParaRPr sz="1500">
                        <a:solidFill>
                          <a:srgbClr val="243744"/>
                        </a:solidFill>
                      </a:endParaRPr>
                    </a:p>
                  </a:txBody>
                  <a:tcPr marT="91425" marB="91425" marR="91425" marL="91425"/>
                </a:tc>
                <a:tc>
                  <a:txBody>
                    <a:bodyPr/>
                    <a:lstStyle/>
                    <a:p>
                      <a:pPr indent="0" lvl="0" marL="0" rtl="0" algn="l">
                        <a:lnSpc>
                          <a:spcPct val="105000"/>
                        </a:lnSpc>
                        <a:spcBef>
                          <a:spcPts val="0"/>
                        </a:spcBef>
                        <a:spcAft>
                          <a:spcPts val="0"/>
                        </a:spcAft>
                        <a:buNone/>
                      </a:pPr>
                      <a:r>
                        <a:rPr lang="es-419" sz="1500">
                          <a:solidFill>
                            <a:srgbClr val="243744"/>
                          </a:solidFill>
                        </a:rPr>
                        <a:t>Comparación de ecuaciones</a:t>
                      </a:r>
                      <a:endParaRPr sz="1500">
                        <a:solidFill>
                          <a:srgbClr val="243744"/>
                        </a:solidFill>
                      </a:endParaRPr>
                    </a:p>
                    <a:p>
                      <a:pPr indent="0" lvl="0" marL="0" rtl="0" algn="l">
                        <a:lnSpc>
                          <a:spcPct val="105000"/>
                        </a:lnSpc>
                        <a:spcBef>
                          <a:spcPts val="0"/>
                        </a:spcBef>
                        <a:spcAft>
                          <a:spcPts val="0"/>
                        </a:spcAft>
                        <a:buNone/>
                      </a:pPr>
                      <a:r>
                        <a:rPr lang="es-419" sz="1500">
                          <a:solidFill>
                            <a:srgbClr val="243744"/>
                          </a:solidFill>
                        </a:rPr>
                        <a:t>−5,8 dB</a:t>
                      </a:r>
                      <a:endParaRPr sz="1500">
                        <a:solidFill>
                          <a:srgbClr val="243744"/>
                        </a:solidFill>
                      </a:endParaRPr>
                    </a:p>
                  </a:txBody>
                  <a:tcPr marT="91425" marB="91425" marR="91425" marL="91425"/>
                </a:tc>
                <a:tc>
                  <a:txBody>
                    <a:bodyPr/>
                    <a:lstStyle/>
                    <a:p>
                      <a:pPr indent="0" lvl="0" marL="0" rtl="0" algn="l">
                        <a:lnSpc>
                          <a:spcPct val="105000"/>
                        </a:lnSpc>
                        <a:spcBef>
                          <a:spcPts val="0"/>
                        </a:spcBef>
                        <a:spcAft>
                          <a:spcPts val="0"/>
                        </a:spcAft>
                        <a:buNone/>
                      </a:pPr>
                      <a:r>
                        <a:rPr lang="es-419" sz="1500">
                          <a:solidFill>
                            <a:srgbClr val="243744"/>
                          </a:solidFill>
                        </a:rPr>
                        <a:t>0,26</a:t>
                      </a:r>
                      <a:endParaRPr sz="1500">
                        <a:solidFill>
                          <a:srgbClr val="243744"/>
                        </a:solidFill>
                      </a:endParaRPr>
                    </a:p>
                    <a:p>
                      <a:pPr indent="0" lvl="0" marL="0" rtl="0" algn="l">
                        <a:lnSpc>
                          <a:spcPct val="105000"/>
                        </a:lnSpc>
                        <a:spcBef>
                          <a:spcPts val="0"/>
                        </a:spcBef>
                        <a:spcAft>
                          <a:spcPts val="0"/>
                        </a:spcAft>
                        <a:buNone/>
                      </a:pPr>
                      <a:r>
                        <a:rPr lang="es-419" sz="1500">
                          <a:solidFill>
                            <a:srgbClr val="243744"/>
                          </a:solidFill>
                        </a:rPr>
                        <a:t>Subestimación</a:t>
                      </a:r>
                      <a:endParaRPr sz="1500">
                        <a:solidFill>
                          <a:srgbClr val="243744"/>
                        </a:solidFill>
                      </a:endParaRPr>
                    </a:p>
                  </a:txBody>
                  <a:tcPr marT="91425" marB="91425" marR="91425" marL="91425"/>
                </a:tc>
              </a:tr>
            </a:tbl>
          </a:graphicData>
        </a:graphic>
      </p:graphicFrame>
      <p:sp>
        <p:nvSpPr>
          <p:cNvPr id="538" name="Google Shape;538;p27"/>
          <p:cNvSpPr txBox="1"/>
          <p:nvPr/>
        </p:nvSpPr>
        <p:spPr>
          <a:xfrm>
            <a:off x="558800" y="4203700"/>
            <a:ext cx="81027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600">
                <a:solidFill>
                  <a:srgbClr val="16324F"/>
                </a:solidFill>
              </a:rPr>
              <a:t>Sensibilidad con S constante; no es biomasa de campo observada</a:t>
            </a:r>
            <a:endParaRPr b="1" sz="1600">
              <a:solidFill>
                <a:srgbClr val="16324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2" name="Shape 542"/>
        <p:cNvGrpSpPr/>
        <p:nvPr/>
      </p:nvGrpSpPr>
      <p:grpSpPr>
        <a:xfrm>
          <a:off x="0" y="0"/>
          <a:ext cx="0" cy="0"/>
          <a:chOff x="0" y="0"/>
          <a:chExt cx="0" cy="0"/>
        </a:xfrm>
      </p:grpSpPr>
      <p:sp>
        <p:nvSpPr>
          <p:cNvPr id="543" name="Google Shape;543;p28"/>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Separar la respuesta del pez y del instrumento</a:t>
            </a:r>
            <a:endParaRPr b="1" sz="2900">
              <a:solidFill>
                <a:srgbClr val="16324F"/>
              </a:solidFill>
            </a:endParaRPr>
          </a:p>
        </p:txBody>
      </p:sp>
      <p:cxnSp>
        <p:nvCxnSpPr>
          <p:cNvPr id="544" name="Google Shape;544;p28"/>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45" name="Google Shape;545;p28"/>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Bertrand et al. (1999); Ona et al. (2020). Fuente: Esquema propio, ACU-IND-01 (2026).</a:t>
            </a:r>
            <a:endParaRPr sz="980">
              <a:solidFill>
                <a:srgbClr val="53616D"/>
              </a:solidFill>
            </a:endParaRPr>
          </a:p>
        </p:txBody>
      </p:sp>
      <p:sp>
        <p:nvSpPr>
          <p:cNvPr id="546" name="Google Shape;546;p28"/>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16</a:t>
            </a:r>
            <a:endParaRPr sz="1000">
              <a:solidFill>
                <a:srgbClr val="53616D"/>
              </a:solidFill>
            </a:endParaRPr>
          </a:p>
        </p:txBody>
      </p:sp>
      <p:sp>
        <p:nvSpPr>
          <p:cNvPr id="547" name="Google Shape;547;p28"/>
          <p:cNvSpPr txBox="1"/>
          <p:nvPr/>
        </p:nvSpPr>
        <p:spPr>
          <a:xfrm>
            <a:off x="533400" y="1320800"/>
            <a:ext cx="8089800" cy="647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400">
                <a:solidFill>
                  <a:srgbClr val="16324F"/>
                </a:solidFill>
              </a:rPr>
              <a:t>Un patrón TS–profundidad admite varias explicaciones</a:t>
            </a:r>
            <a:endParaRPr b="1" sz="2400">
              <a:solidFill>
                <a:srgbClr val="16324F"/>
              </a:solidFill>
            </a:endParaRPr>
          </a:p>
        </p:txBody>
      </p:sp>
      <p:sp>
        <p:nvSpPr>
          <p:cNvPr id="548" name="Google Shape;548;p28"/>
          <p:cNvSpPr txBox="1"/>
          <p:nvPr/>
        </p:nvSpPr>
        <p:spPr>
          <a:xfrm>
            <a:off x="584200" y="2286000"/>
            <a:ext cx="3555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300">
                <a:solidFill>
                  <a:srgbClr val="147D88"/>
                </a:solidFill>
              </a:rPr>
              <a:t>Respuesta del pez</a:t>
            </a:r>
            <a:endParaRPr b="1" sz="2300">
              <a:solidFill>
                <a:srgbClr val="147D88"/>
              </a:solidFill>
            </a:endParaRPr>
          </a:p>
        </p:txBody>
      </p:sp>
      <p:sp>
        <p:nvSpPr>
          <p:cNvPr id="549" name="Google Shape;549;p28"/>
          <p:cNvSpPr txBox="1"/>
          <p:nvPr/>
        </p:nvSpPr>
        <p:spPr>
          <a:xfrm>
            <a:off x="4953000" y="2286000"/>
            <a:ext cx="36831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300">
                <a:solidFill>
                  <a:srgbClr val="376DA5"/>
                </a:solidFill>
              </a:rPr>
              <a:t>Respuesta del sistema</a:t>
            </a:r>
            <a:endParaRPr b="1" sz="2300">
              <a:solidFill>
                <a:srgbClr val="376DA5"/>
              </a:solidFill>
            </a:endParaRPr>
          </a:p>
        </p:txBody>
      </p:sp>
      <p:sp>
        <p:nvSpPr>
          <p:cNvPr id="550" name="Google Shape;550;p28"/>
          <p:cNvSpPr txBox="1"/>
          <p:nvPr/>
        </p:nvSpPr>
        <p:spPr>
          <a:xfrm>
            <a:off x="596900" y="2882900"/>
            <a:ext cx="3581400" cy="1320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243744"/>
                </a:solidFill>
              </a:rPr>
              <a:t>Orientación y comportamiento</a:t>
            </a:r>
            <a:endParaRPr sz="2100">
              <a:solidFill>
                <a:srgbClr val="243744"/>
              </a:solidFill>
            </a:endParaRPr>
          </a:p>
          <a:p>
            <a:pPr indent="0" lvl="0" marL="0" rtl="0" algn="l">
              <a:lnSpc>
                <a:spcPct val="110000"/>
              </a:lnSpc>
              <a:spcBef>
                <a:spcPts val="0"/>
              </a:spcBef>
              <a:spcAft>
                <a:spcPts val="0"/>
              </a:spcAft>
              <a:buNone/>
            </a:pPr>
            <a:r>
              <a:t/>
            </a:r>
            <a:endParaRPr sz="2100">
              <a:solidFill>
                <a:srgbClr val="243744"/>
              </a:solidFill>
            </a:endParaRPr>
          </a:p>
          <a:p>
            <a:pPr indent="0" lvl="0" marL="0" rtl="0" algn="l">
              <a:lnSpc>
                <a:spcPct val="110000"/>
              </a:lnSpc>
              <a:spcBef>
                <a:spcPts val="0"/>
              </a:spcBef>
              <a:spcAft>
                <a:spcPts val="0"/>
              </a:spcAft>
              <a:buNone/>
            </a:pPr>
            <a:r>
              <a:rPr lang="es-419" sz="2100">
                <a:solidFill>
                  <a:srgbClr val="243744"/>
                </a:solidFill>
              </a:rPr>
              <a:t>Geometría y gas de la vejiga</a:t>
            </a:r>
            <a:endParaRPr sz="2100">
              <a:solidFill>
                <a:srgbClr val="243744"/>
              </a:solidFill>
            </a:endParaRPr>
          </a:p>
        </p:txBody>
      </p:sp>
      <p:sp>
        <p:nvSpPr>
          <p:cNvPr id="551" name="Google Shape;551;p28"/>
          <p:cNvSpPr txBox="1"/>
          <p:nvPr/>
        </p:nvSpPr>
        <p:spPr>
          <a:xfrm>
            <a:off x="4953000" y="2882900"/>
            <a:ext cx="3657600" cy="1320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243744"/>
                </a:solidFill>
              </a:rPr>
              <a:t>Calibración en profundidad</a:t>
            </a:r>
            <a:endParaRPr sz="2100">
              <a:solidFill>
                <a:srgbClr val="243744"/>
              </a:solidFill>
            </a:endParaRPr>
          </a:p>
          <a:p>
            <a:pPr indent="0" lvl="0" marL="0" rtl="0" algn="l">
              <a:lnSpc>
                <a:spcPct val="110000"/>
              </a:lnSpc>
              <a:spcBef>
                <a:spcPts val="0"/>
              </a:spcBef>
              <a:spcAft>
                <a:spcPts val="0"/>
              </a:spcAft>
              <a:buNone/>
            </a:pPr>
            <a:r>
              <a:t/>
            </a:r>
            <a:endParaRPr sz="2100">
              <a:solidFill>
                <a:srgbClr val="243744"/>
              </a:solidFill>
            </a:endParaRPr>
          </a:p>
          <a:p>
            <a:pPr indent="0" lvl="0" marL="0" rtl="0" algn="l">
              <a:lnSpc>
                <a:spcPct val="110000"/>
              </a:lnSpc>
              <a:spcBef>
                <a:spcPts val="0"/>
              </a:spcBef>
              <a:spcAft>
                <a:spcPts val="0"/>
              </a:spcAft>
              <a:buNone/>
            </a:pPr>
            <a:r>
              <a:rPr lang="es-419" sz="2100">
                <a:solidFill>
                  <a:srgbClr val="243744"/>
                </a:solidFill>
              </a:rPr>
              <a:t>Umbral, ruido y ecos aceptados</a:t>
            </a:r>
            <a:endParaRPr sz="2100">
              <a:solidFill>
                <a:srgbClr val="243744"/>
              </a:solidFill>
            </a:endParaRPr>
          </a:p>
        </p:txBody>
      </p:sp>
      <p:cxnSp>
        <p:nvCxnSpPr>
          <p:cNvPr id="552" name="Google Shape;552;p28"/>
          <p:cNvCxnSpPr/>
          <p:nvPr/>
        </p:nvCxnSpPr>
        <p:spPr>
          <a:xfrm>
            <a:off x="4546600" y="2209800"/>
            <a:ext cx="0" cy="2019300"/>
          </a:xfrm>
          <a:prstGeom prst="straightConnector1">
            <a:avLst/>
          </a:prstGeom>
          <a:noFill/>
          <a:ln cap="flat" cmpd="sng" w="12700">
            <a:solidFill>
              <a:srgbClr val="DCE4E8"/>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6" name="Shape 556"/>
        <p:cNvGrpSpPr/>
        <p:nvPr/>
      </p:nvGrpSpPr>
      <p:grpSpPr>
        <a:xfrm>
          <a:off x="0" y="0"/>
          <a:ext cx="0" cy="0"/>
          <a:chOff x="0" y="0"/>
          <a:chExt cx="0" cy="0"/>
        </a:xfrm>
      </p:grpSpPr>
      <p:sp>
        <p:nvSpPr>
          <p:cNvPr id="557" name="Google Shape;557;p29"/>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Qué permite concluir la evidencia disponible</a:t>
            </a:r>
            <a:endParaRPr b="1" sz="2900">
              <a:solidFill>
                <a:srgbClr val="16324F"/>
              </a:solidFill>
            </a:endParaRPr>
          </a:p>
        </p:txBody>
      </p:sp>
      <p:cxnSp>
        <p:nvCxnSpPr>
          <p:cNvPr id="558" name="Google Shape;558;p29"/>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59" name="Google Shape;559;p29"/>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Fuente: ACU-IND-01 (2026), discusión y limitaciones; McQuinn y Winger (2003); Gorska y Ona (2003); Fujino et al. (2009).</a:t>
            </a:r>
            <a:endParaRPr sz="980">
              <a:solidFill>
                <a:srgbClr val="53616D"/>
              </a:solidFill>
            </a:endParaRPr>
          </a:p>
        </p:txBody>
      </p:sp>
      <p:sp>
        <p:nvSpPr>
          <p:cNvPr id="560" name="Google Shape;560;p29"/>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17</a:t>
            </a:r>
            <a:endParaRPr sz="1000">
              <a:solidFill>
                <a:srgbClr val="53616D"/>
              </a:solidFill>
            </a:endParaRPr>
          </a:p>
        </p:txBody>
      </p:sp>
      <p:sp>
        <p:nvSpPr>
          <p:cNvPr id="561" name="Google Shape;561;p29"/>
          <p:cNvSpPr txBox="1"/>
          <p:nvPr/>
        </p:nvSpPr>
        <p:spPr>
          <a:xfrm>
            <a:off x="546100" y="1333500"/>
            <a:ext cx="27051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100">
                <a:solidFill>
                  <a:srgbClr val="16324F"/>
                </a:solidFill>
              </a:rPr>
              <a:t>Orientación</a:t>
            </a:r>
            <a:endParaRPr b="1" sz="2100">
              <a:solidFill>
                <a:srgbClr val="16324F"/>
              </a:solidFill>
            </a:endParaRPr>
          </a:p>
        </p:txBody>
      </p:sp>
      <p:sp>
        <p:nvSpPr>
          <p:cNvPr id="562" name="Google Shape;562;p29"/>
          <p:cNvSpPr txBox="1"/>
          <p:nvPr/>
        </p:nvSpPr>
        <p:spPr>
          <a:xfrm>
            <a:off x="3429000" y="1320800"/>
            <a:ext cx="5207100" cy="800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900">
                <a:solidFill>
                  <a:srgbClr val="243744"/>
                </a:solidFill>
              </a:rPr>
              <a:t>Efectos medidos; trayectoria no equivale siempre a postura corporal.</a:t>
            </a:r>
            <a:endParaRPr sz="1900">
              <a:solidFill>
                <a:srgbClr val="243744"/>
              </a:solidFill>
            </a:endParaRPr>
          </a:p>
        </p:txBody>
      </p:sp>
      <p:cxnSp>
        <p:nvCxnSpPr>
          <p:cNvPr id="563" name="Google Shape;563;p29"/>
          <p:cNvCxnSpPr/>
          <p:nvPr/>
        </p:nvCxnSpPr>
        <p:spPr>
          <a:xfrm>
            <a:off x="558800" y="2171700"/>
            <a:ext cx="8026500" cy="0"/>
          </a:xfrm>
          <a:prstGeom prst="straightConnector1">
            <a:avLst/>
          </a:prstGeom>
          <a:noFill/>
          <a:ln cap="flat" cmpd="sng" w="10150">
            <a:solidFill>
              <a:srgbClr val="DCE4E8"/>
            </a:solidFill>
            <a:prstDash val="solid"/>
            <a:round/>
            <a:headEnd len="med" w="med" type="none"/>
            <a:tailEnd len="med" w="med" type="none"/>
          </a:ln>
        </p:spPr>
      </p:cxnSp>
      <p:sp>
        <p:nvSpPr>
          <p:cNvPr id="564" name="Google Shape;564;p29"/>
          <p:cNvSpPr txBox="1"/>
          <p:nvPr/>
        </p:nvSpPr>
        <p:spPr>
          <a:xfrm>
            <a:off x="546100" y="2336800"/>
            <a:ext cx="27051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100">
                <a:solidFill>
                  <a:srgbClr val="16324F"/>
                </a:solidFill>
              </a:rPr>
              <a:t>Profundidad y presión</a:t>
            </a:r>
            <a:endParaRPr b="1" sz="2100">
              <a:solidFill>
                <a:srgbClr val="16324F"/>
              </a:solidFill>
            </a:endParaRPr>
          </a:p>
        </p:txBody>
      </p:sp>
      <p:sp>
        <p:nvSpPr>
          <p:cNvPr id="565" name="Google Shape;565;p29"/>
          <p:cNvSpPr txBox="1"/>
          <p:nvPr/>
        </p:nvSpPr>
        <p:spPr>
          <a:xfrm>
            <a:off x="3429000" y="2324100"/>
            <a:ext cx="5207100" cy="800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900">
                <a:solidFill>
                  <a:srgbClr val="243744"/>
                </a:solidFill>
              </a:rPr>
              <a:t>Signo condicionado al régimen; faltan ensayos controlados en fisóclistos.</a:t>
            </a:r>
            <a:endParaRPr sz="1900">
              <a:solidFill>
                <a:srgbClr val="243744"/>
              </a:solidFill>
            </a:endParaRPr>
          </a:p>
        </p:txBody>
      </p:sp>
      <p:cxnSp>
        <p:nvCxnSpPr>
          <p:cNvPr id="566" name="Google Shape;566;p29"/>
          <p:cNvCxnSpPr/>
          <p:nvPr/>
        </p:nvCxnSpPr>
        <p:spPr>
          <a:xfrm>
            <a:off x="558800" y="3175000"/>
            <a:ext cx="8026500" cy="0"/>
          </a:xfrm>
          <a:prstGeom prst="straightConnector1">
            <a:avLst/>
          </a:prstGeom>
          <a:noFill/>
          <a:ln cap="flat" cmpd="sng" w="10150">
            <a:solidFill>
              <a:srgbClr val="DCE4E8"/>
            </a:solidFill>
            <a:prstDash val="solid"/>
            <a:round/>
            <a:headEnd len="med" w="med" type="none"/>
            <a:tailEnd len="med" w="med" type="none"/>
          </a:ln>
        </p:spPr>
      </p:cxnSp>
      <p:sp>
        <p:nvSpPr>
          <p:cNvPr id="567" name="Google Shape;567;p29"/>
          <p:cNvSpPr txBox="1"/>
          <p:nvPr/>
        </p:nvSpPr>
        <p:spPr>
          <a:xfrm>
            <a:off x="546100" y="3340100"/>
            <a:ext cx="27051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100">
                <a:solidFill>
                  <a:srgbClr val="16324F"/>
                </a:solidFill>
              </a:rPr>
              <a:t>Alcance de la revisión</a:t>
            </a:r>
            <a:endParaRPr b="1" sz="2100">
              <a:solidFill>
                <a:srgbClr val="16324F"/>
              </a:solidFill>
            </a:endParaRPr>
          </a:p>
        </p:txBody>
      </p:sp>
      <p:sp>
        <p:nvSpPr>
          <p:cNvPr id="568" name="Google Shape;568;p29"/>
          <p:cNvSpPr txBox="1"/>
          <p:nvPr/>
        </p:nvSpPr>
        <p:spPr>
          <a:xfrm>
            <a:off x="3429000" y="3327400"/>
            <a:ext cx="5207100" cy="800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1900">
                <a:solidFill>
                  <a:srgbClr val="243744"/>
                </a:solidFill>
              </a:rPr>
              <a:t>59 candidatos pendientes; métricas heterogéneas y registro PRISMA incompleto.</a:t>
            </a:r>
            <a:endParaRPr sz="1900">
              <a:solidFill>
                <a:srgbClr val="24374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2" name="Shape 572"/>
        <p:cNvGrpSpPr/>
        <p:nvPr/>
      </p:nvGrpSpPr>
      <p:grpSpPr>
        <a:xfrm>
          <a:off x="0" y="0"/>
          <a:ext cx="0" cy="0"/>
          <a:chOff x="0" y="0"/>
          <a:chExt cx="0" cy="0"/>
        </a:xfrm>
      </p:grpSpPr>
      <p:sp>
        <p:nvSpPr>
          <p:cNvPr id="573" name="Google Shape;573;p30"/>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Conclusiones y próximos pasos</a:t>
            </a:r>
            <a:endParaRPr b="1" sz="2900">
              <a:solidFill>
                <a:srgbClr val="16324F"/>
              </a:solidFill>
            </a:endParaRPr>
          </a:p>
        </p:txBody>
      </p:sp>
      <p:cxnSp>
        <p:nvCxnSpPr>
          <p:cNvPr id="574" name="Google Shape;574;p30"/>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75" name="Google Shape;575;p30"/>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Foote (1987); McQuinn y Winger (2003); Gorska y Ona (2003); Fujino et al. (2009); Ona et al. (2020).</a:t>
            </a:r>
            <a:endParaRPr sz="980">
              <a:solidFill>
                <a:srgbClr val="53616D"/>
              </a:solidFill>
            </a:endParaRPr>
          </a:p>
        </p:txBody>
      </p:sp>
      <p:sp>
        <p:nvSpPr>
          <p:cNvPr id="576" name="Google Shape;576;p30"/>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18</a:t>
            </a:r>
            <a:endParaRPr sz="1000">
              <a:solidFill>
                <a:srgbClr val="53616D"/>
              </a:solidFill>
            </a:endParaRPr>
          </a:p>
        </p:txBody>
      </p:sp>
      <p:sp>
        <p:nvSpPr>
          <p:cNvPr id="577" name="Google Shape;577;p30"/>
          <p:cNvSpPr txBox="1"/>
          <p:nvPr/>
        </p:nvSpPr>
        <p:spPr>
          <a:xfrm>
            <a:off x="558800" y="1320800"/>
            <a:ext cx="8051700" cy="762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600">
                <a:solidFill>
                  <a:srgbClr val="16324F"/>
                </a:solidFill>
              </a:rPr>
              <a:t>La orientación cambia el eco; la profundidad puede aumentarlo o reducirlo.</a:t>
            </a:r>
            <a:endParaRPr b="1" sz="2600">
              <a:solidFill>
                <a:srgbClr val="16324F"/>
              </a:solidFill>
            </a:endParaRPr>
          </a:p>
        </p:txBody>
      </p:sp>
      <p:sp>
        <p:nvSpPr>
          <p:cNvPr id="578" name="Google Shape;578;p30"/>
          <p:cNvSpPr txBox="1"/>
          <p:nvPr/>
        </p:nvSpPr>
        <p:spPr>
          <a:xfrm>
            <a:off x="584200" y="2349500"/>
            <a:ext cx="8001000" cy="69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400">
                <a:solidFill>
                  <a:srgbClr val="147D88"/>
                </a:solidFill>
              </a:rPr>
              <a:t>Una diferencia de 3 dB cambia la abundancia por un factor ≈ 2.</a:t>
            </a:r>
            <a:endParaRPr b="1" sz="2400">
              <a:solidFill>
                <a:srgbClr val="147D88"/>
              </a:solidFill>
            </a:endParaRPr>
          </a:p>
        </p:txBody>
      </p:sp>
      <p:cxnSp>
        <p:nvCxnSpPr>
          <p:cNvPr id="579" name="Google Shape;579;p30"/>
          <p:cNvCxnSpPr/>
          <p:nvPr/>
        </p:nvCxnSpPr>
        <p:spPr>
          <a:xfrm>
            <a:off x="571500" y="3276600"/>
            <a:ext cx="8026500" cy="0"/>
          </a:xfrm>
          <a:prstGeom prst="straightConnector1">
            <a:avLst/>
          </a:prstGeom>
          <a:noFill/>
          <a:ln cap="flat" cmpd="sng" w="12700">
            <a:solidFill>
              <a:srgbClr val="DCE4E8"/>
            </a:solidFill>
            <a:prstDash val="solid"/>
            <a:round/>
            <a:headEnd len="med" w="med" type="none"/>
            <a:tailEnd len="med" w="med" type="none"/>
          </a:ln>
        </p:spPr>
      </p:cxnSp>
      <p:sp>
        <p:nvSpPr>
          <p:cNvPr id="580" name="Google Shape;580;p30"/>
          <p:cNvSpPr txBox="1"/>
          <p:nvPr/>
        </p:nvSpPr>
        <p:spPr>
          <a:xfrm>
            <a:off x="584200" y="3505200"/>
            <a:ext cx="8127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1900">
                <a:solidFill>
                  <a:srgbClr val="16324F"/>
                </a:solidFill>
              </a:rPr>
              <a:t>Medir conjuntamente</a:t>
            </a:r>
            <a:endParaRPr b="1" sz="1900">
              <a:solidFill>
                <a:srgbClr val="16324F"/>
              </a:solidFill>
            </a:endParaRPr>
          </a:p>
        </p:txBody>
      </p:sp>
      <p:sp>
        <p:nvSpPr>
          <p:cNvPr id="581" name="Google Shape;581;p30"/>
          <p:cNvSpPr txBox="1"/>
          <p:nvPr/>
        </p:nvSpPr>
        <p:spPr>
          <a:xfrm>
            <a:off x="584200" y="3924300"/>
            <a:ext cx="8140800" cy="609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2100">
                <a:solidFill>
                  <a:srgbClr val="243744"/>
                </a:solidFill>
              </a:rPr>
              <a:t>TS, postura, talla y profundidad, con calibración en la profundidad de trabajo.</a:t>
            </a:r>
            <a:endParaRPr sz="2100">
              <a:solidFill>
                <a:srgbClr val="24374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31"/>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Referencias 1 de 5</a:t>
            </a:r>
            <a:endParaRPr b="1" sz="2900">
              <a:solidFill>
                <a:srgbClr val="16324F"/>
              </a:solidFill>
            </a:endParaRPr>
          </a:p>
        </p:txBody>
      </p:sp>
      <p:cxnSp>
        <p:nvCxnSpPr>
          <p:cNvPr id="587" name="Google Shape;587;p31"/>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88" name="Google Shape;588;p31"/>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Referencias citadas en las diapositivas · APA 7</a:t>
            </a:r>
            <a:endParaRPr sz="980">
              <a:solidFill>
                <a:srgbClr val="53616D"/>
              </a:solidFill>
            </a:endParaRPr>
          </a:p>
        </p:txBody>
      </p:sp>
      <p:sp>
        <p:nvSpPr>
          <p:cNvPr id="589" name="Google Shape;589;p31"/>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19</a:t>
            </a:r>
            <a:endParaRPr sz="1000">
              <a:solidFill>
                <a:srgbClr val="53616D"/>
              </a:solidFill>
            </a:endParaRPr>
          </a:p>
        </p:txBody>
      </p:sp>
      <p:sp>
        <p:nvSpPr>
          <p:cNvPr id="590" name="Google Shape;590;p31"/>
          <p:cNvSpPr txBox="1"/>
          <p:nvPr/>
        </p:nvSpPr>
        <p:spPr>
          <a:xfrm>
            <a:off x="508000" y="12065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Bertrand, A., Josse, E., &amp; Massé, J. (1999). In situ acoustic target-strength measurement of bigeye (</a:t>
            </a:r>
            <a:r>
              <a:rPr i="1" lang="es-419" sz="1210">
                <a:solidFill>
                  <a:srgbClr val="243744"/>
                </a:solidFill>
              </a:rPr>
              <a:t>Thunnus obesus</a:t>
            </a:r>
            <a:r>
              <a:rPr lang="es-419" sz="1210">
                <a:solidFill>
                  <a:srgbClr val="243744"/>
                </a:solidFill>
              </a:rPr>
              <a:t>) and yellowfin tuna (</a:t>
            </a:r>
            <a:r>
              <a:rPr i="1" lang="es-419" sz="1210">
                <a:solidFill>
                  <a:srgbClr val="243744"/>
                </a:solidFill>
              </a:rPr>
              <a:t>Thunnus albacares</a:t>
            </a:r>
            <a:r>
              <a:rPr lang="es-419" sz="1210">
                <a:solidFill>
                  <a:srgbClr val="243744"/>
                </a:solidFill>
              </a:rPr>
              <a:t>) by coupling split-beam echosounder observations and sonic tracking. </a:t>
            </a:r>
            <a:r>
              <a:rPr i="1" lang="es-419" sz="1210">
                <a:solidFill>
                  <a:srgbClr val="243744"/>
                </a:solidFill>
              </a:rPr>
              <a:t>ICES Journal of Marine Science, 56</a:t>
            </a:r>
            <a:r>
              <a:rPr lang="es-419" sz="1210">
                <a:solidFill>
                  <a:srgbClr val="243744"/>
                </a:solidFill>
              </a:rPr>
              <a:t>(1), 51–60. </a:t>
            </a:r>
            <a:r>
              <a:rPr lang="es-419" sz="1210" u="sng">
                <a:solidFill>
                  <a:schemeClr val="hlink"/>
                </a:solidFill>
                <a:hlinkClick r:id="rId3"/>
              </a:rPr>
              <a:t>https://doi.org/10.1006/jmsc.1998.0430</a:t>
            </a:r>
            <a:endParaRPr sz="1210">
              <a:solidFill>
                <a:srgbClr val="243744"/>
              </a:solidFill>
            </a:endParaRPr>
          </a:p>
        </p:txBody>
      </p:sp>
      <p:sp>
        <p:nvSpPr>
          <p:cNvPr id="591" name="Google Shape;591;p31"/>
          <p:cNvSpPr txBox="1"/>
          <p:nvPr/>
        </p:nvSpPr>
        <p:spPr>
          <a:xfrm>
            <a:off x="508000" y="23368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Castillo, P. R., Peña, C., Grados, D., La Cruz, L., Valdez, C., Pozada-Herrera, M., &amp; Cornejo, R. (2022). Characteristics of anchoveta (</a:t>
            </a:r>
            <a:r>
              <a:rPr i="1" lang="es-419" sz="1210">
                <a:solidFill>
                  <a:srgbClr val="243744"/>
                </a:solidFill>
              </a:rPr>
              <a:t>Engraulis ringens</a:t>
            </a:r>
            <a:r>
              <a:rPr lang="es-419" sz="1210">
                <a:solidFill>
                  <a:srgbClr val="243744"/>
                </a:solidFill>
              </a:rPr>
              <a:t>) schools in the optimum zone and the physiological stress zone of its distribution between 2011 and 2021. </a:t>
            </a:r>
            <a:r>
              <a:rPr i="1" lang="es-419" sz="1210">
                <a:solidFill>
                  <a:srgbClr val="243744"/>
                </a:solidFill>
              </a:rPr>
              <a:t>Fisheries Oceanography, 31</a:t>
            </a:r>
            <a:r>
              <a:rPr lang="es-419" sz="1210">
                <a:solidFill>
                  <a:srgbClr val="243744"/>
                </a:solidFill>
              </a:rPr>
              <a:t>(5), 510–523. </a:t>
            </a:r>
            <a:r>
              <a:rPr lang="es-419" sz="1210" u="sng">
                <a:solidFill>
                  <a:schemeClr val="hlink"/>
                </a:solidFill>
                <a:hlinkClick r:id="rId4"/>
              </a:rPr>
              <a:t>https://doi.org/10.1111/fog.12601</a:t>
            </a:r>
            <a:endParaRPr sz="1210">
              <a:solidFill>
                <a:srgbClr val="243744"/>
              </a:solidFill>
            </a:endParaRPr>
          </a:p>
        </p:txBody>
      </p:sp>
      <p:sp>
        <p:nvSpPr>
          <p:cNvPr id="592" name="Google Shape;592;p31"/>
          <p:cNvSpPr txBox="1"/>
          <p:nvPr/>
        </p:nvSpPr>
        <p:spPr>
          <a:xfrm>
            <a:off x="508000" y="34671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Foote, K. G. (1980). Averaging of fish target strength functions. </a:t>
            </a:r>
            <a:r>
              <a:rPr i="1" lang="es-419" sz="1210">
                <a:solidFill>
                  <a:srgbClr val="243744"/>
                </a:solidFill>
              </a:rPr>
              <a:t>The Journal of the Acoustical Society of America, 67</a:t>
            </a:r>
            <a:r>
              <a:rPr lang="es-419" sz="1210">
                <a:solidFill>
                  <a:srgbClr val="243744"/>
                </a:solidFill>
              </a:rPr>
              <a:t>(2), 504–515. </a:t>
            </a:r>
            <a:r>
              <a:rPr lang="es-419" sz="1210" u="sng">
                <a:solidFill>
                  <a:schemeClr val="hlink"/>
                </a:solidFill>
                <a:hlinkClick r:id="rId5"/>
              </a:rPr>
              <a:t>https://doi.org/10.1121/1.383915</a:t>
            </a:r>
            <a:endParaRPr sz="1210">
              <a:solidFill>
                <a:srgbClr val="243744"/>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sp>
        <p:nvSpPr>
          <p:cNvPr id="597" name="Google Shape;597;p32"/>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Referencias 2 de 5</a:t>
            </a:r>
            <a:endParaRPr b="1" sz="2900">
              <a:solidFill>
                <a:srgbClr val="16324F"/>
              </a:solidFill>
            </a:endParaRPr>
          </a:p>
        </p:txBody>
      </p:sp>
      <p:cxnSp>
        <p:nvCxnSpPr>
          <p:cNvPr id="598" name="Google Shape;598;p32"/>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599" name="Google Shape;599;p32"/>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Referencias citadas en las diapositivas · APA 7</a:t>
            </a:r>
            <a:endParaRPr sz="980">
              <a:solidFill>
                <a:srgbClr val="53616D"/>
              </a:solidFill>
            </a:endParaRPr>
          </a:p>
        </p:txBody>
      </p:sp>
      <p:sp>
        <p:nvSpPr>
          <p:cNvPr id="600" name="Google Shape;600;p32"/>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20</a:t>
            </a:r>
            <a:endParaRPr sz="1000">
              <a:solidFill>
                <a:srgbClr val="53616D"/>
              </a:solidFill>
            </a:endParaRPr>
          </a:p>
        </p:txBody>
      </p:sp>
      <p:sp>
        <p:nvSpPr>
          <p:cNvPr id="601" name="Google Shape;601;p32"/>
          <p:cNvSpPr txBox="1"/>
          <p:nvPr/>
        </p:nvSpPr>
        <p:spPr>
          <a:xfrm>
            <a:off x="508000" y="12065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Foote, K. G. (1985). Rather-high-frequency sound scattering by swimbladdered fish. </a:t>
            </a:r>
            <a:r>
              <a:rPr i="1" lang="es-419" sz="1210">
                <a:solidFill>
                  <a:srgbClr val="243744"/>
                </a:solidFill>
              </a:rPr>
              <a:t>The Journal of the Acoustical Society of America, 78</a:t>
            </a:r>
            <a:r>
              <a:rPr lang="es-419" sz="1210">
                <a:solidFill>
                  <a:srgbClr val="243744"/>
                </a:solidFill>
              </a:rPr>
              <a:t>(2), 688–700. </a:t>
            </a:r>
            <a:r>
              <a:rPr lang="es-419" sz="1210" u="sng">
                <a:solidFill>
                  <a:schemeClr val="hlink"/>
                </a:solidFill>
                <a:hlinkClick r:id="rId3"/>
              </a:rPr>
              <a:t>https://doi.org/10.1121/1.392438</a:t>
            </a:r>
            <a:endParaRPr sz="1210">
              <a:solidFill>
                <a:srgbClr val="243744"/>
              </a:solidFill>
            </a:endParaRPr>
          </a:p>
        </p:txBody>
      </p:sp>
      <p:sp>
        <p:nvSpPr>
          <p:cNvPr id="602" name="Google Shape;602;p32"/>
          <p:cNvSpPr txBox="1"/>
          <p:nvPr/>
        </p:nvSpPr>
        <p:spPr>
          <a:xfrm>
            <a:off x="508000" y="23368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Foote, K. G. (1987). Fish target strengths for use in echo integrator surveys. </a:t>
            </a:r>
            <a:r>
              <a:rPr i="1" lang="es-419" sz="1210">
                <a:solidFill>
                  <a:srgbClr val="243744"/>
                </a:solidFill>
              </a:rPr>
              <a:t>The Journal of the Acoustical Society of America, 82</a:t>
            </a:r>
            <a:r>
              <a:rPr lang="es-419" sz="1210">
                <a:solidFill>
                  <a:srgbClr val="243744"/>
                </a:solidFill>
              </a:rPr>
              <a:t>(3), 981–987. </a:t>
            </a:r>
            <a:r>
              <a:rPr lang="es-419" sz="1210" u="sng">
                <a:solidFill>
                  <a:schemeClr val="hlink"/>
                </a:solidFill>
                <a:hlinkClick r:id="rId4"/>
              </a:rPr>
              <a:t>https://doi.org/10.1121/1.395298</a:t>
            </a:r>
            <a:endParaRPr sz="1210">
              <a:solidFill>
                <a:srgbClr val="243744"/>
              </a:solidFill>
            </a:endParaRPr>
          </a:p>
        </p:txBody>
      </p:sp>
      <p:sp>
        <p:nvSpPr>
          <p:cNvPr id="603" name="Google Shape;603;p32"/>
          <p:cNvSpPr txBox="1"/>
          <p:nvPr/>
        </p:nvSpPr>
        <p:spPr>
          <a:xfrm>
            <a:off x="508000" y="34671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Fujino, T., Sadayasu, K., Abe, K., Kidokoro, H., Tian, Y., Yasuma, H., &amp; Miyashita, K. (2009). Swimbladder morphology and target strength of a mesopelagic fish, </a:t>
            </a:r>
            <a:r>
              <a:rPr i="1" lang="es-419" sz="1210">
                <a:solidFill>
                  <a:srgbClr val="243744"/>
                </a:solidFill>
              </a:rPr>
              <a:t>Maurolicus japonicus</a:t>
            </a:r>
            <a:r>
              <a:rPr lang="es-419" sz="1210">
                <a:solidFill>
                  <a:srgbClr val="243744"/>
                </a:solidFill>
              </a:rPr>
              <a:t>. </a:t>
            </a:r>
            <a:r>
              <a:rPr i="1" lang="es-419" sz="1210">
                <a:solidFill>
                  <a:srgbClr val="243744"/>
                </a:solidFill>
              </a:rPr>
              <a:t>Journal of the Marine Acoustics Society of Japan, 36</a:t>
            </a:r>
            <a:r>
              <a:rPr lang="es-419" sz="1210">
                <a:solidFill>
                  <a:srgbClr val="243744"/>
                </a:solidFill>
              </a:rPr>
              <a:t>(4), 241–249. </a:t>
            </a:r>
            <a:r>
              <a:rPr lang="es-419" sz="1210" u="sng">
                <a:solidFill>
                  <a:schemeClr val="hlink"/>
                </a:solidFill>
                <a:hlinkClick r:id="rId5"/>
              </a:rPr>
              <a:t>https://doi.org/10.3135/jmasj.36.241</a:t>
            </a:r>
            <a:endParaRPr sz="1210">
              <a:solidFill>
                <a:srgbClr val="24374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33"/>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Referencias 3 de 5</a:t>
            </a:r>
            <a:endParaRPr b="1" sz="2900">
              <a:solidFill>
                <a:srgbClr val="16324F"/>
              </a:solidFill>
            </a:endParaRPr>
          </a:p>
        </p:txBody>
      </p:sp>
      <p:cxnSp>
        <p:nvCxnSpPr>
          <p:cNvPr id="609" name="Google Shape;609;p33"/>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610" name="Google Shape;610;p33"/>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Referencias citadas en las diapositivas · APA 7</a:t>
            </a:r>
            <a:endParaRPr sz="980">
              <a:solidFill>
                <a:srgbClr val="53616D"/>
              </a:solidFill>
            </a:endParaRPr>
          </a:p>
        </p:txBody>
      </p:sp>
      <p:sp>
        <p:nvSpPr>
          <p:cNvPr id="611" name="Google Shape;611;p33"/>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21</a:t>
            </a:r>
            <a:endParaRPr sz="1000">
              <a:solidFill>
                <a:srgbClr val="53616D"/>
              </a:solidFill>
            </a:endParaRPr>
          </a:p>
        </p:txBody>
      </p:sp>
      <p:sp>
        <p:nvSpPr>
          <p:cNvPr id="612" name="Google Shape;612;p33"/>
          <p:cNvSpPr txBox="1"/>
          <p:nvPr/>
        </p:nvSpPr>
        <p:spPr>
          <a:xfrm>
            <a:off x="508000" y="12065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Gauthier, S., &amp; Horne, J. K. (2004). Acoustic characteristics of forage fish species in the Gulf of Alaska and Bering Sea based on Kirchhoff-approximation models. </a:t>
            </a:r>
            <a:r>
              <a:rPr i="1" lang="es-419" sz="1210">
                <a:solidFill>
                  <a:srgbClr val="243744"/>
                </a:solidFill>
              </a:rPr>
              <a:t>Canadian Journal of Fisheries and Aquatic Sciences, 61</a:t>
            </a:r>
            <a:r>
              <a:rPr lang="es-419" sz="1210">
                <a:solidFill>
                  <a:srgbClr val="243744"/>
                </a:solidFill>
              </a:rPr>
              <a:t>(10), 1839–1850. </a:t>
            </a:r>
            <a:r>
              <a:rPr lang="es-419" sz="1210" u="sng">
                <a:solidFill>
                  <a:schemeClr val="hlink"/>
                </a:solidFill>
                <a:hlinkClick r:id="rId3"/>
              </a:rPr>
              <a:t>https://doi.org/10.1139/f04-117</a:t>
            </a:r>
            <a:endParaRPr sz="1210">
              <a:solidFill>
                <a:srgbClr val="243744"/>
              </a:solidFill>
            </a:endParaRPr>
          </a:p>
        </p:txBody>
      </p:sp>
      <p:sp>
        <p:nvSpPr>
          <p:cNvPr id="613" name="Google Shape;613;p33"/>
          <p:cNvSpPr txBox="1"/>
          <p:nvPr/>
        </p:nvSpPr>
        <p:spPr>
          <a:xfrm>
            <a:off x="508000" y="23368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Gorska, N., &amp; Ona, E. (2003). Modelling the acoustic effect of swimbladder compression in herring. </a:t>
            </a:r>
            <a:r>
              <a:rPr i="1" lang="es-419" sz="1210">
                <a:solidFill>
                  <a:srgbClr val="243744"/>
                </a:solidFill>
              </a:rPr>
              <a:t>ICES Journal of Marine Science, 60</a:t>
            </a:r>
            <a:r>
              <a:rPr lang="es-419" sz="1210">
                <a:solidFill>
                  <a:srgbClr val="243744"/>
                </a:solidFill>
              </a:rPr>
              <a:t>(3), 548–554. </a:t>
            </a:r>
            <a:r>
              <a:rPr lang="es-419" sz="1210" u="sng">
                <a:solidFill>
                  <a:schemeClr val="hlink"/>
                </a:solidFill>
                <a:hlinkClick r:id="rId4"/>
              </a:rPr>
              <a:t>https://doi.org/10.1016/S1054-3139(03)00050-X</a:t>
            </a:r>
            <a:endParaRPr sz="1210">
              <a:solidFill>
                <a:srgbClr val="243744"/>
              </a:solidFill>
            </a:endParaRPr>
          </a:p>
        </p:txBody>
      </p:sp>
      <p:sp>
        <p:nvSpPr>
          <p:cNvPr id="614" name="Google Shape;614;p33"/>
          <p:cNvSpPr txBox="1"/>
          <p:nvPr/>
        </p:nvSpPr>
        <p:spPr>
          <a:xfrm>
            <a:off x="508000" y="34671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Henderson, M. J., &amp; Horne, J. K. (2007). Comparison of in situ, ex situ, and backscatter model estimates of Pacific hake (</a:t>
            </a:r>
            <a:r>
              <a:rPr i="1" lang="es-419" sz="1210">
                <a:solidFill>
                  <a:srgbClr val="243744"/>
                </a:solidFill>
              </a:rPr>
              <a:t>Merluccius productus</a:t>
            </a:r>
            <a:r>
              <a:rPr lang="es-419" sz="1210">
                <a:solidFill>
                  <a:srgbClr val="243744"/>
                </a:solidFill>
              </a:rPr>
              <a:t>) target strength. </a:t>
            </a:r>
            <a:r>
              <a:rPr i="1" lang="es-419" sz="1210">
                <a:solidFill>
                  <a:srgbClr val="243744"/>
                </a:solidFill>
              </a:rPr>
              <a:t>Canadian Journal of Fisheries and Aquatic Sciences, 64</a:t>
            </a:r>
            <a:r>
              <a:rPr lang="es-419" sz="1210">
                <a:solidFill>
                  <a:srgbClr val="243744"/>
                </a:solidFill>
              </a:rPr>
              <a:t>(12), 1781–1794. </a:t>
            </a:r>
            <a:r>
              <a:rPr lang="es-419" sz="1210" u="sng">
                <a:solidFill>
                  <a:schemeClr val="hlink"/>
                </a:solidFill>
                <a:hlinkClick r:id="rId5"/>
              </a:rPr>
              <a:t>https://doi.org/10.1139/F07-134</a:t>
            </a:r>
            <a:endParaRPr sz="1210">
              <a:solidFill>
                <a:srgbClr val="243744"/>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34"/>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Referencias 4 de 5</a:t>
            </a:r>
            <a:endParaRPr b="1" sz="2900">
              <a:solidFill>
                <a:srgbClr val="16324F"/>
              </a:solidFill>
            </a:endParaRPr>
          </a:p>
        </p:txBody>
      </p:sp>
      <p:cxnSp>
        <p:nvCxnSpPr>
          <p:cNvPr id="620" name="Google Shape;620;p34"/>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621" name="Google Shape;621;p34"/>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Referencias citadas en las diapositivas · APA 7</a:t>
            </a:r>
            <a:endParaRPr sz="980">
              <a:solidFill>
                <a:srgbClr val="53616D"/>
              </a:solidFill>
            </a:endParaRPr>
          </a:p>
        </p:txBody>
      </p:sp>
      <p:sp>
        <p:nvSpPr>
          <p:cNvPr id="622" name="Google Shape;622;p34"/>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22</a:t>
            </a:r>
            <a:endParaRPr sz="1000">
              <a:solidFill>
                <a:srgbClr val="53616D"/>
              </a:solidFill>
            </a:endParaRPr>
          </a:p>
        </p:txBody>
      </p:sp>
      <p:sp>
        <p:nvSpPr>
          <p:cNvPr id="623" name="Google Shape;623;p34"/>
          <p:cNvSpPr txBox="1"/>
          <p:nvPr/>
        </p:nvSpPr>
        <p:spPr>
          <a:xfrm>
            <a:off x="508000" y="12065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Kawauchi, Y., Minami, K., Shirakawa, H., Miyashita, K., Iwahara, Y., Tomiyasu, M., Kobayashi, M., Sakai, T., Shao, H., &amp; Nakagawa, M. (2019). Target strength measurement of free-swimming jack mackerel using an indoor large experimental tank. </a:t>
            </a:r>
            <a:r>
              <a:rPr i="1" lang="es-419" sz="1210">
                <a:solidFill>
                  <a:srgbClr val="243744"/>
                </a:solidFill>
              </a:rPr>
              <a:t>Nippon Suisan Gakkaishi, 85</a:t>
            </a:r>
            <a:r>
              <a:rPr lang="es-419" sz="1210">
                <a:solidFill>
                  <a:srgbClr val="243744"/>
                </a:solidFill>
              </a:rPr>
              <a:t>(1), 2–16. </a:t>
            </a:r>
            <a:r>
              <a:rPr lang="es-419" sz="1210" u="sng">
                <a:solidFill>
                  <a:schemeClr val="hlink"/>
                </a:solidFill>
                <a:hlinkClick r:id="rId3"/>
              </a:rPr>
              <a:t>https://doi.org/10.2331/suisan.18-00008</a:t>
            </a:r>
            <a:endParaRPr sz="1210">
              <a:solidFill>
                <a:srgbClr val="243744"/>
              </a:solidFill>
            </a:endParaRPr>
          </a:p>
        </p:txBody>
      </p:sp>
      <p:sp>
        <p:nvSpPr>
          <p:cNvPr id="624" name="Google Shape;624;p34"/>
          <p:cNvSpPr txBox="1"/>
          <p:nvPr/>
        </p:nvSpPr>
        <p:spPr>
          <a:xfrm>
            <a:off x="508000" y="23368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McQuinn, I. H., &amp; Winger, P. D. (2003). Tilt angle and target strength: Target tracking of Atlantic cod (</a:t>
            </a:r>
            <a:r>
              <a:rPr i="1" lang="es-419" sz="1210">
                <a:solidFill>
                  <a:srgbClr val="243744"/>
                </a:solidFill>
              </a:rPr>
              <a:t>Gadus morhua</a:t>
            </a:r>
            <a:r>
              <a:rPr lang="es-419" sz="1210">
                <a:solidFill>
                  <a:srgbClr val="243744"/>
                </a:solidFill>
              </a:rPr>
              <a:t>) during trawling. </a:t>
            </a:r>
            <a:r>
              <a:rPr i="1" lang="es-419" sz="1210">
                <a:solidFill>
                  <a:srgbClr val="243744"/>
                </a:solidFill>
              </a:rPr>
              <a:t>ICES Journal of Marine Science, 60</a:t>
            </a:r>
            <a:r>
              <a:rPr lang="es-419" sz="1210">
                <a:solidFill>
                  <a:srgbClr val="243744"/>
                </a:solidFill>
              </a:rPr>
              <a:t>(3), 575–583. </a:t>
            </a:r>
            <a:r>
              <a:rPr lang="es-419" sz="1210" u="sng">
                <a:solidFill>
                  <a:schemeClr val="hlink"/>
                </a:solidFill>
                <a:hlinkClick r:id="rId4"/>
              </a:rPr>
              <a:t>https://doi.org/10.1016/S1054-3139(03)00039-0</a:t>
            </a:r>
            <a:endParaRPr sz="1210">
              <a:solidFill>
                <a:srgbClr val="243744"/>
              </a:solidFill>
            </a:endParaRPr>
          </a:p>
        </p:txBody>
      </p:sp>
      <p:sp>
        <p:nvSpPr>
          <p:cNvPr id="625" name="Google Shape;625;p34"/>
          <p:cNvSpPr txBox="1"/>
          <p:nvPr/>
        </p:nvSpPr>
        <p:spPr>
          <a:xfrm>
            <a:off x="508000" y="34671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Nakken, O., &amp; Olsen, K. (1977). Target strength measurements of fish. </a:t>
            </a:r>
            <a:r>
              <a:rPr i="1" lang="es-419" sz="1210">
                <a:solidFill>
                  <a:srgbClr val="243744"/>
                </a:solidFill>
              </a:rPr>
              <a:t>Rapports et Procès-Verbaux des Réunions du Conseil International pour l'Exploration de la Mer, 170</a:t>
            </a:r>
            <a:r>
              <a:rPr lang="es-419" sz="1210">
                <a:solidFill>
                  <a:srgbClr val="243744"/>
                </a:solidFill>
              </a:rPr>
              <a:t>, 52–69.</a:t>
            </a:r>
            <a:endParaRPr sz="1210">
              <a:solidFill>
                <a:srgbClr val="243744"/>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sp>
        <p:nvSpPr>
          <p:cNvPr id="630" name="Google Shape;630;p35"/>
          <p:cNvSpPr txBox="1"/>
          <p:nvPr/>
        </p:nvSpPr>
        <p:spPr>
          <a:xfrm>
            <a:off x="406400" y="304800"/>
            <a:ext cx="83313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s-419" sz="2900">
                <a:solidFill>
                  <a:srgbClr val="16324F"/>
                </a:solidFill>
              </a:rPr>
              <a:t>Referencias 5 de 5</a:t>
            </a:r>
            <a:endParaRPr b="1" sz="2900">
              <a:solidFill>
                <a:srgbClr val="16324F"/>
              </a:solidFill>
            </a:endParaRPr>
          </a:p>
        </p:txBody>
      </p:sp>
      <p:cxnSp>
        <p:nvCxnSpPr>
          <p:cNvPr id="631" name="Google Shape;631;p35"/>
          <p:cNvCxnSpPr/>
          <p:nvPr/>
        </p:nvCxnSpPr>
        <p:spPr>
          <a:xfrm>
            <a:off x="457200" y="1041400"/>
            <a:ext cx="8229600" cy="0"/>
          </a:xfrm>
          <a:prstGeom prst="straightConnector1">
            <a:avLst/>
          </a:prstGeom>
          <a:noFill/>
          <a:ln cap="flat" cmpd="sng" w="10150">
            <a:solidFill>
              <a:srgbClr val="DCE4E8"/>
            </a:solidFill>
            <a:prstDash val="solid"/>
            <a:round/>
            <a:headEnd len="med" w="med" type="none"/>
            <a:tailEnd len="med" w="med" type="none"/>
          </a:ln>
        </p:spPr>
      </p:cxnSp>
      <p:sp>
        <p:nvSpPr>
          <p:cNvPr id="632" name="Google Shape;632;p35"/>
          <p:cNvSpPr txBox="1"/>
          <p:nvPr/>
        </p:nvSpPr>
        <p:spPr>
          <a:xfrm>
            <a:off x="431800" y="4686300"/>
            <a:ext cx="81027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s-419" sz="980">
                <a:solidFill>
                  <a:srgbClr val="53616D"/>
                </a:solidFill>
              </a:rPr>
              <a:t>Referencias citadas en las diapositivas · APA 7</a:t>
            </a:r>
            <a:endParaRPr sz="980">
              <a:solidFill>
                <a:srgbClr val="53616D"/>
              </a:solidFill>
            </a:endParaRPr>
          </a:p>
        </p:txBody>
      </p:sp>
      <p:sp>
        <p:nvSpPr>
          <p:cNvPr id="633" name="Google Shape;633;p35"/>
          <p:cNvSpPr txBox="1"/>
          <p:nvPr/>
        </p:nvSpPr>
        <p:spPr>
          <a:xfrm>
            <a:off x="8559800" y="4737100"/>
            <a:ext cx="3555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s-419" sz="1000">
                <a:solidFill>
                  <a:srgbClr val="53616D"/>
                </a:solidFill>
              </a:rPr>
              <a:t>23</a:t>
            </a:r>
            <a:endParaRPr sz="1000">
              <a:solidFill>
                <a:srgbClr val="53616D"/>
              </a:solidFill>
            </a:endParaRPr>
          </a:p>
        </p:txBody>
      </p:sp>
      <p:sp>
        <p:nvSpPr>
          <p:cNvPr id="634" name="Google Shape;634;p35"/>
          <p:cNvSpPr txBox="1"/>
          <p:nvPr/>
        </p:nvSpPr>
        <p:spPr>
          <a:xfrm>
            <a:off x="508000" y="12065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Ona, E., Zhang, G., Pedersen, G., &amp; Johnsen, E. (2020). In situ calibration of observatory broadband echosounders. </a:t>
            </a:r>
            <a:r>
              <a:rPr i="1" lang="es-419" sz="1210">
                <a:solidFill>
                  <a:srgbClr val="243744"/>
                </a:solidFill>
              </a:rPr>
              <a:t>ICES Journal of Marine Science, 77</a:t>
            </a:r>
            <a:r>
              <a:rPr lang="es-419" sz="1210">
                <a:solidFill>
                  <a:srgbClr val="243744"/>
                </a:solidFill>
              </a:rPr>
              <a:t>(7–8), 2954–2959. </a:t>
            </a:r>
            <a:r>
              <a:rPr lang="es-419" sz="1210" u="sng">
                <a:solidFill>
                  <a:schemeClr val="hlink"/>
                </a:solidFill>
                <a:hlinkClick r:id="rId3"/>
              </a:rPr>
              <a:t>https://doi.org/10.1093/icesjms/fsaa177</a:t>
            </a:r>
            <a:endParaRPr sz="1210">
              <a:solidFill>
                <a:srgbClr val="243744"/>
              </a:solidFill>
            </a:endParaRPr>
          </a:p>
        </p:txBody>
      </p:sp>
      <p:sp>
        <p:nvSpPr>
          <p:cNvPr id="635" name="Google Shape;635;p35"/>
          <p:cNvSpPr txBox="1"/>
          <p:nvPr/>
        </p:nvSpPr>
        <p:spPr>
          <a:xfrm>
            <a:off x="508000" y="23368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Page, M. J., McKenzie, J. E., Bossuyt, P. M., Boutron, I., Hoffmann, T. C., Mulrow, C. D., Shamseer, L., Tetzlaff, J. M., Akl, E. A., Brennan, S. E., Chou, R., Glanville, J., Grimshaw, J. M., Hróbjartsson, A., Lalu, M. M., Li, T., Loder, E. W., Mayo-Wilson, E., McDonald, S., … Moher, D. (2021). The PRISMA 2020 statement: An updated guideline for reporting systematic reviews. </a:t>
            </a:r>
            <a:r>
              <a:rPr i="1" lang="es-419" sz="1210">
                <a:solidFill>
                  <a:srgbClr val="243744"/>
                </a:solidFill>
              </a:rPr>
              <a:t>BMJ, 372</a:t>
            </a:r>
            <a:r>
              <a:rPr lang="es-419" sz="1210">
                <a:solidFill>
                  <a:srgbClr val="243744"/>
                </a:solidFill>
              </a:rPr>
              <a:t>, Artículo n71. </a:t>
            </a:r>
            <a:r>
              <a:rPr lang="es-419" sz="1210" u="sng">
                <a:solidFill>
                  <a:schemeClr val="hlink"/>
                </a:solidFill>
                <a:hlinkClick r:id="rId4"/>
              </a:rPr>
              <a:t>https://doi.org/10.1136/bmj.n71</a:t>
            </a:r>
            <a:endParaRPr sz="1210">
              <a:solidFill>
                <a:srgbClr val="243744"/>
              </a:solidFill>
            </a:endParaRPr>
          </a:p>
        </p:txBody>
      </p:sp>
      <p:sp>
        <p:nvSpPr>
          <p:cNvPr id="636" name="Google Shape;636;p35"/>
          <p:cNvSpPr txBox="1"/>
          <p:nvPr/>
        </p:nvSpPr>
        <p:spPr>
          <a:xfrm>
            <a:off x="508000" y="3467100"/>
            <a:ext cx="8127900" cy="1054200"/>
          </a:xfrm>
          <a:prstGeom prst="rect">
            <a:avLst/>
          </a:prstGeom>
          <a:noFill/>
          <a:ln>
            <a:noFill/>
          </a:ln>
        </p:spPr>
        <p:txBody>
          <a:bodyPr anchorCtr="0" anchor="t" bIns="91425" lIns="91425" spcFirstLastPara="1" rIns="91425" wrap="square" tIns="91425">
            <a:noAutofit/>
          </a:bodyPr>
          <a:lstStyle/>
          <a:p>
            <a:pPr indent="-177800" lvl="0" marL="177800" rtl="0" algn="l">
              <a:lnSpc>
                <a:spcPct val="105000"/>
              </a:lnSpc>
              <a:spcBef>
                <a:spcPts val="0"/>
              </a:spcBef>
              <a:spcAft>
                <a:spcPts val="0"/>
              </a:spcAft>
              <a:buNone/>
            </a:pPr>
            <a:r>
              <a:rPr lang="es-419" sz="1210">
                <a:solidFill>
                  <a:srgbClr val="243744"/>
                </a:solidFill>
              </a:rPr>
              <a:t>Santivañez-Yuffra, M., Pereira-Letona, N., &amp; Vasquez-Paredes, C. (2025). In situ target strength measurements of Peruvian anchovy (</a:t>
            </a:r>
            <a:r>
              <a:rPr i="1" lang="es-419" sz="1210">
                <a:solidFill>
                  <a:srgbClr val="243744"/>
                </a:solidFill>
              </a:rPr>
              <a:t>Engraulis ringens</a:t>
            </a:r>
            <a:r>
              <a:rPr lang="es-419" sz="1210">
                <a:solidFill>
                  <a:srgbClr val="243744"/>
                </a:solidFill>
              </a:rPr>
              <a:t>) from data collected by a commercial echosounder during fishing operations. </a:t>
            </a:r>
            <a:r>
              <a:rPr i="1" lang="es-419" sz="1210">
                <a:solidFill>
                  <a:srgbClr val="243744"/>
                </a:solidFill>
              </a:rPr>
              <a:t>Fisheries Research, 291</a:t>
            </a:r>
            <a:r>
              <a:rPr lang="es-419" sz="1210">
                <a:solidFill>
                  <a:srgbClr val="243744"/>
                </a:solidFill>
              </a:rPr>
              <a:t>, Artículo 107534. </a:t>
            </a:r>
            <a:r>
              <a:rPr lang="es-419" sz="1210" u="sng">
                <a:solidFill>
                  <a:schemeClr val="hlink"/>
                </a:solidFill>
                <a:hlinkClick r:id="rId5"/>
              </a:rPr>
              <a:t>https://doi.org/10.1016/j.fishres.2025.107534</a:t>
            </a:r>
            <a:endParaRPr sz="1210">
              <a:solidFill>
                <a:srgbClr val="24374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